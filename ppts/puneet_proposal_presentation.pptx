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handoutMasterIdLst>
    <p:handoutMasterId r:id="rId33"/>
  </p:handoutMasterIdLst>
  <p:sldIdLst>
    <p:sldId id="291" r:id="rId2"/>
    <p:sldId id="304" r:id="rId3"/>
    <p:sldId id="292" r:id="rId4"/>
    <p:sldId id="382" r:id="rId5"/>
    <p:sldId id="414" r:id="rId6"/>
    <p:sldId id="384" r:id="rId7"/>
    <p:sldId id="415" r:id="rId8"/>
    <p:sldId id="395" r:id="rId9"/>
    <p:sldId id="383" r:id="rId10"/>
    <p:sldId id="398" r:id="rId11"/>
    <p:sldId id="399" r:id="rId12"/>
    <p:sldId id="400" r:id="rId13"/>
    <p:sldId id="403" r:id="rId14"/>
    <p:sldId id="401" r:id="rId15"/>
    <p:sldId id="405" r:id="rId16"/>
    <p:sldId id="406" r:id="rId17"/>
    <p:sldId id="407" r:id="rId18"/>
    <p:sldId id="404" r:id="rId19"/>
    <p:sldId id="402" r:id="rId20"/>
    <p:sldId id="413" r:id="rId21"/>
    <p:sldId id="412" r:id="rId22"/>
    <p:sldId id="411" r:id="rId23"/>
    <p:sldId id="408" r:id="rId24"/>
    <p:sldId id="409" r:id="rId25"/>
    <p:sldId id="410" r:id="rId26"/>
    <p:sldId id="396" r:id="rId27"/>
    <p:sldId id="385" r:id="rId28"/>
    <p:sldId id="387" r:id="rId29"/>
    <p:sldId id="388" r:id="rId30"/>
    <p:sldId id="391" r:id="rId31"/>
  </p:sldIdLst>
  <p:sldSz cx="9144000" cy="5143500" type="screen16x9"/>
  <p:notesSz cx="6858000" cy="9144000"/>
  <p:defaultTextStyle>
    <a:defPPr>
      <a:defRPr lang="en-US"/>
    </a:defPPr>
    <a:lvl1pPr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D2E1930D-B539-E44F-A85F-658E5D07B825}">
          <p14:sldIdLst>
            <p14:sldId id="291"/>
            <p14:sldId id="304"/>
            <p14:sldId id="292"/>
            <p14:sldId id="382"/>
            <p14:sldId id="414"/>
            <p14:sldId id="384"/>
            <p14:sldId id="415"/>
            <p14:sldId id="395"/>
            <p14:sldId id="383"/>
            <p14:sldId id="398"/>
            <p14:sldId id="399"/>
            <p14:sldId id="400"/>
            <p14:sldId id="403"/>
          </p14:sldIdLst>
        </p14:section>
        <p14:section name="Graph Workloads" id="{845463F1-58E0-7149-A95C-0B8EF1429DBB}">
          <p14:sldIdLst>
            <p14:sldId id="401"/>
            <p14:sldId id="405"/>
            <p14:sldId id="406"/>
            <p14:sldId id="407"/>
            <p14:sldId id="404"/>
            <p14:sldId id="402"/>
            <p14:sldId id="413"/>
            <p14:sldId id="412"/>
            <p14:sldId id="411"/>
          </p14:sldIdLst>
        </p14:section>
        <p14:section name="Property Storage" id="{5A1CA1E5-6848-3644-AE89-910B5062E9F5}">
          <p14:sldIdLst/>
        </p14:section>
        <p14:section name="Timeline" id="{E0CE6B43-797E-EC47-BC15-8C7EAE903ACE}">
          <p14:sldIdLst>
            <p14:sldId id="408"/>
            <p14:sldId id="409"/>
            <p14:sldId id="410"/>
          </p14:sldIdLst>
        </p14:section>
        <p14:section name="Backup slides" id="{E245F3DE-E120-2743-BACE-037630A9921E}">
          <p14:sldIdLst>
            <p14:sldId id="396"/>
            <p14:sldId id="385"/>
            <p14:sldId id="387"/>
            <p14:sldId id="388"/>
            <p14:sldId id="391"/>
          </p14:sldIdLst>
        </p14:section>
      </p14:sectionLst>
    </p:ext>
    <p:ext uri="{EFAFB233-063F-42B5-8137-9DF3F51BA10A}">
      <p15:sldGuideLst xmlns:p15="http://schemas.microsoft.com/office/powerpoint/2012/main">
        <p15:guide id="1" orient="horz" pos="1620">
          <p15:clr>
            <a:srgbClr val="A4A3A4"/>
          </p15:clr>
        </p15:guide>
        <p15:guide id="2" orient="horz" pos="1188">
          <p15:clr>
            <a:srgbClr val="A4A3A4"/>
          </p15:clr>
        </p15:guide>
        <p15:guide id="3" orient="horz" pos="972">
          <p15:clr>
            <a:srgbClr val="A4A3A4"/>
          </p15:clr>
        </p15:guide>
        <p15:guide id="4" orient="horz" pos="756">
          <p15:clr>
            <a:srgbClr val="A4A3A4"/>
          </p15:clr>
        </p15:guide>
        <p15:guide id="5" orient="horz" pos="1080">
          <p15:clr>
            <a:srgbClr val="A4A3A4"/>
          </p15:clr>
        </p15:guide>
        <p15:guide id="6" orient="horz" pos="1404">
          <p15:clr>
            <a:srgbClr val="A4A3A4"/>
          </p15:clr>
        </p15:guide>
        <p15:guide id="7" orient="horz" pos="1296">
          <p15:clr>
            <a:srgbClr val="A4A3A4"/>
          </p15:clr>
        </p15:guide>
        <p15:guide id="8" orient="horz" pos="864">
          <p15:clr>
            <a:srgbClr val="A4A3A4"/>
          </p15:clr>
        </p15:guide>
        <p15:guide id="9" pos="2880">
          <p15:clr>
            <a:srgbClr val="A4A3A4"/>
          </p15:clr>
        </p15:guide>
        <p15:guide id="10" pos="1728">
          <p15:clr>
            <a:srgbClr val="A4A3A4"/>
          </p15:clr>
        </p15:guide>
        <p15:guide id="11" pos="721">
          <p15:clr>
            <a:srgbClr val="A4A3A4"/>
          </p15:clr>
        </p15:guide>
        <p15:guide id="12" pos="1144">
          <p15:clr>
            <a:srgbClr val="A4A3A4"/>
          </p15:clr>
        </p15:guide>
        <p15:guide id="13" pos="3455">
          <p15:clr>
            <a:srgbClr val="A4A3A4"/>
          </p15:clr>
        </p15:guide>
        <p15:guide id="14" pos="5184">
          <p15:clr>
            <a:srgbClr val="A4A3A4"/>
          </p15:clr>
        </p15:guide>
        <p15:guide id="15" pos="2305">
          <p15:clr>
            <a:srgbClr val="A4A3A4"/>
          </p15:clr>
        </p15:guide>
        <p15:guide id="16" pos="403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clrMru>
    <a:srgbClr val="36BA98"/>
    <a:srgbClr val="C05555"/>
    <a:srgbClr val="F4A261"/>
    <a:srgbClr val="FFC000"/>
    <a:srgbClr val="FFC8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78"/>
    <p:restoredTop sz="85056"/>
  </p:normalViewPr>
  <p:slideViewPr>
    <p:cSldViewPr snapToObjects="1">
      <p:cViewPr>
        <p:scale>
          <a:sx n="181" d="100"/>
          <a:sy n="181" d="100"/>
        </p:scale>
        <p:origin x="216" y="128"/>
      </p:cViewPr>
      <p:guideLst>
        <p:guide orient="horz" pos="1620"/>
        <p:guide orient="horz" pos="1188"/>
        <p:guide orient="horz" pos="972"/>
        <p:guide orient="horz" pos="756"/>
        <p:guide orient="horz" pos="1080"/>
        <p:guide orient="horz" pos="1404"/>
        <p:guide orient="horz" pos="1296"/>
        <p:guide orient="horz" pos="864"/>
        <p:guide pos="2880"/>
        <p:guide pos="1728"/>
        <p:guide pos="721"/>
        <p:guide pos="1144"/>
        <p:guide pos="3455"/>
        <p:guide pos="5184"/>
        <p:guide pos="2305"/>
        <p:guide pos="40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napToObjects="1">
      <p:cViewPr varScale="1">
        <p:scale>
          <a:sx n="100" d="100"/>
          <a:sy n="100" d="100"/>
        </p:scale>
        <p:origin x="-4288"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013E40-9ED3-8F42-8D0B-2462FA2C394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3F65E136-52A6-8B44-A245-F43294553793}"/>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2E446526-0472-E34E-85DD-9A138E65C802}" type="datetime1">
              <a:rPr lang="en-US" altLang="en-US"/>
              <a:pPr>
                <a:defRPr/>
              </a:pPr>
              <a:t>7/5/24</a:t>
            </a:fld>
            <a:endParaRPr lang="en-US" altLang="en-US"/>
          </a:p>
        </p:txBody>
      </p:sp>
      <p:sp>
        <p:nvSpPr>
          <p:cNvPr id="4" name="Footer Placeholder 3">
            <a:extLst>
              <a:ext uri="{FF2B5EF4-FFF2-40B4-BE49-F238E27FC236}">
                <a16:creationId xmlns:a16="http://schemas.microsoft.com/office/drawing/2014/main" id="{B2E51795-217D-F947-9FAC-2B3AB40C12CB}"/>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F4A80203-7696-8E48-B853-EBB7ECAEEB69}"/>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A675493-86A7-0443-A250-F5990D575D7D}"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9866D4-699C-F04B-89DF-1BBECC2D922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B9CF313D-5466-AD43-A0B4-A943DB13DA72}"/>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602A7651-D4D8-214B-B243-EE722F4A4429}" type="datetime1">
              <a:rPr lang="en-US" altLang="en-US"/>
              <a:pPr>
                <a:defRPr/>
              </a:pPr>
              <a:t>7/5/24</a:t>
            </a:fld>
            <a:endParaRPr lang="en-US" altLang="en-US"/>
          </a:p>
        </p:txBody>
      </p:sp>
      <p:sp>
        <p:nvSpPr>
          <p:cNvPr id="4" name="Slide Image Placeholder 3">
            <a:extLst>
              <a:ext uri="{FF2B5EF4-FFF2-40B4-BE49-F238E27FC236}">
                <a16:creationId xmlns:a16="http://schemas.microsoft.com/office/drawing/2014/main" id="{97E3B544-965A-474E-BA9E-27F6CEBEC1C4}"/>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83591A6-FDEA-044A-AED5-E81A74301ED1}"/>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endParaRPr lang="en-US" noProof="0"/>
          </a:p>
        </p:txBody>
      </p:sp>
      <p:sp>
        <p:nvSpPr>
          <p:cNvPr id="6" name="Footer Placeholder 5">
            <a:extLst>
              <a:ext uri="{FF2B5EF4-FFF2-40B4-BE49-F238E27FC236}">
                <a16:creationId xmlns:a16="http://schemas.microsoft.com/office/drawing/2014/main" id="{761710CB-DDAA-5B42-859A-8C097FE19CA0}"/>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6BF9F16D-0A07-9645-902C-D14C0A02677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532C7129-0DD5-1D47-A01A-7DA0B8FCBC4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ACEA580F-E6CA-3343-9E0C-6B755657B6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Notes Placeholder 2">
            <a:extLst>
              <a:ext uri="{FF2B5EF4-FFF2-40B4-BE49-F238E27FC236}">
                <a16:creationId xmlns:a16="http://schemas.microsoft.com/office/drawing/2014/main" id="{4E99B0BD-BE21-A240-A92B-BDB6FC8D42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6387" name="Slide Number Placeholder 3">
            <a:extLst>
              <a:ext uri="{FF2B5EF4-FFF2-40B4-BE49-F238E27FC236}">
                <a16:creationId xmlns:a16="http://schemas.microsoft.com/office/drawing/2014/main" id="{56D017BF-2828-DD47-A571-6A45A39429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8538A932-7ECA-D84C-8E8F-37D7A4390667}"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Take for example a movie rating database on </a:t>
            </a:r>
            <a:r>
              <a:rPr lang="en-US" dirty="0" err="1"/>
              <a:t>letterboxd</a:t>
            </a:r>
            <a:endParaRPr lang="en-US" dirty="0"/>
          </a:p>
          <a:p>
            <a:r>
              <a:rPr lang="en-US" dirty="0"/>
              <a:t>- The entities being modeled in the database can be Directors, Movies, Actors, and Users</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6</a:t>
            </a:fld>
            <a:endParaRPr lang="en-US" altLang="en-US"/>
          </a:p>
        </p:txBody>
      </p:sp>
    </p:spTree>
    <p:extLst>
      <p:ext uri="{BB962C8B-B14F-4D97-AF65-F5344CB8AC3E}">
        <p14:creationId xmlns:p14="http://schemas.microsoft.com/office/powerpoint/2010/main" val="3495313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Take for example a movie rating database on </a:t>
            </a:r>
            <a:r>
              <a:rPr lang="en-US" dirty="0" err="1"/>
              <a:t>letterboxd</a:t>
            </a:r>
            <a:endParaRPr lang="en-US" dirty="0"/>
          </a:p>
          <a:p>
            <a:r>
              <a:rPr lang="en-US" dirty="0"/>
              <a:t>- The entities being modeled in the database can be Directors, Movies, Actors, and Users</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7</a:t>
            </a:fld>
            <a:endParaRPr lang="en-US" altLang="en-US"/>
          </a:p>
        </p:txBody>
      </p:sp>
    </p:spTree>
    <p:extLst>
      <p:ext uri="{BB962C8B-B14F-4D97-AF65-F5344CB8AC3E}">
        <p14:creationId xmlns:p14="http://schemas.microsoft.com/office/powerpoint/2010/main" val="1623816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rating database on </a:t>
            </a:r>
            <a:r>
              <a:rPr lang="en-US" dirty="0" err="1"/>
              <a:t>letterboxd</a:t>
            </a:r>
            <a:endParaRPr lang="en-US" dirty="0"/>
          </a:p>
          <a:p>
            <a:pPr marL="171450" indent="-171450">
              <a:buFontTx/>
              <a:buChar char="-"/>
            </a:pPr>
            <a:r>
              <a:rPr lang="en-US" dirty="0"/>
              <a:t>The entities being modeled in the database can be Directors, Movies, Actors, and Users</a:t>
            </a:r>
          </a:p>
          <a:p>
            <a:pPr marL="171450" indent="-171450">
              <a:buFontTx/>
              <a:buChar char="-"/>
            </a:pPr>
            <a:r>
              <a:rPr lang="en-US" dirty="0"/>
              <a:t>Each of these entities have an associated schema i.e. they have properties associated with them.</a:t>
            </a:r>
          </a:p>
          <a:p>
            <a:endParaRPr lang="en-US" dirty="0"/>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8</a:t>
            </a:fld>
            <a:endParaRPr lang="en-US" altLang="en-US"/>
          </a:p>
        </p:txBody>
      </p:sp>
    </p:spTree>
    <p:extLst>
      <p:ext uri="{BB962C8B-B14F-4D97-AF65-F5344CB8AC3E}">
        <p14:creationId xmlns:p14="http://schemas.microsoft.com/office/powerpoint/2010/main" val="3621322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rating database on </a:t>
            </a:r>
            <a:r>
              <a:rPr lang="en-US" dirty="0" err="1"/>
              <a:t>letterboxd</a:t>
            </a:r>
            <a:endParaRPr lang="en-US" dirty="0"/>
          </a:p>
          <a:p>
            <a:pPr marL="171450" indent="-171450">
              <a:buFontTx/>
              <a:buChar char="-"/>
            </a:pPr>
            <a:r>
              <a:rPr lang="en-US" dirty="0"/>
              <a:t>The entities being modeled have a type. In this database, entities can be Directors, Movies, Actors, and Users</a:t>
            </a:r>
          </a:p>
          <a:p>
            <a:pPr marL="171450" indent="-171450">
              <a:buFontTx/>
              <a:buChar char="-"/>
            </a:pPr>
            <a:r>
              <a:rPr lang="en-US" dirty="0"/>
              <a:t>Each of these entities have an associated schema i.e. they have properties associated with them.</a:t>
            </a:r>
          </a:p>
          <a:p>
            <a:pPr marL="171450" indent="-171450">
              <a:buFontTx/>
              <a:buChar char="-"/>
            </a:pPr>
            <a:r>
              <a:rPr lang="en-US" dirty="0"/>
              <a:t>Edges between these entities are relationships: </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9</a:t>
            </a:fld>
            <a:endParaRPr lang="en-US" altLang="en-US"/>
          </a:p>
        </p:txBody>
      </p:sp>
    </p:spTree>
    <p:extLst>
      <p:ext uri="{BB962C8B-B14F-4D97-AF65-F5344CB8AC3E}">
        <p14:creationId xmlns:p14="http://schemas.microsoft.com/office/powerpoint/2010/main" val="574749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tidy things up a bit, we notice that edges connect nodes and represent </a:t>
            </a:r>
            <a:r>
              <a:rPr lang="en-US" dirty="0" err="1"/>
              <a:t>realtionships</a:t>
            </a:r>
            <a:r>
              <a:rPr lang="en-US" dirty="0"/>
              <a:t> between nodes. </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10</a:t>
            </a:fld>
            <a:endParaRPr lang="en-US" altLang="en-US"/>
          </a:p>
        </p:txBody>
      </p:sp>
    </p:spTree>
    <p:extLst>
      <p:ext uri="{BB962C8B-B14F-4D97-AF65-F5344CB8AC3E}">
        <p14:creationId xmlns:p14="http://schemas.microsoft.com/office/powerpoint/2010/main" val="1971702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database </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11</a:t>
            </a:fld>
            <a:endParaRPr lang="en-US" altLang="en-US"/>
          </a:p>
        </p:txBody>
      </p:sp>
    </p:spTree>
    <p:extLst>
      <p:ext uri="{BB962C8B-B14F-4D97-AF65-F5344CB8AC3E}">
        <p14:creationId xmlns:p14="http://schemas.microsoft.com/office/powerpoint/2010/main" val="3778838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database </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12</a:t>
            </a:fld>
            <a:endParaRPr lang="en-US" altLang="en-US"/>
          </a:p>
        </p:txBody>
      </p:sp>
    </p:spTree>
    <p:extLst>
      <p:ext uri="{BB962C8B-B14F-4D97-AF65-F5344CB8AC3E}">
        <p14:creationId xmlns:p14="http://schemas.microsoft.com/office/powerpoint/2010/main" val="3356375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0" i="0" dirty="0">
                <a:solidFill>
                  <a:srgbClr val="212529"/>
                </a:solidFill>
                <a:effectLst/>
                <a:highlight>
                  <a:srgbClr val="FFFFFF"/>
                </a:highlight>
                <a:latin typeface="Lato" panose="020F0502020204030204" pitchFamily="34" charset="0"/>
              </a:rPr>
              <a:t>DBLP citation network dataset : Each paper is associated with abstract, authors, year, venue, and title</a:t>
            </a:r>
            <a:endParaRPr lang="en-US" dirty="0"/>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13</a:t>
            </a:fld>
            <a:endParaRPr lang="en-US" altLang="en-US"/>
          </a:p>
        </p:txBody>
      </p:sp>
    </p:spTree>
    <p:extLst>
      <p:ext uri="{BB962C8B-B14F-4D97-AF65-F5344CB8AC3E}">
        <p14:creationId xmlns:p14="http://schemas.microsoft.com/office/powerpoint/2010/main" val="809294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database </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14</a:t>
            </a:fld>
            <a:endParaRPr lang="en-US" altLang="en-US"/>
          </a:p>
        </p:txBody>
      </p:sp>
    </p:spTree>
    <p:extLst>
      <p:ext uri="{BB962C8B-B14F-4D97-AF65-F5344CB8AC3E}">
        <p14:creationId xmlns:p14="http://schemas.microsoft.com/office/powerpoint/2010/main" val="1188677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database </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15</a:t>
            </a:fld>
            <a:endParaRPr lang="en-US" altLang="en-US"/>
          </a:p>
        </p:txBody>
      </p:sp>
    </p:spTree>
    <p:extLst>
      <p:ext uri="{BB962C8B-B14F-4D97-AF65-F5344CB8AC3E}">
        <p14:creationId xmlns:p14="http://schemas.microsoft.com/office/powerpoint/2010/main" val="98561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database </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16</a:t>
            </a:fld>
            <a:endParaRPr lang="en-US" altLang="en-US"/>
          </a:p>
        </p:txBody>
      </p:sp>
    </p:spTree>
    <p:extLst>
      <p:ext uri="{BB962C8B-B14F-4D97-AF65-F5344CB8AC3E}">
        <p14:creationId xmlns:p14="http://schemas.microsoft.com/office/powerpoint/2010/main" val="1571028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database </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17</a:t>
            </a:fld>
            <a:endParaRPr lang="en-US" altLang="en-US"/>
          </a:p>
        </p:txBody>
      </p:sp>
    </p:spTree>
    <p:extLst>
      <p:ext uri="{BB962C8B-B14F-4D97-AF65-F5344CB8AC3E}">
        <p14:creationId xmlns:p14="http://schemas.microsoft.com/office/powerpoint/2010/main" val="1149683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tony can attest, CS researchers have been trying to uncover ways to capture relationships between objects and represent them in some meaningful, searchable way fashion for literally as long as the field has existed. </a:t>
            </a:r>
          </a:p>
          <a:p>
            <a:endParaRPr lang="en-US" dirty="0"/>
          </a:p>
          <a:p>
            <a:r>
              <a:rPr lang="en-US" dirty="0"/>
              <a:t>Take for example a movie database </a:t>
            </a:r>
          </a:p>
        </p:txBody>
      </p:sp>
      <p:sp>
        <p:nvSpPr>
          <p:cNvPr id="4" name="Slide Number Placeholder 3"/>
          <p:cNvSpPr>
            <a:spLocks noGrp="1"/>
          </p:cNvSpPr>
          <p:nvPr>
            <p:ph type="sldNum" sz="quarter" idx="5"/>
          </p:nvPr>
        </p:nvSpPr>
        <p:spPr/>
        <p:txBody>
          <a:bodyPr/>
          <a:lstStyle/>
          <a:p>
            <a:pPr>
              <a:defRPr/>
            </a:pPr>
            <a:fld id="{532C7129-0DD5-1D47-A01A-7DA0B8FCBC4F}" type="slidenum">
              <a:rPr lang="en-US" altLang="en-US" smtClean="0"/>
              <a:pPr>
                <a:defRPr/>
              </a:pPr>
              <a:t>18</a:t>
            </a:fld>
            <a:endParaRPr lang="en-US" altLang="en-US"/>
          </a:p>
        </p:txBody>
      </p:sp>
    </p:spTree>
    <p:extLst>
      <p:ext uri="{BB962C8B-B14F-4D97-AF65-F5344CB8AC3E}">
        <p14:creationId xmlns:p14="http://schemas.microsoft.com/office/powerpoint/2010/main" val="20184604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2DC2044-4A08-E748-A06E-C2B27E5802F1}"/>
              </a:ext>
            </a:extLst>
          </p:cNvPr>
          <p:cNvSpPr/>
          <p:nvPr userDrawn="1"/>
        </p:nvSpPr>
        <p:spPr>
          <a:xfrm>
            <a:off x="8243888" y="1131888"/>
            <a:ext cx="900112" cy="113188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6" name="Picture 2" descr="2014_logo_only_reverse.png">
            <a:extLst>
              <a:ext uri="{FF2B5EF4-FFF2-40B4-BE49-F238E27FC236}">
                <a16:creationId xmlns:a16="http://schemas.microsoft.com/office/drawing/2014/main" id="{51D12B78-8139-E644-BCC8-ACA6A44F82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85188" y="1419225"/>
            <a:ext cx="4079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Placeholder 14"/>
          <p:cNvSpPr>
            <a:spLocks noGrp="1"/>
          </p:cNvSpPr>
          <p:nvPr>
            <p:ph type="body" sz="quarter" idx="12"/>
          </p:nvPr>
        </p:nvSpPr>
        <p:spPr>
          <a:xfrm>
            <a:off x="365762" y="3003798"/>
            <a:ext cx="5430203" cy="321394"/>
          </a:xfrm>
          <a:prstGeom prst="rect">
            <a:avLst/>
          </a:prstGeom>
        </p:spPr>
        <p:txBody>
          <a:bodyPr vert="horz" lIns="0" tIns="0" rIns="0" bIns="0"/>
          <a:lstStyle>
            <a:lvl1pPr marL="0" indent="0">
              <a:buNone/>
              <a:defRPr sz="1800" b="0" i="0" kern="0" spc="30" baseline="0">
                <a:solidFill>
                  <a:schemeClr val="tx1"/>
                </a:solidFill>
                <a:latin typeface="Arial"/>
                <a:cs typeface="Arial"/>
              </a:defRPr>
            </a:lvl1pPr>
            <a:lvl2pPr>
              <a:defRPr sz="900" b="0" i="0">
                <a:latin typeface="Whitney Book"/>
                <a:cs typeface="Whitney Book"/>
              </a:defRPr>
            </a:lvl2pPr>
            <a:lvl3pPr>
              <a:defRPr sz="900" b="0" i="0">
                <a:latin typeface="Whitney Book"/>
                <a:cs typeface="Whitney Book"/>
              </a:defRPr>
            </a:lvl3pPr>
            <a:lvl4pPr>
              <a:defRPr sz="900" b="0" i="0">
                <a:latin typeface="Whitney Book"/>
                <a:cs typeface="Whitney Book"/>
              </a:defRPr>
            </a:lvl4pPr>
            <a:lvl5pPr>
              <a:defRPr sz="900" b="0" i="0">
                <a:latin typeface="Whitney Book"/>
                <a:cs typeface="Whitney Book"/>
              </a:defRPr>
            </a:lvl5pPr>
          </a:lstStyle>
          <a:p>
            <a:pPr lvl="0"/>
            <a:r>
              <a:rPr lang="en-CA" dirty="0"/>
              <a:t>Click to edit Master text styles</a:t>
            </a:r>
          </a:p>
        </p:txBody>
      </p:sp>
      <p:sp>
        <p:nvSpPr>
          <p:cNvPr id="12" name="Text Placeholder 14"/>
          <p:cNvSpPr>
            <a:spLocks noGrp="1"/>
          </p:cNvSpPr>
          <p:nvPr>
            <p:ph type="body" sz="quarter" idx="13"/>
          </p:nvPr>
        </p:nvSpPr>
        <p:spPr>
          <a:xfrm>
            <a:off x="365762" y="3507855"/>
            <a:ext cx="5430203" cy="321394"/>
          </a:xfrm>
          <a:prstGeom prst="rect">
            <a:avLst/>
          </a:prstGeom>
        </p:spPr>
        <p:txBody>
          <a:bodyPr vert="horz" lIns="0" tIns="0" rIns="0" bIns="0"/>
          <a:lstStyle>
            <a:lvl1pPr marL="0" indent="0">
              <a:buNone/>
              <a:defRPr sz="1000" b="1" i="0" kern="0" cap="none" spc="0" normalizeH="0" baseline="0">
                <a:solidFill>
                  <a:srgbClr val="0C2344"/>
                </a:solidFill>
                <a:latin typeface="Arial"/>
                <a:cs typeface="Arial"/>
              </a:defRPr>
            </a:lvl1pPr>
            <a:lvl2pPr>
              <a:defRPr sz="900" b="0" i="0">
                <a:latin typeface="Whitney Book"/>
                <a:cs typeface="Whitney Book"/>
              </a:defRPr>
            </a:lvl2pPr>
            <a:lvl3pPr>
              <a:defRPr sz="900" b="0" i="0">
                <a:latin typeface="Whitney Book"/>
                <a:cs typeface="Whitney Book"/>
              </a:defRPr>
            </a:lvl3pPr>
            <a:lvl4pPr>
              <a:defRPr sz="900" b="0" i="0">
                <a:latin typeface="Whitney Book"/>
                <a:cs typeface="Whitney Book"/>
              </a:defRPr>
            </a:lvl4pPr>
            <a:lvl5pPr>
              <a:defRPr sz="900" b="0" i="0">
                <a:latin typeface="Whitney Book"/>
                <a:cs typeface="Whitney Book"/>
              </a:defRPr>
            </a:lvl5pPr>
          </a:lstStyle>
          <a:p>
            <a:pPr lvl="0"/>
            <a:r>
              <a:rPr lang="en-CA" dirty="0"/>
              <a:t>Click to edit Master text styles</a:t>
            </a:r>
          </a:p>
        </p:txBody>
      </p:sp>
      <p:sp>
        <p:nvSpPr>
          <p:cNvPr id="2" name="Title 1">
            <a:extLst>
              <a:ext uri="{FF2B5EF4-FFF2-40B4-BE49-F238E27FC236}">
                <a16:creationId xmlns:a16="http://schemas.microsoft.com/office/drawing/2014/main" id="{9CBBE2BB-0C57-3E4C-A753-F599012150A7}"/>
              </a:ext>
            </a:extLst>
          </p:cNvPr>
          <p:cNvSpPr>
            <a:spLocks noGrp="1"/>
          </p:cNvSpPr>
          <p:nvPr>
            <p:ph type="title" hasCustomPrompt="1"/>
          </p:nvPr>
        </p:nvSpPr>
        <p:spPr>
          <a:xfrm>
            <a:off x="365587" y="1141558"/>
            <a:ext cx="5438775" cy="1574208"/>
          </a:xfrm>
          <a:prstGeom prst="rect">
            <a:avLst/>
          </a:prstGeom>
        </p:spPr>
        <p:txBody>
          <a:bodyPr lIns="0" tIns="0" rIns="0" bIns="0"/>
          <a:lstStyle>
            <a:lvl1pPr algn="l">
              <a:lnSpc>
                <a:spcPts val="3800"/>
              </a:lnSpc>
              <a:defRPr sz="3400" b="1">
                <a:solidFill>
                  <a:schemeClr val="accent1">
                    <a:lumMod val="50000"/>
                    <a:lumOff val="50000"/>
                  </a:schemeClr>
                </a:solidFill>
              </a:defRPr>
            </a:lvl1pPr>
          </a:lstStyle>
          <a:p>
            <a:pPr lvl="0"/>
            <a:r>
              <a:rPr lang="en-CA" dirty="0"/>
              <a:t>Click to edit Master text styles</a:t>
            </a:r>
          </a:p>
        </p:txBody>
      </p:sp>
    </p:spTree>
    <p:extLst>
      <p:ext uri="{BB962C8B-B14F-4D97-AF65-F5344CB8AC3E}">
        <p14:creationId xmlns:p14="http://schemas.microsoft.com/office/powerpoint/2010/main" val="1458948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2">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D2A977-3F56-1649-9B5C-932A97F88A8F}"/>
              </a:ext>
            </a:extLst>
          </p:cNvPr>
          <p:cNvSpPr/>
          <p:nvPr userDrawn="1"/>
        </p:nvSpPr>
        <p:spPr>
          <a:xfrm>
            <a:off x="8243888" y="1131888"/>
            <a:ext cx="900112" cy="11318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9" name="Picture 3" descr="s4b282c2015.png">
            <a:extLst>
              <a:ext uri="{FF2B5EF4-FFF2-40B4-BE49-F238E27FC236}">
                <a16:creationId xmlns:a16="http://schemas.microsoft.com/office/drawing/2014/main" id="{BB57D411-10C3-9643-970C-A5D7BF1182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13763" y="1439863"/>
            <a:ext cx="3635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14"/>
          <p:cNvSpPr>
            <a:spLocks noGrp="1"/>
          </p:cNvSpPr>
          <p:nvPr>
            <p:ph type="body" sz="quarter" idx="12"/>
          </p:nvPr>
        </p:nvSpPr>
        <p:spPr>
          <a:xfrm>
            <a:off x="365762" y="3003798"/>
            <a:ext cx="5430203" cy="321394"/>
          </a:xfrm>
          <a:prstGeom prst="rect">
            <a:avLst/>
          </a:prstGeom>
        </p:spPr>
        <p:txBody>
          <a:bodyPr vert="horz" lIns="0" tIns="0" rIns="0" bIns="0"/>
          <a:lstStyle>
            <a:lvl1pPr marL="0" indent="0">
              <a:buNone/>
              <a:defRPr sz="1800" b="0" i="0" kern="0" spc="30" baseline="0">
                <a:solidFill>
                  <a:srgbClr val="FFFFFF"/>
                </a:solidFill>
                <a:latin typeface="Arial"/>
                <a:cs typeface="Arial"/>
              </a:defRPr>
            </a:lvl1pPr>
            <a:lvl2pPr>
              <a:defRPr sz="900" b="0" i="0">
                <a:latin typeface="Whitney Book"/>
                <a:cs typeface="Whitney Book"/>
              </a:defRPr>
            </a:lvl2pPr>
            <a:lvl3pPr>
              <a:defRPr sz="900" b="0" i="0">
                <a:latin typeface="Whitney Book"/>
                <a:cs typeface="Whitney Book"/>
              </a:defRPr>
            </a:lvl3pPr>
            <a:lvl4pPr>
              <a:defRPr sz="900" b="0" i="0">
                <a:latin typeface="Whitney Book"/>
                <a:cs typeface="Whitney Book"/>
              </a:defRPr>
            </a:lvl4pPr>
            <a:lvl5pPr>
              <a:defRPr sz="900" b="0" i="0">
                <a:latin typeface="Whitney Book"/>
                <a:cs typeface="Whitney Book"/>
              </a:defRPr>
            </a:lvl5pPr>
          </a:lstStyle>
          <a:p>
            <a:pPr lvl="0"/>
            <a:r>
              <a:rPr lang="en-CA" dirty="0"/>
              <a:t>Click to edit Master text styles</a:t>
            </a:r>
          </a:p>
        </p:txBody>
      </p:sp>
      <p:sp>
        <p:nvSpPr>
          <p:cNvPr id="8" name="Text Placeholder 14"/>
          <p:cNvSpPr>
            <a:spLocks noGrp="1"/>
          </p:cNvSpPr>
          <p:nvPr>
            <p:ph type="body" sz="quarter" idx="13"/>
          </p:nvPr>
        </p:nvSpPr>
        <p:spPr>
          <a:xfrm>
            <a:off x="365762" y="3507855"/>
            <a:ext cx="5430203" cy="321394"/>
          </a:xfrm>
          <a:prstGeom prst="rect">
            <a:avLst/>
          </a:prstGeom>
        </p:spPr>
        <p:txBody>
          <a:bodyPr vert="horz" lIns="0" tIns="0" rIns="0" bIns="0"/>
          <a:lstStyle>
            <a:lvl1pPr marL="0" indent="0">
              <a:buNone/>
              <a:defRPr sz="1000" b="1" i="0" kern="0" cap="none" spc="0" normalizeH="0" baseline="0">
                <a:solidFill>
                  <a:srgbClr val="FFFFFF"/>
                </a:solidFill>
                <a:latin typeface="Arial"/>
                <a:cs typeface="Arial"/>
              </a:defRPr>
            </a:lvl1pPr>
            <a:lvl2pPr>
              <a:defRPr sz="900" b="0" i="0">
                <a:latin typeface="Whitney Book"/>
                <a:cs typeface="Whitney Book"/>
              </a:defRPr>
            </a:lvl2pPr>
            <a:lvl3pPr>
              <a:defRPr sz="900" b="0" i="0">
                <a:latin typeface="Whitney Book"/>
                <a:cs typeface="Whitney Book"/>
              </a:defRPr>
            </a:lvl3pPr>
            <a:lvl4pPr>
              <a:defRPr sz="900" b="0" i="0">
                <a:latin typeface="Whitney Book"/>
                <a:cs typeface="Whitney Book"/>
              </a:defRPr>
            </a:lvl4pPr>
            <a:lvl5pPr>
              <a:defRPr sz="900" b="0" i="0">
                <a:latin typeface="Whitney Book"/>
                <a:cs typeface="Whitney Book"/>
              </a:defRPr>
            </a:lvl5pPr>
          </a:lstStyle>
          <a:p>
            <a:pPr lvl="0"/>
            <a:r>
              <a:rPr lang="en-CA" dirty="0"/>
              <a:t>Click to edit Master text styles</a:t>
            </a:r>
          </a:p>
        </p:txBody>
      </p:sp>
      <p:sp>
        <p:nvSpPr>
          <p:cNvPr id="2" name="Title 1">
            <a:extLst>
              <a:ext uri="{FF2B5EF4-FFF2-40B4-BE49-F238E27FC236}">
                <a16:creationId xmlns:a16="http://schemas.microsoft.com/office/drawing/2014/main" id="{3E52B14B-758E-084E-BA13-E6F328ACDAEE}"/>
              </a:ext>
            </a:extLst>
          </p:cNvPr>
          <p:cNvSpPr>
            <a:spLocks noGrp="1"/>
          </p:cNvSpPr>
          <p:nvPr>
            <p:ph type="title"/>
          </p:nvPr>
        </p:nvSpPr>
        <p:spPr>
          <a:xfrm>
            <a:off x="385981" y="1145927"/>
            <a:ext cx="5409982" cy="1569839"/>
          </a:xfrm>
          <a:prstGeom prst="rect">
            <a:avLst/>
          </a:prstGeom>
        </p:spPr>
        <p:txBody>
          <a:bodyPr lIns="0" tIns="0" rIns="0" bIns="0"/>
          <a:lstStyle>
            <a:lvl1pPr algn="l">
              <a:lnSpc>
                <a:spcPts val="3800"/>
              </a:lnSpc>
              <a:defRPr sz="3400" b="1">
                <a:solidFill>
                  <a:schemeClr val="tx1">
                    <a:lumMod val="10000"/>
                    <a:lumOff val="90000"/>
                  </a:schemeClr>
                </a:solidFill>
              </a:defRPr>
            </a:lvl1pPr>
          </a:lstStyle>
          <a:p>
            <a:r>
              <a:rPr lang="en-US" dirty="0"/>
              <a:t>Click to edit Master title style</a:t>
            </a:r>
          </a:p>
        </p:txBody>
      </p:sp>
    </p:spTree>
    <p:extLst>
      <p:ext uri="{BB962C8B-B14F-4D97-AF65-F5344CB8AC3E}">
        <p14:creationId xmlns:p14="http://schemas.microsoft.com/office/powerpoint/2010/main" val="236540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section Slide - 2">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E32F5F1E-FA2C-CA40-B19B-422E4289F406}"/>
              </a:ext>
            </a:extLst>
          </p:cNvPr>
          <p:cNvSpPr txBox="1">
            <a:spLocks/>
          </p:cNvSpPr>
          <p:nvPr userDrawn="1"/>
        </p:nvSpPr>
        <p:spPr>
          <a:xfrm flipH="1">
            <a:off x="8588375" y="4732338"/>
            <a:ext cx="304800" cy="192087"/>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7A520048-3B01-6D4F-ABB1-62CF686C9F6C}" type="slidenum">
              <a:rPr lang="en-US" altLang="en-US" sz="900" smtClean="0">
                <a:solidFill>
                  <a:srgbClr val="FFFFFF"/>
                </a:solidFill>
                <a:latin typeface="Whitney Book" pitchFamily="2" charset="0"/>
              </a:rPr>
              <a:pPr algn="r">
                <a:spcBef>
                  <a:spcPct val="20000"/>
                </a:spcBef>
                <a:buFont typeface="Arial" panose="020B0604020202020204" pitchFamily="34" charset="0"/>
                <a:buNone/>
                <a:defRPr/>
              </a:pPr>
              <a:t>‹#›</a:t>
            </a:fld>
            <a:endParaRPr lang="en-CA" altLang="en-US" sz="900">
              <a:solidFill>
                <a:srgbClr val="FFFFFF"/>
              </a:solidFill>
              <a:latin typeface="Whitney Book" pitchFamily="2" charset="0"/>
            </a:endParaRPr>
          </a:p>
        </p:txBody>
      </p:sp>
      <p:sp>
        <p:nvSpPr>
          <p:cNvPr id="4" name="Rectangle 3">
            <a:extLst>
              <a:ext uri="{FF2B5EF4-FFF2-40B4-BE49-F238E27FC236}">
                <a16:creationId xmlns:a16="http://schemas.microsoft.com/office/drawing/2014/main" id="{149BD8F2-58D7-1F4D-89C0-C1F5D61506A4}"/>
              </a:ext>
            </a:extLst>
          </p:cNvPr>
          <p:cNvSpPr/>
          <p:nvPr userDrawn="1"/>
        </p:nvSpPr>
        <p:spPr>
          <a:xfrm>
            <a:off x="8243888" y="1131888"/>
            <a:ext cx="900112" cy="113188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5" name="Picture 2" descr="2014_logo_only_reverse.png">
            <a:extLst>
              <a:ext uri="{FF2B5EF4-FFF2-40B4-BE49-F238E27FC236}">
                <a16:creationId xmlns:a16="http://schemas.microsoft.com/office/drawing/2014/main" id="{B73D1A4D-E646-CF42-8E0B-1F50828E07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85188" y="1419225"/>
            <a:ext cx="4079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5">
            <a:extLst>
              <a:ext uri="{FF2B5EF4-FFF2-40B4-BE49-F238E27FC236}">
                <a16:creationId xmlns:a16="http://schemas.microsoft.com/office/drawing/2014/main" id="{9A8D1E7E-B601-3641-86D1-05CEAB683821}"/>
              </a:ext>
            </a:extLst>
          </p:cNvPr>
          <p:cNvSpPr>
            <a:spLocks noGrp="1"/>
          </p:cNvSpPr>
          <p:nvPr>
            <p:ph type="title"/>
          </p:nvPr>
        </p:nvSpPr>
        <p:spPr>
          <a:xfrm>
            <a:off x="368414" y="1131887"/>
            <a:ext cx="7886700" cy="1131887"/>
          </a:xfrm>
          <a:prstGeom prst="rect">
            <a:avLst/>
          </a:prstGeom>
        </p:spPr>
        <p:txBody>
          <a:bodyPr lIns="0" tIns="0" rIns="0" bIns="0"/>
          <a:lstStyle>
            <a:lvl1pPr algn="l">
              <a:defRPr sz="2800" b="1">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285449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Slide - 3">
    <p:bg>
      <p:bgPr>
        <a:solidFill>
          <a:schemeClr val="tx1"/>
        </a:solidFill>
        <a:effectLst/>
      </p:bgPr>
    </p:bg>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14BB6FCE-4A9E-894D-AB47-568D04ADACB2}"/>
              </a:ext>
            </a:extLst>
          </p:cNvPr>
          <p:cNvSpPr txBox="1">
            <a:spLocks/>
          </p:cNvSpPr>
          <p:nvPr userDrawn="1"/>
        </p:nvSpPr>
        <p:spPr>
          <a:xfrm flipH="1">
            <a:off x="8588375" y="4732338"/>
            <a:ext cx="304800" cy="192087"/>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6DB20FED-9292-3648-9FE2-F2D73F362A8A}" type="slidenum">
              <a:rPr lang="en-US" altLang="en-US" sz="900" smtClean="0">
                <a:solidFill>
                  <a:srgbClr val="FFFFFF"/>
                </a:solidFill>
                <a:latin typeface="Whitney Book" pitchFamily="2" charset="0"/>
              </a:rPr>
              <a:pPr algn="r">
                <a:spcBef>
                  <a:spcPct val="20000"/>
                </a:spcBef>
                <a:buFont typeface="Arial" panose="020B0604020202020204" pitchFamily="34" charset="0"/>
                <a:buNone/>
                <a:defRPr/>
              </a:pPr>
              <a:t>‹#›</a:t>
            </a:fld>
            <a:endParaRPr lang="en-CA" altLang="en-US" sz="900">
              <a:solidFill>
                <a:srgbClr val="FFFFFF"/>
              </a:solidFill>
              <a:latin typeface="Whitney Book" pitchFamily="2" charset="0"/>
            </a:endParaRPr>
          </a:p>
        </p:txBody>
      </p:sp>
      <p:sp>
        <p:nvSpPr>
          <p:cNvPr id="4" name="Rectangle 3">
            <a:extLst>
              <a:ext uri="{FF2B5EF4-FFF2-40B4-BE49-F238E27FC236}">
                <a16:creationId xmlns:a16="http://schemas.microsoft.com/office/drawing/2014/main" id="{13E78170-6765-0340-9B9D-5B9076E22D52}"/>
              </a:ext>
            </a:extLst>
          </p:cNvPr>
          <p:cNvSpPr/>
          <p:nvPr userDrawn="1"/>
        </p:nvSpPr>
        <p:spPr>
          <a:xfrm>
            <a:off x="8243888" y="1131888"/>
            <a:ext cx="900112" cy="11318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5" name="Picture 3" descr="s4b282c2015.png">
            <a:extLst>
              <a:ext uri="{FF2B5EF4-FFF2-40B4-BE49-F238E27FC236}">
                <a16:creationId xmlns:a16="http://schemas.microsoft.com/office/drawing/2014/main" id="{EB94A9BA-7D90-3545-ADCC-6B0E239A55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13763" y="1439863"/>
            <a:ext cx="3635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D5BE77B2-1725-364C-8919-4C53160241CE}"/>
              </a:ext>
            </a:extLst>
          </p:cNvPr>
          <p:cNvSpPr>
            <a:spLocks noGrp="1"/>
          </p:cNvSpPr>
          <p:nvPr>
            <p:ph type="title"/>
          </p:nvPr>
        </p:nvSpPr>
        <p:spPr>
          <a:xfrm>
            <a:off x="365587" y="1131888"/>
            <a:ext cx="5430376" cy="993775"/>
          </a:xfrm>
          <a:prstGeom prst="rect">
            <a:avLst/>
          </a:prstGeom>
        </p:spPr>
        <p:txBody>
          <a:bodyPr lIns="0" tIns="0" rIns="0" bIns="0"/>
          <a:lstStyle>
            <a:lvl1pPr algn="l">
              <a:lnSpc>
                <a:spcPts val="3200"/>
              </a:lnSpc>
              <a:defRPr sz="2800" b="1">
                <a:solidFill>
                  <a:schemeClr val="tx1">
                    <a:lumMod val="10000"/>
                    <a:lumOff val="90000"/>
                  </a:schemeClr>
                </a:solidFill>
              </a:defRPr>
            </a:lvl1pPr>
          </a:lstStyle>
          <a:p>
            <a:r>
              <a:rPr lang="en-US" dirty="0"/>
              <a:t>Click to edit Master title style</a:t>
            </a:r>
          </a:p>
        </p:txBody>
      </p:sp>
    </p:spTree>
    <p:extLst>
      <p:ext uri="{BB962C8B-B14F-4D97-AF65-F5344CB8AC3E}">
        <p14:creationId xmlns:p14="http://schemas.microsoft.com/office/powerpoint/2010/main" val="1378586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py Slide - 1">
    <p:spTree>
      <p:nvGrpSpPr>
        <p:cNvPr id="1" name=""/>
        <p:cNvGrpSpPr/>
        <p:nvPr/>
      </p:nvGrpSpPr>
      <p:grpSpPr>
        <a:xfrm>
          <a:off x="0" y="0"/>
          <a:ext cx="0" cy="0"/>
          <a:chOff x="0" y="0"/>
          <a:chExt cx="0" cy="0"/>
        </a:xfrm>
      </p:grpSpPr>
      <p:pic>
        <p:nvPicPr>
          <p:cNvPr id="4" name="Picture 1" descr="s4b282c2015.png">
            <a:extLst>
              <a:ext uri="{FF2B5EF4-FFF2-40B4-BE49-F238E27FC236}">
                <a16:creationId xmlns:a16="http://schemas.microsoft.com/office/drawing/2014/main" id="{C5CC1297-7F58-3647-B3F1-062AA1D039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13763" y="1439863"/>
            <a:ext cx="3635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14">
            <a:extLst>
              <a:ext uri="{FF2B5EF4-FFF2-40B4-BE49-F238E27FC236}">
                <a16:creationId xmlns:a16="http://schemas.microsoft.com/office/drawing/2014/main" id="{7F2E0D4F-D434-DE43-A4CE-A7E215618088}"/>
              </a:ext>
            </a:extLst>
          </p:cNvPr>
          <p:cNvSpPr txBox="1">
            <a:spLocks/>
          </p:cNvSpPr>
          <p:nvPr userDrawn="1"/>
        </p:nvSpPr>
        <p:spPr>
          <a:xfrm flipH="1">
            <a:off x="8588375" y="4732338"/>
            <a:ext cx="304800" cy="192087"/>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31FA68E0-BB7B-CA40-9EFF-4BCD4E36FA24}" type="slidenum">
              <a:rPr lang="en-US" altLang="en-US" sz="900" smtClean="0">
                <a:cs typeface="Arial" panose="020B0604020202020204" pitchFamily="34" charset="0"/>
              </a:rPr>
              <a:pPr algn="r">
                <a:spcBef>
                  <a:spcPct val="20000"/>
                </a:spcBef>
                <a:buFont typeface="Arial" panose="020B0604020202020204" pitchFamily="34" charset="0"/>
                <a:buNone/>
                <a:defRPr/>
              </a:pPr>
              <a:t>‹#›</a:t>
            </a:fld>
            <a:endParaRPr lang="en-CA" altLang="en-US" sz="900">
              <a:cs typeface="Arial" panose="020B0604020202020204" pitchFamily="34" charset="0"/>
            </a:endParaRPr>
          </a:p>
        </p:txBody>
      </p:sp>
      <p:sp>
        <p:nvSpPr>
          <p:cNvPr id="10" name="Text Placeholder 2"/>
          <p:cNvSpPr>
            <a:spLocks noGrp="1"/>
          </p:cNvSpPr>
          <p:nvPr>
            <p:ph type="body" sz="quarter" idx="13"/>
          </p:nvPr>
        </p:nvSpPr>
        <p:spPr>
          <a:xfrm>
            <a:off x="438954" y="1131888"/>
            <a:ext cx="7661438" cy="3697288"/>
          </a:xfrm>
          <a:prstGeom prst="rect">
            <a:avLst/>
          </a:prstGeom>
        </p:spPr>
        <p:txBody>
          <a:bodyPr vert="horz" lIns="0" tIns="0" rIns="0" bIns="0"/>
          <a:lstStyle>
            <a:lvl1pPr marL="0" indent="0">
              <a:lnSpc>
                <a:spcPct val="130000"/>
              </a:lnSpc>
              <a:spcBef>
                <a:spcPts val="0"/>
              </a:spcBef>
              <a:buFontTx/>
              <a:buNone/>
              <a:defRPr sz="1500">
                <a:latin typeface="Arial"/>
                <a:cs typeface="Arial"/>
              </a:defRPr>
            </a:lvl1pPr>
            <a:lvl2pPr marL="0" indent="-180000">
              <a:lnSpc>
                <a:spcPct val="130000"/>
              </a:lnSpc>
              <a:spcBef>
                <a:spcPts val="0"/>
              </a:spcBef>
              <a:buFont typeface="Arial"/>
              <a:buChar char="•"/>
              <a:defRPr sz="1500">
                <a:latin typeface="Arial"/>
                <a:cs typeface="Arial"/>
              </a:defRPr>
            </a:lvl2pPr>
            <a:lvl3pPr marL="540000" indent="-180000">
              <a:lnSpc>
                <a:spcPct val="130000"/>
              </a:lnSpc>
              <a:spcBef>
                <a:spcPts val="0"/>
              </a:spcBef>
              <a:defRPr sz="1500" b="0" i="0">
                <a:latin typeface="Arial"/>
                <a:cs typeface="Arial"/>
              </a:defRPr>
            </a:lvl3pPr>
            <a:lvl4pPr marL="900000" indent="-180000">
              <a:lnSpc>
                <a:spcPct val="130000"/>
              </a:lnSpc>
              <a:spcBef>
                <a:spcPts val="0"/>
              </a:spcBef>
              <a:buFont typeface="Arial"/>
              <a:buChar char="•"/>
              <a:defRPr sz="1500" b="0" i="0">
                <a:latin typeface="Arial"/>
                <a:cs typeface="Arial"/>
              </a:defRPr>
            </a:lvl4pPr>
            <a:lvl5pPr marL="1260000" indent="-180000">
              <a:lnSpc>
                <a:spcPct val="130000"/>
              </a:lnSpc>
              <a:spcBef>
                <a:spcPts val="0"/>
              </a:spcBef>
              <a:buFont typeface="Arial"/>
              <a:buChar char="•"/>
              <a:defRPr sz="1500" b="0" i="0">
                <a:latin typeface="Arial"/>
                <a:cs typeface="Arial"/>
              </a:defRPr>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2" name="Title 1">
            <a:extLst>
              <a:ext uri="{FF2B5EF4-FFF2-40B4-BE49-F238E27FC236}">
                <a16:creationId xmlns:a16="http://schemas.microsoft.com/office/drawing/2014/main" id="{04C82551-CF7F-BB44-8DA7-7DB7D78F9390}"/>
              </a:ext>
            </a:extLst>
          </p:cNvPr>
          <p:cNvSpPr>
            <a:spLocks noGrp="1"/>
          </p:cNvSpPr>
          <p:nvPr>
            <p:ph type="title" hasCustomPrompt="1"/>
          </p:nvPr>
        </p:nvSpPr>
        <p:spPr>
          <a:xfrm>
            <a:off x="438954" y="560541"/>
            <a:ext cx="7886700" cy="451716"/>
          </a:xfrm>
          <a:prstGeom prst="rect">
            <a:avLst/>
          </a:prstGeom>
        </p:spPr>
        <p:txBody>
          <a:bodyPr lIns="0" tIns="0" rIns="0" bIns="0"/>
          <a:lstStyle>
            <a:lvl1pPr algn="l">
              <a:defRPr sz="2100" b="1">
                <a:solidFill>
                  <a:schemeClr val="accent1">
                    <a:lumMod val="50000"/>
                    <a:lumOff val="50000"/>
                  </a:schemeClr>
                </a:solidFill>
              </a:defRPr>
            </a:lvl1pPr>
          </a:lstStyle>
          <a:p>
            <a:pPr lvl="0"/>
            <a:r>
              <a:rPr lang="en-CA" dirty="0"/>
              <a:t>Click to edit Master text styles</a:t>
            </a:r>
          </a:p>
        </p:txBody>
      </p:sp>
    </p:spTree>
    <p:extLst>
      <p:ext uri="{BB962C8B-B14F-4D97-AF65-F5344CB8AC3E}">
        <p14:creationId xmlns:p14="http://schemas.microsoft.com/office/powerpoint/2010/main" val="3240340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py Slide - 2">
    <p:bg>
      <p:bgPr>
        <a:solidFill>
          <a:schemeClr val="tx1"/>
        </a:solidFill>
        <a:effectLst/>
      </p:bgPr>
    </p:bg>
    <p:spTree>
      <p:nvGrpSpPr>
        <p:cNvPr id="1" name=""/>
        <p:cNvGrpSpPr/>
        <p:nvPr/>
      </p:nvGrpSpPr>
      <p:grpSpPr>
        <a:xfrm>
          <a:off x="0" y="0"/>
          <a:ext cx="0" cy="0"/>
          <a:chOff x="0" y="0"/>
          <a:chExt cx="0" cy="0"/>
        </a:xfrm>
      </p:grpSpPr>
      <p:pic>
        <p:nvPicPr>
          <p:cNvPr id="4" name="Picture 2" descr="2014_logo_only_reverse.png">
            <a:extLst>
              <a:ext uri="{FF2B5EF4-FFF2-40B4-BE49-F238E27FC236}">
                <a16:creationId xmlns:a16="http://schemas.microsoft.com/office/drawing/2014/main" id="{3389ABEF-D5CE-EB4B-8DF1-04E7AB2AD87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85188" y="1419225"/>
            <a:ext cx="4079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14">
            <a:extLst>
              <a:ext uri="{FF2B5EF4-FFF2-40B4-BE49-F238E27FC236}">
                <a16:creationId xmlns:a16="http://schemas.microsoft.com/office/drawing/2014/main" id="{599D5D24-C50C-AA49-8E96-06282F592868}"/>
              </a:ext>
            </a:extLst>
          </p:cNvPr>
          <p:cNvSpPr txBox="1">
            <a:spLocks/>
          </p:cNvSpPr>
          <p:nvPr userDrawn="1"/>
        </p:nvSpPr>
        <p:spPr>
          <a:xfrm flipH="1">
            <a:off x="8588375" y="4732338"/>
            <a:ext cx="304800" cy="192087"/>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DA7EBE31-BD8B-4A46-AC67-62556815D290}" type="slidenum">
              <a:rPr lang="en-US" altLang="en-US" sz="900" smtClean="0">
                <a:solidFill>
                  <a:srgbClr val="FFFFFF"/>
                </a:solidFill>
                <a:cs typeface="Arial" panose="020B0604020202020204" pitchFamily="34" charset="0"/>
              </a:rPr>
              <a:pPr algn="r">
                <a:spcBef>
                  <a:spcPct val="20000"/>
                </a:spcBef>
                <a:buFont typeface="Arial" panose="020B0604020202020204" pitchFamily="34" charset="0"/>
                <a:buNone/>
                <a:defRPr/>
              </a:pPr>
              <a:t>‹#›</a:t>
            </a:fld>
            <a:endParaRPr lang="en-CA" altLang="en-US" sz="900">
              <a:solidFill>
                <a:srgbClr val="FFFFFF"/>
              </a:solidFill>
              <a:cs typeface="Arial" panose="020B0604020202020204" pitchFamily="34" charset="0"/>
            </a:endParaRPr>
          </a:p>
        </p:txBody>
      </p:sp>
      <p:sp>
        <p:nvSpPr>
          <p:cNvPr id="6" name="Text Placeholder 2"/>
          <p:cNvSpPr>
            <a:spLocks noGrp="1"/>
          </p:cNvSpPr>
          <p:nvPr>
            <p:ph type="body" sz="quarter" idx="13"/>
          </p:nvPr>
        </p:nvSpPr>
        <p:spPr>
          <a:xfrm>
            <a:off x="438954" y="1131888"/>
            <a:ext cx="7661438" cy="3697288"/>
          </a:xfrm>
          <a:prstGeom prst="rect">
            <a:avLst/>
          </a:prstGeom>
        </p:spPr>
        <p:txBody>
          <a:bodyPr vert="horz" lIns="0" tIns="0" rIns="0" bIns="0"/>
          <a:lstStyle>
            <a:lvl1pPr marL="0" indent="0">
              <a:lnSpc>
                <a:spcPct val="130000"/>
              </a:lnSpc>
              <a:spcBef>
                <a:spcPts val="0"/>
              </a:spcBef>
              <a:buFontTx/>
              <a:buNone/>
              <a:defRPr sz="1500">
                <a:solidFill>
                  <a:srgbClr val="FFFFFF"/>
                </a:solidFill>
                <a:latin typeface="Arial"/>
                <a:cs typeface="Arial"/>
              </a:defRPr>
            </a:lvl1pPr>
            <a:lvl2pPr marL="0" indent="-180000">
              <a:lnSpc>
                <a:spcPct val="130000"/>
              </a:lnSpc>
              <a:spcBef>
                <a:spcPts val="0"/>
              </a:spcBef>
              <a:buFont typeface="Arial"/>
              <a:buChar char="•"/>
              <a:defRPr sz="1500">
                <a:solidFill>
                  <a:srgbClr val="FFFFFF"/>
                </a:solidFill>
                <a:latin typeface="Arial"/>
                <a:cs typeface="Arial"/>
              </a:defRPr>
            </a:lvl2pPr>
            <a:lvl3pPr marL="540000" indent="-180000">
              <a:lnSpc>
                <a:spcPct val="130000"/>
              </a:lnSpc>
              <a:spcBef>
                <a:spcPts val="0"/>
              </a:spcBef>
              <a:defRPr sz="1500" b="0" i="0">
                <a:solidFill>
                  <a:srgbClr val="FFFFFF"/>
                </a:solidFill>
                <a:latin typeface="Arial"/>
                <a:cs typeface="Arial"/>
              </a:defRPr>
            </a:lvl3pPr>
            <a:lvl4pPr marL="900000" indent="-180000">
              <a:lnSpc>
                <a:spcPct val="130000"/>
              </a:lnSpc>
              <a:spcBef>
                <a:spcPts val="0"/>
              </a:spcBef>
              <a:buFont typeface="Arial"/>
              <a:buChar char="•"/>
              <a:defRPr sz="1500" b="0" i="0">
                <a:solidFill>
                  <a:srgbClr val="FFFFFF"/>
                </a:solidFill>
                <a:latin typeface="Arial"/>
                <a:cs typeface="Arial"/>
              </a:defRPr>
            </a:lvl4pPr>
            <a:lvl5pPr marL="1260000" indent="-180000">
              <a:lnSpc>
                <a:spcPct val="130000"/>
              </a:lnSpc>
              <a:spcBef>
                <a:spcPts val="0"/>
              </a:spcBef>
              <a:buFont typeface="Arial"/>
              <a:buChar char="•"/>
              <a:defRPr sz="1500" b="0" i="0">
                <a:solidFill>
                  <a:srgbClr val="FFFFFF"/>
                </a:solidFill>
                <a:latin typeface="Arial"/>
                <a:cs typeface="Arial"/>
              </a:defRPr>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2" name="Title 1">
            <a:extLst>
              <a:ext uri="{FF2B5EF4-FFF2-40B4-BE49-F238E27FC236}">
                <a16:creationId xmlns:a16="http://schemas.microsoft.com/office/drawing/2014/main" id="{ACBD4CC9-2B32-C947-A94E-1B7CE12D4171}"/>
              </a:ext>
            </a:extLst>
          </p:cNvPr>
          <p:cNvSpPr>
            <a:spLocks noGrp="1"/>
          </p:cNvSpPr>
          <p:nvPr>
            <p:ph type="title"/>
          </p:nvPr>
        </p:nvSpPr>
        <p:spPr>
          <a:xfrm>
            <a:off x="438954" y="555526"/>
            <a:ext cx="7886700" cy="432047"/>
          </a:xfrm>
          <a:prstGeom prst="rect">
            <a:avLst/>
          </a:prstGeom>
        </p:spPr>
        <p:txBody>
          <a:bodyPr lIns="0" tIns="0" rIns="0" bIns="0"/>
          <a:lstStyle>
            <a:lvl1pPr algn="l">
              <a:lnSpc>
                <a:spcPts val="2800"/>
              </a:lnSpc>
              <a:defRPr sz="2100" b="1">
                <a:solidFill>
                  <a:schemeClr val="tx1">
                    <a:lumMod val="10000"/>
                    <a:lumOff val="90000"/>
                  </a:schemeClr>
                </a:solidFill>
              </a:defRPr>
            </a:lvl1pPr>
          </a:lstStyle>
          <a:p>
            <a:r>
              <a:rPr lang="en-US" dirty="0"/>
              <a:t>Click to edit Master title style</a:t>
            </a:r>
          </a:p>
        </p:txBody>
      </p:sp>
    </p:spTree>
    <p:extLst>
      <p:ext uri="{BB962C8B-B14F-4D97-AF65-F5344CB8AC3E}">
        <p14:creationId xmlns:p14="http://schemas.microsoft.com/office/powerpoint/2010/main" val="757903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phics Slide - 1">
    <p:spTree>
      <p:nvGrpSpPr>
        <p:cNvPr id="1" name=""/>
        <p:cNvGrpSpPr/>
        <p:nvPr/>
      </p:nvGrpSpPr>
      <p:grpSpPr>
        <a:xfrm>
          <a:off x="0" y="0"/>
          <a:ext cx="0" cy="0"/>
          <a:chOff x="0" y="0"/>
          <a:chExt cx="0" cy="0"/>
        </a:xfrm>
      </p:grpSpPr>
      <p:sp>
        <p:nvSpPr>
          <p:cNvPr id="4" name="Text Placeholder 14">
            <a:extLst>
              <a:ext uri="{FF2B5EF4-FFF2-40B4-BE49-F238E27FC236}">
                <a16:creationId xmlns:a16="http://schemas.microsoft.com/office/drawing/2014/main" id="{0627803E-7450-1D4D-B989-93375F8F75B2}"/>
              </a:ext>
            </a:extLst>
          </p:cNvPr>
          <p:cNvSpPr txBox="1">
            <a:spLocks/>
          </p:cNvSpPr>
          <p:nvPr userDrawn="1"/>
        </p:nvSpPr>
        <p:spPr>
          <a:xfrm flipH="1">
            <a:off x="8588375" y="4732338"/>
            <a:ext cx="304800" cy="192087"/>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8D9C2B68-88E0-EA42-B917-1B9578864DF1}" type="slidenum">
              <a:rPr lang="en-US" altLang="en-US" sz="900" smtClean="0">
                <a:cs typeface="Arial" panose="020B0604020202020204" pitchFamily="34" charset="0"/>
              </a:rPr>
              <a:pPr algn="r">
                <a:spcBef>
                  <a:spcPct val="20000"/>
                </a:spcBef>
                <a:buFont typeface="Arial" panose="020B0604020202020204" pitchFamily="34" charset="0"/>
                <a:buNone/>
                <a:defRPr/>
              </a:pPr>
              <a:t>‹#›</a:t>
            </a:fld>
            <a:endParaRPr lang="en-CA" altLang="en-US" sz="900">
              <a:cs typeface="Arial" panose="020B0604020202020204" pitchFamily="34" charset="0"/>
            </a:endParaRPr>
          </a:p>
        </p:txBody>
      </p:sp>
      <p:pic>
        <p:nvPicPr>
          <p:cNvPr id="5" name="Picture 3" descr="s4b282c2015.png">
            <a:extLst>
              <a:ext uri="{FF2B5EF4-FFF2-40B4-BE49-F238E27FC236}">
                <a16:creationId xmlns:a16="http://schemas.microsoft.com/office/drawing/2014/main" id="{04436965-BB52-7B4A-811E-356741803A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29638" y="411510"/>
            <a:ext cx="3635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2"/>
          <p:cNvSpPr>
            <a:spLocks noGrp="1"/>
          </p:cNvSpPr>
          <p:nvPr>
            <p:ph type="body" sz="quarter" idx="13"/>
          </p:nvPr>
        </p:nvSpPr>
        <p:spPr>
          <a:xfrm>
            <a:off x="438954" y="1131888"/>
            <a:ext cx="7661438" cy="3697288"/>
          </a:xfrm>
          <a:prstGeom prst="rect">
            <a:avLst/>
          </a:prstGeom>
        </p:spPr>
        <p:txBody>
          <a:bodyPr vert="horz" lIns="0" tIns="0" rIns="0" bIns="0"/>
          <a:lstStyle>
            <a:lvl1pPr marL="0" indent="0">
              <a:lnSpc>
                <a:spcPct val="130000"/>
              </a:lnSpc>
              <a:spcBef>
                <a:spcPts val="0"/>
              </a:spcBef>
              <a:buFontTx/>
              <a:buNone/>
              <a:defRPr sz="1500">
                <a:latin typeface="Arial"/>
                <a:cs typeface="Arial"/>
              </a:defRPr>
            </a:lvl1pPr>
            <a:lvl2pPr marL="0" indent="-180000">
              <a:lnSpc>
                <a:spcPct val="130000"/>
              </a:lnSpc>
              <a:spcBef>
                <a:spcPts val="0"/>
              </a:spcBef>
              <a:buFont typeface="Arial"/>
              <a:buChar char="•"/>
              <a:defRPr sz="1500">
                <a:latin typeface="Arial"/>
                <a:cs typeface="Arial"/>
              </a:defRPr>
            </a:lvl2pPr>
            <a:lvl3pPr marL="540000" indent="-180000">
              <a:lnSpc>
                <a:spcPct val="130000"/>
              </a:lnSpc>
              <a:spcBef>
                <a:spcPts val="0"/>
              </a:spcBef>
              <a:defRPr sz="1500" b="0" i="0">
                <a:latin typeface="Arial"/>
                <a:cs typeface="Arial"/>
              </a:defRPr>
            </a:lvl3pPr>
            <a:lvl4pPr marL="900000" indent="-180000">
              <a:lnSpc>
                <a:spcPct val="130000"/>
              </a:lnSpc>
              <a:spcBef>
                <a:spcPts val="0"/>
              </a:spcBef>
              <a:buFont typeface="Arial"/>
              <a:buChar char="•"/>
              <a:defRPr sz="1500" b="0" i="0">
                <a:latin typeface="Arial"/>
                <a:cs typeface="Arial"/>
              </a:defRPr>
            </a:lvl4pPr>
            <a:lvl5pPr marL="1260000" indent="-180000">
              <a:lnSpc>
                <a:spcPct val="130000"/>
              </a:lnSpc>
              <a:spcBef>
                <a:spcPts val="0"/>
              </a:spcBef>
              <a:buFont typeface="Arial"/>
              <a:buChar char="•"/>
              <a:defRPr sz="1500" b="0" i="0">
                <a:latin typeface="Arial"/>
                <a:cs typeface="Arial"/>
              </a:defRPr>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2" name="Title 1">
            <a:extLst>
              <a:ext uri="{FF2B5EF4-FFF2-40B4-BE49-F238E27FC236}">
                <a16:creationId xmlns:a16="http://schemas.microsoft.com/office/drawing/2014/main" id="{7DBA0920-9910-044C-A5F5-C875F1267970}"/>
              </a:ext>
            </a:extLst>
          </p:cNvPr>
          <p:cNvSpPr>
            <a:spLocks noGrp="1"/>
          </p:cNvSpPr>
          <p:nvPr>
            <p:ph type="title"/>
          </p:nvPr>
        </p:nvSpPr>
        <p:spPr>
          <a:xfrm>
            <a:off x="438955" y="411510"/>
            <a:ext cx="7908520" cy="623332"/>
          </a:xfrm>
          <a:prstGeom prst="rect">
            <a:avLst/>
          </a:prstGeom>
        </p:spPr>
        <p:txBody>
          <a:bodyPr lIns="0" tIns="0" rIns="0" bIns="0"/>
          <a:lstStyle>
            <a:lvl1pPr algn="l">
              <a:lnSpc>
                <a:spcPts val="2100"/>
              </a:lnSpc>
              <a:defRPr sz="2100" b="1">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303775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phics Slide - 2">
    <p:bg>
      <p:bgPr>
        <a:solidFill>
          <a:schemeClr val="tx1"/>
        </a:solidFill>
        <a:effectLst/>
      </p:bgPr>
    </p:bg>
    <p:spTree>
      <p:nvGrpSpPr>
        <p:cNvPr id="1" name=""/>
        <p:cNvGrpSpPr/>
        <p:nvPr/>
      </p:nvGrpSpPr>
      <p:grpSpPr>
        <a:xfrm>
          <a:off x="0" y="0"/>
          <a:ext cx="0" cy="0"/>
          <a:chOff x="0" y="0"/>
          <a:chExt cx="0" cy="0"/>
        </a:xfrm>
      </p:grpSpPr>
      <p:sp>
        <p:nvSpPr>
          <p:cNvPr id="4" name="Text Placeholder 14">
            <a:extLst>
              <a:ext uri="{FF2B5EF4-FFF2-40B4-BE49-F238E27FC236}">
                <a16:creationId xmlns:a16="http://schemas.microsoft.com/office/drawing/2014/main" id="{E5C37F31-1A46-0E46-8716-80D112089A13}"/>
              </a:ext>
            </a:extLst>
          </p:cNvPr>
          <p:cNvSpPr txBox="1">
            <a:spLocks/>
          </p:cNvSpPr>
          <p:nvPr userDrawn="1"/>
        </p:nvSpPr>
        <p:spPr>
          <a:xfrm flipH="1">
            <a:off x="8588375" y="4732338"/>
            <a:ext cx="304800" cy="192087"/>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5FA2A49C-43B4-9148-A2E7-98A78CAA76EA}" type="slidenum">
              <a:rPr lang="en-US" altLang="en-US" sz="900" smtClean="0">
                <a:solidFill>
                  <a:srgbClr val="FFFFFF"/>
                </a:solidFill>
                <a:cs typeface="Arial" panose="020B0604020202020204" pitchFamily="34" charset="0"/>
              </a:rPr>
              <a:pPr algn="r">
                <a:spcBef>
                  <a:spcPct val="20000"/>
                </a:spcBef>
                <a:buFont typeface="Arial" panose="020B0604020202020204" pitchFamily="34" charset="0"/>
                <a:buNone/>
                <a:defRPr/>
              </a:pPr>
              <a:t>‹#›</a:t>
            </a:fld>
            <a:endParaRPr lang="en-CA" altLang="en-US" sz="900">
              <a:solidFill>
                <a:srgbClr val="FFFFFF"/>
              </a:solidFill>
              <a:cs typeface="Arial" panose="020B0604020202020204" pitchFamily="34" charset="0"/>
            </a:endParaRPr>
          </a:p>
        </p:txBody>
      </p:sp>
      <p:pic>
        <p:nvPicPr>
          <p:cNvPr id="5" name="Picture 2" descr="2014_logo_only_reverse.png">
            <a:extLst>
              <a:ext uri="{FF2B5EF4-FFF2-40B4-BE49-F238E27FC236}">
                <a16:creationId xmlns:a16="http://schemas.microsoft.com/office/drawing/2014/main" id="{78CBB9E3-1C1E-DE49-8310-5A5E2F385F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85188" y="378247"/>
            <a:ext cx="4079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2"/>
          <p:cNvSpPr>
            <a:spLocks noGrp="1"/>
          </p:cNvSpPr>
          <p:nvPr>
            <p:ph type="body" sz="quarter" idx="13"/>
          </p:nvPr>
        </p:nvSpPr>
        <p:spPr>
          <a:xfrm>
            <a:off x="438954" y="1131888"/>
            <a:ext cx="7661438" cy="3697288"/>
          </a:xfrm>
          <a:prstGeom prst="rect">
            <a:avLst/>
          </a:prstGeom>
        </p:spPr>
        <p:txBody>
          <a:bodyPr vert="horz" lIns="0" tIns="0" rIns="0" bIns="0"/>
          <a:lstStyle>
            <a:lvl1pPr marL="0" indent="0">
              <a:lnSpc>
                <a:spcPct val="130000"/>
              </a:lnSpc>
              <a:spcBef>
                <a:spcPts val="0"/>
              </a:spcBef>
              <a:buFontTx/>
              <a:buNone/>
              <a:defRPr sz="1500">
                <a:solidFill>
                  <a:srgbClr val="FFFFFF"/>
                </a:solidFill>
                <a:latin typeface="Arial"/>
                <a:cs typeface="Arial"/>
              </a:defRPr>
            </a:lvl1pPr>
            <a:lvl2pPr marL="0" indent="-180000">
              <a:lnSpc>
                <a:spcPct val="130000"/>
              </a:lnSpc>
              <a:spcBef>
                <a:spcPts val="0"/>
              </a:spcBef>
              <a:buFont typeface="Arial"/>
              <a:buChar char="•"/>
              <a:defRPr sz="1500">
                <a:solidFill>
                  <a:srgbClr val="FFFFFF"/>
                </a:solidFill>
                <a:latin typeface="Arial"/>
                <a:cs typeface="Arial"/>
              </a:defRPr>
            </a:lvl2pPr>
            <a:lvl3pPr marL="540000" indent="-180000">
              <a:lnSpc>
                <a:spcPct val="130000"/>
              </a:lnSpc>
              <a:spcBef>
                <a:spcPts val="0"/>
              </a:spcBef>
              <a:defRPr sz="1500" b="0" i="0">
                <a:solidFill>
                  <a:srgbClr val="FFFFFF"/>
                </a:solidFill>
                <a:latin typeface="Arial"/>
                <a:cs typeface="Arial"/>
              </a:defRPr>
            </a:lvl3pPr>
            <a:lvl4pPr marL="900000" indent="-180000">
              <a:lnSpc>
                <a:spcPct val="130000"/>
              </a:lnSpc>
              <a:spcBef>
                <a:spcPts val="0"/>
              </a:spcBef>
              <a:buFont typeface="Arial"/>
              <a:buChar char="•"/>
              <a:defRPr sz="1500" b="0" i="0">
                <a:solidFill>
                  <a:srgbClr val="FFFFFF"/>
                </a:solidFill>
                <a:latin typeface="Arial"/>
                <a:cs typeface="Arial"/>
              </a:defRPr>
            </a:lvl4pPr>
            <a:lvl5pPr marL="1260000" indent="-180000">
              <a:lnSpc>
                <a:spcPct val="130000"/>
              </a:lnSpc>
              <a:spcBef>
                <a:spcPts val="0"/>
              </a:spcBef>
              <a:buFont typeface="Arial"/>
              <a:buChar char="•"/>
              <a:defRPr sz="1500" b="0" i="0">
                <a:solidFill>
                  <a:srgbClr val="FFFFFF"/>
                </a:solidFill>
                <a:latin typeface="Arial"/>
                <a:cs typeface="Arial"/>
              </a:defRPr>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2" name="Title 1">
            <a:extLst>
              <a:ext uri="{FF2B5EF4-FFF2-40B4-BE49-F238E27FC236}">
                <a16:creationId xmlns:a16="http://schemas.microsoft.com/office/drawing/2014/main" id="{9F301CE3-3085-B645-9614-A980B513451B}"/>
              </a:ext>
            </a:extLst>
          </p:cNvPr>
          <p:cNvSpPr>
            <a:spLocks noGrp="1"/>
          </p:cNvSpPr>
          <p:nvPr>
            <p:ph type="title"/>
          </p:nvPr>
        </p:nvSpPr>
        <p:spPr>
          <a:xfrm>
            <a:off x="438954" y="411510"/>
            <a:ext cx="7949470" cy="648071"/>
          </a:xfrm>
          <a:prstGeom prst="rect">
            <a:avLst/>
          </a:prstGeom>
        </p:spPr>
        <p:txBody>
          <a:bodyPr lIns="0" tIns="0" rIns="0" bIns="0"/>
          <a:lstStyle>
            <a:lvl1pPr algn="l">
              <a:lnSpc>
                <a:spcPts val="2100"/>
              </a:lnSpc>
              <a:defRPr sz="2100" b="1">
                <a:solidFill>
                  <a:schemeClr val="tx1">
                    <a:lumMod val="10000"/>
                    <a:lumOff val="90000"/>
                  </a:schemeClr>
                </a:solidFill>
              </a:defRPr>
            </a:lvl1pPr>
          </a:lstStyle>
          <a:p>
            <a:r>
              <a:rPr lang="en-US" dirty="0"/>
              <a:t>Click to edit Master title style</a:t>
            </a:r>
          </a:p>
        </p:txBody>
      </p:sp>
    </p:spTree>
    <p:extLst>
      <p:ext uri="{BB962C8B-B14F-4D97-AF65-F5344CB8AC3E}">
        <p14:creationId xmlns:p14="http://schemas.microsoft.com/office/powerpoint/2010/main" val="1539285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1" descr="UBC_2016_Signature_Wide_282.png">
            <a:extLst>
              <a:ext uri="{FF2B5EF4-FFF2-40B4-BE49-F238E27FC236}">
                <a16:creationId xmlns:a16="http://schemas.microsoft.com/office/drawing/2014/main" id="{33DD662E-8631-024E-8FE3-BD3FF7284D6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9738" y="1439863"/>
            <a:ext cx="4770437"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876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 - 2">
    <p:bg>
      <p:bgPr>
        <a:solidFill>
          <a:schemeClr val="tx1"/>
        </a:solidFill>
        <a:effectLst/>
      </p:bgPr>
    </p:bg>
    <p:spTree>
      <p:nvGrpSpPr>
        <p:cNvPr id="1" name=""/>
        <p:cNvGrpSpPr/>
        <p:nvPr/>
      </p:nvGrpSpPr>
      <p:grpSpPr>
        <a:xfrm>
          <a:off x="0" y="0"/>
          <a:ext cx="0" cy="0"/>
          <a:chOff x="0" y="0"/>
          <a:chExt cx="0" cy="0"/>
        </a:xfrm>
      </p:grpSpPr>
      <p:pic>
        <p:nvPicPr>
          <p:cNvPr id="2" name="Picture 1" descr="1_2016_UBCStandard_Signature_ReverseRGB72.png">
            <a:extLst>
              <a:ext uri="{FF2B5EF4-FFF2-40B4-BE49-F238E27FC236}">
                <a16:creationId xmlns:a16="http://schemas.microsoft.com/office/drawing/2014/main" id="{F8600279-7B8A-0948-A22C-35CBB55BE2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9738" y="1443038"/>
            <a:ext cx="4770437"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3168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988" r:id="rId1"/>
    <p:sldLayoutId id="2147484989" r:id="rId2"/>
    <p:sldLayoutId id="2147484990" r:id="rId3"/>
    <p:sldLayoutId id="2147484991" r:id="rId4"/>
    <p:sldLayoutId id="2147484992" r:id="rId5"/>
    <p:sldLayoutId id="2147484993" r:id="rId6"/>
    <p:sldLayoutId id="2147484994" r:id="rId7"/>
    <p:sldLayoutId id="2147484995" r:id="rId8"/>
    <p:sldLayoutId id="2147484996" r:id="rId9"/>
    <p:sldLayoutId id="2147484997" r:id="rId10"/>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34" charset="-128"/>
          <a:cs typeface="ＭＳ Ｐゴシック"/>
        </a:defRPr>
      </a:lvl1pPr>
      <a:lvl2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ＭＳ Ｐゴシック"/>
        </a:defRPr>
      </a:lvl2pPr>
      <a:lvl3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ＭＳ Ｐゴシック"/>
        </a:defRPr>
      </a:lvl3pPr>
      <a:lvl4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ＭＳ Ｐゴシック"/>
        </a:defRPr>
      </a:lvl4pPr>
      <a:lvl5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ＭＳ Ｐゴシック"/>
        </a:defRPr>
      </a:lvl5pPr>
      <a:lvl6pPr marL="457200" algn="ctr" defTabSz="457200" rtl="0" fontAlgn="base">
        <a:spcBef>
          <a:spcPct val="0"/>
        </a:spcBef>
        <a:spcAft>
          <a:spcPct val="0"/>
        </a:spcAft>
        <a:defRPr sz="4400">
          <a:solidFill>
            <a:schemeClr val="tx1"/>
          </a:solidFill>
          <a:latin typeface="Arial" charset="0"/>
          <a:ea typeface="ＭＳ Ｐゴシック" charset="-128"/>
        </a:defRPr>
      </a:lvl6pPr>
      <a:lvl7pPr marL="914400" algn="ctr" defTabSz="457200" rtl="0" fontAlgn="base">
        <a:spcBef>
          <a:spcPct val="0"/>
        </a:spcBef>
        <a:spcAft>
          <a:spcPct val="0"/>
        </a:spcAft>
        <a:defRPr sz="4400">
          <a:solidFill>
            <a:schemeClr val="tx1"/>
          </a:solidFill>
          <a:latin typeface="Arial" charset="0"/>
          <a:ea typeface="ＭＳ Ｐゴシック" charset="-128"/>
        </a:defRPr>
      </a:lvl7pPr>
      <a:lvl8pPr marL="1371600" algn="ctr" defTabSz="457200" rtl="0" fontAlgn="base">
        <a:spcBef>
          <a:spcPct val="0"/>
        </a:spcBef>
        <a:spcAft>
          <a:spcPct val="0"/>
        </a:spcAft>
        <a:defRPr sz="4400">
          <a:solidFill>
            <a:schemeClr val="tx1"/>
          </a:solidFill>
          <a:latin typeface="Arial" charset="0"/>
          <a:ea typeface="ＭＳ Ｐゴシック" charset="-128"/>
        </a:defRPr>
      </a:lvl8pPr>
      <a:lvl9pPr marL="1828800" algn="ctr" defTabSz="457200" rtl="0" fontAlgn="base">
        <a:spcBef>
          <a:spcPct val="0"/>
        </a:spcBef>
        <a:spcAft>
          <a:spcPct val="0"/>
        </a:spcAft>
        <a:defRPr sz="4400">
          <a:solidFill>
            <a:schemeClr val="tx1"/>
          </a:solidFill>
          <a:latin typeface="Arial" charset="0"/>
          <a:ea typeface="ＭＳ Ｐゴシック"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ＭＳ Ｐゴシック"/>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ＭＳ Ｐゴシック"/>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ＭＳ Ｐゴシック"/>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ＭＳ Ｐゴシック"/>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ＭＳ Ｐゴシック"/>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3.xml"/><Relationship Id="rId5" Type="http://schemas.openxmlformats.org/officeDocument/2006/relationships/image" Target="../media/image8.jp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0.jpeg"/><Relationship Id="rId5" Type="http://schemas.openxmlformats.org/officeDocument/2006/relationships/image" Target="../media/image9.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0.jpeg"/><Relationship Id="rId5" Type="http://schemas.openxmlformats.org/officeDocument/2006/relationships/image" Target="../media/image9.jp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rmarcus.info/blog/2023/07/25/papers.html"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rmarcus.info/blog/2023/07/25/papers.html"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rmarcus.info/blog/2023/07/25/papers.html" TargetMode="External"/><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rmarcus.info/blog/2023/07/25/papers.html"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EB712E-B4B1-9B41-A76F-28B0BB1DF16B}"/>
              </a:ext>
            </a:extLst>
          </p:cNvPr>
          <p:cNvSpPr>
            <a:spLocks noGrp="1"/>
          </p:cNvSpPr>
          <p:nvPr>
            <p:ph type="body" sz="quarter" idx="12"/>
          </p:nvPr>
        </p:nvSpPr>
        <p:spPr/>
        <p:txBody>
          <a:bodyPr/>
          <a:lstStyle/>
          <a:p>
            <a:r>
              <a:rPr lang="en-US" dirty="0"/>
              <a:t>Puneet Mehrotra</a:t>
            </a:r>
          </a:p>
        </p:txBody>
      </p:sp>
      <p:sp>
        <p:nvSpPr>
          <p:cNvPr id="4" name="Text Placeholder 3">
            <a:extLst>
              <a:ext uri="{FF2B5EF4-FFF2-40B4-BE49-F238E27FC236}">
                <a16:creationId xmlns:a16="http://schemas.microsoft.com/office/drawing/2014/main" id="{52FFCADF-542C-974D-B0BD-339E9326A251}"/>
              </a:ext>
            </a:extLst>
          </p:cNvPr>
          <p:cNvSpPr>
            <a:spLocks noGrp="1"/>
          </p:cNvSpPr>
          <p:nvPr>
            <p:ph type="body" sz="quarter" idx="13"/>
          </p:nvPr>
        </p:nvSpPr>
        <p:spPr/>
        <p:txBody>
          <a:bodyPr/>
          <a:lstStyle/>
          <a:p>
            <a:r>
              <a:rPr lang="en-US" dirty="0"/>
              <a:t>PhD Proposal – July 10</a:t>
            </a:r>
            <a:r>
              <a:rPr lang="en-US" baseline="30000" dirty="0"/>
              <a:t>th</a:t>
            </a:r>
            <a:r>
              <a:rPr lang="en-US" dirty="0"/>
              <a:t>, 2024</a:t>
            </a:r>
          </a:p>
        </p:txBody>
      </p:sp>
      <p:sp>
        <p:nvSpPr>
          <p:cNvPr id="7" name="Title 6">
            <a:extLst>
              <a:ext uri="{FF2B5EF4-FFF2-40B4-BE49-F238E27FC236}">
                <a16:creationId xmlns:a16="http://schemas.microsoft.com/office/drawing/2014/main" id="{04869A91-59F7-7643-84C1-F6AE18ED9F4A}"/>
              </a:ext>
            </a:extLst>
          </p:cNvPr>
          <p:cNvSpPr>
            <a:spLocks noGrp="1"/>
          </p:cNvSpPr>
          <p:nvPr>
            <p:ph type="title"/>
          </p:nvPr>
        </p:nvSpPr>
        <p:spPr/>
        <p:txBody>
          <a:bodyPr/>
          <a:lstStyle/>
          <a:p>
            <a:r>
              <a:rPr lang="en-US" sz="3500" kern="0" spc="100" dirty="0">
                <a:solidFill>
                  <a:srgbClr val="0077C9"/>
                </a:solidFill>
                <a:ea typeface="ＭＳ Ｐゴシック" charset="-128"/>
                <a:cs typeface="Arial"/>
              </a:rPr>
              <a:t>Storing and Analyzing Large Graphs</a:t>
            </a:r>
            <a:br>
              <a:rPr lang="en-US" sz="3500" kern="0" spc="100" dirty="0">
                <a:solidFill>
                  <a:srgbClr val="0077C9"/>
                </a:solidFill>
                <a:ea typeface="ＭＳ Ｐゴシック" charset="-128"/>
                <a:cs typeface="Arial"/>
              </a:rPr>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4BE448-10C9-0C44-9903-8D1ADB25DB36}"/>
              </a:ext>
            </a:extLst>
          </p:cNvPr>
          <p:cNvSpPr>
            <a:spLocks noGrp="1"/>
          </p:cNvSpPr>
          <p:nvPr>
            <p:ph type="title"/>
          </p:nvPr>
        </p:nvSpPr>
        <p:spPr>
          <a:xfrm>
            <a:off x="368414" y="1131887"/>
            <a:ext cx="7886700" cy="503759"/>
          </a:xfrm>
        </p:spPr>
        <p:txBody>
          <a:bodyPr/>
          <a:lstStyle/>
          <a:p>
            <a:r>
              <a:rPr lang="en-US" dirty="0">
                <a:solidFill>
                  <a:srgbClr val="0077C8"/>
                </a:solidFill>
                <a:ea typeface="ＭＳ Ｐゴシック" charset="-128"/>
              </a:rPr>
              <a:t>Acknowledgements</a:t>
            </a:r>
            <a:endParaRPr lang="en-US" dirty="0"/>
          </a:p>
        </p:txBody>
      </p:sp>
      <p:pic>
        <p:nvPicPr>
          <p:cNvPr id="1026" name="Picture 2">
            <a:extLst>
              <a:ext uri="{FF2B5EF4-FFF2-40B4-BE49-F238E27FC236}">
                <a16:creationId xmlns:a16="http://schemas.microsoft.com/office/drawing/2014/main" id="{51357202-2737-E3BF-EBE2-49C6B2EFC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1332" y="2067694"/>
            <a:ext cx="1481336" cy="1851670"/>
          </a:xfrm>
          <a:prstGeom prst="ellipse">
            <a:avLst/>
          </a:prstGeom>
          <a:noFill/>
          <a:extLst>
            <a:ext uri="{909E8E84-426E-40DD-AFC4-6F175D3DCCD1}">
              <a14:hiddenFill xmlns:a14="http://schemas.microsoft.com/office/drawing/2010/main">
                <a:solidFill>
                  <a:srgbClr val="FFFFFF"/>
                </a:solidFill>
              </a14:hiddenFill>
            </a:ext>
          </a:extLst>
        </p:spPr>
      </p:pic>
      <p:pic>
        <p:nvPicPr>
          <p:cNvPr id="3" name="Picture 2" descr="A person smiling for a picture&#10;&#10;Description automatically generated">
            <a:extLst>
              <a:ext uri="{FF2B5EF4-FFF2-40B4-BE49-F238E27FC236}">
                <a16:creationId xmlns:a16="http://schemas.microsoft.com/office/drawing/2014/main" id="{416E88DE-C93A-0710-236C-01BF8ADCA9BB}"/>
              </a:ext>
            </a:extLst>
          </p:cNvPr>
          <p:cNvPicPr>
            <a:picLocks noChangeAspect="1"/>
          </p:cNvPicPr>
          <p:nvPr/>
        </p:nvPicPr>
        <p:blipFill>
          <a:blip r:embed="rId3"/>
          <a:stretch>
            <a:fillRect/>
          </a:stretch>
        </p:blipFill>
        <p:spPr>
          <a:xfrm>
            <a:off x="6444208" y="2878336"/>
            <a:ext cx="1041028" cy="1041028"/>
          </a:xfrm>
          <a:prstGeom prst="ellipse">
            <a:avLst/>
          </a:prstGeom>
        </p:spPr>
      </p:pic>
      <p:pic>
        <p:nvPicPr>
          <p:cNvPr id="6" name="Picture 5" descr="A person in a black jacket&#10;&#10;Description automatically generated">
            <a:extLst>
              <a:ext uri="{FF2B5EF4-FFF2-40B4-BE49-F238E27FC236}">
                <a16:creationId xmlns:a16="http://schemas.microsoft.com/office/drawing/2014/main" id="{2524331F-F59C-0052-3888-8D22635F8484}"/>
              </a:ext>
            </a:extLst>
          </p:cNvPr>
          <p:cNvPicPr>
            <a:picLocks noChangeAspect="1"/>
          </p:cNvPicPr>
          <p:nvPr/>
        </p:nvPicPr>
        <p:blipFill>
          <a:blip r:embed="rId4"/>
          <a:stretch>
            <a:fillRect/>
          </a:stretch>
        </p:blipFill>
        <p:spPr>
          <a:xfrm>
            <a:off x="5148064" y="3942197"/>
            <a:ext cx="1108291" cy="1108291"/>
          </a:xfrm>
          <a:prstGeom prst="ellipse">
            <a:avLst/>
          </a:prstGeom>
        </p:spPr>
      </p:pic>
      <p:pic>
        <p:nvPicPr>
          <p:cNvPr id="8" name="Picture 7" descr="A person smiling for the camera&#10;&#10;Description automatically generated">
            <a:extLst>
              <a:ext uri="{FF2B5EF4-FFF2-40B4-BE49-F238E27FC236}">
                <a16:creationId xmlns:a16="http://schemas.microsoft.com/office/drawing/2014/main" id="{CA320729-DF43-400D-552F-0C85B1DD3D19}"/>
              </a:ext>
            </a:extLst>
          </p:cNvPr>
          <p:cNvPicPr>
            <a:picLocks noChangeAspect="1"/>
          </p:cNvPicPr>
          <p:nvPr/>
        </p:nvPicPr>
        <p:blipFill>
          <a:blip r:embed="rId5"/>
          <a:stretch>
            <a:fillRect/>
          </a:stretch>
        </p:blipFill>
        <p:spPr>
          <a:xfrm>
            <a:off x="2650966" y="3669147"/>
            <a:ext cx="546100" cy="546100"/>
          </a:xfrm>
          <a:prstGeom prst="ellipse">
            <a:avLst/>
          </a:prstGeom>
        </p:spPr>
      </p:pic>
      <p:sp>
        <p:nvSpPr>
          <p:cNvPr id="9" name="TextBox 8">
            <a:extLst>
              <a:ext uri="{FF2B5EF4-FFF2-40B4-BE49-F238E27FC236}">
                <a16:creationId xmlns:a16="http://schemas.microsoft.com/office/drawing/2014/main" id="{34DBBDD8-93CF-50EC-7A75-5434897CD378}"/>
              </a:ext>
            </a:extLst>
          </p:cNvPr>
          <p:cNvSpPr txBox="1"/>
          <p:nvPr/>
        </p:nvSpPr>
        <p:spPr>
          <a:xfrm>
            <a:off x="467544" y="2427734"/>
            <a:ext cx="2264594" cy="461665"/>
          </a:xfrm>
          <a:prstGeom prst="rect">
            <a:avLst/>
          </a:prstGeom>
          <a:noFill/>
        </p:spPr>
        <p:txBody>
          <a:bodyPr wrap="none" rtlCol="0">
            <a:spAutoFit/>
          </a:bodyPr>
          <a:lstStyle/>
          <a:p>
            <a:r>
              <a:rPr lang="en-US" dirty="0"/>
              <a:t>TODO: others?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Placeholder 6">
            <a:extLst>
              <a:ext uri="{FF2B5EF4-FFF2-40B4-BE49-F238E27FC236}">
                <a16:creationId xmlns:a16="http://schemas.microsoft.com/office/drawing/2014/main" id="{44E1083B-EB0B-6E44-8131-7ED8D8E69DC7}"/>
              </a:ext>
            </a:extLst>
          </p:cNvPr>
          <p:cNvSpPr>
            <a:spLocks noGrp="1"/>
          </p:cNvSpPr>
          <p:nvPr>
            <p:ph type="body" sz="quarter" idx="13"/>
          </p:nvPr>
        </p:nvSpPr>
        <p:spPr/>
        <p:txBody>
          <a:bodyPr/>
          <a:lstStyle/>
          <a:p>
            <a:pPr marL="285750" indent="-285750">
              <a:buFont typeface="Arial" panose="020B0604020202020204" pitchFamily="34" charset="0"/>
              <a:buChar char="•"/>
            </a:pPr>
            <a:r>
              <a:rPr lang="en-CA" altLang="en-US" b="1" dirty="0"/>
              <a:t>Introduction and Background</a:t>
            </a:r>
            <a:endParaRPr lang="en-CA" altLang="en-US" dirty="0"/>
          </a:p>
          <a:p>
            <a:pPr marL="285750" indent="-285750">
              <a:buFont typeface="Arial" panose="020B0604020202020204" pitchFamily="34" charset="0"/>
              <a:buChar char="•"/>
            </a:pPr>
            <a:r>
              <a:rPr lang="en-CA" altLang="en-US" b="1" dirty="0"/>
              <a:t>Flexograph Architecture</a:t>
            </a:r>
          </a:p>
          <a:p>
            <a:pPr marL="285750" indent="-285750">
              <a:buFont typeface="Arial" panose="020B0604020202020204" pitchFamily="34" charset="0"/>
              <a:buChar char="•"/>
            </a:pPr>
            <a:endParaRPr lang="en-CA" altLang="en-US" b="1" dirty="0"/>
          </a:p>
          <a:p>
            <a:pPr marL="285750" indent="-285750">
              <a:buFont typeface="Arial" panose="020B0604020202020204" pitchFamily="34" charset="0"/>
              <a:buChar char="•"/>
            </a:pPr>
            <a:r>
              <a:rPr lang="en-CA" altLang="en-US" b="1" dirty="0"/>
              <a:t>Research  Questions and Eval</a:t>
            </a:r>
          </a:p>
          <a:p>
            <a:pPr marL="285750" indent="-285750">
              <a:buFont typeface="Arial" panose="020B0604020202020204" pitchFamily="34" charset="0"/>
              <a:buChar char="•"/>
            </a:pPr>
            <a:r>
              <a:rPr lang="en-CA" altLang="en-US" b="1" dirty="0"/>
              <a:t>Property Storage</a:t>
            </a:r>
            <a:endParaRPr lang="en-CA" altLang="en-US" dirty="0"/>
          </a:p>
          <a:p>
            <a:endParaRPr lang="en-CA" altLang="en-US" dirty="0"/>
          </a:p>
        </p:txBody>
      </p:sp>
      <p:sp>
        <p:nvSpPr>
          <p:cNvPr id="3" name="Title 2">
            <a:extLst>
              <a:ext uri="{FF2B5EF4-FFF2-40B4-BE49-F238E27FC236}">
                <a16:creationId xmlns:a16="http://schemas.microsoft.com/office/drawing/2014/main" id="{F2ADB46B-81BA-0D40-B2D2-49BDA729A103}"/>
              </a:ext>
            </a:extLst>
          </p:cNvPr>
          <p:cNvSpPr>
            <a:spLocks noGrp="1"/>
          </p:cNvSpPr>
          <p:nvPr>
            <p:ph type="title"/>
          </p:nvPr>
        </p:nvSpPr>
        <p:spPr/>
        <p:txBody>
          <a:bodyPr/>
          <a:lstStyle/>
          <a:p>
            <a:r>
              <a:rPr lang="en-CA" dirty="0">
                <a:solidFill>
                  <a:srgbClr val="0077C8"/>
                </a:solidFill>
                <a:ea typeface="ＭＳ Ｐゴシック" charset="-128"/>
              </a:rPr>
              <a:t>Table of Contents</a:t>
            </a:r>
            <a:endParaRPr lang="en-US" dirty="0"/>
          </a:p>
        </p:txBody>
      </p:sp>
      <p:sp>
        <p:nvSpPr>
          <p:cNvPr id="2" name="Rounded Rectangle 1">
            <a:extLst>
              <a:ext uri="{FF2B5EF4-FFF2-40B4-BE49-F238E27FC236}">
                <a16:creationId xmlns:a16="http://schemas.microsoft.com/office/drawing/2014/main" id="{6F8ABD38-78ED-D126-77CE-6BA4EAA14104}"/>
              </a:ext>
            </a:extLst>
          </p:cNvPr>
          <p:cNvSpPr/>
          <p:nvPr/>
        </p:nvSpPr>
        <p:spPr>
          <a:xfrm>
            <a:off x="323528" y="2355726"/>
            <a:ext cx="3384376" cy="288032"/>
          </a:xfrm>
          <a:prstGeom prst="roundRect">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105CB236-7CA5-D06A-08C7-C4D2F31C2AD7}"/>
              </a:ext>
            </a:extLst>
          </p:cNvPr>
          <p:cNvSpPr/>
          <p:nvPr/>
        </p:nvSpPr>
        <p:spPr>
          <a:xfrm>
            <a:off x="323528" y="2007879"/>
            <a:ext cx="3384376" cy="288032"/>
          </a:xfrm>
          <a:prstGeom prst="roundRect">
            <a:avLst/>
          </a:prstGeom>
          <a:noFill/>
          <a:ln w="19050">
            <a:solidFill>
              <a:srgbClr val="FFC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7479-6820-2135-11B3-E3BF16193709}"/>
              </a:ext>
            </a:extLst>
          </p:cNvPr>
          <p:cNvSpPr>
            <a:spLocks noGrp="1"/>
          </p:cNvSpPr>
          <p:nvPr>
            <p:ph type="title"/>
          </p:nvPr>
        </p:nvSpPr>
        <p:spPr/>
        <p:txBody>
          <a:bodyPr/>
          <a:lstStyle/>
          <a:p>
            <a:r>
              <a:rPr lang="en-US"/>
              <a:t>Introduction &amp; Background</a:t>
            </a:r>
            <a:br>
              <a:rPr lang="en-US"/>
            </a:br>
            <a:endParaRPr lang="en-US"/>
          </a:p>
        </p:txBody>
      </p:sp>
    </p:spTree>
    <p:extLst>
      <p:ext uri="{BB962C8B-B14F-4D97-AF65-F5344CB8AC3E}">
        <p14:creationId xmlns:p14="http://schemas.microsoft.com/office/powerpoint/2010/main" val="3679268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0491382-EDB8-72AF-C873-07739236C410}"/>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A graph is a pair </a:t>
            </a:r>
            <a:r>
              <a:rPr lang="en-US" i="1" dirty="0"/>
              <a:t>G = (V, E) </a:t>
            </a:r>
            <a:r>
              <a:rPr lang="en-US" dirty="0"/>
              <a:t>of sets of Vertices </a:t>
            </a:r>
            <a:r>
              <a:rPr lang="en-US" i="1" dirty="0"/>
              <a:t>V</a:t>
            </a:r>
            <a:r>
              <a:rPr lang="en-US" dirty="0"/>
              <a:t> and Edges </a:t>
            </a:r>
            <a:r>
              <a:rPr lang="en-US" i="1" dirty="0"/>
              <a:t>E</a:t>
            </a:r>
            <a:r>
              <a:rPr lang="en-US" dirty="0"/>
              <a:t> such that </a:t>
            </a:r>
            <a:r>
              <a:rPr lang="en-US" i="1" dirty="0"/>
              <a:t>E</a:t>
            </a:r>
            <a:r>
              <a:rPr lang="en-US" dirty="0"/>
              <a:t> ⊆ </a:t>
            </a:r>
            <a:r>
              <a:rPr lang="en-US" i="1" dirty="0"/>
              <a:t>V</a:t>
            </a:r>
            <a:r>
              <a:rPr lang="en-US" dirty="0"/>
              <a:t>×</a:t>
            </a:r>
            <a:r>
              <a:rPr lang="en-US" i="1" dirty="0"/>
              <a:t>V</a:t>
            </a:r>
          </a:p>
          <a:p>
            <a:pPr marL="825750" lvl="2" indent="-285750"/>
            <a:r>
              <a:rPr lang="en-US" dirty="0"/>
              <a:t>Vertices are entities modeled by the graph (ex: Users, Companies in a social network graph)</a:t>
            </a:r>
          </a:p>
          <a:p>
            <a:pPr marL="825750" lvl="2" indent="-285750"/>
            <a:r>
              <a:rPr lang="en-US" dirty="0"/>
              <a:t>Edges represent relationships between vertices (ex: “friends with”, or “works at”)</a:t>
            </a:r>
          </a:p>
          <a:p>
            <a:pPr marL="825750" lvl="2" indent="-285750"/>
            <a:endParaRPr lang="en-US" dirty="0"/>
          </a:p>
          <a:p>
            <a:pPr marL="285750" lvl="1" indent="-285750"/>
            <a:r>
              <a:rPr lang="en-US" dirty="0"/>
              <a:t>Graphs can be </a:t>
            </a:r>
            <a:r>
              <a:rPr lang="en-US" b="1" dirty="0"/>
              <a:t>directed</a:t>
            </a:r>
            <a:r>
              <a:rPr lang="en-US" dirty="0"/>
              <a:t> or </a:t>
            </a:r>
            <a:r>
              <a:rPr lang="en-US" b="1" dirty="0"/>
              <a:t>undirected</a:t>
            </a:r>
            <a:r>
              <a:rPr lang="en-US" dirty="0"/>
              <a:t>:</a:t>
            </a:r>
          </a:p>
          <a:p>
            <a:pPr marL="825750" lvl="2" indent="-285750"/>
            <a:r>
              <a:rPr lang="en-US" dirty="0"/>
              <a:t>Edge </a:t>
            </a:r>
            <a:r>
              <a:rPr lang="en-US" i="1" dirty="0"/>
              <a:t>e</a:t>
            </a:r>
            <a:r>
              <a:rPr lang="en-US" dirty="0"/>
              <a:t> in a directed graph is an ordered pair </a:t>
            </a:r>
            <a:r>
              <a:rPr lang="en-US" i="1" dirty="0"/>
              <a:t>(</a:t>
            </a:r>
            <a:r>
              <a:rPr lang="en-US" i="1" dirty="0" err="1"/>
              <a:t>u,v</a:t>
            </a:r>
            <a:r>
              <a:rPr lang="en-US" i="1" dirty="0"/>
              <a:t>)</a:t>
            </a:r>
            <a:r>
              <a:rPr lang="en-US" dirty="0"/>
              <a:t> where </a:t>
            </a:r>
            <a:r>
              <a:rPr lang="en-US" i="1" dirty="0"/>
              <a:t>u</a:t>
            </a:r>
            <a:r>
              <a:rPr lang="en-US" dirty="0"/>
              <a:t> is the source and </a:t>
            </a:r>
            <a:r>
              <a:rPr lang="en-US" i="1" dirty="0"/>
              <a:t>v</a:t>
            </a:r>
            <a:r>
              <a:rPr lang="en-US" dirty="0"/>
              <a:t> is the destination</a:t>
            </a:r>
          </a:p>
          <a:p>
            <a:pPr marL="825750" lvl="2" indent="-285750"/>
            <a:endParaRPr lang="en-US" dirty="0"/>
          </a:p>
          <a:p>
            <a:pPr marL="285750" lvl="1" indent="-285750"/>
            <a:r>
              <a:rPr lang="en-US" dirty="0"/>
              <a:t>This information is enough to capture the “structure” of relationships</a:t>
            </a:r>
          </a:p>
          <a:p>
            <a:pPr marL="825750" lvl="2" indent="-285750"/>
            <a:r>
              <a:rPr lang="en-US" dirty="0"/>
              <a:t>Good for topology and pattern mining tasks</a:t>
            </a:r>
          </a:p>
        </p:txBody>
      </p:sp>
      <p:sp>
        <p:nvSpPr>
          <p:cNvPr id="3" name="Title 2">
            <a:extLst>
              <a:ext uri="{FF2B5EF4-FFF2-40B4-BE49-F238E27FC236}">
                <a16:creationId xmlns:a16="http://schemas.microsoft.com/office/drawing/2014/main" id="{9404C247-4796-3FF5-A52C-B65F87FD0F6C}"/>
              </a:ext>
            </a:extLst>
          </p:cNvPr>
          <p:cNvSpPr>
            <a:spLocks noGrp="1"/>
          </p:cNvSpPr>
          <p:nvPr>
            <p:ph type="title"/>
          </p:nvPr>
        </p:nvSpPr>
        <p:spPr/>
        <p:txBody>
          <a:bodyPr/>
          <a:lstStyle/>
          <a:p>
            <a:r>
              <a:rPr lang="en-US" dirty="0"/>
              <a:t>What are Graphs?</a:t>
            </a:r>
          </a:p>
        </p:txBody>
      </p:sp>
    </p:spTree>
    <p:extLst>
      <p:ext uri="{BB962C8B-B14F-4D97-AF65-F5344CB8AC3E}">
        <p14:creationId xmlns:p14="http://schemas.microsoft.com/office/powerpoint/2010/main" val="1729136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Graphs Elements have Labels and Properties</a:t>
            </a:r>
          </a:p>
        </p:txBody>
      </p:sp>
      <p:pic>
        <p:nvPicPr>
          <p:cNvPr id="7" name="Picture 2">
            <a:extLst>
              <a:ext uri="{FF2B5EF4-FFF2-40B4-BE49-F238E27FC236}">
                <a16:creationId xmlns:a16="http://schemas.microsoft.com/office/drawing/2014/main" id="{190668FC-C055-0E69-EC73-43FF080587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6421" y="1149100"/>
            <a:ext cx="1481336" cy="1851670"/>
          </a:xfrm>
          <a:prstGeom prst="ellipse">
            <a:avLst/>
          </a:prstGeom>
          <a:noFill/>
          <a:extLst>
            <a:ext uri="{909E8E84-426E-40DD-AFC4-6F175D3DCCD1}">
              <a14:hiddenFill xmlns:a14="http://schemas.microsoft.com/office/drawing/2010/main">
                <a:solidFill>
                  <a:srgbClr val="FFFFFF"/>
                </a:solidFill>
              </a14:hiddenFill>
            </a:ext>
          </a:extLst>
        </p:spPr>
      </p:pic>
      <p:pic>
        <p:nvPicPr>
          <p:cNvPr id="9" name="Picture 8" descr="A person smiling for a picture&#10;&#10;Description automatically generated">
            <a:extLst>
              <a:ext uri="{FF2B5EF4-FFF2-40B4-BE49-F238E27FC236}">
                <a16:creationId xmlns:a16="http://schemas.microsoft.com/office/drawing/2014/main" id="{298BAA6B-A64D-33E0-30C9-5E251A524FAA}"/>
              </a:ext>
            </a:extLst>
          </p:cNvPr>
          <p:cNvPicPr>
            <a:picLocks noChangeAspect="1"/>
          </p:cNvPicPr>
          <p:nvPr/>
        </p:nvPicPr>
        <p:blipFill>
          <a:blip r:embed="rId4"/>
          <a:stretch>
            <a:fillRect/>
          </a:stretch>
        </p:blipFill>
        <p:spPr>
          <a:xfrm>
            <a:off x="6058663" y="2731325"/>
            <a:ext cx="1041028" cy="1041028"/>
          </a:xfrm>
          <a:prstGeom prst="ellipse">
            <a:avLst/>
          </a:prstGeom>
        </p:spPr>
      </p:pic>
      <p:pic>
        <p:nvPicPr>
          <p:cNvPr id="13" name="Picture 12" descr="A building with many windows&#10;&#10;Description automatically generated">
            <a:extLst>
              <a:ext uri="{FF2B5EF4-FFF2-40B4-BE49-F238E27FC236}">
                <a16:creationId xmlns:a16="http://schemas.microsoft.com/office/drawing/2014/main" id="{4F2EAC8E-77C8-2637-0367-0CE36AFB58A1}"/>
              </a:ext>
            </a:extLst>
          </p:cNvPr>
          <p:cNvPicPr>
            <a:picLocks noChangeAspect="1"/>
          </p:cNvPicPr>
          <p:nvPr/>
        </p:nvPicPr>
        <p:blipFill>
          <a:blip r:embed="rId5">
            <a:alphaModFix amt="0"/>
          </a:blip>
          <a:stretch>
            <a:fillRect/>
          </a:stretch>
        </p:blipFill>
        <p:spPr>
          <a:xfrm>
            <a:off x="4739047" y="1371147"/>
            <a:ext cx="1538114" cy="1476570"/>
          </a:xfrm>
          <a:prstGeom prst="ellipse">
            <a:avLst/>
          </a:prstGeom>
          <a:effectLst>
            <a:outerShdw blurRad="50800" dist="50800" dir="5400000" algn="ctr" rotWithShape="0">
              <a:srgbClr val="000000">
                <a:alpha val="0"/>
              </a:srgbClr>
            </a:outerShdw>
          </a:effectLst>
        </p:spPr>
      </p:pic>
      <p:pic>
        <p:nvPicPr>
          <p:cNvPr id="16" name="Picture 15" descr="A person taking a selfie&#10;&#10;Description automatically generated">
            <a:extLst>
              <a:ext uri="{FF2B5EF4-FFF2-40B4-BE49-F238E27FC236}">
                <a16:creationId xmlns:a16="http://schemas.microsoft.com/office/drawing/2014/main" id="{D85AB527-D69C-D064-DF54-385CB530BE37}"/>
              </a:ext>
            </a:extLst>
          </p:cNvPr>
          <p:cNvPicPr>
            <a:picLocks noChangeAspect="1"/>
          </p:cNvPicPr>
          <p:nvPr/>
        </p:nvPicPr>
        <p:blipFill>
          <a:blip r:embed="rId6"/>
          <a:stretch>
            <a:fillRect/>
          </a:stretch>
        </p:blipFill>
        <p:spPr>
          <a:xfrm>
            <a:off x="4114217" y="4064791"/>
            <a:ext cx="915566" cy="915566"/>
          </a:xfrm>
          <a:prstGeom prst="ellipse">
            <a:avLst/>
          </a:prstGeom>
        </p:spPr>
      </p:pic>
      <p:cxnSp>
        <p:nvCxnSpPr>
          <p:cNvPr id="24" name="Straight Arrow Connector 23">
            <a:extLst>
              <a:ext uri="{FF2B5EF4-FFF2-40B4-BE49-F238E27FC236}">
                <a16:creationId xmlns:a16="http://schemas.microsoft.com/office/drawing/2014/main" id="{C43B93BA-043F-C429-4D5D-4B3F3A9E6245}"/>
              </a:ext>
            </a:extLst>
          </p:cNvPr>
          <p:cNvCxnSpPr>
            <a:cxnSpLocks/>
            <a:stCxn id="7" idx="7"/>
            <a:endCxn id="13" idx="1"/>
          </p:cNvCxnSpPr>
          <p:nvPr/>
        </p:nvCxnSpPr>
        <p:spPr>
          <a:xfrm>
            <a:off x="3090820" y="1420271"/>
            <a:ext cx="1873479" cy="167115"/>
          </a:xfrm>
          <a:prstGeom prst="straightConnector1">
            <a:avLst/>
          </a:prstGeom>
          <a:ln>
            <a:solidFill>
              <a:schemeClr val="accent1">
                <a:alpha val="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2C274DB3-BC45-5F66-F52C-A3BE8DD343C0}"/>
              </a:ext>
            </a:extLst>
          </p:cNvPr>
          <p:cNvCxnSpPr>
            <a:stCxn id="7" idx="4"/>
            <a:endCxn id="16" idx="1"/>
          </p:cNvCxnSpPr>
          <p:nvPr/>
        </p:nvCxnSpPr>
        <p:spPr>
          <a:xfrm>
            <a:off x="2567089" y="3000770"/>
            <a:ext cx="1681210" cy="11981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7119A370-583A-CD4C-D8A2-C88311139570}"/>
              </a:ext>
            </a:extLst>
          </p:cNvPr>
          <p:cNvCxnSpPr>
            <a:stCxn id="7" idx="5"/>
            <a:endCxn id="9" idx="2"/>
          </p:cNvCxnSpPr>
          <p:nvPr/>
        </p:nvCxnSpPr>
        <p:spPr>
          <a:xfrm>
            <a:off x="3090820" y="2729599"/>
            <a:ext cx="2967843" cy="5222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9994AC6F-9F50-79A4-4628-F322AB22E734}"/>
              </a:ext>
            </a:extLst>
          </p:cNvPr>
          <p:cNvSpPr txBox="1"/>
          <p:nvPr/>
        </p:nvSpPr>
        <p:spPr>
          <a:xfrm rot="661832">
            <a:off x="4255357" y="2693828"/>
            <a:ext cx="1010213" cy="307777"/>
          </a:xfrm>
          <a:prstGeom prst="rect">
            <a:avLst/>
          </a:prstGeom>
          <a:noFill/>
        </p:spPr>
        <p:txBody>
          <a:bodyPr wrap="none" rtlCol="0">
            <a:spAutoFit/>
          </a:bodyPr>
          <a:lstStyle/>
          <a:p>
            <a:r>
              <a:rPr lang="en-US" sz="1400" dirty="0"/>
              <a:t>supervisor</a:t>
            </a:r>
          </a:p>
        </p:txBody>
      </p:sp>
      <p:sp>
        <p:nvSpPr>
          <p:cNvPr id="39" name="TextBox 38">
            <a:extLst>
              <a:ext uri="{FF2B5EF4-FFF2-40B4-BE49-F238E27FC236}">
                <a16:creationId xmlns:a16="http://schemas.microsoft.com/office/drawing/2014/main" id="{F033D5DC-9CCF-B1C2-ABBA-780D8B86C47B}"/>
              </a:ext>
            </a:extLst>
          </p:cNvPr>
          <p:cNvSpPr txBox="1"/>
          <p:nvPr/>
        </p:nvSpPr>
        <p:spPr>
          <a:xfrm rot="2182711">
            <a:off x="3034278" y="3353202"/>
            <a:ext cx="1010213" cy="307777"/>
          </a:xfrm>
          <a:prstGeom prst="rect">
            <a:avLst/>
          </a:prstGeom>
          <a:noFill/>
        </p:spPr>
        <p:txBody>
          <a:bodyPr wrap="none" rtlCol="0">
            <a:spAutoFit/>
          </a:bodyPr>
          <a:lstStyle/>
          <a:p>
            <a:r>
              <a:rPr lang="en-US" sz="1400" dirty="0"/>
              <a:t>supervisor</a:t>
            </a:r>
          </a:p>
        </p:txBody>
      </p:sp>
      <p:sp>
        <p:nvSpPr>
          <p:cNvPr id="41" name="Rectangular Callout 40">
            <a:extLst>
              <a:ext uri="{FF2B5EF4-FFF2-40B4-BE49-F238E27FC236}">
                <a16:creationId xmlns:a16="http://schemas.microsoft.com/office/drawing/2014/main" id="{3988DB5C-5D48-52CF-46FC-1C67B242ED87}"/>
              </a:ext>
            </a:extLst>
          </p:cNvPr>
          <p:cNvSpPr/>
          <p:nvPr/>
        </p:nvSpPr>
        <p:spPr>
          <a:xfrm>
            <a:off x="3633697" y="1037965"/>
            <a:ext cx="1643455" cy="702319"/>
          </a:xfrm>
          <a:prstGeom prst="wedgeRectCallout">
            <a:avLst>
              <a:gd name="adj1" fmla="val -86912"/>
              <a:gd name="adj2" fmla="val -4822"/>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Name: Margo</a:t>
            </a:r>
          </a:p>
          <a:p>
            <a:pPr algn="ctr"/>
            <a:r>
              <a:rPr lang="en-US" sz="1600" dirty="0">
                <a:solidFill>
                  <a:schemeClr val="tx1"/>
                </a:solidFill>
              </a:rPr>
              <a:t>Lab: </a:t>
            </a:r>
            <a:r>
              <a:rPr lang="en-US" sz="1600" dirty="0" err="1">
                <a:solidFill>
                  <a:schemeClr val="tx1"/>
                </a:solidFill>
              </a:rPr>
              <a:t>Systopia</a:t>
            </a:r>
            <a:endParaRPr lang="en-US" sz="1600" dirty="0">
              <a:solidFill>
                <a:schemeClr val="tx1"/>
              </a:solidFill>
            </a:endParaRPr>
          </a:p>
          <a:p>
            <a:pPr algn="ctr"/>
            <a:r>
              <a:rPr lang="en-US" sz="1600" dirty="0">
                <a:solidFill>
                  <a:schemeClr val="tx1"/>
                </a:solidFill>
              </a:rPr>
              <a:t>Title: Prof.</a:t>
            </a:r>
          </a:p>
        </p:txBody>
      </p:sp>
      <p:sp>
        <p:nvSpPr>
          <p:cNvPr id="42" name="Rectangular Callout 41">
            <a:extLst>
              <a:ext uri="{FF2B5EF4-FFF2-40B4-BE49-F238E27FC236}">
                <a16:creationId xmlns:a16="http://schemas.microsoft.com/office/drawing/2014/main" id="{E532B38C-B744-9A7F-FFAF-55C9C2CB2CCF}"/>
              </a:ext>
            </a:extLst>
          </p:cNvPr>
          <p:cNvSpPr/>
          <p:nvPr/>
        </p:nvSpPr>
        <p:spPr>
          <a:xfrm>
            <a:off x="5578019" y="4206169"/>
            <a:ext cx="1512168" cy="787229"/>
          </a:xfrm>
          <a:prstGeom prst="wedgeRectCallout">
            <a:avLst>
              <a:gd name="adj1" fmla="val -86912"/>
              <a:gd name="adj2" fmla="val -4822"/>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Name: Puneet</a:t>
            </a:r>
          </a:p>
          <a:p>
            <a:pPr algn="ctr"/>
            <a:r>
              <a:rPr lang="en-US" sz="1600" dirty="0">
                <a:solidFill>
                  <a:schemeClr val="tx1"/>
                </a:solidFill>
              </a:rPr>
              <a:t>Lab: </a:t>
            </a:r>
            <a:r>
              <a:rPr lang="en-US" sz="1600" dirty="0" err="1">
                <a:solidFill>
                  <a:schemeClr val="tx1"/>
                </a:solidFill>
              </a:rPr>
              <a:t>Systopia</a:t>
            </a:r>
            <a:endParaRPr lang="en-US" sz="1600" dirty="0">
              <a:solidFill>
                <a:schemeClr val="tx1"/>
              </a:solidFill>
            </a:endParaRPr>
          </a:p>
          <a:p>
            <a:pPr algn="ctr"/>
            <a:r>
              <a:rPr lang="en-US" sz="1600" dirty="0">
                <a:solidFill>
                  <a:schemeClr val="tx1"/>
                </a:solidFill>
              </a:rPr>
              <a:t>Title: grad</a:t>
            </a:r>
          </a:p>
        </p:txBody>
      </p:sp>
      <p:sp>
        <p:nvSpPr>
          <p:cNvPr id="43" name="Rectangular Callout 42">
            <a:extLst>
              <a:ext uri="{FF2B5EF4-FFF2-40B4-BE49-F238E27FC236}">
                <a16:creationId xmlns:a16="http://schemas.microsoft.com/office/drawing/2014/main" id="{F8CB8795-AC73-400C-4C69-EFBDE6FD9015}"/>
              </a:ext>
            </a:extLst>
          </p:cNvPr>
          <p:cNvSpPr/>
          <p:nvPr/>
        </p:nvSpPr>
        <p:spPr>
          <a:xfrm>
            <a:off x="7397887" y="2734137"/>
            <a:ext cx="1512168" cy="787229"/>
          </a:xfrm>
          <a:prstGeom prst="wedgeRectCallout">
            <a:avLst>
              <a:gd name="adj1" fmla="val -69701"/>
              <a:gd name="adj2" fmla="val -2142"/>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Name: Milad</a:t>
            </a:r>
          </a:p>
          <a:p>
            <a:pPr algn="ctr"/>
            <a:r>
              <a:rPr lang="en-US" sz="1600" dirty="0">
                <a:solidFill>
                  <a:schemeClr val="tx1"/>
                </a:solidFill>
              </a:rPr>
              <a:t>Lab: </a:t>
            </a:r>
            <a:r>
              <a:rPr lang="en-US" sz="1600" dirty="0" err="1">
                <a:solidFill>
                  <a:schemeClr val="tx1"/>
                </a:solidFill>
              </a:rPr>
              <a:t>Systopia</a:t>
            </a:r>
            <a:endParaRPr lang="en-US" sz="1600" dirty="0">
              <a:solidFill>
                <a:schemeClr val="tx1"/>
              </a:solidFill>
            </a:endParaRPr>
          </a:p>
          <a:p>
            <a:pPr algn="ctr"/>
            <a:r>
              <a:rPr lang="en-US" sz="1600" dirty="0">
                <a:solidFill>
                  <a:schemeClr val="tx1"/>
                </a:solidFill>
              </a:rPr>
              <a:t>Title: ex-grad</a:t>
            </a:r>
          </a:p>
        </p:txBody>
      </p:sp>
    </p:spTree>
    <p:extLst>
      <p:ext uri="{BB962C8B-B14F-4D97-AF65-F5344CB8AC3E}">
        <p14:creationId xmlns:p14="http://schemas.microsoft.com/office/powerpoint/2010/main" val="3259671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Graphs Elements have Labels and Properties</a:t>
            </a:r>
          </a:p>
        </p:txBody>
      </p:sp>
      <p:grpSp>
        <p:nvGrpSpPr>
          <p:cNvPr id="61" name="Group 60">
            <a:extLst>
              <a:ext uri="{FF2B5EF4-FFF2-40B4-BE49-F238E27FC236}">
                <a16:creationId xmlns:a16="http://schemas.microsoft.com/office/drawing/2014/main" id="{2DE7E379-0A6C-B3C9-6BE9-96A81A4967ED}"/>
              </a:ext>
            </a:extLst>
          </p:cNvPr>
          <p:cNvGrpSpPr/>
          <p:nvPr/>
        </p:nvGrpSpPr>
        <p:grpSpPr>
          <a:xfrm>
            <a:off x="1826421" y="732821"/>
            <a:ext cx="7313820" cy="4347113"/>
            <a:chOff x="1826421" y="732821"/>
            <a:chExt cx="7313820" cy="4347113"/>
          </a:xfrm>
        </p:grpSpPr>
        <p:pic>
          <p:nvPicPr>
            <p:cNvPr id="7" name="Picture 2">
              <a:extLst>
                <a:ext uri="{FF2B5EF4-FFF2-40B4-BE49-F238E27FC236}">
                  <a16:creationId xmlns:a16="http://schemas.microsoft.com/office/drawing/2014/main" id="{190668FC-C055-0E69-EC73-43FF080587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6421" y="1149100"/>
              <a:ext cx="1481336" cy="1851670"/>
            </a:xfrm>
            <a:prstGeom prst="ellipse">
              <a:avLst/>
            </a:prstGeom>
            <a:noFill/>
            <a:extLst>
              <a:ext uri="{909E8E84-426E-40DD-AFC4-6F175D3DCCD1}">
                <a14:hiddenFill xmlns:a14="http://schemas.microsoft.com/office/drawing/2010/main">
                  <a:solidFill>
                    <a:srgbClr val="FFFFFF"/>
                  </a:solidFill>
                </a14:hiddenFill>
              </a:ext>
            </a:extLst>
          </p:spPr>
        </p:pic>
        <p:pic>
          <p:nvPicPr>
            <p:cNvPr id="9" name="Picture 8" descr="A person smiling for a picture&#10;&#10;Description automatically generated">
              <a:extLst>
                <a:ext uri="{FF2B5EF4-FFF2-40B4-BE49-F238E27FC236}">
                  <a16:creationId xmlns:a16="http://schemas.microsoft.com/office/drawing/2014/main" id="{298BAA6B-A64D-33E0-30C9-5E251A524FAA}"/>
                </a:ext>
              </a:extLst>
            </p:cNvPr>
            <p:cNvPicPr>
              <a:picLocks noChangeAspect="1"/>
            </p:cNvPicPr>
            <p:nvPr/>
          </p:nvPicPr>
          <p:blipFill>
            <a:blip r:embed="rId4"/>
            <a:stretch>
              <a:fillRect/>
            </a:stretch>
          </p:blipFill>
          <p:spPr>
            <a:xfrm>
              <a:off x="6727878" y="3015099"/>
              <a:ext cx="1041028" cy="1041028"/>
            </a:xfrm>
            <a:prstGeom prst="ellipse">
              <a:avLst/>
            </a:prstGeom>
          </p:spPr>
        </p:pic>
        <p:pic>
          <p:nvPicPr>
            <p:cNvPr id="13" name="Picture 12" descr="A building with many windows&#10;&#10;Description automatically generated">
              <a:extLst>
                <a:ext uri="{FF2B5EF4-FFF2-40B4-BE49-F238E27FC236}">
                  <a16:creationId xmlns:a16="http://schemas.microsoft.com/office/drawing/2014/main" id="{4F2EAC8E-77C8-2637-0367-0CE36AFB58A1}"/>
                </a:ext>
              </a:extLst>
            </p:cNvPr>
            <p:cNvPicPr>
              <a:picLocks noChangeAspect="1"/>
            </p:cNvPicPr>
            <p:nvPr/>
          </p:nvPicPr>
          <p:blipFill>
            <a:blip r:embed="rId5">
              <a:alphaModFix/>
            </a:blip>
            <a:stretch>
              <a:fillRect/>
            </a:stretch>
          </p:blipFill>
          <p:spPr>
            <a:xfrm>
              <a:off x="6394179" y="732821"/>
              <a:ext cx="1538114" cy="1476570"/>
            </a:xfrm>
            <a:prstGeom prst="ellipse">
              <a:avLst/>
            </a:prstGeom>
            <a:effectLst>
              <a:outerShdw blurRad="50800" dist="50800" dir="5400000" algn="ctr" rotWithShape="0">
                <a:srgbClr val="000000">
                  <a:alpha val="0"/>
                </a:srgbClr>
              </a:outerShdw>
            </a:effectLst>
          </p:spPr>
        </p:pic>
        <p:pic>
          <p:nvPicPr>
            <p:cNvPr id="16" name="Picture 15" descr="A person taking a selfie&#10;&#10;Description automatically generated">
              <a:extLst>
                <a:ext uri="{FF2B5EF4-FFF2-40B4-BE49-F238E27FC236}">
                  <a16:creationId xmlns:a16="http://schemas.microsoft.com/office/drawing/2014/main" id="{D85AB527-D69C-D064-DF54-385CB530BE37}"/>
                </a:ext>
              </a:extLst>
            </p:cNvPr>
            <p:cNvPicPr>
              <a:picLocks noChangeAspect="1"/>
            </p:cNvPicPr>
            <p:nvPr/>
          </p:nvPicPr>
          <p:blipFill>
            <a:blip r:embed="rId6"/>
            <a:stretch>
              <a:fillRect/>
            </a:stretch>
          </p:blipFill>
          <p:spPr>
            <a:xfrm>
              <a:off x="3696920" y="4125176"/>
              <a:ext cx="915566" cy="915566"/>
            </a:xfrm>
            <a:prstGeom prst="ellipse">
              <a:avLst/>
            </a:prstGeom>
          </p:spPr>
        </p:pic>
        <p:cxnSp>
          <p:nvCxnSpPr>
            <p:cNvPr id="24" name="Straight Arrow Connector 23">
              <a:extLst>
                <a:ext uri="{FF2B5EF4-FFF2-40B4-BE49-F238E27FC236}">
                  <a16:creationId xmlns:a16="http://schemas.microsoft.com/office/drawing/2014/main" id="{C43B93BA-043F-C429-4D5D-4B3F3A9E6245}"/>
                </a:ext>
              </a:extLst>
            </p:cNvPr>
            <p:cNvCxnSpPr>
              <a:cxnSpLocks/>
              <a:stCxn id="7" idx="7"/>
              <a:endCxn id="13" idx="1"/>
            </p:cNvCxnSpPr>
            <p:nvPr/>
          </p:nvCxnSpPr>
          <p:spPr>
            <a:xfrm flipV="1">
              <a:off x="3090820" y="949060"/>
              <a:ext cx="3528611" cy="471211"/>
            </a:xfrm>
            <a:prstGeom prst="straightConnector1">
              <a:avLst/>
            </a:prstGeom>
            <a:ln>
              <a:solidFill>
                <a:schemeClr val="accent1">
                  <a:alpha val="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2C274DB3-BC45-5F66-F52C-A3BE8DD343C0}"/>
                </a:ext>
              </a:extLst>
            </p:cNvPr>
            <p:cNvCxnSpPr>
              <a:stCxn id="7" idx="4"/>
              <a:endCxn id="16" idx="1"/>
            </p:cNvCxnSpPr>
            <p:nvPr/>
          </p:nvCxnSpPr>
          <p:spPr>
            <a:xfrm>
              <a:off x="2567089" y="3000770"/>
              <a:ext cx="1263913" cy="125848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7119A370-583A-CD4C-D8A2-C88311139570}"/>
                </a:ext>
              </a:extLst>
            </p:cNvPr>
            <p:cNvCxnSpPr>
              <a:stCxn id="7" idx="5"/>
              <a:endCxn id="9" idx="2"/>
            </p:cNvCxnSpPr>
            <p:nvPr/>
          </p:nvCxnSpPr>
          <p:spPr>
            <a:xfrm>
              <a:off x="3090820" y="2729599"/>
              <a:ext cx="3637058" cy="80601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9994AC6F-9F50-79A4-4628-F322AB22E734}"/>
                </a:ext>
              </a:extLst>
            </p:cNvPr>
            <p:cNvSpPr txBox="1"/>
            <p:nvPr/>
          </p:nvSpPr>
          <p:spPr>
            <a:xfrm rot="661832">
              <a:off x="4088793" y="2775587"/>
              <a:ext cx="1010213" cy="307777"/>
            </a:xfrm>
            <a:prstGeom prst="rect">
              <a:avLst/>
            </a:prstGeom>
            <a:noFill/>
            <a:effectLst/>
          </p:spPr>
          <p:txBody>
            <a:bodyPr wrap="none" rtlCol="0">
              <a:spAutoFit/>
            </a:bodyPr>
            <a:lstStyle/>
            <a:p>
              <a:r>
                <a:rPr lang="en-US" sz="1400" dirty="0"/>
                <a:t>supervisor</a:t>
              </a:r>
            </a:p>
          </p:txBody>
        </p:sp>
        <p:sp>
          <p:nvSpPr>
            <p:cNvPr id="39" name="TextBox 38">
              <a:extLst>
                <a:ext uri="{FF2B5EF4-FFF2-40B4-BE49-F238E27FC236}">
                  <a16:creationId xmlns:a16="http://schemas.microsoft.com/office/drawing/2014/main" id="{F033D5DC-9CCF-B1C2-ABBA-780D8B86C47B}"/>
                </a:ext>
              </a:extLst>
            </p:cNvPr>
            <p:cNvSpPr txBox="1"/>
            <p:nvPr/>
          </p:nvSpPr>
          <p:spPr>
            <a:xfrm rot="2182711">
              <a:off x="2868876" y="3244745"/>
              <a:ext cx="1010213" cy="307777"/>
            </a:xfrm>
            <a:prstGeom prst="rect">
              <a:avLst/>
            </a:prstGeom>
            <a:noFill/>
            <a:effectLst/>
          </p:spPr>
          <p:txBody>
            <a:bodyPr wrap="none" rtlCol="0">
              <a:spAutoFit/>
            </a:bodyPr>
            <a:lstStyle/>
            <a:p>
              <a:r>
                <a:rPr lang="en-US" sz="1400" dirty="0"/>
                <a:t>supervisor</a:t>
              </a:r>
            </a:p>
          </p:txBody>
        </p:sp>
        <p:sp>
          <p:nvSpPr>
            <p:cNvPr id="41" name="Rectangular Callout 40">
              <a:extLst>
                <a:ext uri="{FF2B5EF4-FFF2-40B4-BE49-F238E27FC236}">
                  <a16:creationId xmlns:a16="http://schemas.microsoft.com/office/drawing/2014/main" id="{3988DB5C-5D48-52CF-46FC-1C67B242ED87}"/>
                </a:ext>
              </a:extLst>
            </p:cNvPr>
            <p:cNvSpPr/>
            <p:nvPr/>
          </p:nvSpPr>
          <p:spPr>
            <a:xfrm>
              <a:off x="3633697" y="1037965"/>
              <a:ext cx="1643455" cy="702319"/>
            </a:xfrm>
            <a:prstGeom prst="wedgeRectCallout">
              <a:avLst>
                <a:gd name="adj1" fmla="val -86912"/>
                <a:gd name="adj2" fmla="val -4822"/>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Name: Margo</a:t>
              </a:r>
            </a:p>
            <a:p>
              <a:pPr algn="ctr"/>
              <a:r>
                <a:rPr lang="en-US" sz="1600" dirty="0">
                  <a:solidFill>
                    <a:schemeClr val="tx1"/>
                  </a:solidFill>
                </a:rPr>
                <a:t>Lab: </a:t>
              </a:r>
              <a:r>
                <a:rPr lang="en-US" sz="1600" dirty="0" err="1">
                  <a:solidFill>
                    <a:schemeClr val="tx1"/>
                  </a:solidFill>
                </a:rPr>
                <a:t>Systopia</a:t>
              </a:r>
              <a:endParaRPr lang="en-US" sz="1600" dirty="0">
                <a:solidFill>
                  <a:schemeClr val="tx1"/>
                </a:solidFill>
              </a:endParaRPr>
            </a:p>
            <a:p>
              <a:pPr algn="ctr"/>
              <a:r>
                <a:rPr lang="en-US" sz="1600" dirty="0">
                  <a:solidFill>
                    <a:schemeClr val="tx1"/>
                  </a:solidFill>
                </a:rPr>
                <a:t>Title: Prof.</a:t>
              </a:r>
            </a:p>
          </p:txBody>
        </p:sp>
        <p:sp>
          <p:nvSpPr>
            <p:cNvPr id="42" name="Rectangular Callout 41">
              <a:extLst>
                <a:ext uri="{FF2B5EF4-FFF2-40B4-BE49-F238E27FC236}">
                  <a16:creationId xmlns:a16="http://schemas.microsoft.com/office/drawing/2014/main" id="{E532B38C-B744-9A7F-FFAF-55C9C2CB2CCF}"/>
                </a:ext>
              </a:extLst>
            </p:cNvPr>
            <p:cNvSpPr/>
            <p:nvPr/>
          </p:nvSpPr>
          <p:spPr>
            <a:xfrm>
              <a:off x="5201819" y="4292705"/>
              <a:ext cx="1512168" cy="787229"/>
            </a:xfrm>
            <a:prstGeom prst="wedgeRectCallout">
              <a:avLst>
                <a:gd name="adj1" fmla="val -86912"/>
                <a:gd name="adj2" fmla="val -4822"/>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Name: Puneet</a:t>
              </a:r>
            </a:p>
            <a:p>
              <a:pPr algn="ctr"/>
              <a:r>
                <a:rPr lang="en-US" sz="1600" dirty="0">
                  <a:solidFill>
                    <a:schemeClr val="tx1"/>
                  </a:solidFill>
                </a:rPr>
                <a:t>Lab: </a:t>
              </a:r>
              <a:r>
                <a:rPr lang="en-US" sz="1600" dirty="0" err="1">
                  <a:solidFill>
                    <a:schemeClr val="tx1"/>
                  </a:solidFill>
                </a:rPr>
                <a:t>Systopia</a:t>
              </a:r>
              <a:endParaRPr lang="en-US" sz="1600" dirty="0">
                <a:solidFill>
                  <a:schemeClr val="tx1"/>
                </a:solidFill>
              </a:endParaRPr>
            </a:p>
            <a:p>
              <a:pPr algn="ctr"/>
              <a:r>
                <a:rPr lang="en-US" sz="1600" dirty="0">
                  <a:solidFill>
                    <a:schemeClr val="tx1"/>
                  </a:solidFill>
                </a:rPr>
                <a:t>Title: grad</a:t>
              </a:r>
            </a:p>
          </p:txBody>
        </p:sp>
        <p:sp>
          <p:nvSpPr>
            <p:cNvPr id="43" name="Rectangular Callout 42">
              <a:extLst>
                <a:ext uri="{FF2B5EF4-FFF2-40B4-BE49-F238E27FC236}">
                  <a16:creationId xmlns:a16="http://schemas.microsoft.com/office/drawing/2014/main" id="{F8CB8795-AC73-400C-4C69-EFBDE6FD9015}"/>
                </a:ext>
              </a:extLst>
            </p:cNvPr>
            <p:cNvSpPr/>
            <p:nvPr/>
          </p:nvSpPr>
          <p:spPr>
            <a:xfrm>
              <a:off x="7628073" y="3908947"/>
              <a:ext cx="1512168" cy="787229"/>
            </a:xfrm>
            <a:prstGeom prst="wedgeRectCallout">
              <a:avLst>
                <a:gd name="adj1" fmla="val -37606"/>
                <a:gd name="adj2" fmla="val -84344"/>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Name: Milad</a:t>
              </a:r>
            </a:p>
            <a:p>
              <a:pPr algn="ctr"/>
              <a:r>
                <a:rPr lang="en-US" sz="1600" dirty="0">
                  <a:solidFill>
                    <a:schemeClr val="tx1"/>
                  </a:solidFill>
                </a:rPr>
                <a:t>Lab: </a:t>
              </a:r>
              <a:r>
                <a:rPr lang="en-US" sz="1600" dirty="0" err="1">
                  <a:solidFill>
                    <a:schemeClr val="tx1"/>
                  </a:solidFill>
                </a:rPr>
                <a:t>Systopia</a:t>
              </a:r>
              <a:endParaRPr lang="en-US" sz="1600" dirty="0">
                <a:solidFill>
                  <a:schemeClr val="tx1"/>
                </a:solidFill>
              </a:endParaRPr>
            </a:p>
            <a:p>
              <a:pPr algn="ctr"/>
              <a:r>
                <a:rPr lang="en-US" sz="1600" dirty="0">
                  <a:solidFill>
                    <a:schemeClr val="tx1"/>
                  </a:solidFill>
                </a:rPr>
                <a:t>Title: ex-grad</a:t>
              </a:r>
            </a:p>
          </p:txBody>
        </p:sp>
        <p:cxnSp>
          <p:nvCxnSpPr>
            <p:cNvPr id="15" name="Straight Arrow Connector 14">
              <a:extLst>
                <a:ext uri="{FF2B5EF4-FFF2-40B4-BE49-F238E27FC236}">
                  <a16:creationId xmlns:a16="http://schemas.microsoft.com/office/drawing/2014/main" id="{5CFFAA79-3AFC-F810-2338-141F5597BBA0}"/>
                </a:ext>
              </a:extLst>
            </p:cNvPr>
            <p:cNvCxnSpPr>
              <a:cxnSpLocks/>
              <a:stCxn id="7" idx="5"/>
              <a:endCxn id="13" idx="2"/>
            </p:cNvCxnSpPr>
            <p:nvPr/>
          </p:nvCxnSpPr>
          <p:spPr>
            <a:xfrm flipV="1">
              <a:off x="3090820" y="1471106"/>
              <a:ext cx="3303359" cy="1258493"/>
            </a:xfrm>
            <a:prstGeom prst="straightConnector1">
              <a:avLst/>
            </a:prstGeom>
            <a:ln>
              <a:solidFill>
                <a:srgbClr val="36BA98"/>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A7305E1-CB11-F9CB-024D-6B54E7BF3578}"/>
                </a:ext>
              </a:extLst>
            </p:cNvPr>
            <p:cNvCxnSpPr>
              <a:cxnSpLocks/>
              <a:stCxn id="16" idx="6"/>
              <a:endCxn id="13" idx="3"/>
            </p:cNvCxnSpPr>
            <p:nvPr/>
          </p:nvCxnSpPr>
          <p:spPr>
            <a:xfrm flipV="1">
              <a:off x="4612486" y="1993152"/>
              <a:ext cx="2006945" cy="2589807"/>
            </a:xfrm>
            <a:prstGeom prst="straightConnector1">
              <a:avLst/>
            </a:prstGeom>
            <a:ln>
              <a:solidFill>
                <a:srgbClr val="36BA98"/>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F6069CB-F54C-3365-B50C-0AA88E406973}"/>
                </a:ext>
              </a:extLst>
            </p:cNvPr>
            <p:cNvCxnSpPr>
              <a:cxnSpLocks/>
              <a:stCxn id="9" idx="0"/>
              <a:endCxn id="13" idx="4"/>
            </p:cNvCxnSpPr>
            <p:nvPr/>
          </p:nvCxnSpPr>
          <p:spPr>
            <a:xfrm flipH="1" flipV="1">
              <a:off x="7163236" y="2209391"/>
              <a:ext cx="85156" cy="805708"/>
            </a:xfrm>
            <a:prstGeom prst="straightConnector1">
              <a:avLst/>
            </a:prstGeom>
            <a:ln>
              <a:solidFill>
                <a:srgbClr val="36BA98"/>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AAD1ADA5-1773-3B53-833F-E27448962E8D}"/>
                </a:ext>
              </a:extLst>
            </p:cNvPr>
            <p:cNvSpPr txBox="1"/>
            <p:nvPr/>
          </p:nvSpPr>
          <p:spPr>
            <a:xfrm>
              <a:off x="5127413" y="3710835"/>
              <a:ext cx="960519" cy="307777"/>
            </a:xfrm>
            <a:prstGeom prst="rect">
              <a:avLst/>
            </a:prstGeom>
            <a:noFill/>
            <a:effectLst/>
          </p:spPr>
          <p:txBody>
            <a:bodyPr wrap="none" rtlCol="0">
              <a:spAutoFit/>
            </a:bodyPr>
            <a:lstStyle/>
            <a:p>
              <a:r>
                <a:rPr lang="en-US" sz="1400" b="1" dirty="0" err="1">
                  <a:solidFill>
                    <a:srgbClr val="36BA98"/>
                  </a:solidFill>
                </a:rPr>
                <a:t>works_at</a:t>
              </a:r>
              <a:endParaRPr lang="en-US" sz="1400" b="1" dirty="0">
                <a:solidFill>
                  <a:srgbClr val="36BA98"/>
                </a:solidFill>
              </a:endParaRPr>
            </a:p>
          </p:txBody>
        </p:sp>
        <p:sp>
          <p:nvSpPr>
            <p:cNvPr id="25" name="TextBox 24">
              <a:extLst>
                <a:ext uri="{FF2B5EF4-FFF2-40B4-BE49-F238E27FC236}">
                  <a16:creationId xmlns:a16="http://schemas.microsoft.com/office/drawing/2014/main" id="{B535DEB3-7765-5B4F-E5EC-F0D82D8EAD35}"/>
                </a:ext>
              </a:extLst>
            </p:cNvPr>
            <p:cNvSpPr txBox="1"/>
            <p:nvPr/>
          </p:nvSpPr>
          <p:spPr>
            <a:xfrm>
              <a:off x="7158153" y="2417861"/>
              <a:ext cx="960519" cy="307777"/>
            </a:xfrm>
            <a:prstGeom prst="rect">
              <a:avLst/>
            </a:prstGeom>
            <a:noFill/>
            <a:effectLst/>
          </p:spPr>
          <p:txBody>
            <a:bodyPr wrap="none" rtlCol="0">
              <a:spAutoFit/>
            </a:bodyPr>
            <a:lstStyle/>
            <a:p>
              <a:r>
                <a:rPr lang="en-US" sz="1400" b="1" dirty="0" err="1">
                  <a:solidFill>
                    <a:srgbClr val="36BA98"/>
                  </a:solidFill>
                </a:rPr>
                <a:t>works_at</a:t>
              </a:r>
              <a:endParaRPr lang="en-US" sz="1400" b="1" dirty="0">
                <a:solidFill>
                  <a:srgbClr val="36BA98"/>
                </a:solidFill>
              </a:endParaRPr>
            </a:p>
          </p:txBody>
        </p:sp>
        <p:sp>
          <p:nvSpPr>
            <p:cNvPr id="26" name="TextBox 25">
              <a:extLst>
                <a:ext uri="{FF2B5EF4-FFF2-40B4-BE49-F238E27FC236}">
                  <a16:creationId xmlns:a16="http://schemas.microsoft.com/office/drawing/2014/main" id="{9F41E751-D081-E62E-0630-C136A6CBF274}"/>
                </a:ext>
              </a:extLst>
            </p:cNvPr>
            <p:cNvSpPr txBox="1"/>
            <p:nvPr/>
          </p:nvSpPr>
          <p:spPr>
            <a:xfrm>
              <a:off x="3448325" y="2022070"/>
              <a:ext cx="960519" cy="307777"/>
            </a:xfrm>
            <a:prstGeom prst="rect">
              <a:avLst/>
            </a:prstGeom>
            <a:noFill/>
            <a:effectLst/>
          </p:spPr>
          <p:txBody>
            <a:bodyPr wrap="none" rtlCol="0">
              <a:spAutoFit/>
            </a:bodyPr>
            <a:lstStyle/>
            <a:p>
              <a:r>
                <a:rPr lang="en-US" sz="1400" b="1" dirty="0" err="1">
                  <a:solidFill>
                    <a:srgbClr val="36BA98"/>
                  </a:solidFill>
                </a:rPr>
                <a:t>works_at</a:t>
              </a:r>
              <a:endParaRPr lang="en-US" sz="1400" b="1" dirty="0">
                <a:solidFill>
                  <a:srgbClr val="36BA98"/>
                </a:solidFill>
              </a:endParaRPr>
            </a:p>
          </p:txBody>
        </p:sp>
      </p:grpSp>
    </p:spTree>
    <p:extLst>
      <p:ext uri="{BB962C8B-B14F-4D97-AF65-F5344CB8AC3E}">
        <p14:creationId xmlns:p14="http://schemas.microsoft.com/office/powerpoint/2010/main" val="2939022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Graphs Capture Relationships</a:t>
            </a:r>
          </a:p>
        </p:txBody>
      </p:sp>
      <p:grpSp>
        <p:nvGrpSpPr>
          <p:cNvPr id="61" name="Group 60">
            <a:extLst>
              <a:ext uri="{FF2B5EF4-FFF2-40B4-BE49-F238E27FC236}">
                <a16:creationId xmlns:a16="http://schemas.microsoft.com/office/drawing/2014/main" id="{BF716B13-5585-601E-8B6E-F0CBE426303D}"/>
              </a:ext>
            </a:extLst>
          </p:cNvPr>
          <p:cNvGrpSpPr/>
          <p:nvPr/>
        </p:nvGrpSpPr>
        <p:grpSpPr>
          <a:xfrm>
            <a:off x="6895984" y="2944721"/>
            <a:ext cx="1108186" cy="1124497"/>
            <a:chOff x="6372200" y="3921233"/>
            <a:chExt cx="1108186" cy="1124497"/>
          </a:xfrm>
        </p:grpSpPr>
        <p:grpSp>
          <p:nvGrpSpPr>
            <p:cNvPr id="51" name="Group 50">
              <a:extLst>
                <a:ext uri="{FF2B5EF4-FFF2-40B4-BE49-F238E27FC236}">
                  <a16:creationId xmlns:a16="http://schemas.microsoft.com/office/drawing/2014/main" id="{645D9CD3-E581-9A90-9E64-A647BA5DB492}"/>
                </a:ext>
              </a:extLst>
            </p:cNvPr>
            <p:cNvGrpSpPr/>
            <p:nvPr/>
          </p:nvGrpSpPr>
          <p:grpSpPr>
            <a:xfrm>
              <a:off x="6372200" y="3921233"/>
              <a:ext cx="920228" cy="864096"/>
              <a:chOff x="2023654" y="3075806"/>
              <a:chExt cx="920228" cy="864096"/>
            </a:xfrm>
          </p:grpSpPr>
          <p:sp>
            <p:nvSpPr>
              <p:cNvPr id="52" name="Oval 51">
                <a:extLst>
                  <a:ext uri="{FF2B5EF4-FFF2-40B4-BE49-F238E27FC236}">
                    <a16:creationId xmlns:a16="http://schemas.microsoft.com/office/drawing/2014/main" id="{0BC5DB87-90D3-F06B-C698-108D6B018A59}"/>
                  </a:ext>
                </a:extLst>
              </p:cNvPr>
              <p:cNvSpPr/>
              <p:nvPr/>
            </p:nvSpPr>
            <p:spPr>
              <a:xfrm>
                <a:off x="2023654" y="3075806"/>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53" name="TextBox 52">
                <a:extLst>
                  <a:ext uri="{FF2B5EF4-FFF2-40B4-BE49-F238E27FC236}">
                    <a16:creationId xmlns:a16="http://schemas.microsoft.com/office/drawing/2014/main" id="{48B6F308-41F4-AB31-D35C-827DB4E15471}"/>
                  </a:ext>
                </a:extLst>
              </p:cNvPr>
              <p:cNvSpPr txBox="1"/>
              <p:nvPr/>
            </p:nvSpPr>
            <p:spPr>
              <a:xfrm>
                <a:off x="2051720" y="3277021"/>
                <a:ext cx="864096" cy="461665"/>
              </a:xfrm>
              <a:prstGeom prst="rect">
                <a:avLst/>
              </a:prstGeom>
              <a:noFill/>
            </p:spPr>
            <p:txBody>
              <a:bodyPr wrap="square" rtlCol="0">
                <a:spAutoFit/>
              </a:bodyPr>
              <a:lstStyle/>
              <a:p>
                <a:r>
                  <a:rPr lang="en-US" dirty="0"/>
                  <a:t>User</a:t>
                </a:r>
              </a:p>
            </p:txBody>
          </p:sp>
        </p:grpSp>
        <p:sp>
          <p:nvSpPr>
            <p:cNvPr id="60" name="Rounded Rectangular Callout 59">
              <a:extLst>
                <a:ext uri="{FF2B5EF4-FFF2-40B4-BE49-F238E27FC236}">
                  <a16:creationId xmlns:a16="http://schemas.microsoft.com/office/drawing/2014/main" id="{86383FEA-7100-FDA0-72BB-40C8234DCEDD}"/>
                </a:ext>
              </a:extLst>
            </p:cNvPr>
            <p:cNvSpPr/>
            <p:nvPr/>
          </p:nvSpPr>
          <p:spPr>
            <a:xfrm>
              <a:off x="6400266" y="4844893"/>
              <a:ext cx="1080120" cy="200837"/>
            </a:xfrm>
            <a:prstGeom prst="wedgeRoundRectCallout">
              <a:avLst>
                <a:gd name="adj1" fmla="val -5298"/>
                <a:gd name="adj2" fmla="val -76312"/>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Name: Lucy</a:t>
              </a:r>
            </a:p>
          </p:txBody>
        </p:sp>
      </p:grpSp>
      <p:grpSp>
        <p:nvGrpSpPr>
          <p:cNvPr id="67" name="Group 66">
            <a:extLst>
              <a:ext uri="{FF2B5EF4-FFF2-40B4-BE49-F238E27FC236}">
                <a16:creationId xmlns:a16="http://schemas.microsoft.com/office/drawing/2014/main" id="{59818759-F3E4-93A8-73F0-6DDA0A819644}"/>
              </a:ext>
            </a:extLst>
          </p:cNvPr>
          <p:cNvGrpSpPr/>
          <p:nvPr/>
        </p:nvGrpSpPr>
        <p:grpSpPr>
          <a:xfrm>
            <a:off x="3633475" y="1299721"/>
            <a:ext cx="1295038" cy="1369512"/>
            <a:chOff x="3491880" y="1376607"/>
            <a:chExt cx="1295038" cy="1369512"/>
          </a:xfrm>
        </p:grpSpPr>
        <p:grpSp>
          <p:nvGrpSpPr>
            <p:cNvPr id="49" name="Group 48">
              <a:extLst>
                <a:ext uri="{FF2B5EF4-FFF2-40B4-BE49-F238E27FC236}">
                  <a16:creationId xmlns:a16="http://schemas.microsoft.com/office/drawing/2014/main" id="{37948A12-6DF9-F4E7-440F-9E8AE58FE703}"/>
                </a:ext>
              </a:extLst>
            </p:cNvPr>
            <p:cNvGrpSpPr/>
            <p:nvPr/>
          </p:nvGrpSpPr>
          <p:grpSpPr>
            <a:xfrm>
              <a:off x="3491880" y="1882023"/>
              <a:ext cx="1007007" cy="864096"/>
              <a:chOff x="4078350" y="1851670"/>
              <a:chExt cx="1007007" cy="864096"/>
            </a:xfrm>
          </p:grpSpPr>
          <p:sp>
            <p:nvSpPr>
              <p:cNvPr id="47" name="Oval 46">
                <a:extLst>
                  <a:ext uri="{FF2B5EF4-FFF2-40B4-BE49-F238E27FC236}">
                    <a16:creationId xmlns:a16="http://schemas.microsoft.com/office/drawing/2014/main" id="{3F0A534A-0E69-C9CC-2D4D-B1D593D577BF}"/>
                  </a:ext>
                </a:extLst>
              </p:cNvPr>
              <p:cNvSpPr/>
              <p:nvPr/>
            </p:nvSpPr>
            <p:spPr>
              <a:xfrm>
                <a:off x="4111886" y="1851670"/>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48" name="TextBox 47">
                <a:extLst>
                  <a:ext uri="{FF2B5EF4-FFF2-40B4-BE49-F238E27FC236}">
                    <a16:creationId xmlns:a16="http://schemas.microsoft.com/office/drawing/2014/main" id="{ECC78F96-F434-C769-52EB-C8E7F0A9D81E}"/>
                  </a:ext>
                </a:extLst>
              </p:cNvPr>
              <p:cNvSpPr txBox="1"/>
              <p:nvPr/>
            </p:nvSpPr>
            <p:spPr>
              <a:xfrm>
                <a:off x="4078350" y="2052885"/>
                <a:ext cx="1007007" cy="461665"/>
              </a:xfrm>
              <a:prstGeom prst="rect">
                <a:avLst/>
              </a:prstGeom>
              <a:noFill/>
            </p:spPr>
            <p:txBody>
              <a:bodyPr wrap="none" rtlCol="0">
                <a:spAutoFit/>
              </a:bodyPr>
              <a:lstStyle/>
              <a:p>
                <a:r>
                  <a:rPr lang="en-US" dirty="0"/>
                  <a:t>Movie</a:t>
                </a:r>
              </a:p>
            </p:txBody>
          </p:sp>
        </p:grpSp>
        <p:sp>
          <p:nvSpPr>
            <p:cNvPr id="62" name="Rounded Rectangular Callout 61">
              <a:extLst>
                <a:ext uri="{FF2B5EF4-FFF2-40B4-BE49-F238E27FC236}">
                  <a16:creationId xmlns:a16="http://schemas.microsoft.com/office/drawing/2014/main" id="{965D5955-DF29-F6E4-E325-1ED0DFBDB4D0}"/>
                </a:ext>
              </a:extLst>
            </p:cNvPr>
            <p:cNvSpPr/>
            <p:nvPr/>
          </p:nvSpPr>
          <p:spPr>
            <a:xfrm>
              <a:off x="3779912" y="1376607"/>
              <a:ext cx="1007006" cy="432048"/>
            </a:xfrm>
            <a:prstGeom prst="wedgeRoundRectCallout">
              <a:avLst>
                <a:gd name="adj1" fmla="val -31820"/>
                <a:gd name="adj2" fmla="val 69439"/>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Name:</a:t>
              </a:r>
            </a:p>
            <a:p>
              <a:pPr algn="ctr"/>
              <a:r>
                <a:rPr lang="en-US" sz="1050" dirty="0">
                  <a:solidFill>
                    <a:schemeClr val="tx1"/>
                  </a:solidFill>
                </a:rPr>
                <a:t>Poor Things</a:t>
              </a:r>
            </a:p>
          </p:txBody>
        </p:sp>
      </p:grpSp>
      <p:grpSp>
        <p:nvGrpSpPr>
          <p:cNvPr id="66" name="Group 65">
            <a:extLst>
              <a:ext uri="{FF2B5EF4-FFF2-40B4-BE49-F238E27FC236}">
                <a16:creationId xmlns:a16="http://schemas.microsoft.com/office/drawing/2014/main" id="{5EDAE6A0-2E92-E843-0B51-28B8AB71FC7C}"/>
              </a:ext>
            </a:extLst>
          </p:cNvPr>
          <p:cNvGrpSpPr/>
          <p:nvPr/>
        </p:nvGrpSpPr>
        <p:grpSpPr>
          <a:xfrm>
            <a:off x="868595" y="2619199"/>
            <a:ext cx="1567433" cy="1383340"/>
            <a:chOff x="6585584" y="1439950"/>
            <a:chExt cx="1567433" cy="1383340"/>
          </a:xfrm>
        </p:grpSpPr>
        <p:grpSp>
          <p:nvGrpSpPr>
            <p:cNvPr id="54" name="Group 53">
              <a:extLst>
                <a:ext uri="{FF2B5EF4-FFF2-40B4-BE49-F238E27FC236}">
                  <a16:creationId xmlns:a16="http://schemas.microsoft.com/office/drawing/2014/main" id="{DDA20499-1B22-6A14-BFA3-A3E47E655100}"/>
                </a:ext>
              </a:extLst>
            </p:cNvPr>
            <p:cNvGrpSpPr/>
            <p:nvPr/>
          </p:nvGrpSpPr>
          <p:grpSpPr>
            <a:xfrm>
              <a:off x="6585584" y="1439950"/>
              <a:ext cx="992579" cy="864096"/>
              <a:chOff x="4075710" y="1851670"/>
              <a:chExt cx="992579" cy="864096"/>
            </a:xfrm>
          </p:grpSpPr>
          <p:sp>
            <p:nvSpPr>
              <p:cNvPr id="55" name="Oval 54">
                <a:extLst>
                  <a:ext uri="{FF2B5EF4-FFF2-40B4-BE49-F238E27FC236}">
                    <a16:creationId xmlns:a16="http://schemas.microsoft.com/office/drawing/2014/main" id="{D7A0D614-EB7A-E296-BE1F-976B282AA2D4}"/>
                  </a:ext>
                </a:extLst>
              </p:cNvPr>
              <p:cNvSpPr/>
              <p:nvPr/>
            </p:nvSpPr>
            <p:spPr>
              <a:xfrm>
                <a:off x="4111886" y="1851670"/>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56" name="TextBox 55">
                <a:extLst>
                  <a:ext uri="{FF2B5EF4-FFF2-40B4-BE49-F238E27FC236}">
                    <a16:creationId xmlns:a16="http://schemas.microsoft.com/office/drawing/2014/main" id="{B518C4FD-91EE-892A-8591-3F11CEB1A798}"/>
                  </a:ext>
                </a:extLst>
              </p:cNvPr>
              <p:cNvSpPr txBox="1"/>
              <p:nvPr/>
            </p:nvSpPr>
            <p:spPr>
              <a:xfrm>
                <a:off x="4075710" y="2078724"/>
                <a:ext cx="992579" cy="369332"/>
              </a:xfrm>
              <a:prstGeom prst="rect">
                <a:avLst/>
              </a:prstGeom>
              <a:noFill/>
            </p:spPr>
            <p:txBody>
              <a:bodyPr wrap="none" rtlCol="0">
                <a:spAutoFit/>
              </a:bodyPr>
              <a:lstStyle/>
              <a:p>
                <a:r>
                  <a:rPr lang="en-US" sz="1800" dirty="0"/>
                  <a:t>Director</a:t>
                </a:r>
                <a:endParaRPr lang="en-US" dirty="0"/>
              </a:p>
            </p:txBody>
          </p:sp>
        </p:grpSp>
        <p:sp>
          <p:nvSpPr>
            <p:cNvPr id="65" name="Rounded Rectangular Callout 64">
              <a:extLst>
                <a:ext uri="{FF2B5EF4-FFF2-40B4-BE49-F238E27FC236}">
                  <a16:creationId xmlns:a16="http://schemas.microsoft.com/office/drawing/2014/main" id="{60218114-2482-CF0C-A25B-4BE471E42D5F}"/>
                </a:ext>
              </a:extLst>
            </p:cNvPr>
            <p:cNvSpPr/>
            <p:nvPr/>
          </p:nvSpPr>
          <p:spPr>
            <a:xfrm>
              <a:off x="7232789" y="2371574"/>
              <a:ext cx="920228" cy="451716"/>
            </a:xfrm>
            <a:prstGeom prst="wedgeRoundRectCallout">
              <a:avLst>
                <a:gd name="adj1" fmla="val -39075"/>
                <a:gd name="adj2" fmla="val -78968"/>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latin typeface="+mn-lt"/>
                </a:rPr>
                <a:t>Name: Yorgos Lanthimos</a:t>
              </a:r>
            </a:p>
          </p:txBody>
        </p:sp>
      </p:grpSp>
      <p:grpSp>
        <p:nvGrpSpPr>
          <p:cNvPr id="77" name="Group 76">
            <a:extLst>
              <a:ext uri="{FF2B5EF4-FFF2-40B4-BE49-F238E27FC236}">
                <a16:creationId xmlns:a16="http://schemas.microsoft.com/office/drawing/2014/main" id="{B9D4D548-0142-645E-60B6-1DFE46627BB5}"/>
              </a:ext>
            </a:extLst>
          </p:cNvPr>
          <p:cNvGrpSpPr/>
          <p:nvPr/>
        </p:nvGrpSpPr>
        <p:grpSpPr>
          <a:xfrm>
            <a:off x="6588224" y="780860"/>
            <a:ext cx="964170" cy="1429475"/>
            <a:chOff x="1733323" y="2314071"/>
            <a:chExt cx="964170" cy="1429475"/>
          </a:xfrm>
        </p:grpSpPr>
        <p:grpSp>
          <p:nvGrpSpPr>
            <p:cNvPr id="50" name="Group 49">
              <a:extLst>
                <a:ext uri="{FF2B5EF4-FFF2-40B4-BE49-F238E27FC236}">
                  <a16:creationId xmlns:a16="http://schemas.microsoft.com/office/drawing/2014/main" id="{8F7F5267-7BB0-68AE-5621-28647EFD661A}"/>
                </a:ext>
              </a:extLst>
            </p:cNvPr>
            <p:cNvGrpSpPr/>
            <p:nvPr/>
          </p:nvGrpSpPr>
          <p:grpSpPr>
            <a:xfrm>
              <a:off x="1733323" y="2314071"/>
              <a:ext cx="964170" cy="864096"/>
              <a:chOff x="1998293" y="3075806"/>
              <a:chExt cx="964170" cy="864096"/>
            </a:xfrm>
          </p:grpSpPr>
          <p:sp>
            <p:nvSpPr>
              <p:cNvPr id="45" name="Oval 44">
                <a:extLst>
                  <a:ext uri="{FF2B5EF4-FFF2-40B4-BE49-F238E27FC236}">
                    <a16:creationId xmlns:a16="http://schemas.microsoft.com/office/drawing/2014/main" id="{9DDC47E0-D9BD-FA34-FD09-1CE863F57047}"/>
                  </a:ext>
                </a:extLst>
              </p:cNvPr>
              <p:cNvSpPr/>
              <p:nvPr/>
            </p:nvSpPr>
            <p:spPr>
              <a:xfrm>
                <a:off x="2023654" y="3075806"/>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46" name="TextBox 45">
                <a:extLst>
                  <a:ext uri="{FF2B5EF4-FFF2-40B4-BE49-F238E27FC236}">
                    <a16:creationId xmlns:a16="http://schemas.microsoft.com/office/drawing/2014/main" id="{0A290BB7-E611-F471-D54E-52C9510AA6C2}"/>
                  </a:ext>
                </a:extLst>
              </p:cNvPr>
              <p:cNvSpPr txBox="1"/>
              <p:nvPr/>
            </p:nvSpPr>
            <p:spPr>
              <a:xfrm>
                <a:off x="1998293" y="3277021"/>
                <a:ext cx="964170" cy="461665"/>
              </a:xfrm>
              <a:prstGeom prst="rect">
                <a:avLst/>
              </a:prstGeom>
              <a:noFill/>
            </p:spPr>
            <p:txBody>
              <a:bodyPr wrap="square" rtlCol="0">
                <a:spAutoFit/>
              </a:bodyPr>
              <a:lstStyle/>
              <a:p>
                <a:r>
                  <a:rPr lang="en-US" dirty="0"/>
                  <a:t>Actor</a:t>
                </a:r>
              </a:p>
            </p:txBody>
          </p:sp>
        </p:grpSp>
        <p:sp>
          <p:nvSpPr>
            <p:cNvPr id="68" name="Rounded Rectangular Callout 67">
              <a:extLst>
                <a:ext uri="{FF2B5EF4-FFF2-40B4-BE49-F238E27FC236}">
                  <a16:creationId xmlns:a16="http://schemas.microsoft.com/office/drawing/2014/main" id="{63F811BB-B128-DEEE-4696-D171FA2A6D68}"/>
                </a:ext>
              </a:extLst>
            </p:cNvPr>
            <p:cNvSpPr/>
            <p:nvPr/>
          </p:nvSpPr>
          <p:spPr>
            <a:xfrm>
              <a:off x="2013410" y="3291830"/>
              <a:ext cx="648072" cy="451716"/>
            </a:xfrm>
            <a:prstGeom prst="wedgeRoundRectCallout">
              <a:avLst>
                <a:gd name="adj1" fmla="val -29647"/>
                <a:gd name="adj2" fmla="val -74538"/>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Name:</a:t>
              </a:r>
            </a:p>
            <a:p>
              <a:pPr algn="ctr"/>
              <a:r>
                <a:rPr lang="en-US" sz="1050" dirty="0">
                  <a:solidFill>
                    <a:schemeClr val="tx1"/>
                  </a:solidFill>
                </a:rPr>
                <a:t>Emma Stone</a:t>
              </a:r>
            </a:p>
          </p:txBody>
        </p:sp>
      </p:grpSp>
      <p:grpSp>
        <p:nvGrpSpPr>
          <p:cNvPr id="75" name="Group 74">
            <a:extLst>
              <a:ext uri="{FF2B5EF4-FFF2-40B4-BE49-F238E27FC236}">
                <a16:creationId xmlns:a16="http://schemas.microsoft.com/office/drawing/2014/main" id="{7006E46C-CF9D-BADF-5E74-FB6471E8A757}"/>
              </a:ext>
            </a:extLst>
          </p:cNvPr>
          <p:cNvGrpSpPr/>
          <p:nvPr/>
        </p:nvGrpSpPr>
        <p:grpSpPr>
          <a:xfrm>
            <a:off x="4716016" y="3250191"/>
            <a:ext cx="1040542" cy="1362578"/>
            <a:chOff x="5206816" y="2671200"/>
            <a:chExt cx="1040542" cy="1362578"/>
          </a:xfrm>
        </p:grpSpPr>
        <p:grpSp>
          <p:nvGrpSpPr>
            <p:cNvPr id="57" name="Group 56">
              <a:extLst>
                <a:ext uri="{FF2B5EF4-FFF2-40B4-BE49-F238E27FC236}">
                  <a16:creationId xmlns:a16="http://schemas.microsoft.com/office/drawing/2014/main" id="{5E2F5C8F-9AB9-746C-A8D5-FEE5370BBA69}"/>
                </a:ext>
              </a:extLst>
            </p:cNvPr>
            <p:cNvGrpSpPr/>
            <p:nvPr/>
          </p:nvGrpSpPr>
          <p:grpSpPr>
            <a:xfrm>
              <a:off x="5206816" y="2671200"/>
              <a:ext cx="1007007" cy="864096"/>
              <a:chOff x="4078350" y="1851670"/>
              <a:chExt cx="1007007" cy="864096"/>
            </a:xfrm>
          </p:grpSpPr>
          <p:sp>
            <p:nvSpPr>
              <p:cNvPr id="58" name="Oval 57">
                <a:extLst>
                  <a:ext uri="{FF2B5EF4-FFF2-40B4-BE49-F238E27FC236}">
                    <a16:creationId xmlns:a16="http://schemas.microsoft.com/office/drawing/2014/main" id="{080B7047-BEA8-7078-3499-55C7686D23EA}"/>
                  </a:ext>
                </a:extLst>
              </p:cNvPr>
              <p:cNvSpPr/>
              <p:nvPr/>
            </p:nvSpPr>
            <p:spPr>
              <a:xfrm>
                <a:off x="4111886" y="1851670"/>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59" name="TextBox 58">
                <a:extLst>
                  <a:ext uri="{FF2B5EF4-FFF2-40B4-BE49-F238E27FC236}">
                    <a16:creationId xmlns:a16="http://schemas.microsoft.com/office/drawing/2014/main" id="{65FC5510-3D55-9A3D-8D15-31323B15254A}"/>
                  </a:ext>
                </a:extLst>
              </p:cNvPr>
              <p:cNvSpPr txBox="1"/>
              <p:nvPr/>
            </p:nvSpPr>
            <p:spPr>
              <a:xfrm>
                <a:off x="4078350" y="2052885"/>
                <a:ext cx="1007007" cy="461665"/>
              </a:xfrm>
              <a:prstGeom prst="rect">
                <a:avLst/>
              </a:prstGeom>
              <a:noFill/>
            </p:spPr>
            <p:txBody>
              <a:bodyPr wrap="none" rtlCol="0">
                <a:spAutoFit/>
              </a:bodyPr>
              <a:lstStyle/>
              <a:p>
                <a:r>
                  <a:rPr lang="en-US" dirty="0"/>
                  <a:t>Movie</a:t>
                </a:r>
              </a:p>
            </p:txBody>
          </p:sp>
        </p:grpSp>
        <p:sp>
          <p:nvSpPr>
            <p:cNvPr id="69" name="Rounded Rectangular Callout 68">
              <a:extLst>
                <a:ext uri="{FF2B5EF4-FFF2-40B4-BE49-F238E27FC236}">
                  <a16:creationId xmlns:a16="http://schemas.microsoft.com/office/drawing/2014/main" id="{294255E5-A83B-741E-C19A-2E78BA926736}"/>
                </a:ext>
              </a:extLst>
            </p:cNvPr>
            <p:cNvSpPr/>
            <p:nvPr/>
          </p:nvSpPr>
          <p:spPr>
            <a:xfrm>
              <a:off x="5240352" y="3601730"/>
              <a:ext cx="1007006" cy="432048"/>
            </a:xfrm>
            <a:prstGeom prst="wedgeRoundRectCallout">
              <a:avLst>
                <a:gd name="adj1" fmla="val 14136"/>
                <a:gd name="adj2" fmla="val -73808"/>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Name: The </a:t>
              </a:r>
              <a:r>
                <a:rPr lang="en-US" sz="1050" dirty="0" err="1">
                  <a:solidFill>
                    <a:schemeClr val="tx1"/>
                  </a:solidFill>
                </a:rPr>
                <a:t>Favourite</a:t>
              </a:r>
              <a:endParaRPr lang="en-US" sz="1050" dirty="0">
                <a:solidFill>
                  <a:schemeClr val="tx1"/>
                </a:solidFill>
              </a:endParaRPr>
            </a:p>
          </p:txBody>
        </p:sp>
      </p:grpSp>
      <p:grpSp>
        <p:nvGrpSpPr>
          <p:cNvPr id="74" name="Group 73">
            <a:extLst>
              <a:ext uri="{FF2B5EF4-FFF2-40B4-BE49-F238E27FC236}">
                <a16:creationId xmlns:a16="http://schemas.microsoft.com/office/drawing/2014/main" id="{D30C69CD-9F9B-735A-EDD6-7A8B8F5C0442}"/>
              </a:ext>
            </a:extLst>
          </p:cNvPr>
          <p:cNvGrpSpPr/>
          <p:nvPr/>
        </p:nvGrpSpPr>
        <p:grpSpPr>
          <a:xfrm>
            <a:off x="3058973" y="3637171"/>
            <a:ext cx="1248091" cy="1422745"/>
            <a:chOff x="3395917" y="3522566"/>
            <a:chExt cx="1248091" cy="1422745"/>
          </a:xfrm>
        </p:grpSpPr>
        <p:grpSp>
          <p:nvGrpSpPr>
            <p:cNvPr id="70" name="Group 69">
              <a:extLst>
                <a:ext uri="{FF2B5EF4-FFF2-40B4-BE49-F238E27FC236}">
                  <a16:creationId xmlns:a16="http://schemas.microsoft.com/office/drawing/2014/main" id="{2618474A-B49A-BB34-EC53-8668155571BC}"/>
                </a:ext>
              </a:extLst>
            </p:cNvPr>
            <p:cNvGrpSpPr/>
            <p:nvPr/>
          </p:nvGrpSpPr>
          <p:grpSpPr>
            <a:xfrm>
              <a:off x="3395917" y="3522566"/>
              <a:ext cx="964170" cy="864096"/>
              <a:chOff x="1998293" y="3075806"/>
              <a:chExt cx="964170" cy="864096"/>
            </a:xfrm>
          </p:grpSpPr>
          <p:sp>
            <p:nvSpPr>
              <p:cNvPr id="71" name="Oval 70">
                <a:extLst>
                  <a:ext uri="{FF2B5EF4-FFF2-40B4-BE49-F238E27FC236}">
                    <a16:creationId xmlns:a16="http://schemas.microsoft.com/office/drawing/2014/main" id="{CECCC5FE-23D1-BDD7-87DD-12BFD1AA3558}"/>
                  </a:ext>
                </a:extLst>
              </p:cNvPr>
              <p:cNvSpPr/>
              <p:nvPr/>
            </p:nvSpPr>
            <p:spPr>
              <a:xfrm>
                <a:off x="2023654" y="3075806"/>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72" name="TextBox 71">
                <a:extLst>
                  <a:ext uri="{FF2B5EF4-FFF2-40B4-BE49-F238E27FC236}">
                    <a16:creationId xmlns:a16="http://schemas.microsoft.com/office/drawing/2014/main" id="{66EB0697-A6D1-510C-A6DE-C68B073F5EFB}"/>
                  </a:ext>
                </a:extLst>
              </p:cNvPr>
              <p:cNvSpPr txBox="1"/>
              <p:nvPr/>
            </p:nvSpPr>
            <p:spPr>
              <a:xfrm>
                <a:off x="1998293" y="3277021"/>
                <a:ext cx="964170" cy="461665"/>
              </a:xfrm>
              <a:prstGeom prst="rect">
                <a:avLst/>
              </a:prstGeom>
              <a:noFill/>
            </p:spPr>
            <p:txBody>
              <a:bodyPr wrap="square" rtlCol="0">
                <a:spAutoFit/>
              </a:bodyPr>
              <a:lstStyle/>
              <a:p>
                <a:r>
                  <a:rPr lang="en-US" dirty="0"/>
                  <a:t>Actor</a:t>
                </a:r>
              </a:p>
            </p:txBody>
          </p:sp>
        </p:grpSp>
        <p:sp>
          <p:nvSpPr>
            <p:cNvPr id="73" name="Rounded Rectangular Callout 72">
              <a:extLst>
                <a:ext uri="{FF2B5EF4-FFF2-40B4-BE49-F238E27FC236}">
                  <a16:creationId xmlns:a16="http://schemas.microsoft.com/office/drawing/2014/main" id="{7B60965D-16D4-B50F-CAF5-34CEA4A124AA}"/>
                </a:ext>
              </a:extLst>
            </p:cNvPr>
            <p:cNvSpPr/>
            <p:nvPr/>
          </p:nvSpPr>
          <p:spPr>
            <a:xfrm>
              <a:off x="3819874" y="4493595"/>
              <a:ext cx="824134" cy="451716"/>
            </a:xfrm>
            <a:prstGeom prst="wedgeRoundRectCallout">
              <a:avLst>
                <a:gd name="adj1" fmla="val -29647"/>
                <a:gd name="adj2" fmla="val -74538"/>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Name:</a:t>
              </a:r>
            </a:p>
            <a:p>
              <a:pPr algn="ctr"/>
              <a:r>
                <a:rPr lang="en-US" sz="1050" dirty="0">
                  <a:solidFill>
                    <a:schemeClr val="tx1"/>
                  </a:solidFill>
                </a:rPr>
                <a:t>Olivia Coleman</a:t>
              </a:r>
            </a:p>
          </p:txBody>
        </p:sp>
      </p:grpSp>
    </p:spTree>
    <p:extLst>
      <p:ext uri="{BB962C8B-B14F-4D97-AF65-F5344CB8AC3E}">
        <p14:creationId xmlns:p14="http://schemas.microsoft.com/office/powerpoint/2010/main" val="57244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Graphs Capture Relationships</a:t>
            </a:r>
          </a:p>
        </p:txBody>
      </p:sp>
      <p:grpSp>
        <p:nvGrpSpPr>
          <p:cNvPr id="31" name="Group 30">
            <a:extLst>
              <a:ext uri="{FF2B5EF4-FFF2-40B4-BE49-F238E27FC236}">
                <a16:creationId xmlns:a16="http://schemas.microsoft.com/office/drawing/2014/main" id="{E68FA8D4-297B-3846-8950-4DD8918C9DF7}"/>
              </a:ext>
            </a:extLst>
          </p:cNvPr>
          <p:cNvGrpSpPr/>
          <p:nvPr/>
        </p:nvGrpSpPr>
        <p:grpSpPr>
          <a:xfrm>
            <a:off x="868595" y="780860"/>
            <a:ext cx="7135575" cy="4279056"/>
            <a:chOff x="868595" y="780860"/>
            <a:chExt cx="7135575" cy="4279056"/>
          </a:xfrm>
        </p:grpSpPr>
        <p:grpSp>
          <p:nvGrpSpPr>
            <p:cNvPr id="61" name="Group 60">
              <a:extLst>
                <a:ext uri="{FF2B5EF4-FFF2-40B4-BE49-F238E27FC236}">
                  <a16:creationId xmlns:a16="http://schemas.microsoft.com/office/drawing/2014/main" id="{BF716B13-5585-601E-8B6E-F0CBE426303D}"/>
                </a:ext>
              </a:extLst>
            </p:cNvPr>
            <p:cNvGrpSpPr/>
            <p:nvPr/>
          </p:nvGrpSpPr>
          <p:grpSpPr>
            <a:xfrm>
              <a:off x="6895984" y="2944721"/>
              <a:ext cx="1108186" cy="1124497"/>
              <a:chOff x="6372200" y="3921233"/>
              <a:chExt cx="1108186" cy="1124497"/>
            </a:xfrm>
          </p:grpSpPr>
          <p:grpSp>
            <p:nvGrpSpPr>
              <p:cNvPr id="51" name="Group 50">
                <a:extLst>
                  <a:ext uri="{FF2B5EF4-FFF2-40B4-BE49-F238E27FC236}">
                    <a16:creationId xmlns:a16="http://schemas.microsoft.com/office/drawing/2014/main" id="{645D9CD3-E581-9A90-9E64-A647BA5DB492}"/>
                  </a:ext>
                </a:extLst>
              </p:cNvPr>
              <p:cNvGrpSpPr/>
              <p:nvPr/>
            </p:nvGrpSpPr>
            <p:grpSpPr>
              <a:xfrm>
                <a:off x="6372200" y="3921233"/>
                <a:ext cx="920228" cy="864096"/>
                <a:chOff x="2023654" y="3075806"/>
                <a:chExt cx="920228" cy="864096"/>
              </a:xfrm>
            </p:grpSpPr>
            <p:sp>
              <p:nvSpPr>
                <p:cNvPr id="52" name="Oval 51">
                  <a:extLst>
                    <a:ext uri="{FF2B5EF4-FFF2-40B4-BE49-F238E27FC236}">
                      <a16:creationId xmlns:a16="http://schemas.microsoft.com/office/drawing/2014/main" id="{0BC5DB87-90D3-F06B-C698-108D6B018A59}"/>
                    </a:ext>
                  </a:extLst>
                </p:cNvPr>
                <p:cNvSpPr/>
                <p:nvPr/>
              </p:nvSpPr>
              <p:spPr>
                <a:xfrm>
                  <a:off x="2023654" y="3075806"/>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53" name="TextBox 52">
                  <a:extLst>
                    <a:ext uri="{FF2B5EF4-FFF2-40B4-BE49-F238E27FC236}">
                      <a16:creationId xmlns:a16="http://schemas.microsoft.com/office/drawing/2014/main" id="{48B6F308-41F4-AB31-D35C-827DB4E15471}"/>
                    </a:ext>
                  </a:extLst>
                </p:cNvPr>
                <p:cNvSpPr txBox="1"/>
                <p:nvPr/>
              </p:nvSpPr>
              <p:spPr>
                <a:xfrm>
                  <a:off x="2051720" y="3277021"/>
                  <a:ext cx="864096" cy="461665"/>
                </a:xfrm>
                <a:prstGeom prst="rect">
                  <a:avLst/>
                </a:prstGeom>
                <a:noFill/>
              </p:spPr>
              <p:txBody>
                <a:bodyPr wrap="square" rtlCol="0">
                  <a:spAutoFit/>
                </a:bodyPr>
                <a:lstStyle/>
                <a:p>
                  <a:r>
                    <a:rPr lang="en-US" dirty="0"/>
                    <a:t>User</a:t>
                  </a:r>
                </a:p>
              </p:txBody>
            </p:sp>
          </p:grpSp>
          <p:sp>
            <p:nvSpPr>
              <p:cNvPr id="60" name="Rounded Rectangular Callout 59">
                <a:extLst>
                  <a:ext uri="{FF2B5EF4-FFF2-40B4-BE49-F238E27FC236}">
                    <a16:creationId xmlns:a16="http://schemas.microsoft.com/office/drawing/2014/main" id="{86383FEA-7100-FDA0-72BB-40C8234DCEDD}"/>
                  </a:ext>
                </a:extLst>
              </p:cNvPr>
              <p:cNvSpPr/>
              <p:nvPr/>
            </p:nvSpPr>
            <p:spPr>
              <a:xfrm>
                <a:off x="6400266" y="4844893"/>
                <a:ext cx="1080120" cy="200837"/>
              </a:xfrm>
              <a:prstGeom prst="wedgeRoundRectCallout">
                <a:avLst>
                  <a:gd name="adj1" fmla="val -5298"/>
                  <a:gd name="adj2" fmla="val -76312"/>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Name: Lucy</a:t>
                </a:r>
              </a:p>
            </p:txBody>
          </p:sp>
        </p:grpSp>
        <p:grpSp>
          <p:nvGrpSpPr>
            <p:cNvPr id="67" name="Group 66">
              <a:extLst>
                <a:ext uri="{FF2B5EF4-FFF2-40B4-BE49-F238E27FC236}">
                  <a16:creationId xmlns:a16="http://schemas.microsoft.com/office/drawing/2014/main" id="{59818759-F3E4-93A8-73F0-6DDA0A819644}"/>
                </a:ext>
              </a:extLst>
            </p:cNvPr>
            <p:cNvGrpSpPr/>
            <p:nvPr/>
          </p:nvGrpSpPr>
          <p:grpSpPr>
            <a:xfrm>
              <a:off x="3633475" y="1299721"/>
              <a:ext cx="1295038" cy="1369512"/>
              <a:chOff x="3491880" y="1376607"/>
              <a:chExt cx="1295038" cy="1369512"/>
            </a:xfrm>
          </p:grpSpPr>
          <p:grpSp>
            <p:nvGrpSpPr>
              <p:cNvPr id="49" name="Group 48">
                <a:extLst>
                  <a:ext uri="{FF2B5EF4-FFF2-40B4-BE49-F238E27FC236}">
                    <a16:creationId xmlns:a16="http://schemas.microsoft.com/office/drawing/2014/main" id="{37948A12-6DF9-F4E7-440F-9E8AE58FE703}"/>
                  </a:ext>
                </a:extLst>
              </p:cNvPr>
              <p:cNvGrpSpPr/>
              <p:nvPr/>
            </p:nvGrpSpPr>
            <p:grpSpPr>
              <a:xfrm>
                <a:off x="3491880" y="1882023"/>
                <a:ext cx="1007007" cy="864096"/>
                <a:chOff x="4078350" y="1851670"/>
                <a:chExt cx="1007007" cy="864096"/>
              </a:xfrm>
            </p:grpSpPr>
            <p:sp>
              <p:nvSpPr>
                <p:cNvPr id="47" name="Oval 46">
                  <a:extLst>
                    <a:ext uri="{FF2B5EF4-FFF2-40B4-BE49-F238E27FC236}">
                      <a16:creationId xmlns:a16="http://schemas.microsoft.com/office/drawing/2014/main" id="{3F0A534A-0E69-C9CC-2D4D-B1D593D577BF}"/>
                    </a:ext>
                  </a:extLst>
                </p:cNvPr>
                <p:cNvSpPr/>
                <p:nvPr/>
              </p:nvSpPr>
              <p:spPr>
                <a:xfrm>
                  <a:off x="4111886" y="1851670"/>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48" name="TextBox 47">
                  <a:extLst>
                    <a:ext uri="{FF2B5EF4-FFF2-40B4-BE49-F238E27FC236}">
                      <a16:creationId xmlns:a16="http://schemas.microsoft.com/office/drawing/2014/main" id="{ECC78F96-F434-C769-52EB-C8E7F0A9D81E}"/>
                    </a:ext>
                  </a:extLst>
                </p:cNvPr>
                <p:cNvSpPr txBox="1"/>
                <p:nvPr/>
              </p:nvSpPr>
              <p:spPr>
                <a:xfrm>
                  <a:off x="4078350" y="2052885"/>
                  <a:ext cx="1007007" cy="461665"/>
                </a:xfrm>
                <a:prstGeom prst="rect">
                  <a:avLst/>
                </a:prstGeom>
                <a:noFill/>
              </p:spPr>
              <p:txBody>
                <a:bodyPr wrap="none" rtlCol="0">
                  <a:spAutoFit/>
                </a:bodyPr>
                <a:lstStyle/>
                <a:p>
                  <a:r>
                    <a:rPr lang="en-US" dirty="0"/>
                    <a:t>Movie</a:t>
                  </a:r>
                </a:p>
              </p:txBody>
            </p:sp>
          </p:grpSp>
          <p:sp>
            <p:nvSpPr>
              <p:cNvPr id="62" name="Rounded Rectangular Callout 61">
                <a:extLst>
                  <a:ext uri="{FF2B5EF4-FFF2-40B4-BE49-F238E27FC236}">
                    <a16:creationId xmlns:a16="http://schemas.microsoft.com/office/drawing/2014/main" id="{965D5955-DF29-F6E4-E325-1ED0DFBDB4D0}"/>
                  </a:ext>
                </a:extLst>
              </p:cNvPr>
              <p:cNvSpPr/>
              <p:nvPr/>
            </p:nvSpPr>
            <p:spPr>
              <a:xfrm>
                <a:off x="3779912" y="1376607"/>
                <a:ext cx="1007006" cy="432048"/>
              </a:xfrm>
              <a:prstGeom prst="wedgeRoundRectCallout">
                <a:avLst>
                  <a:gd name="adj1" fmla="val -31820"/>
                  <a:gd name="adj2" fmla="val 69439"/>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Name:</a:t>
                </a:r>
              </a:p>
              <a:p>
                <a:pPr algn="ctr"/>
                <a:r>
                  <a:rPr lang="en-US" sz="1050" dirty="0">
                    <a:solidFill>
                      <a:schemeClr val="tx1"/>
                    </a:solidFill>
                  </a:rPr>
                  <a:t>Poor Things</a:t>
                </a:r>
              </a:p>
            </p:txBody>
          </p:sp>
        </p:grpSp>
        <p:grpSp>
          <p:nvGrpSpPr>
            <p:cNvPr id="66" name="Group 65">
              <a:extLst>
                <a:ext uri="{FF2B5EF4-FFF2-40B4-BE49-F238E27FC236}">
                  <a16:creationId xmlns:a16="http://schemas.microsoft.com/office/drawing/2014/main" id="{5EDAE6A0-2E92-E843-0B51-28B8AB71FC7C}"/>
                </a:ext>
              </a:extLst>
            </p:cNvPr>
            <p:cNvGrpSpPr/>
            <p:nvPr/>
          </p:nvGrpSpPr>
          <p:grpSpPr>
            <a:xfrm>
              <a:off x="868595" y="2619199"/>
              <a:ext cx="1567433" cy="1383340"/>
              <a:chOff x="6585584" y="1439950"/>
              <a:chExt cx="1567433" cy="1383340"/>
            </a:xfrm>
          </p:grpSpPr>
          <p:grpSp>
            <p:nvGrpSpPr>
              <p:cNvPr id="54" name="Group 53">
                <a:extLst>
                  <a:ext uri="{FF2B5EF4-FFF2-40B4-BE49-F238E27FC236}">
                    <a16:creationId xmlns:a16="http://schemas.microsoft.com/office/drawing/2014/main" id="{DDA20499-1B22-6A14-BFA3-A3E47E655100}"/>
                  </a:ext>
                </a:extLst>
              </p:cNvPr>
              <p:cNvGrpSpPr/>
              <p:nvPr/>
            </p:nvGrpSpPr>
            <p:grpSpPr>
              <a:xfrm>
                <a:off x="6585584" y="1439950"/>
                <a:ext cx="992579" cy="864096"/>
                <a:chOff x="4075710" y="1851670"/>
                <a:chExt cx="992579" cy="864096"/>
              </a:xfrm>
            </p:grpSpPr>
            <p:sp>
              <p:nvSpPr>
                <p:cNvPr id="55" name="Oval 54">
                  <a:extLst>
                    <a:ext uri="{FF2B5EF4-FFF2-40B4-BE49-F238E27FC236}">
                      <a16:creationId xmlns:a16="http://schemas.microsoft.com/office/drawing/2014/main" id="{D7A0D614-EB7A-E296-BE1F-976B282AA2D4}"/>
                    </a:ext>
                  </a:extLst>
                </p:cNvPr>
                <p:cNvSpPr/>
                <p:nvPr/>
              </p:nvSpPr>
              <p:spPr>
                <a:xfrm>
                  <a:off x="4111886" y="1851670"/>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56" name="TextBox 55">
                  <a:extLst>
                    <a:ext uri="{FF2B5EF4-FFF2-40B4-BE49-F238E27FC236}">
                      <a16:creationId xmlns:a16="http://schemas.microsoft.com/office/drawing/2014/main" id="{B518C4FD-91EE-892A-8591-3F11CEB1A798}"/>
                    </a:ext>
                  </a:extLst>
                </p:cNvPr>
                <p:cNvSpPr txBox="1"/>
                <p:nvPr/>
              </p:nvSpPr>
              <p:spPr>
                <a:xfrm>
                  <a:off x="4075710" y="2078724"/>
                  <a:ext cx="992579" cy="369332"/>
                </a:xfrm>
                <a:prstGeom prst="rect">
                  <a:avLst/>
                </a:prstGeom>
                <a:noFill/>
              </p:spPr>
              <p:txBody>
                <a:bodyPr wrap="none" rtlCol="0">
                  <a:spAutoFit/>
                </a:bodyPr>
                <a:lstStyle/>
                <a:p>
                  <a:r>
                    <a:rPr lang="en-US" sz="1800" dirty="0"/>
                    <a:t>Director</a:t>
                  </a:r>
                  <a:endParaRPr lang="en-US" dirty="0"/>
                </a:p>
              </p:txBody>
            </p:sp>
          </p:grpSp>
          <p:sp>
            <p:nvSpPr>
              <p:cNvPr id="65" name="Rounded Rectangular Callout 64">
                <a:extLst>
                  <a:ext uri="{FF2B5EF4-FFF2-40B4-BE49-F238E27FC236}">
                    <a16:creationId xmlns:a16="http://schemas.microsoft.com/office/drawing/2014/main" id="{60218114-2482-CF0C-A25B-4BE471E42D5F}"/>
                  </a:ext>
                </a:extLst>
              </p:cNvPr>
              <p:cNvSpPr/>
              <p:nvPr/>
            </p:nvSpPr>
            <p:spPr>
              <a:xfrm>
                <a:off x="7232789" y="2371574"/>
                <a:ext cx="920228" cy="451716"/>
              </a:xfrm>
              <a:prstGeom prst="wedgeRoundRectCallout">
                <a:avLst>
                  <a:gd name="adj1" fmla="val -39075"/>
                  <a:gd name="adj2" fmla="val -78968"/>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latin typeface="+mn-lt"/>
                  </a:rPr>
                  <a:t>Name: Yorgos Lanthimos</a:t>
                </a:r>
              </a:p>
            </p:txBody>
          </p:sp>
        </p:grpSp>
        <p:grpSp>
          <p:nvGrpSpPr>
            <p:cNvPr id="77" name="Group 76">
              <a:extLst>
                <a:ext uri="{FF2B5EF4-FFF2-40B4-BE49-F238E27FC236}">
                  <a16:creationId xmlns:a16="http://schemas.microsoft.com/office/drawing/2014/main" id="{B9D4D548-0142-645E-60B6-1DFE46627BB5}"/>
                </a:ext>
              </a:extLst>
            </p:cNvPr>
            <p:cNvGrpSpPr/>
            <p:nvPr/>
          </p:nvGrpSpPr>
          <p:grpSpPr>
            <a:xfrm>
              <a:off x="6588224" y="780860"/>
              <a:ext cx="964170" cy="1429475"/>
              <a:chOff x="1733323" y="2314071"/>
              <a:chExt cx="964170" cy="1429475"/>
            </a:xfrm>
          </p:grpSpPr>
          <p:grpSp>
            <p:nvGrpSpPr>
              <p:cNvPr id="50" name="Group 49">
                <a:extLst>
                  <a:ext uri="{FF2B5EF4-FFF2-40B4-BE49-F238E27FC236}">
                    <a16:creationId xmlns:a16="http://schemas.microsoft.com/office/drawing/2014/main" id="{8F7F5267-7BB0-68AE-5621-28647EFD661A}"/>
                  </a:ext>
                </a:extLst>
              </p:cNvPr>
              <p:cNvGrpSpPr/>
              <p:nvPr/>
            </p:nvGrpSpPr>
            <p:grpSpPr>
              <a:xfrm>
                <a:off x="1733323" y="2314071"/>
                <a:ext cx="964170" cy="864096"/>
                <a:chOff x="1998293" y="3075806"/>
                <a:chExt cx="964170" cy="864096"/>
              </a:xfrm>
            </p:grpSpPr>
            <p:sp>
              <p:nvSpPr>
                <p:cNvPr id="45" name="Oval 44">
                  <a:extLst>
                    <a:ext uri="{FF2B5EF4-FFF2-40B4-BE49-F238E27FC236}">
                      <a16:creationId xmlns:a16="http://schemas.microsoft.com/office/drawing/2014/main" id="{9DDC47E0-D9BD-FA34-FD09-1CE863F57047}"/>
                    </a:ext>
                  </a:extLst>
                </p:cNvPr>
                <p:cNvSpPr/>
                <p:nvPr/>
              </p:nvSpPr>
              <p:spPr>
                <a:xfrm>
                  <a:off x="2023654" y="3075806"/>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46" name="TextBox 45">
                  <a:extLst>
                    <a:ext uri="{FF2B5EF4-FFF2-40B4-BE49-F238E27FC236}">
                      <a16:creationId xmlns:a16="http://schemas.microsoft.com/office/drawing/2014/main" id="{0A290BB7-E611-F471-D54E-52C9510AA6C2}"/>
                    </a:ext>
                  </a:extLst>
                </p:cNvPr>
                <p:cNvSpPr txBox="1"/>
                <p:nvPr/>
              </p:nvSpPr>
              <p:spPr>
                <a:xfrm>
                  <a:off x="1998293" y="3277021"/>
                  <a:ext cx="964170" cy="461665"/>
                </a:xfrm>
                <a:prstGeom prst="rect">
                  <a:avLst/>
                </a:prstGeom>
                <a:noFill/>
              </p:spPr>
              <p:txBody>
                <a:bodyPr wrap="square" rtlCol="0">
                  <a:spAutoFit/>
                </a:bodyPr>
                <a:lstStyle/>
                <a:p>
                  <a:r>
                    <a:rPr lang="en-US" dirty="0"/>
                    <a:t>Actor</a:t>
                  </a:r>
                </a:p>
              </p:txBody>
            </p:sp>
          </p:grpSp>
          <p:sp>
            <p:nvSpPr>
              <p:cNvPr id="68" name="Rounded Rectangular Callout 67">
                <a:extLst>
                  <a:ext uri="{FF2B5EF4-FFF2-40B4-BE49-F238E27FC236}">
                    <a16:creationId xmlns:a16="http://schemas.microsoft.com/office/drawing/2014/main" id="{63F811BB-B128-DEEE-4696-D171FA2A6D68}"/>
                  </a:ext>
                </a:extLst>
              </p:cNvPr>
              <p:cNvSpPr/>
              <p:nvPr/>
            </p:nvSpPr>
            <p:spPr>
              <a:xfrm>
                <a:off x="2013410" y="3291830"/>
                <a:ext cx="648072" cy="451716"/>
              </a:xfrm>
              <a:prstGeom prst="wedgeRoundRectCallout">
                <a:avLst>
                  <a:gd name="adj1" fmla="val -29647"/>
                  <a:gd name="adj2" fmla="val -74538"/>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Name:</a:t>
                </a:r>
              </a:p>
              <a:p>
                <a:pPr algn="ctr"/>
                <a:r>
                  <a:rPr lang="en-US" sz="1050" dirty="0">
                    <a:solidFill>
                      <a:schemeClr val="tx1"/>
                    </a:solidFill>
                  </a:rPr>
                  <a:t>Emma Stone</a:t>
                </a:r>
              </a:p>
            </p:txBody>
          </p:sp>
        </p:grpSp>
        <p:grpSp>
          <p:nvGrpSpPr>
            <p:cNvPr id="75" name="Group 74">
              <a:extLst>
                <a:ext uri="{FF2B5EF4-FFF2-40B4-BE49-F238E27FC236}">
                  <a16:creationId xmlns:a16="http://schemas.microsoft.com/office/drawing/2014/main" id="{7006E46C-CF9D-BADF-5E74-FB6471E8A757}"/>
                </a:ext>
              </a:extLst>
            </p:cNvPr>
            <p:cNvGrpSpPr/>
            <p:nvPr/>
          </p:nvGrpSpPr>
          <p:grpSpPr>
            <a:xfrm>
              <a:off x="4716016" y="3250191"/>
              <a:ext cx="1040542" cy="1362578"/>
              <a:chOff x="5206816" y="2671200"/>
              <a:chExt cx="1040542" cy="1362578"/>
            </a:xfrm>
          </p:grpSpPr>
          <p:grpSp>
            <p:nvGrpSpPr>
              <p:cNvPr id="57" name="Group 56">
                <a:extLst>
                  <a:ext uri="{FF2B5EF4-FFF2-40B4-BE49-F238E27FC236}">
                    <a16:creationId xmlns:a16="http://schemas.microsoft.com/office/drawing/2014/main" id="{5E2F5C8F-9AB9-746C-A8D5-FEE5370BBA69}"/>
                  </a:ext>
                </a:extLst>
              </p:cNvPr>
              <p:cNvGrpSpPr/>
              <p:nvPr/>
            </p:nvGrpSpPr>
            <p:grpSpPr>
              <a:xfrm>
                <a:off x="5206816" y="2671200"/>
                <a:ext cx="1007007" cy="864096"/>
                <a:chOff x="4078350" y="1851670"/>
                <a:chExt cx="1007007" cy="864096"/>
              </a:xfrm>
            </p:grpSpPr>
            <p:sp>
              <p:nvSpPr>
                <p:cNvPr id="58" name="Oval 57">
                  <a:extLst>
                    <a:ext uri="{FF2B5EF4-FFF2-40B4-BE49-F238E27FC236}">
                      <a16:creationId xmlns:a16="http://schemas.microsoft.com/office/drawing/2014/main" id="{080B7047-BEA8-7078-3499-55C7686D23EA}"/>
                    </a:ext>
                  </a:extLst>
                </p:cNvPr>
                <p:cNvSpPr/>
                <p:nvPr/>
              </p:nvSpPr>
              <p:spPr>
                <a:xfrm>
                  <a:off x="4111886" y="1851670"/>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59" name="TextBox 58">
                  <a:extLst>
                    <a:ext uri="{FF2B5EF4-FFF2-40B4-BE49-F238E27FC236}">
                      <a16:creationId xmlns:a16="http://schemas.microsoft.com/office/drawing/2014/main" id="{65FC5510-3D55-9A3D-8D15-31323B15254A}"/>
                    </a:ext>
                  </a:extLst>
                </p:cNvPr>
                <p:cNvSpPr txBox="1"/>
                <p:nvPr/>
              </p:nvSpPr>
              <p:spPr>
                <a:xfrm>
                  <a:off x="4078350" y="2052885"/>
                  <a:ext cx="1007007" cy="461665"/>
                </a:xfrm>
                <a:prstGeom prst="rect">
                  <a:avLst/>
                </a:prstGeom>
                <a:noFill/>
              </p:spPr>
              <p:txBody>
                <a:bodyPr wrap="none" rtlCol="0">
                  <a:spAutoFit/>
                </a:bodyPr>
                <a:lstStyle/>
                <a:p>
                  <a:r>
                    <a:rPr lang="en-US" dirty="0"/>
                    <a:t>Movie</a:t>
                  </a:r>
                </a:p>
              </p:txBody>
            </p:sp>
          </p:grpSp>
          <p:sp>
            <p:nvSpPr>
              <p:cNvPr id="69" name="Rounded Rectangular Callout 68">
                <a:extLst>
                  <a:ext uri="{FF2B5EF4-FFF2-40B4-BE49-F238E27FC236}">
                    <a16:creationId xmlns:a16="http://schemas.microsoft.com/office/drawing/2014/main" id="{294255E5-A83B-741E-C19A-2E78BA926736}"/>
                  </a:ext>
                </a:extLst>
              </p:cNvPr>
              <p:cNvSpPr/>
              <p:nvPr/>
            </p:nvSpPr>
            <p:spPr>
              <a:xfrm>
                <a:off x="5240352" y="3601730"/>
                <a:ext cx="1007006" cy="432048"/>
              </a:xfrm>
              <a:prstGeom prst="wedgeRoundRectCallout">
                <a:avLst>
                  <a:gd name="adj1" fmla="val 14136"/>
                  <a:gd name="adj2" fmla="val -73808"/>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Name: The </a:t>
                </a:r>
                <a:r>
                  <a:rPr lang="en-US" sz="1050" dirty="0" err="1">
                    <a:solidFill>
                      <a:schemeClr val="tx1"/>
                    </a:solidFill>
                  </a:rPr>
                  <a:t>Favourite</a:t>
                </a:r>
                <a:endParaRPr lang="en-US" sz="1050" dirty="0">
                  <a:solidFill>
                    <a:schemeClr val="tx1"/>
                  </a:solidFill>
                </a:endParaRPr>
              </a:p>
            </p:txBody>
          </p:sp>
        </p:grpSp>
        <p:grpSp>
          <p:nvGrpSpPr>
            <p:cNvPr id="74" name="Group 73">
              <a:extLst>
                <a:ext uri="{FF2B5EF4-FFF2-40B4-BE49-F238E27FC236}">
                  <a16:creationId xmlns:a16="http://schemas.microsoft.com/office/drawing/2014/main" id="{D30C69CD-9F9B-735A-EDD6-7A8B8F5C0442}"/>
                </a:ext>
              </a:extLst>
            </p:cNvPr>
            <p:cNvGrpSpPr/>
            <p:nvPr/>
          </p:nvGrpSpPr>
          <p:grpSpPr>
            <a:xfrm>
              <a:off x="3058973" y="3637171"/>
              <a:ext cx="1248091" cy="1422745"/>
              <a:chOff x="3395917" y="3522566"/>
              <a:chExt cx="1248091" cy="1422745"/>
            </a:xfrm>
          </p:grpSpPr>
          <p:grpSp>
            <p:nvGrpSpPr>
              <p:cNvPr id="70" name="Group 69">
                <a:extLst>
                  <a:ext uri="{FF2B5EF4-FFF2-40B4-BE49-F238E27FC236}">
                    <a16:creationId xmlns:a16="http://schemas.microsoft.com/office/drawing/2014/main" id="{2618474A-B49A-BB34-EC53-8668155571BC}"/>
                  </a:ext>
                </a:extLst>
              </p:cNvPr>
              <p:cNvGrpSpPr/>
              <p:nvPr/>
            </p:nvGrpSpPr>
            <p:grpSpPr>
              <a:xfrm>
                <a:off x="3395917" y="3522566"/>
                <a:ext cx="964170" cy="864096"/>
                <a:chOff x="1998293" y="3075806"/>
                <a:chExt cx="964170" cy="864096"/>
              </a:xfrm>
            </p:grpSpPr>
            <p:sp>
              <p:nvSpPr>
                <p:cNvPr id="71" name="Oval 70">
                  <a:extLst>
                    <a:ext uri="{FF2B5EF4-FFF2-40B4-BE49-F238E27FC236}">
                      <a16:creationId xmlns:a16="http://schemas.microsoft.com/office/drawing/2014/main" id="{CECCC5FE-23D1-BDD7-87DD-12BFD1AA3558}"/>
                    </a:ext>
                  </a:extLst>
                </p:cNvPr>
                <p:cNvSpPr/>
                <p:nvPr/>
              </p:nvSpPr>
              <p:spPr>
                <a:xfrm>
                  <a:off x="2023654" y="3075806"/>
                  <a:ext cx="920228" cy="864096"/>
                </a:xfrm>
                <a:prstGeom prst="ellipse">
                  <a:avLst/>
                </a:prstGeom>
                <a:noFill/>
                <a:ln w="19050">
                  <a:solidFill>
                    <a:srgbClr val="C0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0" dirty="0"/>
                </a:p>
              </p:txBody>
            </p:sp>
            <p:sp>
              <p:nvSpPr>
                <p:cNvPr id="72" name="TextBox 71">
                  <a:extLst>
                    <a:ext uri="{FF2B5EF4-FFF2-40B4-BE49-F238E27FC236}">
                      <a16:creationId xmlns:a16="http://schemas.microsoft.com/office/drawing/2014/main" id="{66EB0697-A6D1-510C-A6DE-C68B073F5EFB}"/>
                    </a:ext>
                  </a:extLst>
                </p:cNvPr>
                <p:cNvSpPr txBox="1"/>
                <p:nvPr/>
              </p:nvSpPr>
              <p:spPr>
                <a:xfrm>
                  <a:off x="1998293" y="3277021"/>
                  <a:ext cx="964170" cy="461665"/>
                </a:xfrm>
                <a:prstGeom prst="rect">
                  <a:avLst/>
                </a:prstGeom>
                <a:noFill/>
              </p:spPr>
              <p:txBody>
                <a:bodyPr wrap="square" rtlCol="0">
                  <a:spAutoFit/>
                </a:bodyPr>
                <a:lstStyle/>
                <a:p>
                  <a:r>
                    <a:rPr lang="en-US" dirty="0"/>
                    <a:t>Actor</a:t>
                  </a:r>
                </a:p>
              </p:txBody>
            </p:sp>
          </p:grpSp>
          <p:sp>
            <p:nvSpPr>
              <p:cNvPr id="73" name="Rounded Rectangular Callout 72">
                <a:extLst>
                  <a:ext uri="{FF2B5EF4-FFF2-40B4-BE49-F238E27FC236}">
                    <a16:creationId xmlns:a16="http://schemas.microsoft.com/office/drawing/2014/main" id="{7B60965D-16D4-B50F-CAF5-34CEA4A124AA}"/>
                  </a:ext>
                </a:extLst>
              </p:cNvPr>
              <p:cNvSpPr/>
              <p:nvPr/>
            </p:nvSpPr>
            <p:spPr>
              <a:xfrm>
                <a:off x="3819874" y="4493595"/>
                <a:ext cx="824134" cy="451716"/>
              </a:xfrm>
              <a:prstGeom prst="wedgeRoundRectCallout">
                <a:avLst>
                  <a:gd name="adj1" fmla="val -29647"/>
                  <a:gd name="adj2" fmla="val -74538"/>
                  <a:gd name="adj3" fmla="val 16667"/>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Name:</a:t>
                </a:r>
              </a:p>
              <a:p>
                <a:pPr algn="ctr"/>
                <a:r>
                  <a:rPr lang="en-US" sz="1050" dirty="0">
                    <a:solidFill>
                      <a:schemeClr val="tx1"/>
                    </a:solidFill>
                  </a:rPr>
                  <a:t>Olivia Coleman</a:t>
                </a:r>
              </a:p>
            </p:txBody>
          </p:sp>
        </p:grpSp>
        <p:cxnSp>
          <p:nvCxnSpPr>
            <p:cNvPr id="4" name="Straight Arrow Connector 3">
              <a:extLst>
                <a:ext uri="{FF2B5EF4-FFF2-40B4-BE49-F238E27FC236}">
                  <a16:creationId xmlns:a16="http://schemas.microsoft.com/office/drawing/2014/main" id="{8C94D532-DBBA-6331-EAB2-B83DAC521FE0}"/>
                </a:ext>
              </a:extLst>
            </p:cNvPr>
            <p:cNvCxnSpPr>
              <a:cxnSpLocks/>
              <a:endCxn id="47" idx="7"/>
            </p:cNvCxnSpPr>
            <p:nvPr/>
          </p:nvCxnSpPr>
          <p:spPr>
            <a:xfrm flipH="1">
              <a:off x="4452475" y="1441724"/>
              <a:ext cx="2207757" cy="489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57850F60-805C-EA62-790B-9732C610A829}"/>
                </a:ext>
              </a:extLst>
            </p:cNvPr>
            <p:cNvCxnSpPr>
              <a:cxnSpLocks/>
              <a:stCxn id="45" idx="3"/>
              <a:endCxn id="58" idx="7"/>
            </p:cNvCxnSpPr>
            <p:nvPr/>
          </p:nvCxnSpPr>
          <p:spPr>
            <a:xfrm flipH="1">
              <a:off x="5535016" y="1518412"/>
              <a:ext cx="1213333" cy="18583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FCE9A6F8-0666-99A7-57FE-C0A47B458D12}"/>
                </a:ext>
              </a:extLst>
            </p:cNvPr>
            <p:cNvCxnSpPr>
              <a:cxnSpLocks/>
              <a:stCxn id="72" idx="3"/>
              <a:endCxn id="58" idx="3"/>
            </p:cNvCxnSpPr>
            <p:nvPr/>
          </p:nvCxnSpPr>
          <p:spPr>
            <a:xfrm flipV="1">
              <a:off x="4023143" y="3987743"/>
              <a:ext cx="861173" cy="814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0E562EB-0196-C639-C3B5-B990E3653C2B}"/>
                </a:ext>
              </a:extLst>
            </p:cNvPr>
            <p:cNvCxnSpPr>
              <a:stCxn id="55" idx="7"/>
              <a:endCxn id="47" idx="1"/>
            </p:cNvCxnSpPr>
            <p:nvPr/>
          </p:nvCxnSpPr>
          <p:spPr>
            <a:xfrm flipV="1">
              <a:off x="1690235" y="1931681"/>
              <a:ext cx="2111540" cy="8140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BCE237F-E39D-7349-2B37-6C3B3FA8A961}"/>
                </a:ext>
              </a:extLst>
            </p:cNvPr>
            <p:cNvCxnSpPr>
              <a:cxnSpLocks/>
            </p:cNvCxnSpPr>
            <p:nvPr/>
          </p:nvCxnSpPr>
          <p:spPr>
            <a:xfrm>
              <a:off x="1825903" y="3167243"/>
              <a:ext cx="1326443" cy="6711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urved Connector 20">
              <a:extLst>
                <a:ext uri="{FF2B5EF4-FFF2-40B4-BE49-F238E27FC236}">
                  <a16:creationId xmlns:a16="http://schemas.microsoft.com/office/drawing/2014/main" id="{AE3C14C3-7FBC-C4C3-1354-EC149DD012F1}"/>
                </a:ext>
              </a:extLst>
            </p:cNvPr>
            <p:cNvCxnSpPr>
              <a:stCxn id="52" idx="1"/>
            </p:cNvCxnSpPr>
            <p:nvPr/>
          </p:nvCxnSpPr>
          <p:spPr>
            <a:xfrm rot="16200000" flipV="1">
              <a:off x="5335593" y="1376110"/>
              <a:ext cx="931563" cy="245874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urved Connector 22">
              <a:extLst>
                <a:ext uri="{FF2B5EF4-FFF2-40B4-BE49-F238E27FC236}">
                  <a16:creationId xmlns:a16="http://schemas.microsoft.com/office/drawing/2014/main" id="{94929E30-3E7A-F4AC-0A40-869779C11A35}"/>
                </a:ext>
              </a:extLst>
            </p:cNvPr>
            <p:cNvCxnSpPr>
              <a:stCxn id="52" idx="2"/>
            </p:cNvCxnSpPr>
            <p:nvPr/>
          </p:nvCxnSpPr>
          <p:spPr>
            <a:xfrm rot="10800000" flipV="1">
              <a:off x="5580112" y="3376769"/>
              <a:ext cx="1315872" cy="53630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8004F699-839D-ABE1-E4D4-2EC3C9581F79}"/>
                </a:ext>
              </a:extLst>
            </p:cNvPr>
            <p:cNvSpPr txBox="1"/>
            <p:nvPr/>
          </p:nvSpPr>
          <p:spPr>
            <a:xfrm rot="20367420">
              <a:off x="2055435" y="2189119"/>
              <a:ext cx="809055" cy="276999"/>
            </a:xfrm>
            <a:prstGeom prst="rect">
              <a:avLst/>
            </a:prstGeom>
            <a:noFill/>
          </p:spPr>
          <p:txBody>
            <a:bodyPr wrap="square" rtlCol="0">
              <a:spAutoFit/>
            </a:bodyPr>
            <a:lstStyle/>
            <a:p>
              <a:r>
                <a:rPr lang="en-US" sz="1200" b="1" dirty="0">
                  <a:solidFill>
                    <a:srgbClr val="36BA98"/>
                  </a:solidFill>
                </a:rPr>
                <a:t>directed</a:t>
              </a:r>
            </a:p>
          </p:txBody>
        </p:sp>
        <p:sp>
          <p:nvSpPr>
            <p:cNvPr id="25" name="TextBox 24">
              <a:extLst>
                <a:ext uri="{FF2B5EF4-FFF2-40B4-BE49-F238E27FC236}">
                  <a16:creationId xmlns:a16="http://schemas.microsoft.com/office/drawing/2014/main" id="{1BE9B3A2-ECB0-1A29-CF18-CBFE3B5A661B}"/>
                </a:ext>
              </a:extLst>
            </p:cNvPr>
            <p:cNvSpPr txBox="1"/>
            <p:nvPr/>
          </p:nvSpPr>
          <p:spPr>
            <a:xfrm rot="1535684">
              <a:off x="2183669" y="3312906"/>
              <a:ext cx="809055" cy="276999"/>
            </a:xfrm>
            <a:prstGeom prst="rect">
              <a:avLst/>
            </a:prstGeom>
            <a:noFill/>
          </p:spPr>
          <p:txBody>
            <a:bodyPr wrap="square" rtlCol="0">
              <a:spAutoFit/>
            </a:bodyPr>
            <a:lstStyle/>
            <a:p>
              <a:r>
                <a:rPr lang="en-US" sz="1200" b="1" dirty="0">
                  <a:solidFill>
                    <a:srgbClr val="36BA98"/>
                  </a:solidFill>
                </a:rPr>
                <a:t>directed</a:t>
              </a:r>
            </a:p>
          </p:txBody>
        </p:sp>
        <p:sp>
          <p:nvSpPr>
            <p:cNvPr id="26" name="TextBox 25">
              <a:extLst>
                <a:ext uri="{FF2B5EF4-FFF2-40B4-BE49-F238E27FC236}">
                  <a16:creationId xmlns:a16="http://schemas.microsoft.com/office/drawing/2014/main" id="{CEF242E8-170B-7782-92C0-41AE6351C040}"/>
                </a:ext>
              </a:extLst>
            </p:cNvPr>
            <p:cNvSpPr txBox="1"/>
            <p:nvPr/>
          </p:nvSpPr>
          <p:spPr>
            <a:xfrm rot="20943549">
              <a:off x="5211651" y="1405583"/>
              <a:ext cx="809055" cy="276999"/>
            </a:xfrm>
            <a:prstGeom prst="rect">
              <a:avLst/>
            </a:prstGeom>
            <a:noFill/>
          </p:spPr>
          <p:txBody>
            <a:bodyPr wrap="square" rtlCol="0">
              <a:spAutoFit/>
            </a:bodyPr>
            <a:lstStyle/>
            <a:p>
              <a:r>
                <a:rPr lang="en-US" sz="1200" b="1" dirty="0" err="1">
                  <a:solidFill>
                    <a:srgbClr val="36BA98"/>
                  </a:solidFill>
                </a:rPr>
                <a:t>acted_in</a:t>
              </a:r>
              <a:endParaRPr lang="en-US" sz="1200" b="1" dirty="0">
                <a:solidFill>
                  <a:srgbClr val="36BA98"/>
                </a:solidFill>
              </a:endParaRPr>
            </a:p>
          </p:txBody>
        </p:sp>
        <p:sp>
          <p:nvSpPr>
            <p:cNvPr id="27" name="TextBox 26">
              <a:extLst>
                <a:ext uri="{FF2B5EF4-FFF2-40B4-BE49-F238E27FC236}">
                  <a16:creationId xmlns:a16="http://schemas.microsoft.com/office/drawing/2014/main" id="{C41F780F-58E5-5BB4-9109-28F83A24B8EB}"/>
                </a:ext>
              </a:extLst>
            </p:cNvPr>
            <p:cNvSpPr txBox="1"/>
            <p:nvPr/>
          </p:nvSpPr>
          <p:spPr>
            <a:xfrm rot="18212802">
              <a:off x="5913381" y="1822278"/>
              <a:ext cx="809055" cy="276999"/>
            </a:xfrm>
            <a:prstGeom prst="rect">
              <a:avLst/>
            </a:prstGeom>
            <a:noFill/>
          </p:spPr>
          <p:txBody>
            <a:bodyPr wrap="square" rtlCol="0">
              <a:spAutoFit/>
            </a:bodyPr>
            <a:lstStyle/>
            <a:p>
              <a:r>
                <a:rPr lang="en-US" sz="1200" b="1" dirty="0" err="1">
                  <a:solidFill>
                    <a:srgbClr val="36BA98"/>
                  </a:solidFill>
                </a:rPr>
                <a:t>acted_in</a:t>
              </a:r>
              <a:endParaRPr lang="en-US" sz="1200" b="1" dirty="0">
                <a:solidFill>
                  <a:srgbClr val="36BA98"/>
                </a:solidFill>
              </a:endParaRPr>
            </a:p>
          </p:txBody>
        </p:sp>
        <p:sp>
          <p:nvSpPr>
            <p:cNvPr id="28" name="TextBox 27">
              <a:extLst>
                <a:ext uri="{FF2B5EF4-FFF2-40B4-BE49-F238E27FC236}">
                  <a16:creationId xmlns:a16="http://schemas.microsoft.com/office/drawing/2014/main" id="{DC5B9B01-DC13-A38D-AD79-38819F04C52B}"/>
                </a:ext>
              </a:extLst>
            </p:cNvPr>
            <p:cNvSpPr txBox="1"/>
            <p:nvPr/>
          </p:nvSpPr>
          <p:spPr>
            <a:xfrm rot="21336922">
              <a:off x="3982855" y="3792045"/>
              <a:ext cx="809055" cy="276999"/>
            </a:xfrm>
            <a:prstGeom prst="rect">
              <a:avLst/>
            </a:prstGeom>
            <a:noFill/>
          </p:spPr>
          <p:txBody>
            <a:bodyPr wrap="square" rtlCol="0">
              <a:spAutoFit/>
            </a:bodyPr>
            <a:lstStyle/>
            <a:p>
              <a:r>
                <a:rPr lang="en-US" sz="1200" b="1" dirty="0" err="1">
                  <a:solidFill>
                    <a:srgbClr val="36BA98"/>
                  </a:solidFill>
                </a:rPr>
                <a:t>acted_in</a:t>
              </a:r>
              <a:endParaRPr lang="en-US" sz="1200" b="1" dirty="0">
                <a:solidFill>
                  <a:srgbClr val="36BA98"/>
                </a:solidFill>
              </a:endParaRPr>
            </a:p>
          </p:txBody>
        </p:sp>
        <p:sp>
          <p:nvSpPr>
            <p:cNvPr id="29" name="TextBox 28">
              <a:extLst>
                <a:ext uri="{FF2B5EF4-FFF2-40B4-BE49-F238E27FC236}">
                  <a16:creationId xmlns:a16="http://schemas.microsoft.com/office/drawing/2014/main" id="{50CEEAA6-B67B-C96F-4A06-9541B82EF18B}"/>
                </a:ext>
              </a:extLst>
            </p:cNvPr>
            <p:cNvSpPr txBox="1"/>
            <p:nvPr/>
          </p:nvSpPr>
          <p:spPr>
            <a:xfrm rot="20943549">
              <a:off x="6162169" y="3213917"/>
              <a:ext cx="638207" cy="276999"/>
            </a:xfrm>
            <a:prstGeom prst="rect">
              <a:avLst/>
            </a:prstGeom>
            <a:noFill/>
          </p:spPr>
          <p:txBody>
            <a:bodyPr wrap="square" rtlCol="0">
              <a:spAutoFit/>
            </a:bodyPr>
            <a:lstStyle/>
            <a:p>
              <a:r>
                <a:rPr lang="en-US" sz="1200" b="1" dirty="0">
                  <a:solidFill>
                    <a:srgbClr val="36BA98"/>
                  </a:solidFill>
                </a:rPr>
                <a:t>rated</a:t>
              </a:r>
            </a:p>
          </p:txBody>
        </p:sp>
        <p:sp>
          <p:nvSpPr>
            <p:cNvPr id="30" name="TextBox 29">
              <a:extLst>
                <a:ext uri="{FF2B5EF4-FFF2-40B4-BE49-F238E27FC236}">
                  <a16:creationId xmlns:a16="http://schemas.microsoft.com/office/drawing/2014/main" id="{3B07B1F9-34E0-16C7-58D1-2DBC85DB3403}"/>
                </a:ext>
              </a:extLst>
            </p:cNvPr>
            <p:cNvSpPr txBox="1"/>
            <p:nvPr/>
          </p:nvSpPr>
          <p:spPr>
            <a:xfrm rot="1517528">
              <a:off x="6294481" y="2564836"/>
              <a:ext cx="638207" cy="276999"/>
            </a:xfrm>
            <a:prstGeom prst="rect">
              <a:avLst/>
            </a:prstGeom>
            <a:noFill/>
          </p:spPr>
          <p:txBody>
            <a:bodyPr wrap="square" rtlCol="0">
              <a:spAutoFit/>
            </a:bodyPr>
            <a:lstStyle/>
            <a:p>
              <a:r>
                <a:rPr lang="en-US" sz="1200" b="1" dirty="0">
                  <a:solidFill>
                    <a:srgbClr val="36BA98"/>
                  </a:solidFill>
                </a:rPr>
                <a:t>rated</a:t>
              </a:r>
            </a:p>
          </p:txBody>
        </p:sp>
      </p:grpSp>
    </p:spTree>
    <p:extLst>
      <p:ext uri="{BB962C8B-B14F-4D97-AF65-F5344CB8AC3E}">
        <p14:creationId xmlns:p14="http://schemas.microsoft.com/office/powerpoint/2010/main" val="3845150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Property Graphs</a:t>
            </a:r>
          </a:p>
        </p:txBody>
      </p:sp>
      <p:grpSp>
        <p:nvGrpSpPr>
          <p:cNvPr id="78" name="Group 77">
            <a:extLst>
              <a:ext uri="{FF2B5EF4-FFF2-40B4-BE49-F238E27FC236}">
                <a16:creationId xmlns:a16="http://schemas.microsoft.com/office/drawing/2014/main" id="{73CF3770-6F2B-6311-E5DA-1FE0038793B3}"/>
              </a:ext>
            </a:extLst>
          </p:cNvPr>
          <p:cNvGrpSpPr/>
          <p:nvPr/>
        </p:nvGrpSpPr>
        <p:grpSpPr>
          <a:xfrm>
            <a:off x="160721" y="1048832"/>
            <a:ext cx="8678542" cy="3921266"/>
            <a:chOff x="160721" y="1048832"/>
            <a:chExt cx="8678542" cy="3921266"/>
          </a:xfrm>
        </p:grpSpPr>
        <p:sp>
          <p:nvSpPr>
            <p:cNvPr id="79" name="TextBox 78">
              <a:extLst>
                <a:ext uri="{FF2B5EF4-FFF2-40B4-BE49-F238E27FC236}">
                  <a16:creationId xmlns:a16="http://schemas.microsoft.com/office/drawing/2014/main" id="{83C21E7B-3996-5063-E2B9-39D81AE4BC28}"/>
                </a:ext>
              </a:extLst>
            </p:cNvPr>
            <p:cNvSpPr txBox="1"/>
            <p:nvPr/>
          </p:nvSpPr>
          <p:spPr>
            <a:xfrm>
              <a:off x="1568997" y="3240320"/>
              <a:ext cx="1080120" cy="646331"/>
            </a:xfrm>
            <a:prstGeom prst="rect">
              <a:avLst/>
            </a:prstGeom>
            <a:noFill/>
          </p:spPr>
          <p:txBody>
            <a:bodyPr wrap="square" rtlCol="0">
              <a:spAutoFit/>
            </a:bodyPr>
            <a:lstStyle/>
            <a:p>
              <a:r>
                <a:rPr lang="en-US" sz="1200" b="1" dirty="0">
                  <a:solidFill>
                    <a:srgbClr val="36BA98"/>
                  </a:solidFill>
                </a:rPr>
                <a:t>e1: directed</a:t>
              </a:r>
              <a:br>
                <a:rPr lang="en-US" sz="1200" b="1" dirty="0">
                  <a:solidFill>
                    <a:srgbClr val="36BA98"/>
                  </a:solidFill>
                </a:rPr>
              </a:br>
              <a:r>
                <a:rPr lang="en-US" sz="1200" b="1" dirty="0">
                  <a:solidFill>
                    <a:srgbClr val="36BA98"/>
                  </a:solidFill>
                </a:rPr>
                <a:t>year=2018</a:t>
              </a:r>
            </a:p>
            <a:p>
              <a:endParaRPr lang="en-US" sz="1200" b="1" dirty="0">
                <a:solidFill>
                  <a:srgbClr val="36BA98"/>
                </a:solidFill>
              </a:endParaRPr>
            </a:p>
          </p:txBody>
        </p:sp>
        <p:sp>
          <p:nvSpPr>
            <p:cNvPr id="80" name="TextBox 79">
              <a:extLst>
                <a:ext uri="{FF2B5EF4-FFF2-40B4-BE49-F238E27FC236}">
                  <a16:creationId xmlns:a16="http://schemas.microsoft.com/office/drawing/2014/main" id="{6294E207-3901-8A76-C2D8-EA05C1FCCE20}"/>
                </a:ext>
              </a:extLst>
            </p:cNvPr>
            <p:cNvSpPr txBox="1"/>
            <p:nvPr/>
          </p:nvSpPr>
          <p:spPr>
            <a:xfrm>
              <a:off x="5093908" y="3240320"/>
              <a:ext cx="1573421" cy="461665"/>
            </a:xfrm>
            <a:prstGeom prst="rect">
              <a:avLst/>
            </a:prstGeom>
            <a:noFill/>
          </p:spPr>
          <p:txBody>
            <a:bodyPr wrap="square" rtlCol="0">
              <a:spAutoFit/>
            </a:bodyPr>
            <a:lstStyle/>
            <a:p>
              <a:r>
                <a:rPr lang="en-US" sz="1200" b="1" dirty="0">
                  <a:solidFill>
                    <a:srgbClr val="36BA98"/>
                  </a:solidFill>
                </a:rPr>
                <a:t>e4: </a:t>
              </a:r>
              <a:r>
                <a:rPr lang="en-US" sz="1200" b="1" dirty="0" err="1">
                  <a:solidFill>
                    <a:srgbClr val="36BA98"/>
                  </a:solidFill>
                </a:rPr>
                <a:t>acted_in</a:t>
              </a:r>
              <a:br>
                <a:rPr lang="en-US" sz="1200" b="1" dirty="0">
                  <a:solidFill>
                    <a:srgbClr val="36BA98"/>
                  </a:solidFill>
                </a:rPr>
              </a:br>
              <a:r>
                <a:rPr lang="en-US" sz="1200" b="1" dirty="0">
                  <a:solidFill>
                    <a:srgbClr val="36BA98"/>
                  </a:solidFill>
                </a:rPr>
                <a:t>role= Queen Anne</a:t>
              </a:r>
            </a:p>
          </p:txBody>
        </p:sp>
        <p:sp>
          <p:nvSpPr>
            <p:cNvPr id="81" name="TextBox 80">
              <a:extLst>
                <a:ext uri="{FF2B5EF4-FFF2-40B4-BE49-F238E27FC236}">
                  <a16:creationId xmlns:a16="http://schemas.microsoft.com/office/drawing/2014/main" id="{7A606670-FB80-7B62-A2F8-1A0C865896E5}"/>
                </a:ext>
              </a:extLst>
            </p:cNvPr>
            <p:cNvSpPr txBox="1"/>
            <p:nvPr/>
          </p:nvSpPr>
          <p:spPr>
            <a:xfrm>
              <a:off x="5061947" y="1623817"/>
              <a:ext cx="1064477" cy="461665"/>
            </a:xfrm>
            <a:prstGeom prst="rect">
              <a:avLst/>
            </a:prstGeom>
            <a:noFill/>
          </p:spPr>
          <p:txBody>
            <a:bodyPr wrap="square" rtlCol="0">
              <a:spAutoFit/>
            </a:bodyPr>
            <a:lstStyle/>
            <a:p>
              <a:r>
                <a:rPr lang="en-US" sz="1200" b="1" dirty="0">
                  <a:solidFill>
                    <a:srgbClr val="36BA98"/>
                  </a:solidFill>
                </a:rPr>
                <a:t>e3: </a:t>
              </a:r>
              <a:r>
                <a:rPr lang="en-US" sz="1200" b="1" dirty="0" err="1">
                  <a:solidFill>
                    <a:srgbClr val="36BA98"/>
                  </a:solidFill>
                </a:rPr>
                <a:t>acted_in</a:t>
              </a:r>
              <a:endParaRPr lang="en-US" sz="1200" b="1" dirty="0">
                <a:solidFill>
                  <a:srgbClr val="36BA98"/>
                </a:solidFill>
              </a:endParaRPr>
            </a:p>
            <a:p>
              <a:r>
                <a:rPr lang="en-US" sz="1200" b="1" dirty="0">
                  <a:solidFill>
                    <a:srgbClr val="36BA98"/>
                  </a:solidFill>
                </a:rPr>
                <a:t>role= Bella</a:t>
              </a:r>
            </a:p>
          </p:txBody>
        </p:sp>
        <p:sp>
          <p:nvSpPr>
            <p:cNvPr id="82" name="TextBox 81">
              <a:extLst>
                <a:ext uri="{FF2B5EF4-FFF2-40B4-BE49-F238E27FC236}">
                  <a16:creationId xmlns:a16="http://schemas.microsoft.com/office/drawing/2014/main" id="{536FCDDB-0C14-72FB-5FC9-E15908D73317}"/>
                </a:ext>
              </a:extLst>
            </p:cNvPr>
            <p:cNvSpPr txBox="1"/>
            <p:nvPr/>
          </p:nvSpPr>
          <p:spPr>
            <a:xfrm>
              <a:off x="4774805" y="4381488"/>
              <a:ext cx="949323" cy="461665"/>
            </a:xfrm>
            <a:prstGeom prst="rect">
              <a:avLst/>
            </a:prstGeom>
            <a:noFill/>
          </p:spPr>
          <p:txBody>
            <a:bodyPr wrap="square" rtlCol="0">
              <a:spAutoFit/>
            </a:bodyPr>
            <a:lstStyle/>
            <a:p>
              <a:r>
                <a:rPr lang="en-US" sz="1200" b="1" dirty="0">
                  <a:solidFill>
                    <a:srgbClr val="36BA98"/>
                  </a:solidFill>
                </a:rPr>
                <a:t>e5: rated</a:t>
              </a:r>
              <a:br>
                <a:rPr lang="en-US" sz="1200" b="1" dirty="0">
                  <a:solidFill>
                    <a:srgbClr val="36BA98"/>
                  </a:solidFill>
                </a:rPr>
              </a:br>
              <a:r>
                <a:rPr lang="en-US" sz="1200" b="1" dirty="0">
                  <a:solidFill>
                    <a:srgbClr val="36BA98"/>
                  </a:solidFill>
                </a:rPr>
                <a:t>rating=5</a:t>
              </a:r>
            </a:p>
          </p:txBody>
        </p:sp>
        <p:grpSp>
          <p:nvGrpSpPr>
            <p:cNvPr id="83" name="Group 82">
              <a:extLst>
                <a:ext uri="{FF2B5EF4-FFF2-40B4-BE49-F238E27FC236}">
                  <a16:creationId xmlns:a16="http://schemas.microsoft.com/office/drawing/2014/main" id="{7CDE4BBE-9D24-8974-0276-521080EFDEEE}"/>
                </a:ext>
              </a:extLst>
            </p:cNvPr>
            <p:cNvGrpSpPr/>
            <p:nvPr/>
          </p:nvGrpSpPr>
          <p:grpSpPr>
            <a:xfrm>
              <a:off x="160721" y="2283718"/>
              <a:ext cx="1963007" cy="958188"/>
              <a:chOff x="-154843" y="3422469"/>
              <a:chExt cx="1963007" cy="958188"/>
            </a:xfrm>
          </p:grpSpPr>
          <p:sp>
            <p:nvSpPr>
              <p:cNvPr id="106" name="Rounded Rectangle 105">
                <a:extLst>
                  <a:ext uri="{FF2B5EF4-FFF2-40B4-BE49-F238E27FC236}">
                    <a16:creationId xmlns:a16="http://schemas.microsoft.com/office/drawing/2014/main" id="{35DB3061-AD6B-6E28-E37F-33CF619FEE9E}"/>
                  </a:ext>
                </a:extLst>
              </p:cNvPr>
              <p:cNvSpPr/>
              <p:nvPr/>
            </p:nvSpPr>
            <p:spPr>
              <a:xfrm>
                <a:off x="-154843" y="3688207"/>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Yorgos Lanthimos</a:t>
                </a:r>
              </a:p>
            </p:txBody>
          </p:sp>
          <p:sp>
            <p:nvSpPr>
              <p:cNvPr id="107" name="Rectangle 106">
                <a:extLst>
                  <a:ext uri="{FF2B5EF4-FFF2-40B4-BE49-F238E27FC236}">
                    <a16:creationId xmlns:a16="http://schemas.microsoft.com/office/drawing/2014/main" id="{648A3659-E1E8-9999-FA2B-5C3B548740D8}"/>
                  </a:ext>
                </a:extLst>
              </p:cNvPr>
              <p:cNvSpPr/>
              <p:nvPr/>
            </p:nvSpPr>
            <p:spPr>
              <a:xfrm>
                <a:off x="154494" y="3422469"/>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N1: Director</a:t>
                </a:r>
              </a:p>
            </p:txBody>
          </p:sp>
        </p:grpSp>
        <p:grpSp>
          <p:nvGrpSpPr>
            <p:cNvPr id="84" name="Group 83">
              <a:extLst>
                <a:ext uri="{FF2B5EF4-FFF2-40B4-BE49-F238E27FC236}">
                  <a16:creationId xmlns:a16="http://schemas.microsoft.com/office/drawing/2014/main" id="{5AC52659-27C0-D0BF-A79F-BA9AF1D0B1BA}"/>
                </a:ext>
              </a:extLst>
            </p:cNvPr>
            <p:cNvGrpSpPr/>
            <p:nvPr/>
          </p:nvGrpSpPr>
          <p:grpSpPr>
            <a:xfrm>
              <a:off x="2958455" y="1436544"/>
              <a:ext cx="1963007" cy="958188"/>
              <a:chOff x="232729" y="3461761"/>
              <a:chExt cx="1963007" cy="958188"/>
            </a:xfrm>
          </p:grpSpPr>
          <p:sp>
            <p:nvSpPr>
              <p:cNvPr id="104" name="Rounded Rectangle 103">
                <a:extLst>
                  <a:ext uri="{FF2B5EF4-FFF2-40B4-BE49-F238E27FC236}">
                    <a16:creationId xmlns:a16="http://schemas.microsoft.com/office/drawing/2014/main" id="{D674849C-D91E-3558-83A5-B4FB874A9BA8}"/>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Poor Things</a:t>
                </a:r>
              </a:p>
            </p:txBody>
          </p:sp>
          <p:sp>
            <p:nvSpPr>
              <p:cNvPr id="105" name="Rectangle 104">
                <a:extLst>
                  <a:ext uri="{FF2B5EF4-FFF2-40B4-BE49-F238E27FC236}">
                    <a16:creationId xmlns:a16="http://schemas.microsoft.com/office/drawing/2014/main" id="{FCF67914-7ABC-C76D-96B3-1EA72E31CA14}"/>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N2: Movies</a:t>
                </a:r>
              </a:p>
            </p:txBody>
          </p:sp>
        </p:grpSp>
        <p:grpSp>
          <p:nvGrpSpPr>
            <p:cNvPr id="85" name="Group 84">
              <a:extLst>
                <a:ext uri="{FF2B5EF4-FFF2-40B4-BE49-F238E27FC236}">
                  <a16:creationId xmlns:a16="http://schemas.microsoft.com/office/drawing/2014/main" id="{137A9C01-CF26-8F63-7127-92C169D796C9}"/>
                </a:ext>
              </a:extLst>
            </p:cNvPr>
            <p:cNvGrpSpPr/>
            <p:nvPr/>
          </p:nvGrpSpPr>
          <p:grpSpPr>
            <a:xfrm>
              <a:off x="6494883" y="1048832"/>
              <a:ext cx="1963007" cy="958188"/>
              <a:chOff x="232729" y="3461761"/>
              <a:chExt cx="1963007" cy="958188"/>
            </a:xfrm>
          </p:grpSpPr>
          <p:sp>
            <p:nvSpPr>
              <p:cNvPr id="102" name="Rounded Rectangle 101">
                <a:extLst>
                  <a:ext uri="{FF2B5EF4-FFF2-40B4-BE49-F238E27FC236}">
                    <a16:creationId xmlns:a16="http://schemas.microsoft.com/office/drawing/2014/main" id="{F5CE7A89-1D27-3820-12BC-78622FF3C375}"/>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Emma Stone</a:t>
                </a:r>
              </a:p>
            </p:txBody>
          </p:sp>
          <p:sp>
            <p:nvSpPr>
              <p:cNvPr id="103" name="Rectangle 102">
                <a:extLst>
                  <a:ext uri="{FF2B5EF4-FFF2-40B4-BE49-F238E27FC236}">
                    <a16:creationId xmlns:a16="http://schemas.microsoft.com/office/drawing/2014/main" id="{88AAEC9B-6A9B-77F0-39DE-31ED3CBA1E6A}"/>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Actor</a:t>
                </a:r>
              </a:p>
            </p:txBody>
          </p:sp>
        </p:grpSp>
        <p:grpSp>
          <p:nvGrpSpPr>
            <p:cNvPr id="86" name="Group 85">
              <a:extLst>
                <a:ext uri="{FF2B5EF4-FFF2-40B4-BE49-F238E27FC236}">
                  <a16:creationId xmlns:a16="http://schemas.microsoft.com/office/drawing/2014/main" id="{E5778AD3-332C-B5C9-D6CF-2BCC5D75A335}"/>
                </a:ext>
              </a:extLst>
            </p:cNvPr>
            <p:cNvGrpSpPr/>
            <p:nvPr/>
          </p:nvGrpSpPr>
          <p:grpSpPr>
            <a:xfrm>
              <a:off x="6876256" y="2840150"/>
              <a:ext cx="1963007" cy="958188"/>
              <a:chOff x="232729" y="3461761"/>
              <a:chExt cx="1963007" cy="958188"/>
            </a:xfrm>
          </p:grpSpPr>
          <p:sp>
            <p:nvSpPr>
              <p:cNvPr id="100" name="Rounded Rectangle 99">
                <a:extLst>
                  <a:ext uri="{FF2B5EF4-FFF2-40B4-BE49-F238E27FC236}">
                    <a16:creationId xmlns:a16="http://schemas.microsoft.com/office/drawing/2014/main" id="{D3784B62-FBDE-BA8B-B2AD-5E8A02772EA5}"/>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Olivia Coleman</a:t>
                </a:r>
              </a:p>
            </p:txBody>
          </p:sp>
          <p:sp>
            <p:nvSpPr>
              <p:cNvPr id="101" name="Rectangle 100">
                <a:extLst>
                  <a:ext uri="{FF2B5EF4-FFF2-40B4-BE49-F238E27FC236}">
                    <a16:creationId xmlns:a16="http://schemas.microsoft.com/office/drawing/2014/main" id="{A4DA3913-FD60-80E8-0748-0D86CB7EF6E0}"/>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Actor</a:t>
                </a:r>
              </a:p>
            </p:txBody>
          </p:sp>
        </p:grpSp>
        <p:grpSp>
          <p:nvGrpSpPr>
            <p:cNvPr id="87" name="Group 86">
              <a:extLst>
                <a:ext uri="{FF2B5EF4-FFF2-40B4-BE49-F238E27FC236}">
                  <a16:creationId xmlns:a16="http://schemas.microsoft.com/office/drawing/2014/main" id="{CB134458-5DAC-A95A-41B7-B810FC8B7BCD}"/>
                </a:ext>
              </a:extLst>
            </p:cNvPr>
            <p:cNvGrpSpPr/>
            <p:nvPr/>
          </p:nvGrpSpPr>
          <p:grpSpPr>
            <a:xfrm>
              <a:off x="6084168" y="4011910"/>
              <a:ext cx="1963007" cy="958188"/>
              <a:chOff x="232729" y="3461761"/>
              <a:chExt cx="1963007" cy="958188"/>
            </a:xfrm>
          </p:grpSpPr>
          <p:sp>
            <p:nvSpPr>
              <p:cNvPr id="98" name="Rounded Rectangle 97">
                <a:extLst>
                  <a:ext uri="{FF2B5EF4-FFF2-40B4-BE49-F238E27FC236}">
                    <a16:creationId xmlns:a16="http://schemas.microsoft.com/office/drawing/2014/main" id="{133A271F-CE69-B6FB-4625-1DA1E2FAAF3D}"/>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Lucy</a:t>
                </a:r>
              </a:p>
            </p:txBody>
          </p:sp>
          <p:sp>
            <p:nvSpPr>
              <p:cNvPr id="99" name="Rectangle 98">
                <a:extLst>
                  <a:ext uri="{FF2B5EF4-FFF2-40B4-BE49-F238E27FC236}">
                    <a16:creationId xmlns:a16="http://schemas.microsoft.com/office/drawing/2014/main" id="{3809A5C2-4611-60A2-6747-7148B62CE811}"/>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User</a:t>
                </a:r>
              </a:p>
            </p:txBody>
          </p:sp>
        </p:grpSp>
        <p:grpSp>
          <p:nvGrpSpPr>
            <p:cNvPr id="88" name="Group 87">
              <a:extLst>
                <a:ext uri="{FF2B5EF4-FFF2-40B4-BE49-F238E27FC236}">
                  <a16:creationId xmlns:a16="http://schemas.microsoft.com/office/drawing/2014/main" id="{D28C3795-7498-3766-F912-2EF1ED1507F3}"/>
                </a:ext>
              </a:extLst>
            </p:cNvPr>
            <p:cNvGrpSpPr/>
            <p:nvPr/>
          </p:nvGrpSpPr>
          <p:grpSpPr>
            <a:xfrm>
              <a:off x="2958454" y="2840150"/>
              <a:ext cx="1963007" cy="958188"/>
              <a:chOff x="232729" y="3461761"/>
              <a:chExt cx="1963007" cy="958188"/>
            </a:xfrm>
          </p:grpSpPr>
          <p:sp>
            <p:nvSpPr>
              <p:cNvPr id="96" name="Rounded Rectangle 95">
                <a:extLst>
                  <a:ext uri="{FF2B5EF4-FFF2-40B4-BE49-F238E27FC236}">
                    <a16:creationId xmlns:a16="http://schemas.microsoft.com/office/drawing/2014/main" id="{31BFC51D-3A9D-3470-CDF7-D4146D4BA691}"/>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The </a:t>
                </a:r>
                <a:r>
                  <a:rPr lang="en-US" sz="2000" dirty="0" err="1">
                    <a:solidFill>
                      <a:schemeClr val="tx1"/>
                    </a:solidFill>
                    <a:latin typeface="+mn-lt"/>
                  </a:rPr>
                  <a:t>Favourite</a:t>
                </a:r>
                <a:endParaRPr lang="en-US" sz="2000" dirty="0">
                  <a:solidFill>
                    <a:schemeClr val="tx1"/>
                  </a:solidFill>
                  <a:latin typeface="+mn-lt"/>
                </a:endParaRPr>
              </a:p>
            </p:txBody>
          </p:sp>
          <p:sp>
            <p:nvSpPr>
              <p:cNvPr id="97" name="Rectangle 96">
                <a:extLst>
                  <a:ext uri="{FF2B5EF4-FFF2-40B4-BE49-F238E27FC236}">
                    <a16:creationId xmlns:a16="http://schemas.microsoft.com/office/drawing/2014/main" id="{94007013-335B-76FF-DDEE-56C443DB6EF8}"/>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N2: Movies</a:t>
                </a:r>
              </a:p>
            </p:txBody>
          </p:sp>
        </p:grpSp>
        <p:cxnSp>
          <p:nvCxnSpPr>
            <p:cNvPr id="89" name="Elbow Connector 88">
              <a:extLst>
                <a:ext uri="{FF2B5EF4-FFF2-40B4-BE49-F238E27FC236}">
                  <a16:creationId xmlns:a16="http://schemas.microsoft.com/office/drawing/2014/main" id="{70C57787-6FD4-4EE8-D998-1078905E7098}"/>
                </a:ext>
              </a:extLst>
            </p:cNvPr>
            <p:cNvCxnSpPr>
              <a:stCxn id="107" idx="0"/>
              <a:endCxn id="104" idx="1"/>
            </p:cNvCxnSpPr>
            <p:nvPr/>
          </p:nvCxnSpPr>
          <p:spPr>
            <a:xfrm rot="5400000" flipH="1" flipV="1">
              <a:off x="1934379" y="1259643"/>
              <a:ext cx="235211" cy="18129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90" name="Group 89">
              <a:extLst>
                <a:ext uri="{FF2B5EF4-FFF2-40B4-BE49-F238E27FC236}">
                  <a16:creationId xmlns:a16="http://schemas.microsoft.com/office/drawing/2014/main" id="{54DC4F49-B8D9-7A12-E771-0D163E7A5889}"/>
                </a:ext>
              </a:extLst>
            </p:cNvPr>
            <p:cNvGrpSpPr/>
            <p:nvPr/>
          </p:nvGrpSpPr>
          <p:grpSpPr>
            <a:xfrm>
              <a:off x="1142225" y="1804036"/>
              <a:ext cx="1816229" cy="1648076"/>
              <a:chOff x="1142225" y="2759864"/>
              <a:chExt cx="1816229" cy="1648076"/>
            </a:xfrm>
          </p:grpSpPr>
          <p:sp>
            <p:nvSpPr>
              <p:cNvPr id="94" name="TextBox 93">
                <a:extLst>
                  <a:ext uri="{FF2B5EF4-FFF2-40B4-BE49-F238E27FC236}">
                    <a16:creationId xmlns:a16="http://schemas.microsoft.com/office/drawing/2014/main" id="{64D5E37B-462C-D7C7-3911-C64A84F24414}"/>
                  </a:ext>
                </a:extLst>
              </p:cNvPr>
              <p:cNvSpPr txBox="1"/>
              <p:nvPr/>
            </p:nvSpPr>
            <p:spPr>
              <a:xfrm>
                <a:off x="1838211" y="2759864"/>
                <a:ext cx="1051115" cy="461665"/>
              </a:xfrm>
              <a:prstGeom prst="rect">
                <a:avLst/>
              </a:prstGeom>
              <a:noFill/>
            </p:spPr>
            <p:txBody>
              <a:bodyPr wrap="square" rtlCol="0">
                <a:spAutoFit/>
              </a:bodyPr>
              <a:lstStyle/>
              <a:p>
                <a:r>
                  <a:rPr lang="en-US" sz="1200" b="1" dirty="0">
                    <a:solidFill>
                      <a:srgbClr val="36BA98"/>
                    </a:solidFill>
                  </a:rPr>
                  <a:t>e2: directed</a:t>
                </a:r>
                <a:br>
                  <a:rPr lang="en-US" sz="1200" b="1" dirty="0">
                    <a:solidFill>
                      <a:srgbClr val="36BA98"/>
                    </a:solidFill>
                  </a:rPr>
                </a:br>
                <a:r>
                  <a:rPr lang="en-US" sz="1200" b="1" dirty="0">
                    <a:solidFill>
                      <a:srgbClr val="36BA98"/>
                    </a:solidFill>
                  </a:rPr>
                  <a:t>year=2023</a:t>
                </a:r>
              </a:p>
            </p:txBody>
          </p:sp>
          <p:cxnSp>
            <p:nvCxnSpPr>
              <p:cNvPr id="95" name="Elbow Connector 94">
                <a:extLst>
                  <a:ext uri="{FF2B5EF4-FFF2-40B4-BE49-F238E27FC236}">
                    <a16:creationId xmlns:a16="http://schemas.microsoft.com/office/drawing/2014/main" id="{8E8D05F1-C4F2-C5AD-0104-2D0BD1E288AC}"/>
                  </a:ext>
                </a:extLst>
              </p:cNvPr>
              <p:cNvCxnSpPr>
                <a:stCxn id="106" idx="2"/>
                <a:endCxn id="96" idx="1"/>
              </p:cNvCxnSpPr>
              <p:nvPr/>
            </p:nvCxnSpPr>
            <p:spPr>
              <a:xfrm rot="16200000" flipH="1">
                <a:off x="1945236" y="3394722"/>
                <a:ext cx="210207" cy="18162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91" name="Elbow Connector 90">
              <a:extLst>
                <a:ext uri="{FF2B5EF4-FFF2-40B4-BE49-F238E27FC236}">
                  <a16:creationId xmlns:a16="http://schemas.microsoft.com/office/drawing/2014/main" id="{9A0F49A8-A103-5630-1A09-8E3E1D410009}"/>
                </a:ext>
              </a:extLst>
            </p:cNvPr>
            <p:cNvCxnSpPr>
              <a:stCxn id="98" idx="1"/>
              <a:endCxn id="96" idx="2"/>
            </p:cNvCxnSpPr>
            <p:nvPr/>
          </p:nvCxnSpPr>
          <p:spPr>
            <a:xfrm rot="10800000">
              <a:off x="3939958" y="3798339"/>
              <a:ext cx="2144210" cy="82553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Elbow Connector 91">
              <a:extLst>
                <a:ext uri="{FF2B5EF4-FFF2-40B4-BE49-F238E27FC236}">
                  <a16:creationId xmlns:a16="http://schemas.microsoft.com/office/drawing/2014/main" id="{20819F06-9D1D-0190-1994-1100FD9F162C}"/>
                </a:ext>
              </a:extLst>
            </p:cNvPr>
            <p:cNvCxnSpPr>
              <a:stCxn id="102" idx="1"/>
              <a:endCxn id="104" idx="3"/>
            </p:cNvCxnSpPr>
            <p:nvPr/>
          </p:nvCxnSpPr>
          <p:spPr>
            <a:xfrm rot="10800000" flipV="1">
              <a:off x="4921463" y="1660795"/>
              <a:ext cx="1573421" cy="387712"/>
            </a:xfrm>
            <a:prstGeom prst="bentConnector3">
              <a:avLst>
                <a:gd name="adj1" fmla="val 1910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172A5FE-7C0A-4534-74EE-994A97AAA3BC}"/>
                </a:ext>
              </a:extLst>
            </p:cNvPr>
            <p:cNvCxnSpPr>
              <a:stCxn id="100" idx="1"/>
              <a:endCxn id="96" idx="3"/>
            </p:cNvCxnSpPr>
            <p:nvPr/>
          </p:nvCxnSpPr>
          <p:spPr>
            <a:xfrm flipH="1">
              <a:off x="4921461" y="3452113"/>
              <a:ext cx="1954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35921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Property Graphs</a:t>
            </a:r>
          </a:p>
        </p:txBody>
      </p:sp>
      <p:grpSp>
        <p:nvGrpSpPr>
          <p:cNvPr id="78" name="Group 77">
            <a:extLst>
              <a:ext uri="{FF2B5EF4-FFF2-40B4-BE49-F238E27FC236}">
                <a16:creationId xmlns:a16="http://schemas.microsoft.com/office/drawing/2014/main" id="{73CF3770-6F2B-6311-E5DA-1FE0038793B3}"/>
              </a:ext>
            </a:extLst>
          </p:cNvPr>
          <p:cNvGrpSpPr/>
          <p:nvPr/>
        </p:nvGrpSpPr>
        <p:grpSpPr>
          <a:xfrm>
            <a:off x="160721" y="1048832"/>
            <a:ext cx="8678542" cy="3921266"/>
            <a:chOff x="160721" y="1048832"/>
            <a:chExt cx="8678542" cy="3921266"/>
          </a:xfrm>
        </p:grpSpPr>
        <p:sp>
          <p:nvSpPr>
            <p:cNvPr id="79" name="TextBox 78">
              <a:extLst>
                <a:ext uri="{FF2B5EF4-FFF2-40B4-BE49-F238E27FC236}">
                  <a16:creationId xmlns:a16="http://schemas.microsoft.com/office/drawing/2014/main" id="{83C21E7B-3996-5063-E2B9-39D81AE4BC28}"/>
                </a:ext>
              </a:extLst>
            </p:cNvPr>
            <p:cNvSpPr txBox="1"/>
            <p:nvPr/>
          </p:nvSpPr>
          <p:spPr>
            <a:xfrm>
              <a:off x="1568997" y="3240320"/>
              <a:ext cx="1080120" cy="646331"/>
            </a:xfrm>
            <a:prstGeom prst="rect">
              <a:avLst/>
            </a:prstGeom>
            <a:noFill/>
          </p:spPr>
          <p:txBody>
            <a:bodyPr wrap="square" rtlCol="0">
              <a:spAutoFit/>
            </a:bodyPr>
            <a:lstStyle/>
            <a:p>
              <a:r>
                <a:rPr lang="en-US" sz="1200" b="1" dirty="0">
                  <a:solidFill>
                    <a:srgbClr val="36BA98"/>
                  </a:solidFill>
                </a:rPr>
                <a:t>e1: directed</a:t>
              </a:r>
              <a:br>
                <a:rPr lang="en-US" sz="1200" b="1" dirty="0">
                  <a:solidFill>
                    <a:srgbClr val="36BA98"/>
                  </a:solidFill>
                </a:rPr>
              </a:br>
              <a:r>
                <a:rPr lang="en-US" sz="1200" b="1" dirty="0">
                  <a:solidFill>
                    <a:srgbClr val="36BA98"/>
                  </a:solidFill>
                </a:rPr>
                <a:t>year=2018</a:t>
              </a:r>
            </a:p>
            <a:p>
              <a:endParaRPr lang="en-US" sz="1200" b="1" dirty="0">
                <a:solidFill>
                  <a:srgbClr val="36BA98"/>
                </a:solidFill>
              </a:endParaRPr>
            </a:p>
          </p:txBody>
        </p:sp>
        <p:sp>
          <p:nvSpPr>
            <p:cNvPr id="80" name="TextBox 79">
              <a:extLst>
                <a:ext uri="{FF2B5EF4-FFF2-40B4-BE49-F238E27FC236}">
                  <a16:creationId xmlns:a16="http://schemas.microsoft.com/office/drawing/2014/main" id="{6294E207-3901-8A76-C2D8-EA05C1FCCE20}"/>
                </a:ext>
              </a:extLst>
            </p:cNvPr>
            <p:cNvSpPr txBox="1"/>
            <p:nvPr/>
          </p:nvSpPr>
          <p:spPr>
            <a:xfrm>
              <a:off x="5093908" y="3240320"/>
              <a:ext cx="1573421" cy="461665"/>
            </a:xfrm>
            <a:prstGeom prst="rect">
              <a:avLst/>
            </a:prstGeom>
            <a:noFill/>
          </p:spPr>
          <p:txBody>
            <a:bodyPr wrap="square" rtlCol="0">
              <a:spAutoFit/>
            </a:bodyPr>
            <a:lstStyle/>
            <a:p>
              <a:r>
                <a:rPr lang="en-US" sz="1200" b="1" dirty="0">
                  <a:solidFill>
                    <a:srgbClr val="36BA98"/>
                  </a:solidFill>
                </a:rPr>
                <a:t>e4: </a:t>
              </a:r>
              <a:r>
                <a:rPr lang="en-US" sz="1200" b="1" dirty="0" err="1">
                  <a:solidFill>
                    <a:srgbClr val="36BA98"/>
                  </a:solidFill>
                </a:rPr>
                <a:t>acted_in</a:t>
              </a:r>
              <a:br>
                <a:rPr lang="en-US" sz="1200" b="1" dirty="0">
                  <a:solidFill>
                    <a:srgbClr val="36BA98"/>
                  </a:solidFill>
                </a:rPr>
              </a:br>
              <a:r>
                <a:rPr lang="en-US" sz="1200" b="1" dirty="0">
                  <a:solidFill>
                    <a:srgbClr val="36BA98"/>
                  </a:solidFill>
                </a:rPr>
                <a:t>role= Queen Anne</a:t>
              </a:r>
            </a:p>
          </p:txBody>
        </p:sp>
        <p:sp>
          <p:nvSpPr>
            <p:cNvPr id="81" name="TextBox 80">
              <a:extLst>
                <a:ext uri="{FF2B5EF4-FFF2-40B4-BE49-F238E27FC236}">
                  <a16:creationId xmlns:a16="http://schemas.microsoft.com/office/drawing/2014/main" id="{7A606670-FB80-7B62-A2F8-1A0C865896E5}"/>
                </a:ext>
              </a:extLst>
            </p:cNvPr>
            <p:cNvSpPr txBox="1"/>
            <p:nvPr/>
          </p:nvSpPr>
          <p:spPr>
            <a:xfrm>
              <a:off x="5061947" y="1623817"/>
              <a:ext cx="1064477" cy="461665"/>
            </a:xfrm>
            <a:prstGeom prst="rect">
              <a:avLst/>
            </a:prstGeom>
            <a:noFill/>
          </p:spPr>
          <p:txBody>
            <a:bodyPr wrap="square" rtlCol="0">
              <a:spAutoFit/>
            </a:bodyPr>
            <a:lstStyle/>
            <a:p>
              <a:r>
                <a:rPr lang="en-US" sz="1200" b="1" dirty="0">
                  <a:solidFill>
                    <a:srgbClr val="36BA98"/>
                  </a:solidFill>
                </a:rPr>
                <a:t>e3: </a:t>
              </a:r>
              <a:r>
                <a:rPr lang="en-US" sz="1200" b="1" dirty="0" err="1">
                  <a:solidFill>
                    <a:srgbClr val="36BA98"/>
                  </a:solidFill>
                </a:rPr>
                <a:t>acted_in</a:t>
              </a:r>
              <a:endParaRPr lang="en-US" sz="1200" b="1" dirty="0">
                <a:solidFill>
                  <a:srgbClr val="36BA98"/>
                </a:solidFill>
              </a:endParaRPr>
            </a:p>
            <a:p>
              <a:r>
                <a:rPr lang="en-US" sz="1200" b="1" dirty="0">
                  <a:solidFill>
                    <a:srgbClr val="36BA98"/>
                  </a:solidFill>
                </a:rPr>
                <a:t>role= Bella</a:t>
              </a:r>
            </a:p>
          </p:txBody>
        </p:sp>
        <p:sp>
          <p:nvSpPr>
            <p:cNvPr id="82" name="TextBox 81">
              <a:extLst>
                <a:ext uri="{FF2B5EF4-FFF2-40B4-BE49-F238E27FC236}">
                  <a16:creationId xmlns:a16="http://schemas.microsoft.com/office/drawing/2014/main" id="{536FCDDB-0C14-72FB-5FC9-E15908D73317}"/>
                </a:ext>
              </a:extLst>
            </p:cNvPr>
            <p:cNvSpPr txBox="1"/>
            <p:nvPr/>
          </p:nvSpPr>
          <p:spPr>
            <a:xfrm>
              <a:off x="4774805" y="4381488"/>
              <a:ext cx="949323" cy="461665"/>
            </a:xfrm>
            <a:prstGeom prst="rect">
              <a:avLst/>
            </a:prstGeom>
            <a:noFill/>
          </p:spPr>
          <p:txBody>
            <a:bodyPr wrap="square" rtlCol="0">
              <a:spAutoFit/>
            </a:bodyPr>
            <a:lstStyle/>
            <a:p>
              <a:r>
                <a:rPr lang="en-US" sz="1200" b="1" dirty="0">
                  <a:solidFill>
                    <a:srgbClr val="36BA98"/>
                  </a:solidFill>
                </a:rPr>
                <a:t>e5: rated</a:t>
              </a:r>
              <a:br>
                <a:rPr lang="en-US" sz="1200" b="1" dirty="0">
                  <a:solidFill>
                    <a:srgbClr val="36BA98"/>
                  </a:solidFill>
                </a:rPr>
              </a:br>
              <a:r>
                <a:rPr lang="en-US" sz="1200" b="1" dirty="0">
                  <a:solidFill>
                    <a:srgbClr val="36BA98"/>
                  </a:solidFill>
                </a:rPr>
                <a:t>rating=5</a:t>
              </a:r>
            </a:p>
          </p:txBody>
        </p:sp>
        <p:grpSp>
          <p:nvGrpSpPr>
            <p:cNvPr id="83" name="Group 82">
              <a:extLst>
                <a:ext uri="{FF2B5EF4-FFF2-40B4-BE49-F238E27FC236}">
                  <a16:creationId xmlns:a16="http://schemas.microsoft.com/office/drawing/2014/main" id="{7CDE4BBE-9D24-8974-0276-521080EFDEEE}"/>
                </a:ext>
              </a:extLst>
            </p:cNvPr>
            <p:cNvGrpSpPr/>
            <p:nvPr/>
          </p:nvGrpSpPr>
          <p:grpSpPr>
            <a:xfrm>
              <a:off x="160721" y="2283718"/>
              <a:ext cx="1963007" cy="958188"/>
              <a:chOff x="-154843" y="3422469"/>
              <a:chExt cx="1963007" cy="958188"/>
            </a:xfrm>
          </p:grpSpPr>
          <p:sp>
            <p:nvSpPr>
              <p:cNvPr id="106" name="Rounded Rectangle 105">
                <a:extLst>
                  <a:ext uri="{FF2B5EF4-FFF2-40B4-BE49-F238E27FC236}">
                    <a16:creationId xmlns:a16="http://schemas.microsoft.com/office/drawing/2014/main" id="{35DB3061-AD6B-6E28-E37F-33CF619FEE9E}"/>
                  </a:ext>
                </a:extLst>
              </p:cNvPr>
              <p:cNvSpPr/>
              <p:nvPr/>
            </p:nvSpPr>
            <p:spPr>
              <a:xfrm>
                <a:off x="-154843" y="3688207"/>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Yorgos Lanthimos</a:t>
                </a:r>
              </a:p>
            </p:txBody>
          </p:sp>
          <p:sp>
            <p:nvSpPr>
              <p:cNvPr id="107" name="Rectangle 106">
                <a:extLst>
                  <a:ext uri="{FF2B5EF4-FFF2-40B4-BE49-F238E27FC236}">
                    <a16:creationId xmlns:a16="http://schemas.microsoft.com/office/drawing/2014/main" id="{648A3659-E1E8-9999-FA2B-5C3B548740D8}"/>
                  </a:ext>
                </a:extLst>
              </p:cNvPr>
              <p:cNvSpPr/>
              <p:nvPr/>
            </p:nvSpPr>
            <p:spPr>
              <a:xfrm>
                <a:off x="154494" y="3422469"/>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N1: Director</a:t>
                </a:r>
              </a:p>
            </p:txBody>
          </p:sp>
        </p:grpSp>
        <p:grpSp>
          <p:nvGrpSpPr>
            <p:cNvPr id="84" name="Group 83">
              <a:extLst>
                <a:ext uri="{FF2B5EF4-FFF2-40B4-BE49-F238E27FC236}">
                  <a16:creationId xmlns:a16="http://schemas.microsoft.com/office/drawing/2014/main" id="{5AC52659-27C0-D0BF-A79F-BA9AF1D0B1BA}"/>
                </a:ext>
              </a:extLst>
            </p:cNvPr>
            <p:cNvGrpSpPr/>
            <p:nvPr/>
          </p:nvGrpSpPr>
          <p:grpSpPr>
            <a:xfrm>
              <a:off x="2958455" y="1436544"/>
              <a:ext cx="1963007" cy="958188"/>
              <a:chOff x="232729" y="3461761"/>
              <a:chExt cx="1963007" cy="958188"/>
            </a:xfrm>
          </p:grpSpPr>
          <p:sp>
            <p:nvSpPr>
              <p:cNvPr id="104" name="Rounded Rectangle 103">
                <a:extLst>
                  <a:ext uri="{FF2B5EF4-FFF2-40B4-BE49-F238E27FC236}">
                    <a16:creationId xmlns:a16="http://schemas.microsoft.com/office/drawing/2014/main" id="{D674849C-D91E-3558-83A5-B4FB874A9BA8}"/>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Poor Things</a:t>
                </a:r>
              </a:p>
            </p:txBody>
          </p:sp>
          <p:sp>
            <p:nvSpPr>
              <p:cNvPr id="105" name="Rectangle 104">
                <a:extLst>
                  <a:ext uri="{FF2B5EF4-FFF2-40B4-BE49-F238E27FC236}">
                    <a16:creationId xmlns:a16="http://schemas.microsoft.com/office/drawing/2014/main" id="{FCF67914-7ABC-C76D-96B3-1EA72E31CA14}"/>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N2: Movies</a:t>
                </a:r>
              </a:p>
            </p:txBody>
          </p:sp>
        </p:grpSp>
        <p:grpSp>
          <p:nvGrpSpPr>
            <p:cNvPr id="85" name="Group 84">
              <a:extLst>
                <a:ext uri="{FF2B5EF4-FFF2-40B4-BE49-F238E27FC236}">
                  <a16:creationId xmlns:a16="http://schemas.microsoft.com/office/drawing/2014/main" id="{137A9C01-CF26-8F63-7127-92C169D796C9}"/>
                </a:ext>
              </a:extLst>
            </p:cNvPr>
            <p:cNvGrpSpPr/>
            <p:nvPr/>
          </p:nvGrpSpPr>
          <p:grpSpPr>
            <a:xfrm>
              <a:off x="6494883" y="1048832"/>
              <a:ext cx="1963007" cy="958188"/>
              <a:chOff x="232729" y="3461761"/>
              <a:chExt cx="1963007" cy="958188"/>
            </a:xfrm>
          </p:grpSpPr>
          <p:sp>
            <p:nvSpPr>
              <p:cNvPr id="102" name="Rounded Rectangle 101">
                <a:extLst>
                  <a:ext uri="{FF2B5EF4-FFF2-40B4-BE49-F238E27FC236}">
                    <a16:creationId xmlns:a16="http://schemas.microsoft.com/office/drawing/2014/main" id="{F5CE7A89-1D27-3820-12BC-78622FF3C375}"/>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Emma Stone</a:t>
                </a:r>
              </a:p>
            </p:txBody>
          </p:sp>
          <p:sp>
            <p:nvSpPr>
              <p:cNvPr id="103" name="Rectangle 102">
                <a:extLst>
                  <a:ext uri="{FF2B5EF4-FFF2-40B4-BE49-F238E27FC236}">
                    <a16:creationId xmlns:a16="http://schemas.microsoft.com/office/drawing/2014/main" id="{88AAEC9B-6A9B-77F0-39DE-31ED3CBA1E6A}"/>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Actor</a:t>
                </a:r>
              </a:p>
            </p:txBody>
          </p:sp>
        </p:grpSp>
        <p:grpSp>
          <p:nvGrpSpPr>
            <p:cNvPr id="86" name="Group 85">
              <a:extLst>
                <a:ext uri="{FF2B5EF4-FFF2-40B4-BE49-F238E27FC236}">
                  <a16:creationId xmlns:a16="http://schemas.microsoft.com/office/drawing/2014/main" id="{E5778AD3-332C-B5C9-D6CF-2BCC5D75A335}"/>
                </a:ext>
              </a:extLst>
            </p:cNvPr>
            <p:cNvGrpSpPr/>
            <p:nvPr/>
          </p:nvGrpSpPr>
          <p:grpSpPr>
            <a:xfrm>
              <a:off x="6876256" y="2840150"/>
              <a:ext cx="1963007" cy="958188"/>
              <a:chOff x="232729" y="3461761"/>
              <a:chExt cx="1963007" cy="958188"/>
            </a:xfrm>
          </p:grpSpPr>
          <p:sp>
            <p:nvSpPr>
              <p:cNvPr id="100" name="Rounded Rectangle 99">
                <a:extLst>
                  <a:ext uri="{FF2B5EF4-FFF2-40B4-BE49-F238E27FC236}">
                    <a16:creationId xmlns:a16="http://schemas.microsoft.com/office/drawing/2014/main" id="{D3784B62-FBDE-BA8B-B2AD-5E8A02772EA5}"/>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Olivia Coleman</a:t>
                </a:r>
              </a:p>
            </p:txBody>
          </p:sp>
          <p:sp>
            <p:nvSpPr>
              <p:cNvPr id="101" name="Rectangle 100">
                <a:extLst>
                  <a:ext uri="{FF2B5EF4-FFF2-40B4-BE49-F238E27FC236}">
                    <a16:creationId xmlns:a16="http://schemas.microsoft.com/office/drawing/2014/main" id="{A4DA3913-FD60-80E8-0748-0D86CB7EF6E0}"/>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Actor</a:t>
                </a:r>
              </a:p>
            </p:txBody>
          </p:sp>
        </p:grpSp>
        <p:grpSp>
          <p:nvGrpSpPr>
            <p:cNvPr id="87" name="Group 86">
              <a:extLst>
                <a:ext uri="{FF2B5EF4-FFF2-40B4-BE49-F238E27FC236}">
                  <a16:creationId xmlns:a16="http://schemas.microsoft.com/office/drawing/2014/main" id="{CB134458-5DAC-A95A-41B7-B810FC8B7BCD}"/>
                </a:ext>
              </a:extLst>
            </p:cNvPr>
            <p:cNvGrpSpPr/>
            <p:nvPr/>
          </p:nvGrpSpPr>
          <p:grpSpPr>
            <a:xfrm>
              <a:off x="6084168" y="4011910"/>
              <a:ext cx="1963007" cy="958188"/>
              <a:chOff x="232729" y="3461761"/>
              <a:chExt cx="1963007" cy="958188"/>
            </a:xfrm>
          </p:grpSpPr>
          <p:sp>
            <p:nvSpPr>
              <p:cNvPr id="98" name="Rounded Rectangle 97">
                <a:extLst>
                  <a:ext uri="{FF2B5EF4-FFF2-40B4-BE49-F238E27FC236}">
                    <a16:creationId xmlns:a16="http://schemas.microsoft.com/office/drawing/2014/main" id="{133A271F-CE69-B6FB-4625-1DA1E2FAAF3D}"/>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Lucy</a:t>
                </a:r>
              </a:p>
            </p:txBody>
          </p:sp>
          <p:sp>
            <p:nvSpPr>
              <p:cNvPr id="99" name="Rectangle 98">
                <a:extLst>
                  <a:ext uri="{FF2B5EF4-FFF2-40B4-BE49-F238E27FC236}">
                    <a16:creationId xmlns:a16="http://schemas.microsoft.com/office/drawing/2014/main" id="{3809A5C2-4611-60A2-6747-7148B62CE811}"/>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User</a:t>
                </a:r>
              </a:p>
            </p:txBody>
          </p:sp>
        </p:grpSp>
        <p:grpSp>
          <p:nvGrpSpPr>
            <p:cNvPr id="88" name="Group 87">
              <a:extLst>
                <a:ext uri="{FF2B5EF4-FFF2-40B4-BE49-F238E27FC236}">
                  <a16:creationId xmlns:a16="http://schemas.microsoft.com/office/drawing/2014/main" id="{D28C3795-7498-3766-F912-2EF1ED1507F3}"/>
                </a:ext>
              </a:extLst>
            </p:cNvPr>
            <p:cNvGrpSpPr/>
            <p:nvPr/>
          </p:nvGrpSpPr>
          <p:grpSpPr>
            <a:xfrm>
              <a:off x="2958454" y="2840150"/>
              <a:ext cx="1963007" cy="958188"/>
              <a:chOff x="232729" y="3461761"/>
              <a:chExt cx="1963007" cy="958188"/>
            </a:xfrm>
          </p:grpSpPr>
          <p:sp>
            <p:nvSpPr>
              <p:cNvPr id="96" name="Rounded Rectangle 95">
                <a:extLst>
                  <a:ext uri="{FF2B5EF4-FFF2-40B4-BE49-F238E27FC236}">
                    <a16:creationId xmlns:a16="http://schemas.microsoft.com/office/drawing/2014/main" id="{31BFC51D-3A9D-3470-CDF7-D4146D4BA691}"/>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The </a:t>
                </a:r>
                <a:r>
                  <a:rPr lang="en-US" sz="2000" dirty="0" err="1">
                    <a:solidFill>
                      <a:schemeClr val="tx1"/>
                    </a:solidFill>
                    <a:latin typeface="+mn-lt"/>
                  </a:rPr>
                  <a:t>Favourite</a:t>
                </a:r>
                <a:endParaRPr lang="en-US" sz="2000" dirty="0">
                  <a:solidFill>
                    <a:schemeClr val="tx1"/>
                  </a:solidFill>
                  <a:latin typeface="+mn-lt"/>
                </a:endParaRPr>
              </a:p>
            </p:txBody>
          </p:sp>
          <p:sp>
            <p:nvSpPr>
              <p:cNvPr id="97" name="Rectangle 96">
                <a:extLst>
                  <a:ext uri="{FF2B5EF4-FFF2-40B4-BE49-F238E27FC236}">
                    <a16:creationId xmlns:a16="http://schemas.microsoft.com/office/drawing/2014/main" id="{94007013-335B-76FF-DDEE-56C443DB6EF8}"/>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N2: Movies</a:t>
                </a:r>
              </a:p>
            </p:txBody>
          </p:sp>
        </p:grpSp>
        <p:cxnSp>
          <p:nvCxnSpPr>
            <p:cNvPr id="89" name="Elbow Connector 88">
              <a:extLst>
                <a:ext uri="{FF2B5EF4-FFF2-40B4-BE49-F238E27FC236}">
                  <a16:creationId xmlns:a16="http://schemas.microsoft.com/office/drawing/2014/main" id="{70C57787-6FD4-4EE8-D998-1078905E7098}"/>
                </a:ext>
              </a:extLst>
            </p:cNvPr>
            <p:cNvCxnSpPr>
              <a:stCxn id="107" idx="0"/>
              <a:endCxn id="104" idx="1"/>
            </p:cNvCxnSpPr>
            <p:nvPr/>
          </p:nvCxnSpPr>
          <p:spPr>
            <a:xfrm rot="5400000" flipH="1" flipV="1">
              <a:off x="1934379" y="1259643"/>
              <a:ext cx="235211" cy="18129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90" name="Group 89">
              <a:extLst>
                <a:ext uri="{FF2B5EF4-FFF2-40B4-BE49-F238E27FC236}">
                  <a16:creationId xmlns:a16="http://schemas.microsoft.com/office/drawing/2014/main" id="{54DC4F49-B8D9-7A12-E771-0D163E7A5889}"/>
                </a:ext>
              </a:extLst>
            </p:cNvPr>
            <p:cNvGrpSpPr/>
            <p:nvPr/>
          </p:nvGrpSpPr>
          <p:grpSpPr>
            <a:xfrm>
              <a:off x="1142225" y="1804036"/>
              <a:ext cx="1816229" cy="1648076"/>
              <a:chOff x="1142225" y="2759864"/>
              <a:chExt cx="1816229" cy="1648076"/>
            </a:xfrm>
          </p:grpSpPr>
          <p:sp>
            <p:nvSpPr>
              <p:cNvPr id="94" name="TextBox 93">
                <a:extLst>
                  <a:ext uri="{FF2B5EF4-FFF2-40B4-BE49-F238E27FC236}">
                    <a16:creationId xmlns:a16="http://schemas.microsoft.com/office/drawing/2014/main" id="{64D5E37B-462C-D7C7-3911-C64A84F24414}"/>
                  </a:ext>
                </a:extLst>
              </p:cNvPr>
              <p:cNvSpPr txBox="1"/>
              <p:nvPr/>
            </p:nvSpPr>
            <p:spPr>
              <a:xfrm>
                <a:off x="1838211" y="2759864"/>
                <a:ext cx="1051115" cy="461665"/>
              </a:xfrm>
              <a:prstGeom prst="rect">
                <a:avLst/>
              </a:prstGeom>
              <a:noFill/>
            </p:spPr>
            <p:txBody>
              <a:bodyPr wrap="square" rtlCol="0">
                <a:spAutoFit/>
              </a:bodyPr>
              <a:lstStyle/>
              <a:p>
                <a:r>
                  <a:rPr lang="en-US" sz="1200" b="1" dirty="0">
                    <a:solidFill>
                      <a:srgbClr val="36BA98"/>
                    </a:solidFill>
                  </a:rPr>
                  <a:t>e2: directed</a:t>
                </a:r>
                <a:br>
                  <a:rPr lang="en-US" sz="1200" b="1" dirty="0">
                    <a:solidFill>
                      <a:srgbClr val="36BA98"/>
                    </a:solidFill>
                  </a:rPr>
                </a:br>
                <a:r>
                  <a:rPr lang="en-US" sz="1200" b="1" dirty="0">
                    <a:solidFill>
                      <a:srgbClr val="36BA98"/>
                    </a:solidFill>
                  </a:rPr>
                  <a:t>year=2023</a:t>
                </a:r>
              </a:p>
            </p:txBody>
          </p:sp>
          <p:cxnSp>
            <p:nvCxnSpPr>
              <p:cNvPr id="95" name="Elbow Connector 94">
                <a:extLst>
                  <a:ext uri="{FF2B5EF4-FFF2-40B4-BE49-F238E27FC236}">
                    <a16:creationId xmlns:a16="http://schemas.microsoft.com/office/drawing/2014/main" id="{8E8D05F1-C4F2-C5AD-0104-2D0BD1E288AC}"/>
                  </a:ext>
                </a:extLst>
              </p:cNvPr>
              <p:cNvCxnSpPr>
                <a:stCxn id="106" idx="2"/>
                <a:endCxn id="96" idx="1"/>
              </p:cNvCxnSpPr>
              <p:nvPr/>
            </p:nvCxnSpPr>
            <p:spPr>
              <a:xfrm rot="16200000" flipH="1">
                <a:off x="1945236" y="3394722"/>
                <a:ext cx="210207" cy="18162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91" name="Elbow Connector 90">
              <a:extLst>
                <a:ext uri="{FF2B5EF4-FFF2-40B4-BE49-F238E27FC236}">
                  <a16:creationId xmlns:a16="http://schemas.microsoft.com/office/drawing/2014/main" id="{9A0F49A8-A103-5630-1A09-8E3E1D410009}"/>
                </a:ext>
              </a:extLst>
            </p:cNvPr>
            <p:cNvCxnSpPr>
              <a:stCxn id="98" idx="1"/>
              <a:endCxn id="96" idx="2"/>
            </p:cNvCxnSpPr>
            <p:nvPr/>
          </p:nvCxnSpPr>
          <p:spPr>
            <a:xfrm rot="10800000">
              <a:off x="3939958" y="3798339"/>
              <a:ext cx="2144210" cy="82553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Elbow Connector 91">
              <a:extLst>
                <a:ext uri="{FF2B5EF4-FFF2-40B4-BE49-F238E27FC236}">
                  <a16:creationId xmlns:a16="http://schemas.microsoft.com/office/drawing/2014/main" id="{20819F06-9D1D-0190-1994-1100FD9F162C}"/>
                </a:ext>
              </a:extLst>
            </p:cNvPr>
            <p:cNvCxnSpPr>
              <a:stCxn id="102" idx="1"/>
              <a:endCxn id="104" idx="3"/>
            </p:cNvCxnSpPr>
            <p:nvPr/>
          </p:nvCxnSpPr>
          <p:spPr>
            <a:xfrm rot="10800000" flipV="1">
              <a:off x="4921463" y="1660795"/>
              <a:ext cx="1573421" cy="387712"/>
            </a:xfrm>
            <a:prstGeom prst="bentConnector3">
              <a:avLst>
                <a:gd name="adj1" fmla="val 1910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172A5FE-7C0A-4534-74EE-994A97AAA3BC}"/>
                </a:ext>
              </a:extLst>
            </p:cNvPr>
            <p:cNvCxnSpPr>
              <a:stCxn id="100" idx="1"/>
              <a:endCxn id="96" idx="3"/>
            </p:cNvCxnSpPr>
            <p:nvPr/>
          </p:nvCxnSpPr>
          <p:spPr>
            <a:xfrm flipH="1">
              <a:off x="4921461" y="3452113"/>
              <a:ext cx="1954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 name="Oval 1">
            <a:extLst>
              <a:ext uri="{FF2B5EF4-FFF2-40B4-BE49-F238E27FC236}">
                <a16:creationId xmlns:a16="http://schemas.microsoft.com/office/drawing/2014/main" id="{D98253E9-B4ED-F054-3370-E80E69FBF993}"/>
              </a:ext>
            </a:extLst>
          </p:cNvPr>
          <p:cNvSpPr/>
          <p:nvPr/>
        </p:nvSpPr>
        <p:spPr>
          <a:xfrm>
            <a:off x="98109" y="2155969"/>
            <a:ext cx="2088232" cy="1296144"/>
          </a:xfrm>
          <a:prstGeom prst="ellipse">
            <a:avLst/>
          </a:prstGeom>
          <a:noFill/>
          <a:ln w="2222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5D83123-53B0-C929-A44B-43366C38F278}"/>
              </a:ext>
            </a:extLst>
          </p:cNvPr>
          <p:cNvSpPr/>
          <p:nvPr/>
        </p:nvSpPr>
        <p:spPr>
          <a:xfrm>
            <a:off x="3025313" y="1134569"/>
            <a:ext cx="1728192" cy="1440160"/>
          </a:xfrm>
          <a:prstGeom prst="ellipse">
            <a:avLst/>
          </a:prstGeom>
          <a:noFill/>
          <a:ln w="2222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832CE3E-FD1B-12E4-A37A-DD98E71B86D9}"/>
              </a:ext>
            </a:extLst>
          </p:cNvPr>
          <p:cNvSpPr txBox="1"/>
          <p:nvPr/>
        </p:nvSpPr>
        <p:spPr>
          <a:xfrm>
            <a:off x="336607" y="4577515"/>
            <a:ext cx="2232247" cy="338554"/>
          </a:xfrm>
          <a:prstGeom prst="rect">
            <a:avLst/>
          </a:prstGeom>
          <a:noFill/>
          <a:ln w="22225">
            <a:solidFill>
              <a:srgbClr val="FF0000"/>
            </a:solidFill>
          </a:ln>
        </p:spPr>
        <p:txBody>
          <a:bodyPr wrap="square" rtlCol="0">
            <a:spAutoFit/>
          </a:bodyPr>
          <a:lstStyle/>
          <a:p>
            <a:r>
              <a:rPr lang="en-US" sz="1600" dirty="0"/>
              <a:t>Node of type ‘Director’</a:t>
            </a:r>
          </a:p>
        </p:txBody>
      </p:sp>
      <p:cxnSp>
        <p:nvCxnSpPr>
          <p:cNvPr id="6" name="Straight Arrow Connector 5">
            <a:extLst>
              <a:ext uri="{FF2B5EF4-FFF2-40B4-BE49-F238E27FC236}">
                <a16:creationId xmlns:a16="http://schemas.microsoft.com/office/drawing/2014/main" id="{EAD2B940-3222-7D51-2F37-B7956C3CFDEC}"/>
              </a:ext>
            </a:extLst>
          </p:cNvPr>
          <p:cNvCxnSpPr>
            <a:cxnSpLocks/>
            <a:stCxn id="5" idx="0"/>
            <a:endCxn id="2" idx="4"/>
          </p:cNvCxnSpPr>
          <p:nvPr/>
        </p:nvCxnSpPr>
        <p:spPr>
          <a:xfrm flipH="1" flipV="1">
            <a:off x="1142225" y="3452113"/>
            <a:ext cx="310506" cy="11254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477E80E5-5CAF-4978-5E4E-1ACD89EFFA8D}"/>
              </a:ext>
            </a:extLst>
          </p:cNvPr>
          <p:cNvCxnSpPr>
            <a:cxnSpLocks/>
            <a:stCxn id="8" idx="1"/>
            <a:endCxn id="4" idx="5"/>
          </p:cNvCxnSpPr>
          <p:nvPr/>
        </p:nvCxnSpPr>
        <p:spPr>
          <a:xfrm flipH="1" flipV="1">
            <a:off x="4500417" y="2363822"/>
            <a:ext cx="1187148" cy="10273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19F2B86-7264-3B66-159B-DC2E5748F8EA}"/>
              </a:ext>
            </a:extLst>
          </p:cNvPr>
          <p:cNvSpPr txBox="1"/>
          <p:nvPr/>
        </p:nvSpPr>
        <p:spPr>
          <a:xfrm>
            <a:off x="5687565" y="2297275"/>
            <a:ext cx="2286741" cy="338554"/>
          </a:xfrm>
          <a:prstGeom prst="rect">
            <a:avLst/>
          </a:prstGeom>
          <a:solidFill>
            <a:schemeClr val="bg1"/>
          </a:solidFill>
          <a:ln w="22225">
            <a:solidFill>
              <a:srgbClr val="FF0000"/>
            </a:solidFill>
          </a:ln>
        </p:spPr>
        <p:txBody>
          <a:bodyPr wrap="square" rtlCol="0">
            <a:spAutoFit/>
          </a:bodyPr>
          <a:lstStyle/>
          <a:p>
            <a:r>
              <a:rPr lang="en-US" sz="1600" dirty="0"/>
              <a:t>Node of type ‘Movie’</a:t>
            </a:r>
          </a:p>
        </p:txBody>
      </p:sp>
    </p:spTree>
    <p:extLst>
      <p:ext uri="{BB962C8B-B14F-4D97-AF65-F5344CB8AC3E}">
        <p14:creationId xmlns:p14="http://schemas.microsoft.com/office/powerpoint/2010/main" val="2658798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Property Graphs</a:t>
            </a:r>
          </a:p>
        </p:txBody>
      </p:sp>
      <p:grpSp>
        <p:nvGrpSpPr>
          <p:cNvPr id="78" name="Group 77">
            <a:extLst>
              <a:ext uri="{FF2B5EF4-FFF2-40B4-BE49-F238E27FC236}">
                <a16:creationId xmlns:a16="http://schemas.microsoft.com/office/drawing/2014/main" id="{73CF3770-6F2B-6311-E5DA-1FE0038793B3}"/>
              </a:ext>
            </a:extLst>
          </p:cNvPr>
          <p:cNvGrpSpPr/>
          <p:nvPr/>
        </p:nvGrpSpPr>
        <p:grpSpPr>
          <a:xfrm>
            <a:off x="160721" y="1048832"/>
            <a:ext cx="8678542" cy="3921266"/>
            <a:chOff x="160721" y="1048832"/>
            <a:chExt cx="8678542" cy="3921266"/>
          </a:xfrm>
        </p:grpSpPr>
        <p:sp>
          <p:nvSpPr>
            <p:cNvPr id="79" name="TextBox 78">
              <a:extLst>
                <a:ext uri="{FF2B5EF4-FFF2-40B4-BE49-F238E27FC236}">
                  <a16:creationId xmlns:a16="http://schemas.microsoft.com/office/drawing/2014/main" id="{83C21E7B-3996-5063-E2B9-39D81AE4BC28}"/>
                </a:ext>
              </a:extLst>
            </p:cNvPr>
            <p:cNvSpPr txBox="1"/>
            <p:nvPr/>
          </p:nvSpPr>
          <p:spPr>
            <a:xfrm>
              <a:off x="1568997" y="3240320"/>
              <a:ext cx="1080120" cy="646331"/>
            </a:xfrm>
            <a:prstGeom prst="rect">
              <a:avLst/>
            </a:prstGeom>
            <a:noFill/>
          </p:spPr>
          <p:txBody>
            <a:bodyPr wrap="square" rtlCol="0">
              <a:spAutoFit/>
            </a:bodyPr>
            <a:lstStyle/>
            <a:p>
              <a:r>
                <a:rPr lang="en-US" sz="1200" b="1" dirty="0">
                  <a:solidFill>
                    <a:srgbClr val="36BA98"/>
                  </a:solidFill>
                </a:rPr>
                <a:t>e1: directed</a:t>
              </a:r>
              <a:br>
                <a:rPr lang="en-US" sz="1200" b="1" dirty="0">
                  <a:solidFill>
                    <a:srgbClr val="36BA98"/>
                  </a:solidFill>
                </a:rPr>
              </a:br>
              <a:r>
                <a:rPr lang="en-US" sz="1200" b="1" dirty="0">
                  <a:solidFill>
                    <a:srgbClr val="36BA98"/>
                  </a:solidFill>
                </a:rPr>
                <a:t>year=2018</a:t>
              </a:r>
            </a:p>
            <a:p>
              <a:endParaRPr lang="en-US" sz="1200" b="1" dirty="0">
                <a:solidFill>
                  <a:srgbClr val="36BA98"/>
                </a:solidFill>
              </a:endParaRPr>
            </a:p>
          </p:txBody>
        </p:sp>
        <p:sp>
          <p:nvSpPr>
            <p:cNvPr id="80" name="TextBox 79">
              <a:extLst>
                <a:ext uri="{FF2B5EF4-FFF2-40B4-BE49-F238E27FC236}">
                  <a16:creationId xmlns:a16="http://schemas.microsoft.com/office/drawing/2014/main" id="{6294E207-3901-8A76-C2D8-EA05C1FCCE20}"/>
                </a:ext>
              </a:extLst>
            </p:cNvPr>
            <p:cNvSpPr txBox="1"/>
            <p:nvPr/>
          </p:nvSpPr>
          <p:spPr>
            <a:xfrm>
              <a:off x="5093908" y="3240320"/>
              <a:ext cx="1573421" cy="461665"/>
            </a:xfrm>
            <a:prstGeom prst="rect">
              <a:avLst/>
            </a:prstGeom>
            <a:noFill/>
          </p:spPr>
          <p:txBody>
            <a:bodyPr wrap="square" rtlCol="0">
              <a:spAutoFit/>
            </a:bodyPr>
            <a:lstStyle/>
            <a:p>
              <a:r>
                <a:rPr lang="en-US" sz="1200" b="1" dirty="0">
                  <a:solidFill>
                    <a:srgbClr val="36BA98"/>
                  </a:solidFill>
                </a:rPr>
                <a:t>e4: </a:t>
              </a:r>
              <a:r>
                <a:rPr lang="en-US" sz="1200" b="1" dirty="0" err="1">
                  <a:solidFill>
                    <a:srgbClr val="36BA98"/>
                  </a:solidFill>
                </a:rPr>
                <a:t>acted_in</a:t>
              </a:r>
              <a:br>
                <a:rPr lang="en-US" sz="1200" b="1" dirty="0">
                  <a:solidFill>
                    <a:srgbClr val="36BA98"/>
                  </a:solidFill>
                </a:rPr>
              </a:br>
              <a:r>
                <a:rPr lang="en-US" sz="1200" b="1" dirty="0">
                  <a:solidFill>
                    <a:srgbClr val="36BA98"/>
                  </a:solidFill>
                </a:rPr>
                <a:t>role= Queen Anne</a:t>
              </a:r>
            </a:p>
          </p:txBody>
        </p:sp>
        <p:sp>
          <p:nvSpPr>
            <p:cNvPr id="81" name="TextBox 80">
              <a:extLst>
                <a:ext uri="{FF2B5EF4-FFF2-40B4-BE49-F238E27FC236}">
                  <a16:creationId xmlns:a16="http://schemas.microsoft.com/office/drawing/2014/main" id="{7A606670-FB80-7B62-A2F8-1A0C865896E5}"/>
                </a:ext>
              </a:extLst>
            </p:cNvPr>
            <p:cNvSpPr txBox="1"/>
            <p:nvPr/>
          </p:nvSpPr>
          <p:spPr>
            <a:xfrm>
              <a:off x="5061947" y="1623817"/>
              <a:ext cx="1064477" cy="461665"/>
            </a:xfrm>
            <a:prstGeom prst="rect">
              <a:avLst/>
            </a:prstGeom>
            <a:noFill/>
          </p:spPr>
          <p:txBody>
            <a:bodyPr wrap="square" rtlCol="0">
              <a:spAutoFit/>
            </a:bodyPr>
            <a:lstStyle/>
            <a:p>
              <a:r>
                <a:rPr lang="en-US" sz="1200" b="1" dirty="0">
                  <a:solidFill>
                    <a:srgbClr val="36BA98"/>
                  </a:solidFill>
                </a:rPr>
                <a:t>e3: </a:t>
              </a:r>
              <a:r>
                <a:rPr lang="en-US" sz="1200" b="1" dirty="0" err="1">
                  <a:solidFill>
                    <a:srgbClr val="36BA98"/>
                  </a:solidFill>
                </a:rPr>
                <a:t>acted_in</a:t>
              </a:r>
              <a:endParaRPr lang="en-US" sz="1200" b="1" dirty="0">
                <a:solidFill>
                  <a:srgbClr val="36BA98"/>
                </a:solidFill>
              </a:endParaRPr>
            </a:p>
            <a:p>
              <a:r>
                <a:rPr lang="en-US" sz="1200" b="1" dirty="0">
                  <a:solidFill>
                    <a:srgbClr val="36BA98"/>
                  </a:solidFill>
                </a:rPr>
                <a:t>role= Bella</a:t>
              </a:r>
            </a:p>
          </p:txBody>
        </p:sp>
        <p:sp>
          <p:nvSpPr>
            <p:cNvPr id="82" name="TextBox 81">
              <a:extLst>
                <a:ext uri="{FF2B5EF4-FFF2-40B4-BE49-F238E27FC236}">
                  <a16:creationId xmlns:a16="http://schemas.microsoft.com/office/drawing/2014/main" id="{536FCDDB-0C14-72FB-5FC9-E15908D73317}"/>
                </a:ext>
              </a:extLst>
            </p:cNvPr>
            <p:cNvSpPr txBox="1"/>
            <p:nvPr/>
          </p:nvSpPr>
          <p:spPr>
            <a:xfrm>
              <a:off x="4774805" y="4381488"/>
              <a:ext cx="949323" cy="461665"/>
            </a:xfrm>
            <a:prstGeom prst="rect">
              <a:avLst/>
            </a:prstGeom>
            <a:noFill/>
          </p:spPr>
          <p:txBody>
            <a:bodyPr wrap="square" rtlCol="0">
              <a:spAutoFit/>
            </a:bodyPr>
            <a:lstStyle/>
            <a:p>
              <a:r>
                <a:rPr lang="en-US" sz="1200" b="1" dirty="0">
                  <a:solidFill>
                    <a:srgbClr val="36BA98"/>
                  </a:solidFill>
                </a:rPr>
                <a:t>e5: rated</a:t>
              </a:r>
              <a:br>
                <a:rPr lang="en-US" sz="1200" b="1" dirty="0">
                  <a:solidFill>
                    <a:srgbClr val="36BA98"/>
                  </a:solidFill>
                </a:rPr>
              </a:br>
              <a:r>
                <a:rPr lang="en-US" sz="1200" b="1" dirty="0">
                  <a:solidFill>
                    <a:srgbClr val="36BA98"/>
                  </a:solidFill>
                </a:rPr>
                <a:t>rating=5</a:t>
              </a:r>
            </a:p>
          </p:txBody>
        </p:sp>
        <p:grpSp>
          <p:nvGrpSpPr>
            <p:cNvPr id="83" name="Group 82">
              <a:extLst>
                <a:ext uri="{FF2B5EF4-FFF2-40B4-BE49-F238E27FC236}">
                  <a16:creationId xmlns:a16="http://schemas.microsoft.com/office/drawing/2014/main" id="{7CDE4BBE-9D24-8974-0276-521080EFDEEE}"/>
                </a:ext>
              </a:extLst>
            </p:cNvPr>
            <p:cNvGrpSpPr/>
            <p:nvPr/>
          </p:nvGrpSpPr>
          <p:grpSpPr>
            <a:xfrm>
              <a:off x="160721" y="2283718"/>
              <a:ext cx="1963007" cy="958188"/>
              <a:chOff x="-154843" y="3422469"/>
              <a:chExt cx="1963007" cy="958188"/>
            </a:xfrm>
          </p:grpSpPr>
          <p:sp>
            <p:nvSpPr>
              <p:cNvPr id="106" name="Rounded Rectangle 105">
                <a:extLst>
                  <a:ext uri="{FF2B5EF4-FFF2-40B4-BE49-F238E27FC236}">
                    <a16:creationId xmlns:a16="http://schemas.microsoft.com/office/drawing/2014/main" id="{35DB3061-AD6B-6E28-E37F-33CF619FEE9E}"/>
                  </a:ext>
                </a:extLst>
              </p:cNvPr>
              <p:cNvSpPr/>
              <p:nvPr/>
            </p:nvSpPr>
            <p:spPr>
              <a:xfrm>
                <a:off x="-154843" y="3688207"/>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Yorgos Lanthimos</a:t>
                </a:r>
              </a:p>
            </p:txBody>
          </p:sp>
          <p:sp>
            <p:nvSpPr>
              <p:cNvPr id="107" name="Rectangle 106">
                <a:extLst>
                  <a:ext uri="{FF2B5EF4-FFF2-40B4-BE49-F238E27FC236}">
                    <a16:creationId xmlns:a16="http://schemas.microsoft.com/office/drawing/2014/main" id="{648A3659-E1E8-9999-FA2B-5C3B548740D8}"/>
                  </a:ext>
                </a:extLst>
              </p:cNvPr>
              <p:cNvSpPr/>
              <p:nvPr/>
            </p:nvSpPr>
            <p:spPr>
              <a:xfrm>
                <a:off x="154494" y="3422469"/>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N1: Director</a:t>
                </a:r>
              </a:p>
            </p:txBody>
          </p:sp>
        </p:grpSp>
        <p:grpSp>
          <p:nvGrpSpPr>
            <p:cNvPr id="84" name="Group 83">
              <a:extLst>
                <a:ext uri="{FF2B5EF4-FFF2-40B4-BE49-F238E27FC236}">
                  <a16:creationId xmlns:a16="http://schemas.microsoft.com/office/drawing/2014/main" id="{5AC52659-27C0-D0BF-A79F-BA9AF1D0B1BA}"/>
                </a:ext>
              </a:extLst>
            </p:cNvPr>
            <p:cNvGrpSpPr/>
            <p:nvPr/>
          </p:nvGrpSpPr>
          <p:grpSpPr>
            <a:xfrm>
              <a:off x="2958455" y="1436544"/>
              <a:ext cx="1963007" cy="958188"/>
              <a:chOff x="232729" y="3461761"/>
              <a:chExt cx="1963007" cy="958188"/>
            </a:xfrm>
          </p:grpSpPr>
          <p:sp>
            <p:nvSpPr>
              <p:cNvPr id="104" name="Rounded Rectangle 103">
                <a:extLst>
                  <a:ext uri="{FF2B5EF4-FFF2-40B4-BE49-F238E27FC236}">
                    <a16:creationId xmlns:a16="http://schemas.microsoft.com/office/drawing/2014/main" id="{D674849C-D91E-3558-83A5-B4FB874A9BA8}"/>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Poor Things</a:t>
                </a:r>
              </a:p>
            </p:txBody>
          </p:sp>
          <p:sp>
            <p:nvSpPr>
              <p:cNvPr id="105" name="Rectangle 104">
                <a:extLst>
                  <a:ext uri="{FF2B5EF4-FFF2-40B4-BE49-F238E27FC236}">
                    <a16:creationId xmlns:a16="http://schemas.microsoft.com/office/drawing/2014/main" id="{FCF67914-7ABC-C76D-96B3-1EA72E31CA14}"/>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N2: Movies</a:t>
                </a:r>
              </a:p>
            </p:txBody>
          </p:sp>
        </p:grpSp>
        <p:grpSp>
          <p:nvGrpSpPr>
            <p:cNvPr id="85" name="Group 84">
              <a:extLst>
                <a:ext uri="{FF2B5EF4-FFF2-40B4-BE49-F238E27FC236}">
                  <a16:creationId xmlns:a16="http://schemas.microsoft.com/office/drawing/2014/main" id="{137A9C01-CF26-8F63-7127-92C169D796C9}"/>
                </a:ext>
              </a:extLst>
            </p:cNvPr>
            <p:cNvGrpSpPr/>
            <p:nvPr/>
          </p:nvGrpSpPr>
          <p:grpSpPr>
            <a:xfrm>
              <a:off x="6494883" y="1048832"/>
              <a:ext cx="1963007" cy="958188"/>
              <a:chOff x="232729" y="3461761"/>
              <a:chExt cx="1963007" cy="958188"/>
            </a:xfrm>
          </p:grpSpPr>
          <p:sp>
            <p:nvSpPr>
              <p:cNvPr id="102" name="Rounded Rectangle 101">
                <a:extLst>
                  <a:ext uri="{FF2B5EF4-FFF2-40B4-BE49-F238E27FC236}">
                    <a16:creationId xmlns:a16="http://schemas.microsoft.com/office/drawing/2014/main" id="{F5CE7A89-1D27-3820-12BC-78622FF3C375}"/>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Emma Stone</a:t>
                </a:r>
              </a:p>
            </p:txBody>
          </p:sp>
          <p:sp>
            <p:nvSpPr>
              <p:cNvPr id="103" name="Rectangle 102">
                <a:extLst>
                  <a:ext uri="{FF2B5EF4-FFF2-40B4-BE49-F238E27FC236}">
                    <a16:creationId xmlns:a16="http://schemas.microsoft.com/office/drawing/2014/main" id="{88AAEC9B-6A9B-77F0-39DE-31ED3CBA1E6A}"/>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Actor</a:t>
                </a:r>
              </a:p>
            </p:txBody>
          </p:sp>
        </p:grpSp>
        <p:grpSp>
          <p:nvGrpSpPr>
            <p:cNvPr id="86" name="Group 85">
              <a:extLst>
                <a:ext uri="{FF2B5EF4-FFF2-40B4-BE49-F238E27FC236}">
                  <a16:creationId xmlns:a16="http://schemas.microsoft.com/office/drawing/2014/main" id="{E5778AD3-332C-B5C9-D6CF-2BCC5D75A335}"/>
                </a:ext>
              </a:extLst>
            </p:cNvPr>
            <p:cNvGrpSpPr/>
            <p:nvPr/>
          </p:nvGrpSpPr>
          <p:grpSpPr>
            <a:xfrm>
              <a:off x="6876256" y="2840150"/>
              <a:ext cx="1963007" cy="958188"/>
              <a:chOff x="232729" y="3461761"/>
              <a:chExt cx="1963007" cy="958188"/>
            </a:xfrm>
          </p:grpSpPr>
          <p:sp>
            <p:nvSpPr>
              <p:cNvPr id="100" name="Rounded Rectangle 99">
                <a:extLst>
                  <a:ext uri="{FF2B5EF4-FFF2-40B4-BE49-F238E27FC236}">
                    <a16:creationId xmlns:a16="http://schemas.microsoft.com/office/drawing/2014/main" id="{D3784B62-FBDE-BA8B-B2AD-5E8A02772EA5}"/>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Olivia Coleman</a:t>
                </a:r>
              </a:p>
            </p:txBody>
          </p:sp>
          <p:sp>
            <p:nvSpPr>
              <p:cNvPr id="101" name="Rectangle 100">
                <a:extLst>
                  <a:ext uri="{FF2B5EF4-FFF2-40B4-BE49-F238E27FC236}">
                    <a16:creationId xmlns:a16="http://schemas.microsoft.com/office/drawing/2014/main" id="{A4DA3913-FD60-80E8-0748-0D86CB7EF6E0}"/>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Actor</a:t>
                </a:r>
              </a:p>
            </p:txBody>
          </p:sp>
        </p:grpSp>
        <p:grpSp>
          <p:nvGrpSpPr>
            <p:cNvPr id="87" name="Group 86">
              <a:extLst>
                <a:ext uri="{FF2B5EF4-FFF2-40B4-BE49-F238E27FC236}">
                  <a16:creationId xmlns:a16="http://schemas.microsoft.com/office/drawing/2014/main" id="{CB134458-5DAC-A95A-41B7-B810FC8B7BCD}"/>
                </a:ext>
              </a:extLst>
            </p:cNvPr>
            <p:cNvGrpSpPr/>
            <p:nvPr/>
          </p:nvGrpSpPr>
          <p:grpSpPr>
            <a:xfrm>
              <a:off x="6084168" y="4011910"/>
              <a:ext cx="1963007" cy="958188"/>
              <a:chOff x="232729" y="3461761"/>
              <a:chExt cx="1963007" cy="958188"/>
            </a:xfrm>
          </p:grpSpPr>
          <p:sp>
            <p:nvSpPr>
              <p:cNvPr id="98" name="Rounded Rectangle 97">
                <a:extLst>
                  <a:ext uri="{FF2B5EF4-FFF2-40B4-BE49-F238E27FC236}">
                    <a16:creationId xmlns:a16="http://schemas.microsoft.com/office/drawing/2014/main" id="{133A271F-CE69-B6FB-4625-1DA1E2FAAF3D}"/>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Lucy</a:t>
                </a:r>
              </a:p>
            </p:txBody>
          </p:sp>
          <p:sp>
            <p:nvSpPr>
              <p:cNvPr id="99" name="Rectangle 98">
                <a:extLst>
                  <a:ext uri="{FF2B5EF4-FFF2-40B4-BE49-F238E27FC236}">
                    <a16:creationId xmlns:a16="http://schemas.microsoft.com/office/drawing/2014/main" id="{3809A5C2-4611-60A2-6747-7148B62CE811}"/>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N3: User</a:t>
                </a:r>
              </a:p>
            </p:txBody>
          </p:sp>
        </p:grpSp>
        <p:grpSp>
          <p:nvGrpSpPr>
            <p:cNvPr id="88" name="Group 87">
              <a:extLst>
                <a:ext uri="{FF2B5EF4-FFF2-40B4-BE49-F238E27FC236}">
                  <a16:creationId xmlns:a16="http://schemas.microsoft.com/office/drawing/2014/main" id="{D28C3795-7498-3766-F912-2EF1ED1507F3}"/>
                </a:ext>
              </a:extLst>
            </p:cNvPr>
            <p:cNvGrpSpPr/>
            <p:nvPr/>
          </p:nvGrpSpPr>
          <p:grpSpPr>
            <a:xfrm>
              <a:off x="2958454" y="2840150"/>
              <a:ext cx="1963007" cy="958188"/>
              <a:chOff x="232729" y="3461761"/>
              <a:chExt cx="1963007" cy="958188"/>
            </a:xfrm>
          </p:grpSpPr>
          <p:sp>
            <p:nvSpPr>
              <p:cNvPr id="96" name="Rounded Rectangle 95">
                <a:extLst>
                  <a:ext uri="{FF2B5EF4-FFF2-40B4-BE49-F238E27FC236}">
                    <a16:creationId xmlns:a16="http://schemas.microsoft.com/office/drawing/2014/main" id="{31BFC51D-3A9D-3470-CDF7-D4146D4BA691}"/>
                  </a:ext>
                </a:extLst>
              </p:cNvPr>
              <p:cNvSpPr/>
              <p:nvPr/>
            </p:nvSpPr>
            <p:spPr>
              <a:xfrm>
                <a:off x="232729" y="3727499"/>
                <a:ext cx="1963007" cy="692450"/>
              </a:xfrm>
              <a:prstGeom prst="round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mn-lt"/>
                  </a:rPr>
                  <a:t>Name: The </a:t>
                </a:r>
                <a:r>
                  <a:rPr lang="en-US" sz="2000" dirty="0" err="1">
                    <a:solidFill>
                      <a:schemeClr val="tx1"/>
                    </a:solidFill>
                    <a:latin typeface="+mn-lt"/>
                  </a:rPr>
                  <a:t>Favourite</a:t>
                </a:r>
                <a:endParaRPr lang="en-US" sz="2000" dirty="0">
                  <a:solidFill>
                    <a:schemeClr val="tx1"/>
                  </a:solidFill>
                  <a:latin typeface="+mn-lt"/>
                </a:endParaRPr>
              </a:p>
            </p:txBody>
          </p:sp>
          <p:sp>
            <p:nvSpPr>
              <p:cNvPr id="97" name="Rectangle 96">
                <a:extLst>
                  <a:ext uri="{FF2B5EF4-FFF2-40B4-BE49-F238E27FC236}">
                    <a16:creationId xmlns:a16="http://schemas.microsoft.com/office/drawing/2014/main" id="{94007013-335B-76FF-DDEE-56C443DB6EF8}"/>
                  </a:ext>
                </a:extLst>
              </p:cNvPr>
              <p:cNvSpPr/>
              <p:nvPr/>
            </p:nvSpPr>
            <p:spPr>
              <a:xfrm>
                <a:off x="542066" y="3461761"/>
                <a:ext cx="1350911" cy="259854"/>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N2: Movies</a:t>
                </a:r>
              </a:p>
            </p:txBody>
          </p:sp>
        </p:grpSp>
        <p:cxnSp>
          <p:nvCxnSpPr>
            <p:cNvPr id="89" name="Elbow Connector 88">
              <a:extLst>
                <a:ext uri="{FF2B5EF4-FFF2-40B4-BE49-F238E27FC236}">
                  <a16:creationId xmlns:a16="http://schemas.microsoft.com/office/drawing/2014/main" id="{70C57787-6FD4-4EE8-D998-1078905E7098}"/>
                </a:ext>
              </a:extLst>
            </p:cNvPr>
            <p:cNvCxnSpPr>
              <a:stCxn id="107" idx="0"/>
              <a:endCxn id="104" idx="1"/>
            </p:cNvCxnSpPr>
            <p:nvPr/>
          </p:nvCxnSpPr>
          <p:spPr>
            <a:xfrm rot="5400000" flipH="1" flipV="1">
              <a:off x="1934379" y="1259643"/>
              <a:ext cx="235211" cy="18129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90" name="Group 89">
              <a:extLst>
                <a:ext uri="{FF2B5EF4-FFF2-40B4-BE49-F238E27FC236}">
                  <a16:creationId xmlns:a16="http://schemas.microsoft.com/office/drawing/2014/main" id="{54DC4F49-B8D9-7A12-E771-0D163E7A5889}"/>
                </a:ext>
              </a:extLst>
            </p:cNvPr>
            <p:cNvGrpSpPr/>
            <p:nvPr/>
          </p:nvGrpSpPr>
          <p:grpSpPr>
            <a:xfrm>
              <a:off x="1142225" y="1804036"/>
              <a:ext cx="1816229" cy="1648076"/>
              <a:chOff x="1142225" y="2759864"/>
              <a:chExt cx="1816229" cy="1648076"/>
            </a:xfrm>
          </p:grpSpPr>
          <p:sp>
            <p:nvSpPr>
              <p:cNvPr id="94" name="TextBox 93">
                <a:extLst>
                  <a:ext uri="{FF2B5EF4-FFF2-40B4-BE49-F238E27FC236}">
                    <a16:creationId xmlns:a16="http://schemas.microsoft.com/office/drawing/2014/main" id="{64D5E37B-462C-D7C7-3911-C64A84F24414}"/>
                  </a:ext>
                </a:extLst>
              </p:cNvPr>
              <p:cNvSpPr txBox="1"/>
              <p:nvPr/>
            </p:nvSpPr>
            <p:spPr>
              <a:xfrm>
                <a:off x="1838211" y="2759864"/>
                <a:ext cx="1051115" cy="461665"/>
              </a:xfrm>
              <a:prstGeom prst="rect">
                <a:avLst/>
              </a:prstGeom>
              <a:noFill/>
            </p:spPr>
            <p:txBody>
              <a:bodyPr wrap="square" rtlCol="0">
                <a:spAutoFit/>
              </a:bodyPr>
              <a:lstStyle/>
              <a:p>
                <a:r>
                  <a:rPr lang="en-US" sz="1200" b="1" dirty="0">
                    <a:solidFill>
                      <a:srgbClr val="36BA98"/>
                    </a:solidFill>
                  </a:rPr>
                  <a:t>e2: directed</a:t>
                </a:r>
                <a:br>
                  <a:rPr lang="en-US" sz="1200" b="1" dirty="0">
                    <a:solidFill>
                      <a:srgbClr val="36BA98"/>
                    </a:solidFill>
                  </a:rPr>
                </a:br>
                <a:r>
                  <a:rPr lang="en-US" sz="1200" b="1" dirty="0">
                    <a:solidFill>
                      <a:srgbClr val="36BA98"/>
                    </a:solidFill>
                  </a:rPr>
                  <a:t>year=2023</a:t>
                </a:r>
              </a:p>
            </p:txBody>
          </p:sp>
          <p:cxnSp>
            <p:nvCxnSpPr>
              <p:cNvPr id="95" name="Elbow Connector 94">
                <a:extLst>
                  <a:ext uri="{FF2B5EF4-FFF2-40B4-BE49-F238E27FC236}">
                    <a16:creationId xmlns:a16="http://schemas.microsoft.com/office/drawing/2014/main" id="{8E8D05F1-C4F2-C5AD-0104-2D0BD1E288AC}"/>
                  </a:ext>
                </a:extLst>
              </p:cNvPr>
              <p:cNvCxnSpPr>
                <a:stCxn id="106" idx="2"/>
                <a:endCxn id="96" idx="1"/>
              </p:cNvCxnSpPr>
              <p:nvPr/>
            </p:nvCxnSpPr>
            <p:spPr>
              <a:xfrm rot="16200000" flipH="1">
                <a:off x="1945236" y="3394722"/>
                <a:ext cx="210207" cy="18162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91" name="Elbow Connector 90">
              <a:extLst>
                <a:ext uri="{FF2B5EF4-FFF2-40B4-BE49-F238E27FC236}">
                  <a16:creationId xmlns:a16="http://schemas.microsoft.com/office/drawing/2014/main" id="{9A0F49A8-A103-5630-1A09-8E3E1D410009}"/>
                </a:ext>
              </a:extLst>
            </p:cNvPr>
            <p:cNvCxnSpPr>
              <a:stCxn id="98" idx="1"/>
              <a:endCxn id="96" idx="2"/>
            </p:cNvCxnSpPr>
            <p:nvPr/>
          </p:nvCxnSpPr>
          <p:spPr>
            <a:xfrm rot="10800000">
              <a:off x="3939958" y="3798339"/>
              <a:ext cx="2144210" cy="82553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Elbow Connector 91">
              <a:extLst>
                <a:ext uri="{FF2B5EF4-FFF2-40B4-BE49-F238E27FC236}">
                  <a16:creationId xmlns:a16="http://schemas.microsoft.com/office/drawing/2014/main" id="{20819F06-9D1D-0190-1994-1100FD9F162C}"/>
                </a:ext>
              </a:extLst>
            </p:cNvPr>
            <p:cNvCxnSpPr>
              <a:stCxn id="102" idx="1"/>
              <a:endCxn id="104" idx="3"/>
            </p:cNvCxnSpPr>
            <p:nvPr/>
          </p:nvCxnSpPr>
          <p:spPr>
            <a:xfrm rot="10800000" flipV="1">
              <a:off x="4921463" y="1660795"/>
              <a:ext cx="1573421" cy="387712"/>
            </a:xfrm>
            <a:prstGeom prst="bentConnector3">
              <a:avLst>
                <a:gd name="adj1" fmla="val 1910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172A5FE-7C0A-4534-74EE-994A97AAA3BC}"/>
                </a:ext>
              </a:extLst>
            </p:cNvPr>
            <p:cNvCxnSpPr>
              <a:stCxn id="100" idx="1"/>
              <a:endCxn id="96" idx="3"/>
            </p:cNvCxnSpPr>
            <p:nvPr/>
          </p:nvCxnSpPr>
          <p:spPr>
            <a:xfrm flipH="1">
              <a:off x="4921461" y="3452113"/>
              <a:ext cx="1954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 name="Oval 1">
            <a:extLst>
              <a:ext uri="{FF2B5EF4-FFF2-40B4-BE49-F238E27FC236}">
                <a16:creationId xmlns:a16="http://schemas.microsoft.com/office/drawing/2014/main" id="{D98253E9-B4ED-F054-3370-E80E69FBF993}"/>
              </a:ext>
            </a:extLst>
          </p:cNvPr>
          <p:cNvSpPr/>
          <p:nvPr/>
        </p:nvSpPr>
        <p:spPr>
          <a:xfrm>
            <a:off x="4713065" y="4402829"/>
            <a:ext cx="949323" cy="461666"/>
          </a:xfrm>
          <a:prstGeom prst="ellipse">
            <a:avLst/>
          </a:prstGeom>
          <a:noFill/>
          <a:ln w="2222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5D83123-53B0-C929-A44B-43366C38F278}"/>
              </a:ext>
            </a:extLst>
          </p:cNvPr>
          <p:cNvSpPr/>
          <p:nvPr/>
        </p:nvSpPr>
        <p:spPr>
          <a:xfrm>
            <a:off x="4987162" y="1566471"/>
            <a:ext cx="1139262" cy="543572"/>
          </a:xfrm>
          <a:prstGeom prst="ellipse">
            <a:avLst/>
          </a:prstGeom>
          <a:noFill/>
          <a:ln w="2222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832CE3E-FD1B-12E4-A37A-DD98E71B86D9}"/>
              </a:ext>
            </a:extLst>
          </p:cNvPr>
          <p:cNvSpPr txBox="1"/>
          <p:nvPr/>
        </p:nvSpPr>
        <p:spPr>
          <a:xfrm>
            <a:off x="336607" y="4577515"/>
            <a:ext cx="2232247" cy="338554"/>
          </a:xfrm>
          <a:prstGeom prst="rect">
            <a:avLst/>
          </a:prstGeom>
          <a:noFill/>
          <a:ln w="22225">
            <a:solidFill>
              <a:srgbClr val="FF0000"/>
            </a:solidFill>
          </a:ln>
        </p:spPr>
        <p:txBody>
          <a:bodyPr wrap="square" rtlCol="0">
            <a:spAutoFit/>
          </a:bodyPr>
          <a:lstStyle/>
          <a:p>
            <a:r>
              <a:rPr lang="en-US" sz="1600" dirty="0"/>
              <a:t>edge of type ‘rated’</a:t>
            </a:r>
          </a:p>
        </p:txBody>
      </p:sp>
      <p:cxnSp>
        <p:nvCxnSpPr>
          <p:cNvPr id="6" name="Straight Arrow Connector 5">
            <a:extLst>
              <a:ext uri="{FF2B5EF4-FFF2-40B4-BE49-F238E27FC236}">
                <a16:creationId xmlns:a16="http://schemas.microsoft.com/office/drawing/2014/main" id="{EAD2B940-3222-7D51-2F37-B7956C3CFDEC}"/>
              </a:ext>
            </a:extLst>
          </p:cNvPr>
          <p:cNvCxnSpPr>
            <a:cxnSpLocks/>
            <a:stCxn id="5" idx="3"/>
            <a:endCxn id="2" idx="2"/>
          </p:cNvCxnSpPr>
          <p:nvPr/>
        </p:nvCxnSpPr>
        <p:spPr>
          <a:xfrm flipV="1">
            <a:off x="2568854" y="4633662"/>
            <a:ext cx="2144211" cy="11313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477E80E5-5CAF-4978-5E4E-1ACD89EFFA8D}"/>
              </a:ext>
            </a:extLst>
          </p:cNvPr>
          <p:cNvCxnSpPr>
            <a:cxnSpLocks/>
            <a:stCxn id="8" idx="0"/>
            <a:endCxn id="4" idx="5"/>
          </p:cNvCxnSpPr>
          <p:nvPr/>
        </p:nvCxnSpPr>
        <p:spPr>
          <a:xfrm flipH="1" flipV="1">
            <a:off x="5959583" y="2030439"/>
            <a:ext cx="871353" cy="26683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19F2B86-7264-3B66-159B-DC2E5748F8EA}"/>
              </a:ext>
            </a:extLst>
          </p:cNvPr>
          <p:cNvSpPr txBox="1"/>
          <p:nvPr/>
        </p:nvSpPr>
        <p:spPr>
          <a:xfrm>
            <a:off x="5687565" y="2297275"/>
            <a:ext cx="2286741" cy="338554"/>
          </a:xfrm>
          <a:prstGeom prst="rect">
            <a:avLst/>
          </a:prstGeom>
          <a:solidFill>
            <a:schemeClr val="bg1"/>
          </a:solidFill>
          <a:ln w="22225">
            <a:solidFill>
              <a:srgbClr val="FF0000"/>
            </a:solidFill>
          </a:ln>
        </p:spPr>
        <p:txBody>
          <a:bodyPr wrap="square" rtlCol="0">
            <a:spAutoFit/>
          </a:bodyPr>
          <a:lstStyle/>
          <a:p>
            <a:r>
              <a:rPr lang="en-US" sz="1600" dirty="0"/>
              <a:t>Edge of type ‘</a:t>
            </a:r>
            <a:r>
              <a:rPr lang="en-US" sz="1600" dirty="0" err="1"/>
              <a:t>acted_in</a:t>
            </a:r>
            <a:r>
              <a:rPr lang="en-US" sz="1600" dirty="0"/>
              <a:t>’</a:t>
            </a:r>
          </a:p>
        </p:txBody>
      </p:sp>
    </p:spTree>
    <p:extLst>
      <p:ext uri="{BB962C8B-B14F-4D97-AF65-F5344CB8AC3E}">
        <p14:creationId xmlns:p14="http://schemas.microsoft.com/office/powerpoint/2010/main" val="3313063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24A8000-7398-11D9-3F9A-80276958A2EC}"/>
              </a:ext>
            </a:extLst>
          </p:cNvPr>
          <p:cNvSpPr>
            <a:spLocks noGrp="1"/>
          </p:cNvSpPr>
          <p:nvPr>
            <p:ph type="body" sz="quarter" idx="13"/>
          </p:nvPr>
        </p:nvSpPr>
        <p:spPr>
          <a:xfrm>
            <a:off x="438954" y="1131888"/>
            <a:ext cx="7661438" cy="3697288"/>
          </a:xfrm>
        </p:spPr>
        <p:txBody>
          <a:bodyPr/>
          <a:lstStyle/>
          <a:p>
            <a:pPr marL="285750" indent="-285750">
              <a:buFont typeface="Arial" panose="020B0604020202020204" pitchFamily="34" charset="0"/>
              <a:buChar char="•"/>
            </a:pPr>
            <a:r>
              <a:rPr lang="en-US" dirty="0"/>
              <a:t>Property Graphs can be “filtered” down to provide </a:t>
            </a:r>
            <a:r>
              <a:rPr lang="en-US" b="1" dirty="0"/>
              <a:t>structural/topological</a:t>
            </a:r>
            <a:r>
              <a:rPr lang="en-US" dirty="0"/>
              <a:t> information</a:t>
            </a:r>
          </a:p>
          <a:p>
            <a:pPr marL="825750" lvl="2" indent="-285750"/>
            <a:r>
              <a:rPr lang="en-US" dirty="0"/>
              <a:t>Structural graphs are a subclass of property graphs</a:t>
            </a:r>
          </a:p>
          <a:p>
            <a:pPr lvl="2" indent="0">
              <a:buNone/>
            </a:pPr>
            <a:endParaRPr lang="en-US" dirty="0"/>
          </a:p>
          <a:p>
            <a:pPr lvl="2" indent="0">
              <a:buNone/>
            </a:pPr>
            <a:endParaRPr lang="en-US" dirty="0"/>
          </a:p>
          <a:p>
            <a:pPr marL="285750" lvl="1" indent="-285750"/>
            <a:r>
              <a:rPr lang="en-US" dirty="0"/>
              <a:t>Ex: Database paper citation network can be derived from a larger property graph</a:t>
            </a:r>
          </a:p>
          <a:p>
            <a:pPr marL="825750" lvl="2" indent="-285750"/>
            <a:endParaRPr lang="en-US" dirty="0"/>
          </a:p>
          <a:p>
            <a:pPr marL="825750" lvl="2" indent="-285750"/>
            <a:r>
              <a:rPr lang="en-US" dirty="0"/>
              <a:t>From the DBLP Citation Dataset (property graph)</a:t>
            </a:r>
          </a:p>
          <a:p>
            <a:pPr marL="1185750" lvl="3" indent="-285750"/>
            <a:r>
              <a:rPr lang="en-US" dirty="0"/>
              <a:t>Each paper has: abstract, authors, year, venue, title</a:t>
            </a:r>
          </a:p>
          <a:p>
            <a:pPr marL="825750" lvl="2" indent="-285750"/>
            <a:r>
              <a:rPr lang="en-US" dirty="0"/>
              <a:t>Filter by “venue = VLDB | SIGMOD | CIDR | PODS”</a:t>
            </a:r>
          </a:p>
          <a:p>
            <a:pPr marL="825750" lvl="2" indent="-285750"/>
            <a:r>
              <a:rPr lang="en-US" dirty="0"/>
              <a:t>Resulting “</a:t>
            </a:r>
            <a:r>
              <a:rPr lang="en-US" b="1" dirty="0"/>
              <a:t>structural graph</a:t>
            </a:r>
            <a:r>
              <a:rPr lang="en-US" dirty="0"/>
              <a:t>” has edges of type:</a:t>
            </a:r>
          </a:p>
          <a:p>
            <a:pPr lvl="3" indent="0">
              <a:buNone/>
            </a:pPr>
            <a:endParaRPr lang="en-US" dirty="0"/>
          </a:p>
        </p:txBody>
      </p:sp>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Property Graphs vs. Structural Graphs</a:t>
            </a:r>
          </a:p>
        </p:txBody>
      </p:sp>
    </p:spTree>
    <p:extLst>
      <p:ext uri="{BB962C8B-B14F-4D97-AF65-F5344CB8AC3E}">
        <p14:creationId xmlns:p14="http://schemas.microsoft.com/office/powerpoint/2010/main" val="1915747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24A8000-7398-11D9-3F9A-80276958A2EC}"/>
              </a:ext>
            </a:extLst>
          </p:cNvPr>
          <p:cNvSpPr>
            <a:spLocks noGrp="1"/>
          </p:cNvSpPr>
          <p:nvPr>
            <p:ph type="body" sz="quarter" idx="13"/>
          </p:nvPr>
        </p:nvSpPr>
        <p:spPr>
          <a:xfrm>
            <a:off x="438954" y="1131888"/>
            <a:ext cx="8165494" cy="3697288"/>
          </a:xfrm>
        </p:spPr>
        <p:txBody>
          <a:bodyPr/>
          <a:lstStyle/>
          <a:p>
            <a:pPr marL="285750" indent="-285750">
              <a:buFont typeface="Arial" panose="020B0604020202020204" pitchFamily="34" charset="0"/>
              <a:buChar char="•"/>
            </a:pPr>
            <a:r>
              <a:rPr lang="en-US" b="1" dirty="0"/>
              <a:t>Point Queries: </a:t>
            </a:r>
          </a:p>
          <a:p>
            <a:pPr marL="825750" lvl="2" indent="-285750"/>
            <a:r>
              <a:rPr lang="en-US" dirty="0"/>
              <a:t>Add/insert/delete a single graph element</a:t>
            </a:r>
          </a:p>
          <a:p>
            <a:pPr marL="825750" lvl="2" indent="-285750"/>
            <a:r>
              <a:rPr lang="en-US" dirty="0"/>
              <a:t>Get or Set some elements property </a:t>
            </a:r>
          </a:p>
          <a:p>
            <a:pPr marL="825750" lvl="2" indent="-285750"/>
            <a:r>
              <a:rPr lang="en-US" dirty="0"/>
              <a:t>Get nodes/edges of a certain type</a:t>
            </a:r>
          </a:p>
          <a:p>
            <a:pPr marL="825750" lvl="2" indent="-285750"/>
            <a:endParaRPr lang="en-US" dirty="0"/>
          </a:p>
          <a:p>
            <a:pPr marL="285750" lvl="1" indent="-285750"/>
            <a:r>
              <a:rPr lang="en-US" dirty="0"/>
              <a:t>To be efficient, point queries need and index on the property/label </a:t>
            </a:r>
          </a:p>
          <a:p>
            <a:pPr marL="285750" lvl="1" indent="-285750"/>
            <a:endParaRPr lang="en-US" dirty="0"/>
          </a:p>
        </p:txBody>
      </p:sp>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What Can One Do With Graphs?</a:t>
            </a:r>
          </a:p>
        </p:txBody>
      </p:sp>
    </p:spTree>
    <p:extLst>
      <p:ext uri="{BB962C8B-B14F-4D97-AF65-F5344CB8AC3E}">
        <p14:creationId xmlns:p14="http://schemas.microsoft.com/office/powerpoint/2010/main" val="3416611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24A8000-7398-11D9-3F9A-80276958A2EC}"/>
              </a:ext>
            </a:extLst>
          </p:cNvPr>
          <p:cNvSpPr>
            <a:spLocks noGrp="1"/>
          </p:cNvSpPr>
          <p:nvPr>
            <p:ph type="body" sz="quarter" idx="13"/>
          </p:nvPr>
        </p:nvSpPr>
        <p:spPr>
          <a:xfrm>
            <a:off x="438954" y="1131888"/>
            <a:ext cx="8165494" cy="3697288"/>
          </a:xfrm>
        </p:spPr>
        <p:txBody>
          <a:bodyPr/>
          <a:lstStyle/>
          <a:p>
            <a:pPr marL="285750" indent="-285750">
              <a:buFont typeface="Arial" panose="020B0604020202020204" pitchFamily="34" charset="0"/>
              <a:buChar char="•"/>
            </a:pPr>
            <a:r>
              <a:rPr lang="en-US" b="1" dirty="0"/>
              <a:t>Point Queries: </a:t>
            </a:r>
            <a:r>
              <a:rPr lang="en-US" dirty="0"/>
              <a:t>Add/insert/delete a single graph element</a:t>
            </a:r>
            <a:endParaRPr lang="en-US" b="1" dirty="0"/>
          </a:p>
          <a:p>
            <a:pPr marL="285750" indent="-285750">
              <a:buFont typeface="Arial" panose="020B0604020202020204" pitchFamily="34" charset="0"/>
              <a:buChar char="•"/>
            </a:pPr>
            <a:r>
              <a:rPr lang="en-US" b="1" dirty="0"/>
              <a:t>Neighborhood Queries: </a:t>
            </a:r>
          </a:p>
          <a:p>
            <a:pPr marL="825750" lvl="2" indent="-285750"/>
            <a:r>
              <a:rPr lang="en-US" dirty="0"/>
              <a:t>Find nodes reachable from a root node </a:t>
            </a:r>
          </a:p>
          <a:p>
            <a:pPr marL="825750" lvl="2" indent="-285750"/>
            <a:r>
              <a:rPr lang="en-US" dirty="0"/>
              <a:t>Ex: finding a user’s friends in a social network graph</a:t>
            </a:r>
          </a:p>
        </p:txBody>
      </p:sp>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What Can One Do With Graphs?</a:t>
            </a:r>
          </a:p>
        </p:txBody>
      </p:sp>
      <p:sp>
        <p:nvSpPr>
          <p:cNvPr id="20" name="TextBox 19">
            <a:extLst>
              <a:ext uri="{FF2B5EF4-FFF2-40B4-BE49-F238E27FC236}">
                <a16:creationId xmlns:a16="http://schemas.microsoft.com/office/drawing/2014/main" id="{339BD6CE-CDCC-4585-D842-5CF4FBC75CA2}"/>
              </a:ext>
            </a:extLst>
          </p:cNvPr>
          <p:cNvSpPr txBox="1"/>
          <p:nvPr/>
        </p:nvSpPr>
        <p:spPr>
          <a:xfrm>
            <a:off x="323528" y="4800876"/>
            <a:ext cx="2484976" cy="261610"/>
          </a:xfrm>
          <a:prstGeom prst="rect">
            <a:avLst/>
          </a:prstGeom>
          <a:noFill/>
        </p:spPr>
        <p:txBody>
          <a:bodyPr wrap="none" rtlCol="0">
            <a:spAutoFit/>
          </a:bodyPr>
          <a:lstStyle/>
          <a:p>
            <a:r>
              <a:rPr lang="en-US" sz="1100" dirty="0"/>
              <a:t>[1] : </a:t>
            </a:r>
            <a:r>
              <a:rPr lang="en-US" sz="1100" dirty="0">
                <a:hlinkClick r:id="rId3"/>
              </a:rPr>
              <a:t>Most influential database papers</a:t>
            </a:r>
            <a:endParaRPr lang="en-US" sz="1100" dirty="0"/>
          </a:p>
        </p:txBody>
      </p:sp>
    </p:spTree>
    <p:extLst>
      <p:ext uri="{BB962C8B-B14F-4D97-AF65-F5344CB8AC3E}">
        <p14:creationId xmlns:p14="http://schemas.microsoft.com/office/powerpoint/2010/main" val="310586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24A8000-7398-11D9-3F9A-80276958A2EC}"/>
              </a:ext>
            </a:extLst>
          </p:cNvPr>
          <p:cNvSpPr>
            <a:spLocks noGrp="1"/>
          </p:cNvSpPr>
          <p:nvPr>
            <p:ph type="body" sz="quarter" idx="13"/>
          </p:nvPr>
        </p:nvSpPr>
        <p:spPr>
          <a:xfrm>
            <a:off x="438954" y="1131888"/>
            <a:ext cx="8165494" cy="3697288"/>
          </a:xfrm>
        </p:spPr>
        <p:txBody>
          <a:bodyPr/>
          <a:lstStyle/>
          <a:p>
            <a:pPr marL="285750" indent="-285750">
              <a:buFont typeface="Arial" panose="020B0604020202020204" pitchFamily="34" charset="0"/>
              <a:buChar char="•"/>
            </a:pPr>
            <a:r>
              <a:rPr lang="en-US" b="1" dirty="0"/>
              <a:t>Point Queries: </a:t>
            </a:r>
            <a:r>
              <a:rPr lang="en-US" dirty="0"/>
              <a:t>Add/insert/delete a single graph element</a:t>
            </a:r>
            <a:endParaRPr lang="en-US" b="1" dirty="0"/>
          </a:p>
          <a:p>
            <a:pPr marL="285750" indent="-285750">
              <a:buFont typeface="Arial" panose="020B0604020202020204" pitchFamily="34" charset="0"/>
              <a:buChar char="•"/>
            </a:pPr>
            <a:r>
              <a:rPr lang="en-US" b="1" dirty="0"/>
              <a:t>Neighborhood Queries: </a:t>
            </a:r>
            <a:r>
              <a:rPr lang="en-US" dirty="0"/>
              <a:t>Finding neighbors</a:t>
            </a:r>
          </a:p>
          <a:p>
            <a:pPr marL="285750" indent="-285750">
              <a:buFont typeface="Arial" panose="020B0604020202020204" pitchFamily="34" charset="0"/>
              <a:buChar char="•"/>
            </a:pPr>
            <a:r>
              <a:rPr lang="en-US" b="1" dirty="0"/>
              <a:t>Traversals</a:t>
            </a:r>
          </a:p>
          <a:p>
            <a:pPr marL="285750" indent="-285750">
              <a:buFont typeface="Arial" panose="020B0604020202020204" pitchFamily="34" charset="0"/>
              <a:buChar char="•"/>
            </a:pPr>
            <a:r>
              <a:rPr lang="en-US" b="1" dirty="0"/>
              <a:t>Whole Graph Analytics</a:t>
            </a:r>
          </a:p>
        </p:txBody>
      </p:sp>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What Can One Do With Graphs?</a:t>
            </a:r>
          </a:p>
        </p:txBody>
      </p:sp>
      <p:sp>
        <p:nvSpPr>
          <p:cNvPr id="20" name="TextBox 19">
            <a:extLst>
              <a:ext uri="{FF2B5EF4-FFF2-40B4-BE49-F238E27FC236}">
                <a16:creationId xmlns:a16="http://schemas.microsoft.com/office/drawing/2014/main" id="{339BD6CE-CDCC-4585-D842-5CF4FBC75CA2}"/>
              </a:ext>
            </a:extLst>
          </p:cNvPr>
          <p:cNvSpPr txBox="1"/>
          <p:nvPr/>
        </p:nvSpPr>
        <p:spPr>
          <a:xfrm>
            <a:off x="323528" y="4800876"/>
            <a:ext cx="2484976" cy="261610"/>
          </a:xfrm>
          <a:prstGeom prst="rect">
            <a:avLst/>
          </a:prstGeom>
          <a:noFill/>
        </p:spPr>
        <p:txBody>
          <a:bodyPr wrap="none" rtlCol="0">
            <a:spAutoFit/>
          </a:bodyPr>
          <a:lstStyle/>
          <a:p>
            <a:r>
              <a:rPr lang="en-US" sz="1100" dirty="0"/>
              <a:t>[1] : </a:t>
            </a:r>
            <a:r>
              <a:rPr lang="en-US" sz="1100" dirty="0">
                <a:hlinkClick r:id="rId3"/>
              </a:rPr>
              <a:t>Most influential database papers</a:t>
            </a:r>
            <a:endParaRPr lang="en-US" sz="1100" dirty="0"/>
          </a:p>
        </p:txBody>
      </p:sp>
    </p:spTree>
    <p:extLst>
      <p:ext uri="{BB962C8B-B14F-4D97-AF65-F5344CB8AC3E}">
        <p14:creationId xmlns:p14="http://schemas.microsoft.com/office/powerpoint/2010/main" val="3891470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24A8000-7398-11D9-3F9A-80276958A2EC}"/>
              </a:ext>
            </a:extLst>
          </p:cNvPr>
          <p:cNvSpPr>
            <a:spLocks noGrp="1"/>
          </p:cNvSpPr>
          <p:nvPr>
            <p:ph type="body" sz="quarter" idx="13"/>
          </p:nvPr>
        </p:nvSpPr>
        <p:spPr>
          <a:xfrm>
            <a:off x="438954" y="1131888"/>
            <a:ext cx="8165494" cy="3697288"/>
          </a:xfrm>
        </p:spPr>
        <p:txBody>
          <a:bodyPr/>
          <a:lstStyle/>
          <a:p>
            <a:pPr marL="285750" indent="-285750">
              <a:buFont typeface="Arial" panose="020B0604020202020204" pitchFamily="34" charset="0"/>
              <a:buChar char="•"/>
            </a:pPr>
            <a:r>
              <a:rPr lang="en-US" b="1" dirty="0"/>
              <a:t>Point Queries: </a:t>
            </a:r>
            <a:r>
              <a:rPr lang="en-US" dirty="0"/>
              <a:t>Add/insert/delete a single graph element</a:t>
            </a:r>
            <a:endParaRPr lang="en-US" b="1" dirty="0"/>
          </a:p>
          <a:p>
            <a:pPr marL="285750" indent="-285750">
              <a:buFont typeface="Arial" panose="020B0604020202020204" pitchFamily="34" charset="0"/>
              <a:buChar char="•"/>
            </a:pPr>
            <a:r>
              <a:rPr lang="en-US" b="1" dirty="0"/>
              <a:t>Neighborhood Queries</a:t>
            </a:r>
          </a:p>
          <a:p>
            <a:pPr marL="285750" indent="-285750">
              <a:buFont typeface="Arial" panose="020B0604020202020204" pitchFamily="34" charset="0"/>
              <a:buChar char="•"/>
            </a:pPr>
            <a:r>
              <a:rPr lang="en-US" b="1" dirty="0"/>
              <a:t>Traversals</a:t>
            </a:r>
          </a:p>
          <a:p>
            <a:pPr marL="285750" indent="-285750">
              <a:buFont typeface="Arial" panose="020B0604020202020204" pitchFamily="34" charset="0"/>
              <a:buChar char="•"/>
            </a:pPr>
            <a:r>
              <a:rPr lang="en-US" b="1" dirty="0"/>
              <a:t>Whole Graph Analytics</a:t>
            </a:r>
          </a:p>
        </p:txBody>
      </p:sp>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What Can One Do With Graphs?</a:t>
            </a:r>
          </a:p>
        </p:txBody>
      </p:sp>
      <p:sp>
        <p:nvSpPr>
          <p:cNvPr id="20" name="TextBox 19">
            <a:extLst>
              <a:ext uri="{FF2B5EF4-FFF2-40B4-BE49-F238E27FC236}">
                <a16:creationId xmlns:a16="http://schemas.microsoft.com/office/drawing/2014/main" id="{339BD6CE-CDCC-4585-D842-5CF4FBC75CA2}"/>
              </a:ext>
            </a:extLst>
          </p:cNvPr>
          <p:cNvSpPr txBox="1"/>
          <p:nvPr/>
        </p:nvSpPr>
        <p:spPr>
          <a:xfrm>
            <a:off x="323528" y="4800876"/>
            <a:ext cx="2484976" cy="261610"/>
          </a:xfrm>
          <a:prstGeom prst="rect">
            <a:avLst/>
          </a:prstGeom>
          <a:noFill/>
        </p:spPr>
        <p:txBody>
          <a:bodyPr wrap="none" rtlCol="0">
            <a:spAutoFit/>
          </a:bodyPr>
          <a:lstStyle/>
          <a:p>
            <a:r>
              <a:rPr lang="en-US" sz="1100" dirty="0"/>
              <a:t>[1] : </a:t>
            </a:r>
            <a:r>
              <a:rPr lang="en-US" sz="1100" dirty="0">
                <a:hlinkClick r:id="rId3"/>
              </a:rPr>
              <a:t>Most influential database papers</a:t>
            </a:r>
            <a:endParaRPr lang="en-US" sz="1100" dirty="0"/>
          </a:p>
        </p:txBody>
      </p:sp>
    </p:spTree>
    <p:extLst>
      <p:ext uri="{BB962C8B-B14F-4D97-AF65-F5344CB8AC3E}">
        <p14:creationId xmlns:p14="http://schemas.microsoft.com/office/powerpoint/2010/main" val="359958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24A8000-7398-11D9-3F9A-80276958A2EC}"/>
              </a:ext>
            </a:extLst>
          </p:cNvPr>
          <p:cNvSpPr>
            <a:spLocks noGrp="1"/>
          </p:cNvSpPr>
          <p:nvPr>
            <p:ph type="body" sz="quarter" idx="13"/>
          </p:nvPr>
        </p:nvSpPr>
        <p:spPr>
          <a:xfrm>
            <a:off x="438954" y="1131888"/>
            <a:ext cx="8165494" cy="3697288"/>
          </a:xfrm>
        </p:spPr>
        <p:txBody>
          <a:bodyPr/>
          <a:lstStyle/>
          <a:p>
            <a:pPr marL="285750" indent="-285750">
              <a:buFont typeface="Arial" panose="020B0604020202020204" pitchFamily="34" charset="0"/>
              <a:buChar char="•"/>
            </a:pPr>
            <a:r>
              <a:rPr lang="en-US" dirty="0"/>
              <a:t>Property Graphs are used for rich queries on the data</a:t>
            </a:r>
          </a:p>
          <a:p>
            <a:pPr marL="825750" lvl="2" indent="-285750"/>
            <a:r>
              <a:rPr lang="en-US" dirty="0"/>
              <a:t>“Find all friends who work at or have a friend working at MongoDB”</a:t>
            </a:r>
          </a:p>
          <a:p>
            <a:pPr marL="825750" lvl="2" indent="-285750"/>
            <a:endParaRPr lang="en-US" dirty="0"/>
          </a:p>
          <a:p>
            <a:pPr marL="285750" lvl="1" indent="-285750"/>
            <a:r>
              <a:rPr lang="en-US" dirty="0"/>
              <a:t>But structural analysis of the graph requires only a subset of the information</a:t>
            </a:r>
          </a:p>
          <a:p>
            <a:pPr marL="825750" lvl="2" indent="-285750"/>
            <a:r>
              <a:rPr lang="en-US" dirty="0"/>
              <a:t>Ex: “Which are the most influential DB papers</a:t>
            </a:r>
            <a:r>
              <a:rPr lang="en-US" baseline="30000" dirty="0"/>
              <a:t>1</a:t>
            </a:r>
            <a:r>
              <a:rPr lang="en-US" dirty="0"/>
              <a:t>”</a:t>
            </a:r>
          </a:p>
          <a:p>
            <a:pPr marL="825750" lvl="2" indent="-285750"/>
            <a:endParaRPr lang="en-US" dirty="0"/>
          </a:p>
          <a:p>
            <a:pPr marL="285750" lvl="1" indent="-285750"/>
            <a:r>
              <a:rPr lang="en-US" dirty="0"/>
              <a:t>From the DBLP Citation Dataset (large property graph)</a:t>
            </a:r>
          </a:p>
          <a:p>
            <a:pPr marL="825750" lvl="2" indent="-285750"/>
            <a:r>
              <a:rPr lang="en-US" dirty="0"/>
              <a:t>Select nodes of type “publication” </a:t>
            </a:r>
          </a:p>
          <a:p>
            <a:pPr marL="825750" lvl="2" indent="-285750"/>
            <a:r>
              <a:rPr lang="en-US" dirty="0"/>
              <a:t>Filter by “venue = VLDB | SIGMOD | CIDR | PODS”</a:t>
            </a:r>
          </a:p>
          <a:p>
            <a:pPr marL="825750" lvl="2" indent="-285750"/>
            <a:endParaRPr lang="en-US" dirty="0"/>
          </a:p>
          <a:p>
            <a:pPr marL="825750" lvl="2" indent="-285750"/>
            <a:r>
              <a:rPr lang="en-US" dirty="0"/>
              <a:t>Resulting “</a:t>
            </a:r>
            <a:r>
              <a:rPr lang="en-US" b="1" dirty="0"/>
              <a:t>structural graph</a:t>
            </a:r>
            <a:r>
              <a:rPr lang="en-US" dirty="0"/>
              <a:t>” has edges of type:</a:t>
            </a:r>
          </a:p>
          <a:p>
            <a:pPr marL="825750" lvl="2" indent="-285750"/>
            <a:r>
              <a:rPr lang="en-US" dirty="0"/>
              <a:t>Run </a:t>
            </a:r>
            <a:r>
              <a:rPr lang="en-US" b="1" dirty="0"/>
              <a:t>PageRank</a:t>
            </a:r>
          </a:p>
        </p:txBody>
      </p:sp>
      <p:sp>
        <p:nvSpPr>
          <p:cNvPr id="3" name="Title 2">
            <a:extLst>
              <a:ext uri="{FF2B5EF4-FFF2-40B4-BE49-F238E27FC236}">
                <a16:creationId xmlns:a16="http://schemas.microsoft.com/office/drawing/2014/main" id="{843498F9-65B9-BB8C-C8F9-39EF6EE19805}"/>
              </a:ext>
            </a:extLst>
          </p:cNvPr>
          <p:cNvSpPr>
            <a:spLocks noGrp="1"/>
          </p:cNvSpPr>
          <p:nvPr>
            <p:ph type="title"/>
          </p:nvPr>
        </p:nvSpPr>
        <p:spPr>
          <a:xfrm>
            <a:off x="438954" y="560541"/>
            <a:ext cx="7886700" cy="451716"/>
          </a:xfrm>
        </p:spPr>
        <p:txBody>
          <a:bodyPr/>
          <a:lstStyle/>
          <a:p>
            <a:r>
              <a:rPr lang="en-US" dirty="0"/>
              <a:t>What Can One Do With Graphs?</a:t>
            </a:r>
          </a:p>
        </p:txBody>
      </p:sp>
      <p:grpSp>
        <p:nvGrpSpPr>
          <p:cNvPr id="21" name="Group 20">
            <a:extLst>
              <a:ext uri="{FF2B5EF4-FFF2-40B4-BE49-F238E27FC236}">
                <a16:creationId xmlns:a16="http://schemas.microsoft.com/office/drawing/2014/main" id="{FFD4AA38-0924-7B7E-72A2-507FA718EF11}"/>
              </a:ext>
            </a:extLst>
          </p:cNvPr>
          <p:cNvGrpSpPr/>
          <p:nvPr/>
        </p:nvGrpSpPr>
        <p:grpSpPr>
          <a:xfrm>
            <a:off x="5364088" y="4011612"/>
            <a:ext cx="2592288" cy="410860"/>
            <a:chOff x="5364088" y="4011612"/>
            <a:chExt cx="2592288" cy="410860"/>
          </a:xfrm>
        </p:grpSpPr>
        <p:sp>
          <p:nvSpPr>
            <p:cNvPr id="11" name="Rectangle 10">
              <a:extLst>
                <a:ext uri="{FF2B5EF4-FFF2-40B4-BE49-F238E27FC236}">
                  <a16:creationId xmlns:a16="http://schemas.microsoft.com/office/drawing/2014/main" id="{34C2657F-EC59-466A-6D53-D597EA6AF12C}"/>
                </a:ext>
              </a:extLst>
            </p:cNvPr>
            <p:cNvSpPr/>
            <p:nvPr/>
          </p:nvSpPr>
          <p:spPr>
            <a:xfrm>
              <a:off x="5364088" y="4134440"/>
              <a:ext cx="792088" cy="28803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Paper</a:t>
              </a:r>
            </a:p>
          </p:txBody>
        </p:sp>
        <p:sp>
          <p:nvSpPr>
            <p:cNvPr id="12" name="Rectangle 11">
              <a:extLst>
                <a:ext uri="{FF2B5EF4-FFF2-40B4-BE49-F238E27FC236}">
                  <a16:creationId xmlns:a16="http://schemas.microsoft.com/office/drawing/2014/main" id="{D027D182-D9D5-E16B-6796-4128EDEA3194}"/>
                </a:ext>
              </a:extLst>
            </p:cNvPr>
            <p:cNvSpPr/>
            <p:nvPr/>
          </p:nvSpPr>
          <p:spPr>
            <a:xfrm>
              <a:off x="7164288" y="4134440"/>
              <a:ext cx="792088" cy="28803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Paper</a:t>
              </a:r>
            </a:p>
          </p:txBody>
        </p:sp>
        <p:cxnSp>
          <p:nvCxnSpPr>
            <p:cNvPr id="14" name="Straight Arrow Connector 13">
              <a:extLst>
                <a:ext uri="{FF2B5EF4-FFF2-40B4-BE49-F238E27FC236}">
                  <a16:creationId xmlns:a16="http://schemas.microsoft.com/office/drawing/2014/main" id="{68184BC1-0FAF-1095-AB76-128985570332}"/>
                </a:ext>
              </a:extLst>
            </p:cNvPr>
            <p:cNvCxnSpPr>
              <a:stCxn id="11" idx="3"/>
              <a:endCxn id="12" idx="1"/>
            </p:cNvCxnSpPr>
            <p:nvPr/>
          </p:nvCxnSpPr>
          <p:spPr>
            <a:xfrm>
              <a:off x="6156176" y="4278456"/>
              <a:ext cx="10081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2E99CA6-D1B9-0615-58A5-A970A27A5AE3}"/>
                </a:ext>
              </a:extLst>
            </p:cNvPr>
            <p:cNvSpPr txBox="1"/>
            <p:nvPr/>
          </p:nvSpPr>
          <p:spPr>
            <a:xfrm>
              <a:off x="6357104" y="4011612"/>
              <a:ext cx="606256" cy="338554"/>
            </a:xfrm>
            <a:prstGeom prst="rect">
              <a:avLst/>
            </a:prstGeom>
            <a:noFill/>
          </p:spPr>
          <p:txBody>
            <a:bodyPr wrap="none" rtlCol="0">
              <a:spAutoFit/>
            </a:bodyPr>
            <a:lstStyle/>
            <a:p>
              <a:r>
                <a:rPr lang="en-US" sz="1600" dirty="0"/>
                <a:t>cites</a:t>
              </a:r>
            </a:p>
          </p:txBody>
        </p:sp>
      </p:grpSp>
      <p:sp>
        <p:nvSpPr>
          <p:cNvPr id="20" name="TextBox 19">
            <a:extLst>
              <a:ext uri="{FF2B5EF4-FFF2-40B4-BE49-F238E27FC236}">
                <a16:creationId xmlns:a16="http://schemas.microsoft.com/office/drawing/2014/main" id="{339BD6CE-CDCC-4585-D842-5CF4FBC75CA2}"/>
              </a:ext>
            </a:extLst>
          </p:cNvPr>
          <p:cNvSpPr txBox="1"/>
          <p:nvPr/>
        </p:nvSpPr>
        <p:spPr>
          <a:xfrm>
            <a:off x="323528" y="4800876"/>
            <a:ext cx="2484976" cy="261610"/>
          </a:xfrm>
          <a:prstGeom prst="rect">
            <a:avLst/>
          </a:prstGeom>
          <a:noFill/>
        </p:spPr>
        <p:txBody>
          <a:bodyPr wrap="none" rtlCol="0">
            <a:spAutoFit/>
          </a:bodyPr>
          <a:lstStyle/>
          <a:p>
            <a:r>
              <a:rPr lang="en-US" sz="1100" dirty="0"/>
              <a:t>[1] : </a:t>
            </a:r>
            <a:r>
              <a:rPr lang="en-US" sz="1100" dirty="0">
                <a:hlinkClick r:id="rId3"/>
              </a:rPr>
              <a:t>Most influential database papers</a:t>
            </a:r>
            <a:endParaRPr lang="en-US" sz="1100" dirty="0"/>
          </a:p>
        </p:txBody>
      </p:sp>
    </p:spTree>
    <p:extLst>
      <p:ext uri="{BB962C8B-B14F-4D97-AF65-F5344CB8AC3E}">
        <p14:creationId xmlns:p14="http://schemas.microsoft.com/office/powerpoint/2010/main" val="3525086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8C20E2-ABC4-AC05-D7DB-36D068513D1E}"/>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Structural graphs are materialized from property graphs</a:t>
            </a:r>
          </a:p>
          <a:p>
            <a:pPr marL="825750" lvl="2" indent="-285750"/>
            <a:r>
              <a:rPr lang="en-US" b="1" dirty="0"/>
              <a:t>Static:</a:t>
            </a:r>
            <a:r>
              <a:rPr lang="en-US" dirty="0"/>
              <a:t> Point-in-time versions of the structural graph (Read-only snapshot)</a:t>
            </a:r>
          </a:p>
          <a:p>
            <a:pPr marL="825750" lvl="2" indent="-285750"/>
            <a:r>
              <a:rPr lang="en-US" b="1" dirty="0"/>
              <a:t>Dynamic</a:t>
            </a:r>
            <a:r>
              <a:rPr lang="en-US" dirty="0"/>
              <a:t>: Updated periodically with changes in the property graph (R/W)</a:t>
            </a:r>
          </a:p>
        </p:txBody>
      </p:sp>
      <p:sp>
        <p:nvSpPr>
          <p:cNvPr id="3" name="Title 2">
            <a:extLst>
              <a:ext uri="{FF2B5EF4-FFF2-40B4-BE49-F238E27FC236}">
                <a16:creationId xmlns:a16="http://schemas.microsoft.com/office/drawing/2014/main" id="{7EE9B7B7-7277-2EE0-B94C-63DB4776539F}"/>
              </a:ext>
            </a:extLst>
          </p:cNvPr>
          <p:cNvSpPr>
            <a:spLocks noGrp="1"/>
          </p:cNvSpPr>
          <p:nvPr>
            <p:ph type="title"/>
          </p:nvPr>
        </p:nvSpPr>
        <p:spPr/>
        <p:txBody>
          <a:bodyPr/>
          <a:lstStyle/>
          <a:p>
            <a:r>
              <a:rPr lang="en-US" dirty="0"/>
              <a:t>Structural Analysis of Graphs</a:t>
            </a:r>
          </a:p>
        </p:txBody>
      </p:sp>
    </p:spTree>
    <p:extLst>
      <p:ext uri="{BB962C8B-B14F-4D97-AF65-F5344CB8AC3E}">
        <p14:creationId xmlns:p14="http://schemas.microsoft.com/office/powerpoint/2010/main" val="3256479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4EDF74-019B-2BE0-404F-32ABF3DAEC85}"/>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7AEFCA7A-6FCE-3C88-F93B-470C1E70100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6830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D280C-C6EE-D9DC-AECF-09E05F28FD08}"/>
              </a:ext>
            </a:extLst>
          </p:cNvPr>
          <p:cNvSpPr>
            <a:spLocks noGrp="1"/>
          </p:cNvSpPr>
          <p:nvPr>
            <p:ph type="title"/>
          </p:nvPr>
        </p:nvSpPr>
        <p:spPr/>
        <p:txBody>
          <a:bodyPr/>
          <a:lstStyle/>
          <a:p>
            <a:r>
              <a:rPr lang="en-US" dirty="0"/>
              <a:t>Flexograph</a:t>
            </a:r>
          </a:p>
        </p:txBody>
      </p:sp>
    </p:spTree>
    <p:extLst>
      <p:ext uri="{BB962C8B-B14F-4D97-AF65-F5344CB8AC3E}">
        <p14:creationId xmlns:p14="http://schemas.microsoft.com/office/powerpoint/2010/main" val="2332155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9856AD-4560-702F-964C-8C562924901A}"/>
              </a:ext>
            </a:extLst>
          </p:cNvPr>
          <p:cNvSpPr>
            <a:spLocks noGrp="1"/>
          </p:cNvSpPr>
          <p:nvPr>
            <p:ph type="title"/>
          </p:nvPr>
        </p:nvSpPr>
        <p:spPr/>
        <p:txBody>
          <a:bodyPr/>
          <a:lstStyle/>
          <a:p>
            <a:r>
              <a:rPr lang="en-US" dirty="0"/>
              <a:t>Storing Property Graphs in Flexograph</a:t>
            </a:r>
          </a:p>
        </p:txBody>
      </p:sp>
    </p:spTree>
    <p:extLst>
      <p:ext uri="{BB962C8B-B14F-4D97-AF65-F5344CB8AC3E}">
        <p14:creationId xmlns:p14="http://schemas.microsoft.com/office/powerpoint/2010/main" val="832354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8068-C8FC-E390-8568-C75364107D72}"/>
              </a:ext>
            </a:extLst>
          </p:cNvPr>
          <p:cNvSpPr>
            <a:spLocks noGrp="1"/>
          </p:cNvSpPr>
          <p:nvPr>
            <p:ph type="title"/>
          </p:nvPr>
        </p:nvSpPr>
        <p:spPr/>
        <p:txBody>
          <a:bodyPr/>
          <a:lstStyle/>
          <a:p>
            <a:r>
              <a:rPr lang="en-US" dirty="0"/>
              <a:t>Timeline</a:t>
            </a:r>
          </a:p>
        </p:txBody>
      </p:sp>
    </p:spTree>
    <p:extLst>
      <p:ext uri="{BB962C8B-B14F-4D97-AF65-F5344CB8AC3E}">
        <p14:creationId xmlns:p14="http://schemas.microsoft.com/office/powerpoint/2010/main" val="3714483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86FED9-8E74-9422-EDED-748EECFAC639}"/>
              </a:ext>
            </a:extLst>
          </p:cNvPr>
          <p:cNvSpPr>
            <a:spLocks noGrp="1"/>
          </p:cNvSpPr>
          <p:nvPr>
            <p:ph type="title"/>
          </p:nvPr>
        </p:nvSpPr>
        <p:spPr/>
        <p:txBody>
          <a:bodyPr/>
          <a:lstStyle/>
          <a:p>
            <a:r>
              <a:rPr lang="en-US" dirty="0"/>
              <a:t>Timeline</a:t>
            </a:r>
          </a:p>
        </p:txBody>
      </p:sp>
      <p:pic>
        <p:nvPicPr>
          <p:cNvPr id="6" name="Picture 5">
            <a:extLst>
              <a:ext uri="{FF2B5EF4-FFF2-40B4-BE49-F238E27FC236}">
                <a16:creationId xmlns:a16="http://schemas.microsoft.com/office/drawing/2014/main" id="{5D485A9A-648A-CBC1-FB30-F2C06FEDBD5B}"/>
              </a:ext>
            </a:extLst>
          </p:cNvPr>
          <p:cNvPicPr>
            <a:picLocks noChangeAspect="1"/>
          </p:cNvPicPr>
          <p:nvPr/>
        </p:nvPicPr>
        <p:blipFill>
          <a:blip r:embed="rId2"/>
          <a:stretch>
            <a:fillRect/>
          </a:stretch>
        </p:blipFill>
        <p:spPr>
          <a:xfrm>
            <a:off x="791247" y="1012257"/>
            <a:ext cx="7561506" cy="3935757"/>
          </a:xfrm>
          <a:prstGeom prst="rect">
            <a:avLst/>
          </a:prstGeom>
        </p:spPr>
      </p:pic>
    </p:spTree>
    <p:extLst>
      <p:ext uri="{BB962C8B-B14F-4D97-AF65-F5344CB8AC3E}">
        <p14:creationId xmlns:p14="http://schemas.microsoft.com/office/powerpoint/2010/main" val="185921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A31BFF-334F-25EA-D1F5-71EAA9D59C38}"/>
              </a:ext>
            </a:extLst>
          </p:cNvPr>
          <p:cNvSpPr>
            <a:spLocks noGrp="1"/>
          </p:cNvSpPr>
          <p:nvPr>
            <p:ph type="title"/>
          </p:nvPr>
        </p:nvSpPr>
        <p:spPr>
          <a:prstGeom prst="rect">
            <a:avLst/>
          </a:prstGeom>
        </p:spPr>
        <p:txBody>
          <a:bodyPr/>
          <a:lstStyle/>
          <a:p>
            <a:r>
              <a:rPr lang="en-US" dirty="0"/>
              <a:t>Questions?</a:t>
            </a:r>
          </a:p>
        </p:txBody>
      </p:sp>
      <p:sp>
        <p:nvSpPr>
          <p:cNvPr id="6" name="TextBox 5">
            <a:extLst>
              <a:ext uri="{FF2B5EF4-FFF2-40B4-BE49-F238E27FC236}">
                <a16:creationId xmlns:a16="http://schemas.microsoft.com/office/drawing/2014/main" id="{6CF6CB97-59E2-EC6C-B561-8DD6228B64A7}"/>
              </a:ext>
            </a:extLst>
          </p:cNvPr>
          <p:cNvSpPr txBox="1"/>
          <p:nvPr/>
        </p:nvSpPr>
        <p:spPr>
          <a:xfrm>
            <a:off x="365586" y="1793702"/>
            <a:ext cx="7302757" cy="1938992"/>
          </a:xfrm>
          <a:prstGeom prst="rect">
            <a:avLst/>
          </a:prstGeom>
          <a:noFill/>
        </p:spPr>
        <p:txBody>
          <a:bodyPr wrap="square" rtlCol="0">
            <a:spAutoFit/>
          </a:bodyPr>
          <a:lstStyle/>
          <a:p>
            <a:pPr marL="342900" indent="-342900">
              <a:buFont typeface="System Font Regular"/>
              <a:buChar char="–"/>
            </a:pPr>
            <a:r>
              <a:rPr lang="en-US" dirty="0">
                <a:solidFill>
                  <a:srgbClr val="36BA98"/>
                </a:solidFill>
                <a:latin typeface="Proxima Nova" panose="02000506030000020004" pitchFamily="2" charset="0"/>
              </a:rPr>
              <a:t>Flexograph</a:t>
            </a:r>
            <a:r>
              <a:rPr lang="en-US" dirty="0">
                <a:solidFill>
                  <a:schemeClr val="bg1"/>
                </a:solidFill>
                <a:latin typeface="Proxima Nova" panose="02000506030000020004" pitchFamily="2" charset="0"/>
              </a:rPr>
              <a:t>: Hybrid Graph Transactional and Analytics Processing Database</a:t>
            </a:r>
          </a:p>
          <a:p>
            <a:pPr marL="800100" lvl="1" indent="-342900">
              <a:buFont typeface="System Font Regular"/>
              <a:buChar char="–"/>
            </a:pPr>
            <a:r>
              <a:rPr lang="en-US" dirty="0">
                <a:solidFill>
                  <a:schemeClr val="bg1"/>
                </a:solidFill>
                <a:latin typeface="Proxima Nova" panose="02000506030000020004" pitchFamily="2" charset="0"/>
              </a:rPr>
              <a:t>Efficient structural graph storage</a:t>
            </a:r>
          </a:p>
          <a:p>
            <a:pPr marL="800100" lvl="1" indent="-342900">
              <a:buFont typeface="System Font Regular"/>
              <a:buChar char="–"/>
            </a:pPr>
            <a:r>
              <a:rPr lang="en-US" dirty="0">
                <a:solidFill>
                  <a:schemeClr val="bg1"/>
                </a:solidFill>
                <a:latin typeface="Proxima Nova" panose="02000506030000020004" pitchFamily="2" charset="0"/>
              </a:rPr>
              <a:t>High performance analytics </a:t>
            </a:r>
          </a:p>
          <a:p>
            <a:pPr marL="800100" lvl="1" indent="-342900">
              <a:buFont typeface="System Font Regular"/>
              <a:buChar char="–"/>
            </a:pPr>
            <a:r>
              <a:rPr lang="en-US" dirty="0">
                <a:solidFill>
                  <a:schemeClr val="bg1"/>
                </a:solidFill>
                <a:latin typeface="Proxima Nova" panose="02000506030000020004" pitchFamily="2" charset="0"/>
              </a:rPr>
              <a:t>Property graph storage</a:t>
            </a:r>
          </a:p>
        </p:txBody>
      </p:sp>
    </p:spTree>
    <p:extLst>
      <p:ext uri="{BB962C8B-B14F-4D97-AF65-F5344CB8AC3E}">
        <p14:creationId xmlns:p14="http://schemas.microsoft.com/office/powerpoint/2010/main" val="1826196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0E22B-50BA-DE89-D5BC-B1DDF7AC254D}"/>
              </a:ext>
            </a:extLst>
          </p:cNvPr>
          <p:cNvSpPr>
            <a:spLocks noGrp="1"/>
          </p:cNvSpPr>
          <p:nvPr>
            <p:ph type="title"/>
          </p:nvPr>
        </p:nvSpPr>
        <p:spPr/>
        <p:txBody>
          <a:bodyPr/>
          <a:lstStyle/>
          <a:p>
            <a:r>
              <a:rPr lang="en-US" dirty="0"/>
              <a:t>Backup Slides</a:t>
            </a:r>
          </a:p>
        </p:txBody>
      </p:sp>
    </p:spTree>
    <p:extLst>
      <p:ext uri="{BB962C8B-B14F-4D97-AF65-F5344CB8AC3E}">
        <p14:creationId xmlns:p14="http://schemas.microsoft.com/office/powerpoint/2010/main" val="2976219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953A1EDE-F0CA-261E-DAA5-739334A26EBB}"/>
              </a:ext>
            </a:extLst>
          </p:cNvPr>
          <p:cNvSpPr>
            <a:spLocks noGrp="1"/>
          </p:cNvSpPr>
          <p:nvPr>
            <p:ph type="body" sz="quarter" idx="13"/>
          </p:nvPr>
        </p:nvSpPr>
        <p:spPr>
          <a:xfrm>
            <a:off x="3919396" y="1131888"/>
            <a:ext cx="4180995" cy="3697288"/>
          </a:xfrm>
        </p:spPr>
        <p:txBody>
          <a:bodyPr/>
          <a:lstStyle/>
          <a:p>
            <a:pPr marL="285750" indent="-285750">
              <a:buFont typeface="Arial" panose="020B0604020202020204" pitchFamily="34" charset="0"/>
              <a:buChar char="•"/>
            </a:pPr>
            <a:r>
              <a:rPr lang="en-US" dirty="0"/>
              <a:t>Relational Model:</a:t>
            </a:r>
          </a:p>
          <a:p>
            <a:pPr marL="825750" lvl="2" indent="-285750"/>
            <a:r>
              <a:rPr lang="en-US" dirty="0"/>
              <a:t>Objects organized into tables by “type”</a:t>
            </a:r>
          </a:p>
          <a:p>
            <a:pPr marL="825750" lvl="2" indent="-285750"/>
            <a:r>
              <a:rPr lang="en-US" dirty="0">
                <a:noFill/>
              </a:rPr>
              <a:t>Relationships are joins between tables </a:t>
            </a:r>
          </a:p>
        </p:txBody>
      </p:sp>
      <p:sp>
        <p:nvSpPr>
          <p:cNvPr id="3" name="Title 2">
            <a:extLst>
              <a:ext uri="{FF2B5EF4-FFF2-40B4-BE49-F238E27FC236}">
                <a16:creationId xmlns:a16="http://schemas.microsoft.com/office/drawing/2014/main" id="{E402164F-B90C-1AFC-62EC-17031B4D497A}"/>
              </a:ext>
            </a:extLst>
          </p:cNvPr>
          <p:cNvSpPr>
            <a:spLocks noGrp="1"/>
          </p:cNvSpPr>
          <p:nvPr>
            <p:ph type="title"/>
          </p:nvPr>
        </p:nvSpPr>
        <p:spPr/>
        <p:txBody>
          <a:bodyPr/>
          <a:lstStyle/>
          <a:p>
            <a:r>
              <a:rPr lang="en-US" dirty="0"/>
              <a:t>Graphs vs. Relational Model</a:t>
            </a:r>
          </a:p>
        </p:txBody>
      </p:sp>
      <p:pic>
        <p:nvPicPr>
          <p:cNvPr id="7" name="Picture 6">
            <a:extLst>
              <a:ext uri="{FF2B5EF4-FFF2-40B4-BE49-F238E27FC236}">
                <a16:creationId xmlns:a16="http://schemas.microsoft.com/office/drawing/2014/main" id="{8128DC6C-DCB8-0452-C26E-2EDDB4CDBF8F}"/>
              </a:ext>
            </a:extLst>
          </p:cNvPr>
          <p:cNvPicPr>
            <a:picLocks noChangeAspect="1"/>
          </p:cNvPicPr>
          <p:nvPr/>
        </p:nvPicPr>
        <p:blipFill>
          <a:blip r:embed="rId2"/>
          <a:stretch>
            <a:fillRect/>
          </a:stretch>
        </p:blipFill>
        <p:spPr>
          <a:xfrm>
            <a:off x="611560" y="1419622"/>
            <a:ext cx="3168352" cy="3039558"/>
          </a:xfrm>
          <a:prstGeom prst="rect">
            <a:avLst/>
          </a:prstGeom>
        </p:spPr>
      </p:pic>
      <p:sp>
        <p:nvSpPr>
          <p:cNvPr id="8" name="Oval 7">
            <a:extLst>
              <a:ext uri="{FF2B5EF4-FFF2-40B4-BE49-F238E27FC236}">
                <a16:creationId xmlns:a16="http://schemas.microsoft.com/office/drawing/2014/main" id="{B86A4816-9310-0CBA-6E37-19C45CDCABD4}"/>
              </a:ext>
            </a:extLst>
          </p:cNvPr>
          <p:cNvSpPr/>
          <p:nvPr/>
        </p:nvSpPr>
        <p:spPr>
          <a:xfrm>
            <a:off x="1403648" y="1347614"/>
            <a:ext cx="1512168" cy="720080"/>
          </a:xfrm>
          <a:prstGeom prst="ellipse">
            <a:avLst/>
          </a:prstGeom>
          <a:noFill/>
          <a:ln w="25400">
            <a:solidFill>
              <a:srgbClr val="FF0000">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AD537FB-B572-6AC8-A381-C9CD74EEE93A}"/>
              </a:ext>
            </a:extLst>
          </p:cNvPr>
          <p:cNvSpPr/>
          <p:nvPr/>
        </p:nvSpPr>
        <p:spPr>
          <a:xfrm>
            <a:off x="472075" y="3051575"/>
            <a:ext cx="1191860" cy="720080"/>
          </a:xfrm>
          <a:prstGeom prst="ellipse">
            <a:avLst/>
          </a:prstGeom>
          <a:noFill/>
          <a:ln w="25400">
            <a:solidFill>
              <a:srgbClr val="FF0000">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987772F-3693-3851-CE58-2AF67E7FB1A0}"/>
              </a:ext>
            </a:extLst>
          </p:cNvPr>
          <p:cNvSpPr/>
          <p:nvPr/>
        </p:nvSpPr>
        <p:spPr>
          <a:xfrm>
            <a:off x="1835696" y="3051575"/>
            <a:ext cx="1191860" cy="720080"/>
          </a:xfrm>
          <a:prstGeom prst="ellipse">
            <a:avLst/>
          </a:prstGeom>
          <a:noFill/>
          <a:ln w="25400">
            <a:solidFill>
              <a:srgbClr val="FF0000">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2960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953A1EDE-F0CA-261E-DAA5-739334A26EBB}"/>
              </a:ext>
            </a:extLst>
          </p:cNvPr>
          <p:cNvSpPr>
            <a:spLocks noGrp="1"/>
          </p:cNvSpPr>
          <p:nvPr>
            <p:ph type="body" sz="quarter" idx="13"/>
          </p:nvPr>
        </p:nvSpPr>
        <p:spPr>
          <a:xfrm>
            <a:off x="3919396" y="1131888"/>
            <a:ext cx="4180995" cy="3697288"/>
          </a:xfrm>
        </p:spPr>
        <p:txBody>
          <a:bodyPr/>
          <a:lstStyle/>
          <a:p>
            <a:pPr marL="285750" indent="-285750">
              <a:buFont typeface="Arial" panose="020B0604020202020204" pitchFamily="34" charset="0"/>
              <a:buChar char="•"/>
            </a:pPr>
            <a:r>
              <a:rPr lang="en-US" dirty="0"/>
              <a:t>Relational Model:</a:t>
            </a:r>
          </a:p>
          <a:p>
            <a:pPr marL="825750" lvl="2" indent="-285750"/>
            <a:r>
              <a:rPr lang="en-US" dirty="0"/>
              <a:t>Objects organized into tables by “type”</a:t>
            </a:r>
          </a:p>
          <a:p>
            <a:pPr marL="825750" lvl="2" indent="-285750"/>
            <a:r>
              <a:rPr lang="en-US" dirty="0"/>
              <a:t>Relationships are joins between tables </a:t>
            </a:r>
          </a:p>
        </p:txBody>
      </p:sp>
      <p:sp>
        <p:nvSpPr>
          <p:cNvPr id="3" name="Title 2">
            <a:extLst>
              <a:ext uri="{FF2B5EF4-FFF2-40B4-BE49-F238E27FC236}">
                <a16:creationId xmlns:a16="http://schemas.microsoft.com/office/drawing/2014/main" id="{E402164F-B90C-1AFC-62EC-17031B4D497A}"/>
              </a:ext>
            </a:extLst>
          </p:cNvPr>
          <p:cNvSpPr>
            <a:spLocks noGrp="1"/>
          </p:cNvSpPr>
          <p:nvPr>
            <p:ph type="title"/>
          </p:nvPr>
        </p:nvSpPr>
        <p:spPr/>
        <p:txBody>
          <a:bodyPr/>
          <a:lstStyle/>
          <a:p>
            <a:r>
              <a:rPr lang="en-US" dirty="0"/>
              <a:t>Graphs vs. Relational Model</a:t>
            </a:r>
          </a:p>
        </p:txBody>
      </p:sp>
      <p:pic>
        <p:nvPicPr>
          <p:cNvPr id="7" name="Picture 6">
            <a:extLst>
              <a:ext uri="{FF2B5EF4-FFF2-40B4-BE49-F238E27FC236}">
                <a16:creationId xmlns:a16="http://schemas.microsoft.com/office/drawing/2014/main" id="{8128DC6C-DCB8-0452-C26E-2EDDB4CDBF8F}"/>
              </a:ext>
            </a:extLst>
          </p:cNvPr>
          <p:cNvPicPr>
            <a:picLocks noChangeAspect="1"/>
          </p:cNvPicPr>
          <p:nvPr/>
        </p:nvPicPr>
        <p:blipFill>
          <a:blip r:embed="rId2"/>
          <a:stretch>
            <a:fillRect/>
          </a:stretch>
        </p:blipFill>
        <p:spPr>
          <a:xfrm>
            <a:off x="611560" y="1419622"/>
            <a:ext cx="3168352" cy="3039558"/>
          </a:xfrm>
          <a:prstGeom prst="rect">
            <a:avLst/>
          </a:prstGeom>
        </p:spPr>
      </p:pic>
      <p:sp>
        <p:nvSpPr>
          <p:cNvPr id="8" name="Oval 7">
            <a:extLst>
              <a:ext uri="{FF2B5EF4-FFF2-40B4-BE49-F238E27FC236}">
                <a16:creationId xmlns:a16="http://schemas.microsoft.com/office/drawing/2014/main" id="{B86A4816-9310-0CBA-6E37-19C45CDCABD4}"/>
              </a:ext>
            </a:extLst>
          </p:cNvPr>
          <p:cNvSpPr/>
          <p:nvPr/>
        </p:nvSpPr>
        <p:spPr>
          <a:xfrm>
            <a:off x="1403648" y="1347614"/>
            <a:ext cx="1512168"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AD537FB-B572-6AC8-A381-C9CD74EEE93A}"/>
              </a:ext>
            </a:extLst>
          </p:cNvPr>
          <p:cNvSpPr/>
          <p:nvPr/>
        </p:nvSpPr>
        <p:spPr>
          <a:xfrm>
            <a:off x="472075" y="3051575"/>
            <a:ext cx="1191860"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987772F-3693-3851-CE58-2AF67E7FB1A0}"/>
              </a:ext>
            </a:extLst>
          </p:cNvPr>
          <p:cNvSpPr/>
          <p:nvPr/>
        </p:nvSpPr>
        <p:spPr>
          <a:xfrm>
            <a:off x="1835696" y="3051575"/>
            <a:ext cx="1191860"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9913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953A1EDE-F0CA-261E-DAA5-739334A26EBB}"/>
              </a:ext>
            </a:extLst>
          </p:cNvPr>
          <p:cNvSpPr>
            <a:spLocks noGrp="1"/>
          </p:cNvSpPr>
          <p:nvPr>
            <p:ph type="body" sz="quarter" idx="13"/>
          </p:nvPr>
        </p:nvSpPr>
        <p:spPr>
          <a:xfrm>
            <a:off x="3919396" y="1131888"/>
            <a:ext cx="4325012" cy="3697288"/>
          </a:xfrm>
        </p:spPr>
        <p:txBody>
          <a:bodyPr/>
          <a:lstStyle/>
          <a:p>
            <a:pPr marL="285750" lvl="1" indent="-285750"/>
            <a:r>
              <a:rPr lang="en-US" dirty="0"/>
              <a:t>Graphs treat relationships as first class entities</a:t>
            </a:r>
          </a:p>
          <a:p>
            <a:pPr marL="825750" lvl="2" indent="-285750"/>
            <a:r>
              <a:rPr lang="en-US" dirty="0"/>
              <a:t>Relationships are edges and connect entities (row) with a type (table name)</a:t>
            </a:r>
          </a:p>
          <a:p>
            <a:pPr marL="825750" lvl="2" indent="-285750"/>
            <a:r>
              <a:rPr lang="en-US" dirty="0"/>
              <a:t>Each entity has properties (column names)</a:t>
            </a:r>
          </a:p>
          <a:p>
            <a:pPr marL="825750" lvl="2" indent="-285750"/>
            <a:r>
              <a:rPr lang="en-US" dirty="0"/>
              <a:t>Each relationship has a type (join name)</a:t>
            </a:r>
          </a:p>
          <a:p>
            <a:pPr marL="825750" lvl="2" indent="-285750"/>
            <a:endParaRPr lang="en-US" dirty="0"/>
          </a:p>
          <a:p>
            <a:pPr marL="285750" lvl="1" indent="-285750"/>
            <a:r>
              <a:rPr lang="en-US" dirty="0"/>
              <a:t>Graphs are </a:t>
            </a:r>
            <a:r>
              <a:rPr lang="en-US" b="1" dirty="0"/>
              <a:t>materialized views </a:t>
            </a:r>
            <a:r>
              <a:rPr lang="en-US" dirty="0"/>
              <a:t>of a relational database </a:t>
            </a:r>
          </a:p>
        </p:txBody>
      </p:sp>
      <p:sp>
        <p:nvSpPr>
          <p:cNvPr id="3" name="Title 2">
            <a:extLst>
              <a:ext uri="{FF2B5EF4-FFF2-40B4-BE49-F238E27FC236}">
                <a16:creationId xmlns:a16="http://schemas.microsoft.com/office/drawing/2014/main" id="{E402164F-B90C-1AFC-62EC-17031B4D497A}"/>
              </a:ext>
            </a:extLst>
          </p:cNvPr>
          <p:cNvSpPr>
            <a:spLocks noGrp="1"/>
          </p:cNvSpPr>
          <p:nvPr>
            <p:ph type="title"/>
          </p:nvPr>
        </p:nvSpPr>
        <p:spPr/>
        <p:txBody>
          <a:bodyPr/>
          <a:lstStyle/>
          <a:p>
            <a:r>
              <a:rPr lang="en-US" dirty="0"/>
              <a:t>Relational Model </a:t>
            </a:r>
            <a:r>
              <a:rPr lang="en-US" dirty="0">
                <a:sym typeface="Wingdings" pitchFamily="2" charset="2"/>
              </a:rPr>
              <a:t> Graphs</a:t>
            </a:r>
            <a:endParaRPr lang="en-US" dirty="0"/>
          </a:p>
        </p:txBody>
      </p:sp>
      <p:pic>
        <p:nvPicPr>
          <p:cNvPr id="7" name="Picture 6">
            <a:extLst>
              <a:ext uri="{FF2B5EF4-FFF2-40B4-BE49-F238E27FC236}">
                <a16:creationId xmlns:a16="http://schemas.microsoft.com/office/drawing/2014/main" id="{8128DC6C-DCB8-0452-C26E-2EDDB4CDBF8F}"/>
              </a:ext>
            </a:extLst>
          </p:cNvPr>
          <p:cNvPicPr>
            <a:picLocks noChangeAspect="1"/>
          </p:cNvPicPr>
          <p:nvPr/>
        </p:nvPicPr>
        <p:blipFill>
          <a:blip r:embed="rId2"/>
          <a:stretch>
            <a:fillRect/>
          </a:stretch>
        </p:blipFill>
        <p:spPr>
          <a:xfrm>
            <a:off x="611560" y="1419622"/>
            <a:ext cx="3168352" cy="3039558"/>
          </a:xfrm>
          <a:prstGeom prst="rect">
            <a:avLst/>
          </a:prstGeom>
        </p:spPr>
      </p:pic>
      <p:sp>
        <p:nvSpPr>
          <p:cNvPr id="8" name="Oval 7">
            <a:extLst>
              <a:ext uri="{FF2B5EF4-FFF2-40B4-BE49-F238E27FC236}">
                <a16:creationId xmlns:a16="http://schemas.microsoft.com/office/drawing/2014/main" id="{B86A4816-9310-0CBA-6E37-19C45CDCABD4}"/>
              </a:ext>
            </a:extLst>
          </p:cNvPr>
          <p:cNvSpPr/>
          <p:nvPr/>
        </p:nvSpPr>
        <p:spPr>
          <a:xfrm>
            <a:off x="1403648" y="1347614"/>
            <a:ext cx="1512168"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AD537FB-B572-6AC8-A381-C9CD74EEE93A}"/>
              </a:ext>
            </a:extLst>
          </p:cNvPr>
          <p:cNvSpPr/>
          <p:nvPr/>
        </p:nvSpPr>
        <p:spPr>
          <a:xfrm>
            <a:off x="472075" y="3051575"/>
            <a:ext cx="1191860"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987772F-3693-3851-CE58-2AF67E7FB1A0}"/>
              </a:ext>
            </a:extLst>
          </p:cNvPr>
          <p:cNvSpPr/>
          <p:nvPr/>
        </p:nvSpPr>
        <p:spPr>
          <a:xfrm>
            <a:off x="1835696" y="3051575"/>
            <a:ext cx="1191860"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272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953A1EDE-F0CA-261E-DAA5-739334A26EBB}"/>
              </a:ext>
            </a:extLst>
          </p:cNvPr>
          <p:cNvSpPr>
            <a:spLocks noGrp="1"/>
          </p:cNvSpPr>
          <p:nvPr>
            <p:ph type="body" sz="quarter" idx="13"/>
          </p:nvPr>
        </p:nvSpPr>
        <p:spPr>
          <a:xfrm>
            <a:off x="3919396" y="1131888"/>
            <a:ext cx="4325012" cy="3697288"/>
          </a:xfrm>
        </p:spPr>
        <p:txBody>
          <a:bodyPr/>
          <a:lstStyle/>
          <a:p>
            <a:pPr marL="285750" lvl="1" indent="-285750"/>
            <a:r>
              <a:rPr lang="en-US" dirty="0"/>
              <a:t>Graphs treat relationships as first class entities</a:t>
            </a:r>
          </a:p>
          <a:p>
            <a:pPr marL="825750" lvl="2" indent="-285750"/>
            <a:r>
              <a:rPr lang="en-US" dirty="0"/>
              <a:t>Relationships are edges and connect entities (row) with a type (table name)</a:t>
            </a:r>
          </a:p>
          <a:p>
            <a:pPr marL="825750" lvl="2" indent="-285750"/>
            <a:r>
              <a:rPr lang="en-US" dirty="0"/>
              <a:t>Each entity has properties (column names)</a:t>
            </a:r>
          </a:p>
          <a:p>
            <a:pPr marL="825750" lvl="2" indent="-285750"/>
            <a:r>
              <a:rPr lang="en-US" dirty="0"/>
              <a:t>Each relationship has a type (join name)</a:t>
            </a:r>
          </a:p>
          <a:p>
            <a:pPr marL="825750" lvl="2" indent="-285750"/>
            <a:endParaRPr lang="en-US" dirty="0"/>
          </a:p>
          <a:p>
            <a:pPr marL="285750" lvl="1" indent="-285750"/>
            <a:r>
              <a:rPr lang="en-US" dirty="0"/>
              <a:t>Graphs are </a:t>
            </a:r>
            <a:r>
              <a:rPr lang="en-US" b="1" dirty="0"/>
              <a:t>materialized views </a:t>
            </a:r>
            <a:r>
              <a:rPr lang="en-US" dirty="0"/>
              <a:t>of a relational database </a:t>
            </a:r>
          </a:p>
          <a:p>
            <a:pPr marL="285750" lvl="1" indent="-285750"/>
            <a:r>
              <a:rPr lang="en-US" dirty="0"/>
              <a:t>If schema is preserved (type &amp; attributes) we get a </a:t>
            </a:r>
            <a:r>
              <a:rPr lang="en-US" b="1" dirty="0"/>
              <a:t>Property Graph</a:t>
            </a:r>
          </a:p>
          <a:p>
            <a:pPr marL="825750" lvl="2" indent="-285750"/>
            <a:r>
              <a:rPr lang="en-US" dirty="0"/>
              <a:t>Useful for rich queries on the data</a:t>
            </a:r>
          </a:p>
        </p:txBody>
      </p:sp>
      <p:sp>
        <p:nvSpPr>
          <p:cNvPr id="3" name="Title 2">
            <a:extLst>
              <a:ext uri="{FF2B5EF4-FFF2-40B4-BE49-F238E27FC236}">
                <a16:creationId xmlns:a16="http://schemas.microsoft.com/office/drawing/2014/main" id="{E402164F-B90C-1AFC-62EC-17031B4D497A}"/>
              </a:ext>
            </a:extLst>
          </p:cNvPr>
          <p:cNvSpPr>
            <a:spLocks noGrp="1"/>
          </p:cNvSpPr>
          <p:nvPr>
            <p:ph type="title"/>
          </p:nvPr>
        </p:nvSpPr>
        <p:spPr/>
        <p:txBody>
          <a:bodyPr/>
          <a:lstStyle/>
          <a:p>
            <a:r>
              <a:rPr lang="en-US" dirty="0"/>
              <a:t>Relational Model </a:t>
            </a:r>
            <a:r>
              <a:rPr lang="en-US" dirty="0">
                <a:sym typeface="Wingdings" pitchFamily="2" charset="2"/>
              </a:rPr>
              <a:t> Graphs</a:t>
            </a:r>
            <a:endParaRPr lang="en-US" dirty="0"/>
          </a:p>
        </p:txBody>
      </p:sp>
      <p:pic>
        <p:nvPicPr>
          <p:cNvPr id="7" name="Picture 6">
            <a:extLst>
              <a:ext uri="{FF2B5EF4-FFF2-40B4-BE49-F238E27FC236}">
                <a16:creationId xmlns:a16="http://schemas.microsoft.com/office/drawing/2014/main" id="{8128DC6C-DCB8-0452-C26E-2EDDB4CDBF8F}"/>
              </a:ext>
            </a:extLst>
          </p:cNvPr>
          <p:cNvPicPr>
            <a:picLocks noChangeAspect="1"/>
          </p:cNvPicPr>
          <p:nvPr/>
        </p:nvPicPr>
        <p:blipFill>
          <a:blip r:embed="rId2"/>
          <a:stretch>
            <a:fillRect/>
          </a:stretch>
        </p:blipFill>
        <p:spPr>
          <a:xfrm>
            <a:off x="611560" y="1419622"/>
            <a:ext cx="3168352" cy="3039558"/>
          </a:xfrm>
          <a:prstGeom prst="rect">
            <a:avLst/>
          </a:prstGeom>
        </p:spPr>
      </p:pic>
      <p:sp>
        <p:nvSpPr>
          <p:cNvPr id="8" name="Oval 7">
            <a:extLst>
              <a:ext uri="{FF2B5EF4-FFF2-40B4-BE49-F238E27FC236}">
                <a16:creationId xmlns:a16="http://schemas.microsoft.com/office/drawing/2014/main" id="{B86A4816-9310-0CBA-6E37-19C45CDCABD4}"/>
              </a:ext>
            </a:extLst>
          </p:cNvPr>
          <p:cNvSpPr/>
          <p:nvPr/>
        </p:nvSpPr>
        <p:spPr>
          <a:xfrm>
            <a:off x="1403648" y="1347614"/>
            <a:ext cx="1512168"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AD537FB-B572-6AC8-A381-C9CD74EEE93A}"/>
              </a:ext>
            </a:extLst>
          </p:cNvPr>
          <p:cNvSpPr/>
          <p:nvPr/>
        </p:nvSpPr>
        <p:spPr>
          <a:xfrm>
            <a:off x="472075" y="3051575"/>
            <a:ext cx="1191860"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987772F-3693-3851-CE58-2AF67E7FB1A0}"/>
              </a:ext>
            </a:extLst>
          </p:cNvPr>
          <p:cNvSpPr/>
          <p:nvPr/>
        </p:nvSpPr>
        <p:spPr>
          <a:xfrm>
            <a:off x="1835696" y="3051575"/>
            <a:ext cx="1191860" cy="72008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8709805"/>
      </p:ext>
    </p:extLst>
  </p:cSld>
  <p:clrMapOvr>
    <a:masterClrMapping/>
  </p:clrMapOvr>
</p:sld>
</file>

<file path=ppt/theme/theme1.xml><?xml version="1.0" encoding="utf-8"?>
<a:theme xmlns:a="http://schemas.openxmlformats.org/drawingml/2006/main" name="Office Theme">
  <a:themeElements>
    <a:clrScheme name="UBC Brand 1">
      <a:dk1>
        <a:srgbClr val="002040"/>
      </a:dk1>
      <a:lt1>
        <a:sysClr val="window" lastClr="FFFFFF"/>
      </a:lt1>
      <a:dk2>
        <a:srgbClr val="486B7F"/>
      </a:dk2>
      <a:lt2>
        <a:srgbClr val="EEECE1"/>
      </a:lt2>
      <a:accent1>
        <a:srgbClr val="002040"/>
      </a:accent1>
      <a:accent2>
        <a:srgbClr val="2E526B"/>
      </a:accent2>
      <a:accent3>
        <a:srgbClr val="6A8999"/>
      </a:accent3>
      <a:accent4>
        <a:srgbClr val="A7B9C1"/>
      </a:accent4>
      <a:accent5>
        <a:srgbClr val="BECBD0"/>
      </a:accent5>
      <a:accent6>
        <a:srgbClr val="D0DCD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7159</TotalTime>
  <Words>1777</Words>
  <Application>Microsoft Macintosh PowerPoint</Application>
  <PresentationFormat>On-screen Show (16:9)</PresentationFormat>
  <Paragraphs>294</Paragraphs>
  <Slides>30</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ＭＳ Ｐゴシック</vt:lpstr>
      <vt:lpstr>Arial</vt:lpstr>
      <vt:lpstr>Calibri</vt:lpstr>
      <vt:lpstr>Lato</vt:lpstr>
      <vt:lpstr>Proxima Nova</vt:lpstr>
      <vt:lpstr>System Font Regular</vt:lpstr>
      <vt:lpstr>Whitney Book</vt:lpstr>
      <vt:lpstr>Wingdings</vt:lpstr>
      <vt:lpstr>Office Theme</vt:lpstr>
      <vt:lpstr>Storing and Analyzing Large Graphs </vt:lpstr>
      <vt:lpstr>Acknowledgements</vt:lpstr>
      <vt:lpstr>Table of Contents</vt:lpstr>
      <vt:lpstr>Introduction &amp; Background </vt:lpstr>
      <vt:lpstr>What are Graphs?</vt:lpstr>
      <vt:lpstr>Graphs Elements have Labels and Properties</vt:lpstr>
      <vt:lpstr>Graphs Elements have Labels and Properties</vt:lpstr>
      <vt:lpstr>Graphs Capture Relationships</vt:lpstr>
      <vt:lpstr>Graphs Capture Relationships</vt:lpstr>
      <vt:lpstr>Property Graphs</vt:lpstr>
      <vt:lpstr>Property Graphs</vt:lpstr>
      <vt:lpstr>Property Graphs</vt:lpstr>
      <vt:lpstr>Property Graphs vs. Structural Graphs</vt:lpstr>
      <vt:lpstr>What Can One Do With Graphs?</vt:lpstr>
      <vt:lpstr>What Can One Do With Graphs?</vt:lpstr>
      <vt:lpstr>What Can One Do With Graphs?</vt:lpstr>
      <vt:lpstr>What Can One Do With Graphs?</vt:lpstr>
      <vt:lpstr>What Can One Do With Graphs?</vt:lpstr>
      <vt:lpstr>Structural Analysis of Graphs</vt:lpstr>
      <vt:lpstr>PowerPoint Presentation</vt:lpstr>
      <vt:lpstr>Flexograph</vt:lpstr>
      <vt:lpstr>Storing Property Graphs in Flexograph</vt:lpstr>
      <vt:lpstr>Timeline</vt:lpstr>
      <vt:lpstr>Timeline</vt:lpstr>
      <vt:lpstr>Questions?</vt:lpstr>
      <vt:lpstr>Backup Slides</vt:lpstr>
      <vt:lpstr>Graphs vs. Relational Model</vt:lpstr>
      <vt:lpstr>Graphs vs. Relational Model</vt:lpstr>
      <vt:lpstr>Relational Model  Graphs</vt:lpstr>
      <vt:lpstr>Relational Model  Graphs</vt:lpstr>
    </vt:vector>
  </TitlesOfParts>
  <Manager/>
  <Company>UBC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UBC Powerpoint template (text)</dc:title>
  <dc:subject/>
  <dc:creator/>
  <cp:keywords/>
  <dc:description/>
  <cp:lastModifiedBy>Microsoft Office User</cp:lastModifiedBy>
  <cp:revision>263</cp:revision>
  <cp:lastPrinted>2016-07-11T18:15:24Z</cp:lastPrinted>
  <dcterms:created xsi:type="dcterms:W3CDTF">2010-06-15T20:07:28Z</dcterms:created>
  <dcterms:modified xsi:type="dcterms:W3CDTF">2024-07-06T05:32:59Z</dcterms:modified>
  <cp:category/>
</cp:coreProperties>
</file>