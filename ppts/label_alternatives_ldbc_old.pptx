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84"/>
  </p:normalViewPr>
  <p:slideViewPr>
    <p:cSldViewPr snapToGrid="0" snapToObjects="1">
      <p:cViewPr varScale="1">
        <p:scale>
          <a:sx n="151" d="100"/>
          <a:sy n="151" d="100"/>
        </p:scale>
        <p:origin x="200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9E164-64E0-8A4A-B05F-F54B02300C79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6E9FB-C4B3-D14E-B0C0-B1C3D4F4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1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6E9FB-C4B3-D14E-B0C0-B1C3D4F419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5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Alternative 1: Duplicating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060"/>
                </a:solidFill>
                <a:latin typeface="Calibri"/>
              </a:defRPr>
            </a:pPr>
            <a:r>
              <a:t>Separate B-tree per vertex label. Cross-label edges require random lookups into the other table.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319253-E78C-71A2-209C-F350DF3CFDC8}"/>
              </a:ext>
            </a:extLst>
          </p:cNvPr>
          <p:cNvGrpSpPr/>
          <p:nvPr/>
        </p:nvGrpSpPr>
        <p:grpSpPr>
          <a:xfrm>
            <a:off x="365760" y="777240"/>
            <a:ext cx="7772400" cy="2960370"/>
            <a:chOff x="365760" y="777240"/>
            <a:chExt cx="7772400" cy="2960370"/>
          </a:xfrm>
        </p:grpSpPr>
        <p:sp>
          <p:nvSpPr>
            <p:cNvPr id="4" name="TextBox 3"/>
            <p:cNvSpPr txBox="1"/>
            <p:nvPr/>
          </p:nvSpPr>
          <p:spPr>
            <a:xfrm>
              <a:off x="365760" y="777240"/>
              <a:ext cx="2834640" cy="27432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000000"/>
                  </a:solidFill>
                  <a:latin typeface="Calibri"/>
                </a:defRPr>
              </a:pPr>
              <a:r>
                <a:rPr lang="en-CA" sz="1400" dirty="0"/>
                <a:t>Table: P</a:t>
              </a:r>
              <a:r>
                <a:rPr sz="1400" dirty="0" err="1"/>
                <a:t>ost</a:t>
              </a:r>
              <a:endParaRPr sz="14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5760" y="1097280"/>
              <a:ext cx="82296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src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97280" y="1097280"/>
              <a:ext cx="100584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dst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011680" y="1097280"/>
              <a:ext cx="118872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 dirty="0" err="1"/>
                <a:t>edge_label</a:t>
              </a:r>
              <a:endParaRPr sz="1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65760" y="1417320"/>
              <a:ext cx="73152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97280" y="1417320"/>
              <a:ext cx="91440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11680" y="1417320"/>
              <a:ext cx="118872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760" y="1737360"/>
              <a:ext cx="73152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97280" y="1737360"/>
              <a:ext cx="91440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11680" y="1737360"/>
              <a:ext cx="118872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hasCreator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5760" y="2057400"/>
              <a:ext cx="731520" cy="320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97280" y="2057400"/>
              <a:ext cx="914400" cy="320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Tag 5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011680" y="2057400"/>
              <a:ext cx="1188720" cy="3200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hasTag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5760" y="2377440"/>
              <a:ext cx="73152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97280" y="2377440"/>
              <a:ext cx="91440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11680" y="2377440"/>
              <a:ext cx="1188720" cy="320040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65760" y="2697480"/>
              <a:ext cx="73152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7280" y="2697480"/>
              <a:ext cx="91440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11680" y="2697480"/>
              <a:ext cx="1188720" cy="32004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hasCreator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303520" y="777240"/>
              <a:ext cx="2834640" cy="27432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000000"/>
                  </a:solidFill>
                  <a:latin typeface="Calibri"/>
                </a:defRPr>
              </a:pPr>
              <a:r>
                <a:rPr lang="en-CA" dirty="0"/>
                <a:t>Table: </a:t>
              </a:r>
              <a:r>
                <a:rPr sz="1400" dirty="0"/>
                <a:t>Person</a:t>
              </a:r>
              <a:endParaRPr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303520" y="1097280"/>
              <a:ext cx="91440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src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217920" y="1097280"/>
              <a:ext cx="91440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dst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1097280"/>
              <a:ext cx="1005840" cy="320040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edge_label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03520" y="1417320"/>
              <a:ext cx="91440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17920" y="1417320"/>
              <a:ext cx="91440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132320" y="1417320"/>
              <a:ext cx="100584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03520" y="173736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17920" y="173736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132320" y="1737360"/>
              <a:ext cx="100584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knows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303520" y="205740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17920" y="205740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 12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132320" y="2057400"/>
              <a:ext cx="100584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knows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303520" y="2377440"/>
              <a:ext cx="91440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11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17920" y="2377440"/>
              <a:ext cx="91440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132320" y="2377440"/>
              <a:ext cx="1005840" cy="320040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03520" y="269748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 11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217920" y="2697480"/>
              <a:ext cx="91440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132320" y="2697480"/>
              <a:ext cx="1005840" cy="3200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knows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 rot="21051676">
              <a:off x="3293188" y="1584384"/>
              <a:ext cx="18288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1">
                  <a:solidFill>
                    <a:srgbClr val="E86060"/>
                  </a:solidFill>
                  <a:latin typeface="Calibri"/>
                </a:defRPr>
              </a:pPr>
              <a:r>
                <a:rPr sz="1400" dirty="0"/>
                <a:t>random lookup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 flipV="1">
              <a:off x="3200400" y="1680210"/>
              <a:ext cx="2103120" cy="320040"/>
            </a:xfrm>
            <a:prstGeom prst="line">
              <a:avLst/>
            </a:prstGeom>
            <a:ln w="25400">
              <a:solidFill>
                <a:srgbClr val="E86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 rot="21068796">
              <a:off x="3285143" y="2457449"/>
              <a:ext cx="18288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1">
                  <a:solidFill>
                    <a:srgbClr val="E86060"/>
                  </a:solidFill>
                  <a:latin typeface="Calibri"/>
                </a:defRPr>
              </a:pPr>
              <a:r>
                <a:rPr sz="1400" dirty="0"/>
                <a:t>random</a:t>
              </a:r>
              <a:r>
                <a:rPr dirty="0"/>
                <a:t> </a:t>
              </a:r>
              <a:r>
                <a:rPr sz="1400" dirty="0"/>
                <a:t>lookup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 flipV="1">
              <a:off x="3200400" y="2537460"/>
              <a:ext cx="2103120" cy="320040"/>
            </a:xfrm>
            <a:prstGeom prst="line">
              <a:avLst/>
            </a:prstGeom>
            <a:ln w="25400">
              <a:solidFill>
                <a:srgbClr val="E86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1600200" y="3509010"/>
              <a:ext cx="274320" cy="2286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0">
                  <a:solidFill>
                    <a:srgbClr val="000000"/>
                  </a:solidFill>
                  <a:latin typeface="Calibri"/>
                </a:defRPr>
              </a:pPr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920239" y="3394710"/>
              <a:ext cx="22860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Cross-label edge (requires random lookup)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800600" y="3509010"/>
              <a:ext cx="274320" cy="2286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0">
                  <a:solidFill>
                    <a:srgbClr val="000000"/>
                  </a:solidFill>
                  <a:latin typeface="Calibri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20640" y="3394710"/>
              <a:ext cx="22860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Same-label edge (sequential, no cross-table hop)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Alternative 2 (EdgeKey): Embedding a Type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060"/>
                </a:solidFill>
                <a:latin typeface="Calibri"/>
              </a:defRPr>
            </a:pPr>
            <a:r>
              <a:t>Single B-tree, all vertex types. Each edge carries a type attribute. Filtering by destination type requires scanning all entries.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2ECE00A-7EEE-95B0-F746-2CEF61458875}"/>
              </a:ext>
            </a:extLst>
          </p:cNvPr>
          <p:cNvGrpSpPr/>
          <p:nvPr/>
        </p:nvGrpSpPr>
        <p:grpSpPr>
          <a:xfrm>
            <a:off x="914400" y="1097280"/>
            <a:ext cx="6446520" cy="3703320"/>
            <a:chOff x="914400" y="1097280"/>
            <a:chExt cx="6446520" cy="3703320"/>
          </a:xfrm>
        </p:grpSpPr>
        <p:sp>
          <p:nvSpPr>
            <p:cNvPr id="4" name="Rectangle 3"/>
            <p:cNvSpPr/>
            <p:nvPr/>
          </p:nvSpPr>
          <p:spPr>
            <a:xfrm>
              <a:off x="914400" y="1097280"/>
              <a:ext cx="1005840" cy="301752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src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920240" y="1097280"/>
              <a:ext cx="1076960" cy="301752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dst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997200" y="1097280"/>
              <a:ext cx="843280" cy="301752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src_type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840480" y="1097280"/>
              <a:ext cx="1005840" cy="301752"/>
            </a:xfrm>
            <a:prstGeom prst="rect">
              <a:avLst/>
            </a:prstGeom>
            <a:solidFill>
              <a:srgbClr val="4A6FA5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dst_type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14400" y="1399032"/>
              <a:ext cx="100584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20240" y="1399032"/>
              <a:ext cx="107696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97200" y="1399032"/>
              <a:ext cx="84328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40480" y="1399032"/>
              <a:ext cx="100584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4400" y="1700784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20240" y="1700784"/>
              <a:ext cx="107696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 11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97200" y="1700784"/>
              <a:ext cx="84328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840480" y="1700784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4400" y="2002536"/>
              <a:ext cx="100584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20240" y="2002536"/>
              <a:ext cx="107696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5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97200" y="2002536"/>
              <a:ext cx="84328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40480" y="2002536"/>
              <a:ext cx="100584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14400" y="2304288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20240" y="2304288"/>
              <a:ext cx="107696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12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997200" y="2304288"/>
              <a:ext cx="84328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40480" y="2304288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14400" y="2606040"/>
              <a:ext cx="100584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20240" y="2606040"/>
              <a:ext cx="107696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Comment 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997200" y="2606040"/>
              <a:ext cx="84328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40480" y="2606040"/>
              <a:ext cx="1005840" cy="30175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Comment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14400" y="2907792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920240" y="2907792"/>
              <a:ext cx="107696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97200" y="2907792"/>
              <a:ext cx="84328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840480" y="2907792"/>
              <a:ext cx="1005840" cy="3017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14400" y="3209544"/>
              <a:ext cx="100584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920240" y="3209544"/>
              <a:ext cx="107696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997200" y="3209544"/>
              <a:ext cx="84328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40480" y="3209544"/>
              <a:ext cx="1005840" cy="301752"/>
            </a:xfrm>
            <a:prstGeom prst="rect">
              <a:avLst/>
            </a:prstGeom>
            <a:solidFill>
              <a:srgbClr val="FDE8A0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14400" y="3511296"/>
              <a:ext cx="1005840" cy="301752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5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20240" y="3511296"/>
              <a:ext cx="1076960" cy="301752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—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97200" y="3511296"/>
              <a:ext cx="843280" cy="301752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840480" y="3511296"/>
              <a:ext cx="1005840" cy="301752"/>
            </a:xfrm>
            <a:prstGeom prst="rect">
              <a:avLst/>
            </a:prstGeom>
            <a:solidFill>
              <a:srgbClr val="F4B883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(sentinel)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14400" y="3813048"/>
              <a:ext cx="1005840" cy="301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5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920240" y="3813048"/>
              <a:ext cx="1005840" cy="301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926080" y="3813048"/>
              <a:ext cx="914400" cy="301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40480" y="3813048"/>
              <a:ext cx="1005840" cy="3017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074920" y="1159679"/>
              <a:ext cx="2286000" cy="27432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Query: find all knows edges</a:t>
              </a:r>
              <a:r>
                <a:rPr lang="en-CA" sz="1400" dirty="0"/>
                <a:t> for Person 10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200" y="1732788"/>
              <a:ext cx="1828800" cy="3017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BB86B"/>
                  </a:solidFill>
                  <a:latin typeface="Calibri"/>
                </a:defRPr>
              </a:pPr>
              <a:r>
                <a:rPr sz="1400" dirty="0"/>
                <a:t>✓ knows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200" y="2002536"/>
              <a:ext cx="1828800" cy="3017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E86060"/>
                  </a:solidFill>
                  <a:latin typeface="Calibri"/>
                </a:defRPr>
              </a:pPr>
              <a:r>
                <a:rPr lang="en-CA" sz="1400" dirty="0"/>
                <a:t>✗</a:t>
              </a:r>
              <a:r>
                <a:rPr sz="1400" dirty="0"/>
                <a:t> skip (likes)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200" y="2304288"/>
              <a:ext cx="1828800" cy="3017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BB86B"/>
                  </a:solidFill>
                  <a:latin typeface="Calibri"/>
                </a:defRPr>
              </a:pPr>
              <a:r>
                <a:rPr sz="1400"/>
                <a:t>✓ knows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200" y="2606040"/>
              <a:ext cx="1828800" cy="3017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E86060"/>
                  </a:solidFill>
                  <a:latin typeface="Calibri"/>
                </a:defRPr>
              </a:pPr>
              <a:r>
                <a:rPr sz="1400" dirty="0"/>
                <a:t>✗ skip (likes)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29200" y="2907792"/>
              <a:ext cx="1828800" cy="301752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6BB86B"/>
                  </a:solidFill>
                  <a:latin typeface="Calibri"/>
                </a:defRPr>
              </a:pPr>
              <a:r>
                <a:rPr sz="1400"/>
                <a:t>✓ knows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14400" y="4572000"/>
              <a:ext cx="274320" cy="2286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0">
                  <a:solidFill>
                    <a:srgbClr val="000000"/>
                  </a:solidFill>
                  <a:latin typeface="Calibri"/>
                </a:defRPr>
              </a:pPr>
              <a:endParaRPr sz="1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234439" y="4457700"/>
              <a:ext cx="18288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Matching type (knows)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657600" y="4572000"/>
              <a:ext cx="274320" cy="2286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0">
                  <a:solidFill>
                    <a:srgbClr val="000000"/>
                  </a:solidFill>
                  <a:latin typeface="Calibri"/>
                </a:defRPr>
              </a:pPr>
              <a:endParaRPr sz="1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931920" y="4457700"/>
              <a:ext cx="22860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Non-matching type (must scan &amp; skip)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3041AB9-5C62-C8DC-D06E-4E92178CA7E3}"/>
                </a:ext>
              </a:extLst>
            </p:cNvPr>
            <p:cNvCxnSpPr>
              <a:cxnSpLocks/>
            </p:cNvCxnSpPr>
            <p:nvPr/>
          </p:nvCxnSpPr>
          <p:spPr>
            <a:xfrm>
              <a:off x="4950791" y="1515279"/>
              <a:ext cx="0" cy="1913721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Alternative 2 (Adjacency List): Embedding a Type 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060"/>
                </a:solidFill>
                <a:latin typeface="Calibri"/>
              </a:defRPr>
            </a:pPr>
            <a:r>
              <a:t>Single adjacency list table. Neighbor array packs all edge types together; filtering by type requires iterating every entry.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B48D18-7C4D-B7E6-4F06-F844119DF5A9}"/>
              </a:ext>
            </a:extLst>
          </p:cNvPr>
          <p:cNvGrpSpPr/>
          <p:nvPr/>
        </p:nvGrpSpPr>
        <p:grpSpPr>
          <a:xfrm>
            <a:off x="457200" y="1129284"/>
            <a:ext cx="7030904" cy="2056767"/>
            <a:chOff x="457200" y="1129284"/>
            <a:chExt cx="7030904" cy="2056767"/>
          </a:xfrm>
        </p:grpSpPr>
        <p:sp>
          <p:nvSpPr>
            <p:cNvPr id="6" name="Rectangle 5"/>
            <p:cNvSpPr/>
            <p:nvPr/>
          </p:nvSpPr>
          <p:spPr>
            <a:xfrm>
              <a:off x="457200" y="1600200"/>
              <a:ext cx="1097280" cy="457200"/>
            </a:xfrm>
            <a:prstGeom prst="rect">
              <a:avLst/>
            </a:prstGeom>
            <a:solidFill>
              <a:srgbClr val="FDE8A0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554480" y="1600200"/>
              <a:ext cx="1188720" cy="457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11</a:t>
              </a:r>
            </a:p>
            <a:p>
              <a:pPr algn="ctr">
                <a:defRPr sz="700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(knows)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740706" y="1600200"/>
              <a:ext cx="1188720" cy="4572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Post 5</a:t>
              </a:r>
            </a:p>
            <a:p>
              <a:pPr algn="ctr">
                <a:defRPr sz="70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(likes)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29426" y="1600200"/>
              <a:ext cx="1186226" cy="457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 12</a:t>
              </a:r>
            </a:p>
            <a:p>
              <a:pPr algn="ctr">
                <a:defRPr sz="70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(knows)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15652" y="1600200"/>
              <a:ext cx="1186226" cy="4572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Comment 3</a:t>
              </a:r>
            </a:p>
            <a:p>
              <a:pPr algn="ctr">
                <a:defRPr sz="70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(likes)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301878" y="1600200"/>
              <a:ext cx="1186226" cy="457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8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Person 14</a:t>
              </a:r>
            </a:p>
            <a:p>
              <a:pPr algn="ctr">
                <a:defRPr sz="70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(knows)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7200" y="2176272"/>
              <a:ext cx="1097280" cy="457200"/>
            </a:xfrm>
            <a:prstGeom prst="rect">
              <a:avLst/>
            </a:prstGeom>
            <a:solidFill>
              <a:srgbClr val="F4B883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Post </a:t>
              </a:r>
              <a:r>
                <a:rPr lang="en-CA" sz="1400" dirty="0"/>
                <a:t>11</a:t>
              </a:r>
              <a:endParaRPr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54480" y="2173986"/>
              <a:ext cx="1188720" cy="457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400" dirty="0">
                  <a:solidFill>
                    <a:srgbClr val="000000"/>
                  </a:solidFill>
                  <a:latin typeface="Calibri"/>
                </a:rPr>
                <a:t>Person 10</a:t>
              </a:r>
            </a:p>
            <a:p>
              <a:pPr algn="ctr"/>
              <a:r>
                <a:rPr sz="1400" dirty="0">
                  <a:solidFill>
                    <a:srgbClr val="000000"/>
                  </a:solidFill>
                  <a:latin typeface="Calibri"/>
                </a:rPr>
                <a:t>(</a:t>
              </a:r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knows</a:t>
              </a:r>
              <a:r>
                <a:rPr sz="1400" dirty="0">
                  <a:solidFill>
                    <a:srgbClr val="000000"/>
                  </a:solidFill>
                  <a:latin typeface="Calibri"/>
                </a:rPr>
                <a:t>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743200" y="2171700"/>
              <a:ext cx="1188720" cy="4572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Post</a:t>
              </a:r>
              <a:r>
                <a:rPr sz="1400" dirty="0">
                  <a:solidFill>
                    <a:srgbClr val="000000"/>
                  </a:solidFill>
                  <a:latin typeface="Calibri"/>
                </a:rPr>
                <a:t> 7</a:t>
              </a:r>
            </a:p>
            <a:p>
              <a:pPr algn="ctr"/>
              <a:r>
                <a:rPr sz="1400" dirty="0">
                  <a:solidFill>
                    <a:srgbClr val="000000"/>
                  </a:solidFill>
                  <a:latin typeface="Calibri"/>
                </a:rPr>
                <a:t>(</a:t>
              </a:r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likes</a:t>
              </a:r>
              <a:r>
                <a:rPr sz="1400" dirty="0">
                  <a:solidFill>
                    <a:srgbClr val="000000"/>
                  </a:solidFill>
                  <a:latin typeface="Calibri"/>
                </a:rPr>
                <a:t>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931920" y="2169414"/>
              <a:ext cx="1188720" cy="45720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Post</a:t>
              </a:r>
              <a:r>
                <a:rPr sz="1400" dirty="0">
                  <a:solidFill>
                    <a:srgbClr val="000000"/>
                  </a:solidFill>
                  <a:latin typeface="Calibri"/>
                </a:rPr>
                <a:t> 1</a:t>
              </a:r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Calibri"/>
              </a:endParaRPr>
            </a:p>
            <a:p>
              <a:pPr algn="ctr"/>
              <a:r>
                <a:rPr sz="1400" dirty="0">
                  <a:solidFill>
                    <a:srgbClr val="000000"/>
                  </a:solidFill>
                  <a:latin typeface="Calibri"/>
                </a:rPr>
                <a:t>(</a:t>
              </a:r>
              <a:r>
                <a:rPr lang="en-CA" sz="1400" dirty="0">
                  <a:solidFill>
                    <a:srgbClr val="000000"/>
                  </a:solidFill>
                  <a:latin typeface="Calibri"/>
                </a:rPr>
                <a:t>likes</a:t>
              </a:r>
              <a:r>
                <a:rPr sz="1400" dirty="0">
                  <a:solidFill>
                    <a:srgbClr val="000000"/>
                  </a:solidFill>
                  <a:latin typeface="Calibri"/>
                </a:rPr>
                <a:t>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05787" y="1129284"/>
              <a:ext cx="5289204" cy="27432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E86060"/>
                  </a:solidFill>
                  <a:latin typeface="Calibri"/>
                </a:defRPr>
              </a:pPr>
              <a:r>
                <a:rPr sz="1400" dirty="0"/>
                <a:t>Must iterate every entry and check type tag to find only knows edges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A8545A1-2C45-26D1-EBB9-B018672520B1}"/>
                </a:ext>
              </a:extLst>
            </p:cNvPr>
            <p:cNvCxnSpPr>
              <a:cxnSpLocks/>
            </p:cNvCxnSpPr>
            <p:nvPr/>
          </p:nvCxnSpPr>
          <p:spPr>
            <a:xfrm>
              <a:off x="1605787" y="1403604"/>
              <a:ext cx="5379213" cy="27263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C3677504-33CD-42F4-BEC6-98483D3E45B9}"/>
                </a:ext>
              </a:extLst>
            </p:cNvPr>
            <p:cNvSpPr/>
            <p:nvPr/>
          </p:nvSpPr>
          <p:spPr>
            <a:xfrm rot="5400000">
              <a:off x="931588" y="2273384"/>
              <a:ext cx="148503" cy="109728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198066-6F0A-1C95-7A25-FEF3A818C830}"/>
                </a:ext>
              </a:extLst>
            </p:cNvPr>
            <p:cNvSpPr txBox="1"/>
            <p:nvPr/>
          </p:nvSpPr>
          <p:spPr>
            <a:xfrm>
              <a:off x="808252" y="2909052"/>
              <a:ext cx="3951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key</a:t>
              </a:r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65781ED5-BA36-7514-BCD9-1421707DF45E}"/>
                </a:ext>
              </a:extLst>
            </p:cNvPr>
            <p:cNvSpPr/>
            <p:nvPr/>
          </p:nvSpPr>
          <p:spPr>
            <a:xfrm rot="5400000">
              <a:off x="4463512" y="-115539"/>
              <a:ext cx="161279" cy="588790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FCC566-4DF6-79E1-E0ED-220C47D390B3}"/>
                </a:ext>
              </a:extLst>
            </p:cNvPr>
            <p:cNvSpPr txBox="1"/>
            <p:nvPr/>
          </p:nvSpPr>
          <p:spPr>
            <a:xfrm>
              <a:off x="4088093" y="2909052"/>
              <a:ext cx="868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value array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Calibri"/>
              </a:defRPr>
            </a:pPr>
            <a:r>
              <a:t>Alternative 3: Vertex Re-labelling (ID-Space Partitioning)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060"/>
                </a:solidFill>
                <a:latin typeface="Calibri"/>
              </a:defRPr>
            </a:pPr>
            <a:r>
              <a:t>Partition the vertex ID space by label. Sequential access within a type, but range boundaries are fixed at load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rPr sz="140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rPr dirty="0"/>
              <a:t>ID Mapping Example (bidirectional mapping table required)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06CE7F-FB25-0CD6-6B8D-E1C74198109B}"/>
              </a:ext>
            </a:extLst>
          </p:cNvPr>
          <p:cNvGrpSpPr/>
          <p:nvPr/>
        </p:nvGrpSpPr>
        <p:grpSpPr>
          <a:xfrm>
            <a:off x="548640" y="1463040"/>
            <a:ext cx="7772400" cy="2450592"/>
            <a:chOff x="548640" y="1463040"/>
            <a:chExt cx="7772400" cy="2450592"/>
          </a:xfrm>
        </p:grpSpPr>
        <p:sp>
          <p:nvSpPr>
            <p:cNvPr id="4" name="Rectangle 3"/>
            <p:cNvSpPr/>
            <p:nvPr/>
          </p:nvSpPr>
          <p:spPr>
            <a:xfrm>
              <a:off x="548640" y="1463040"/>
              <a:ext cx="932688" cy="640080"/>
            </a:xfrm>
            <a:prstGeom prst="rect">
              <a:avLst/>
            </a:prstGeom>
            <a:solidFill>
              <a:srgbClr val="FDE8A0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481328" y="1463040"/>
              <a:ext cx="1943100" cy="640080"/>
            </a:xfrm>
            <a:prstGeom prst="rect">
              <a:avLst/>
            </a:prstGeom>
            <a:solidFill>
              <a:srgbClr val="F4B883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24428" y="1463040"/>
              <a:ext cx="3391239" cy="640080"/>
            </a:xfrm>
            <a:prstGeom prst="rect">
              <a:avLst/>
            </a:prstGeom>
            <a:solidFill>
              <a:srgbClr val="A8D8EA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Comment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5667" y="1463040"/>
              <a:ext cx="728133" cy="640080"/>
            </a:xfrm>
            <a:prstGeom prst="rect">
              <a:avLst/>
            </a:prstGeom>
            <a:solidFill>
              <a:srgbClr val="C5E1A5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Forum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543800" y="1463040"/>
              <a:ext cx="777240" cy="640080"/>
            </a:xfrm>
            <a:prstGeom prst="rect">
              <a:avLst/>
            </a:prstGeom>
            <a:solidFill>
              <a:srgbClr val="F0F0F0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...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98448" y="2148840"/>
              <a:ext cx="4572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N₁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41548" y="2148840"/>
              <a:ext cx="4572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N₂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87067" y="2147147"/>
              <a:ext cx="4572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606060"/>
                  </a:solidFill>
                  <a:latin typeface="Calibri"/>
                </a:defRPr>
              </a:pPr>
              <a:r>
                <a:rPr sz="1400" dirty="0"/>
                <a:t>N₃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60920" y="2148840"/>
              <a:ext cx="457200" cy="2286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N₄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0" y="2743200"/>
              <a:ext cx="1645920" cy="292608"/>
            </a:xfrm>
            <a:prstGeom prst="rect">
              <a:avLst/>
            </a:prstGeom>
            <a:solidFill>
              <a:srgbClr val="4A6FA5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/>
                <a:t>LDBC CSV ID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17520" y="2743200"/>
              <a:ext cx="365760" cy="292608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→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83279" y="2743200"/>
              <a:ext cx="2069253" cy="292608"/>
            </a:xfrm>
            <a:prstGeom prst="rect">
              <a:avLst/>
            </a:prstGeom>
            <a:solidFill>
              <a:srgbClr val="4A6FA5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1">
                  <a:solidFill>
                    <a:srgbClr val="FFFFFF"/>
                  </a:solidFill>
                  <a:latin typeface="Calibri"/>
                </a:defRPr>
              </a:pPr>
              <a:r>
                <a:rPr sz="1400" dirty="0"/>
                <a:t>Re-mapped Internal ID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71600" y="3035808"/>
              <a:ext cx="1645920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Person CSV ID 42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3035808"/>
              <a:ext cx="365760" cy="292608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→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83280" y="3035808"/>
              <a:ext cx="2069252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 dirty="0"/>
                <a:t>Internal ID 42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71600" y="3328416"/>
              <a:ext cx="1645920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Post CSV ID 42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17520" y="3328416"/>
              <a:ext cx="365760" cy="292608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→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83280" y="3328416"/>
              <a:ext cx="2069252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Internal ID N₁ + 42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71600" y="3621024"/>
              <a:ext cx="1645920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Comment CSV ID 42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17520" y="3621024"/>
              <a:ext cx="365760" cy="292608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00" b="1">
                  <a:solidFill>
                    <a:srgbClr val="606060"/>
                  </a:solidFill>
                  <a:latin typeface="Calibri"/>
                </a:defRPr>
              </a:pPr>
              <a:r>
                <a:rPr sz="1400"/>
                <a:t>→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83280" y="3621024"/>
              <a:ext cx="2069252" cy="2926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4040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000000"/>
                  </a:solidFill>
                  <a:latin typeface="Calibri"/>
                </a:defRPr>
              </a:pPr>
              <a:r>
                <a:rPr sz="1400"/>
                <a:t>Internal ID N₂ + 42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57200" y="4434840"/>
            <a:ext cx="32415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B86B"/>
                </a:solidFill>
                <a:latin typeface="Calibri"/>
              </a:defRPr>
            </a:pPr>
            <a:r>
              <a:rPr sz="1400" dirty="0"/>
              <a:t>✓  Sequential access within a label (simple range bound)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34840"/>
            <a:ext cx="369146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86060"/>
                </a:solidFill>
                <a:latin typeface="Calibri"/>
              </a:defRPr>
            </a:pPr>
            <a:r>
              <a:rPr sz="1400" dirty="0"/>
              <a:t>✗  Boundaries depend on vertex counts at load time; exhaustion requires re-partitioning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456</Words>
  <Application>Microsoft Macintosh PowerPoint</Application>
  <PresentationFormat>On-screen Show (16:9)</PresentationFormat>
  <Paragraphs>145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puneet89@student.ubc.ca</cp:lastModifiedBy>
  <cp:revision>4</cp:revision>
  <dcterms:created xsi:type="dcterms:W3CDTF">2013-01-27T09:14:16Z</dcterms:created>
  <dcterms:modified xsi:type="dcterms:W3CDTF">2026-09-01T07:52:32Z</dcterms:modified>
  <cp:category/>
</cp:coreProperties>
</file>