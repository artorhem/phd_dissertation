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61" r:id="rId4"/>
    <p:sldId id="267" r:id="rId5"/>
    <p:sldId id="260" r:id="rId6"/>
    <p:sldId id="264" r:id="rId7"/>
    <p:sldId id="262" r:id="rId8"/>
    <p:sldId id="266" r:id="rId9"/>
    <p:sldId id="268" r:id="rId10"/>
    <p:sldId id="269" r:id="rId11"/>
    <p:sldId id="273" r:id="rId12"/>
    <p:sldId id="274" r:id="rId13"/>
    <p:sldId id="270" r:id="rId14"/>
    <p:sldId id="275" r:id="rId15"/>
    <p:sldId id="271" r:id="rId16"/>
    <p:sldId id="276" r:id="rId17"/>
    <p:sldId id="277" r:id="rId18"/>
    <p:sldId id="258" r:id="rId19"/>
    <p:sldId id="278" r:id="rId20"/>
    <p:sldId id="279" r:id="rId21"/>
    <p:sldId id="280" r:id="rId22"/>
    <p:sldId id="282" r:id="rId23"/>
    <p:sldId id="283" r:id="rId24"/>
    <p:sldId id="284" r:id="rId25"/>
    <p:sldId id="285" r:id="rId26"/>
    <p:sldId id="286" r:id="rId27"/>
    <p:sldId id="289" r:id="rId28"/>
    <p:sldId id="290" r:id="rId29"/>
    <p:sldId id="291" r:id="rId30"/>
    <p:sldId id="287" r:id="rId31"/>
    <p:sldId id="293" r:id="rId32"/>
    <p:sldId id="259" r:id="rId33"/>
    <p:sldId id="294" r:id="rId34"/>
    <p:sldId id="28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74E016-4AF2-1D48-9480-962C78B8CB44}">
          <p14:sldIdLst>
            <p14:sldId id="256"/>
          </p14:sldIdLst>
        </p14:section>
        <p14:section name="4.1 Goals" id="{50F78F87-493F-9247-AE25-C3E31928BD3B}">
          <p14:sldIdLst>
            <p14:sldId id="257"/>
            <p14:sldId id="261"/>
          </p14:sldIdLst>
        </p14:section>
        <p14:section name="4.2 Running Usecase" id="{F3333B0D-0956-4147-91DF-F22748C5EBB3}">
          <p14:sldIdLst>
            <p14:sldId id="267"/>
            <p14:sldId id="260"/>
            <p14:sldId id="264"/>
            <p14:sldId id="262"/>
            <p14:sldId id="266"/>
          </p14:sldIdLst>
        </p14:section>
        <p14:section name="4.3 Architecture" id="{DAFB428C-53B5-CB48-A37E-5B1BF69B02F8}">
          <p14:sldIdLst>
            <p14:sldId id="268"/>
          </p14:sldIdLst>
        </p14:section>
        <p14:section name="4.3.1 Graph API" id="{167DE2F0-E942-E747-B449-59A3880132E1}">
          <p14:sldIdLst>
            <p14:sldId id="269"/>
            <p14:sldId id="273"/>
            <p14:sldId id="274"/>
          </p14:sldIdLst>
        </p14:section>
        <p14:section name="4.3.2 Framework" id="{A7730D76-A2DE-F44B-97F4-8E763FBF8084}">
          <p14:sldIdLst>
            <p14:sldId id="270"/>
            <p14:sldId id="275"/>
          </p14:sldIdLst>
        </p14:section>
        <p14:section name="4.3.3 Graph Representations" id="{9714976B-E4BF-0945-987B-2B267C4A3C21}">
          <p14:sldIdLst>
            <p14:sldId id="271"/>
            <p14:sldId id="276"/>
          </p14:sldIdLst>
        </p14:section>
        <p14:section name="4.4 Implementation" id="{74301F57-91CA-9D4E-BAFE-86BF95EE2D33}">
          <p14:sldIdLst>
            <p14:sldId id="277"/>
            <p14:sldId id="258"/>
          </p14:sldIdLst>
        </p14:section>
        <p14:section name="4.4.1 WiredTiger" id="{E5537E9A-C69C-2D4B-88F2-7718B45FBF5F}">
          <p14:sldIdLst>
            <p14:sldId id="278"/>
            <p14:sldId id="279"/>
            <p14:sldId id="280"/>
            <p14:sldId id="282"/>
          </p14:sldIdLst>
        </p14:section>
        <p14:section name="4.4.2 Overview of an Application" id="{418654AC-0360-5B47-8E95-6F60693E473B}">
          <p14:sldIdLst>
            <p14:sldId id="283"/>
            <p14:sldId id="284"/>
            <p14:sldId id="285"/>
          </p14:sldIdLst>
        </p14:section>
        <p14:section name="4.4.3 Representations" id="{866A3314-BF03-2E42-8B84-1AB6ABAE9C3E}">
          <p14:sldIdLst>
            <p14:sldId id="286"/>
            <p14:sldId id="289"/>
            <p14:sldId id="290"/>
            <p14:sldId id="291"/>
          </p14:sldIdLst>
        </p14:section>
        <p14:section name="4.4.4 Iterators" id="{65C743E6-5DC6-0141-83B9-B4C7F41887C0}">
          <p14:sldIdLst>
            <p14:sldId id="287"/>
            <p14:sldId id="293"/>
          </p14:sldIdLst>
        </p14:section>
        <p14:section name="4.5 Transient Attributes" id="{083DDD2B-D5B4-9C48-8753-E9C11FD42CF5}">
          <p14:sldIdLst>
            <p14:sldId id="259"/>
            <p14:sldId id="294"/>
          </p14:sldIdLst>
        </p14:section>
        <p14:section name="4.5 Bulkload" id="{3AF32C6A-4AED-784D-8CB1-4AC4A7B8CDB3}">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CEA"/>
    <a:srgbClr val="7CA0CB"/>
    <a:srgbClr val="E2C0B3"/>
    <a:srgbClr val="E57A77"/>
    <a:srgbClr val="FFFF99"/>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087"/>
    <p:restoredTop sz="83183"/>
  </p:normalViewPr>
  <p:slideViewPr>
    <p:cSldViewPr snapToGrid="0">
      <p:cViewPr varScale="1">
        <p:scale>
          <a:sx n="96" d="100"/>
          <a:sy n="96" d="100"/>
        </p:scale>
        <p:origin x="192" y="2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C121A3-8018-E444-850E-76E741014697}" type="doc">
      <dgm:prSet loTypeId="urn:microsoft.com/office/officeart/2005/8/layout/gear1" loCatId="" qsTypeId="urn:microsoft.com/office/officeart/2005/8/quickstyle/simple1" qsCatId="simple" csTypeId="urn:microsoft.com/office/officeart/2005/8/colors/accent1_2" csCatId="accent1" phldr="1"/>
      <dgm:spPr/>
    </dgm:pt>
    <dgm:pt modelId="{6286E2DF-366F-C544-A6D8-995C6FA73EDB}">
      <dgm:prSet phldrT="[Text]"/>
      <dgm:spPr/>
      <dgm:t>
        <a:bodyPr/>
        <a:lstStyle/>
        <a:p>
          <a:r>
            <a:rPr lang="en-US" dirty="0"/>
            <a:t>Graph Representations</a:t>
          </a:r>
        </a:p>
      </dgm:t>
    </dgm:pt>
    <dgm:pt modelId="{DAFA3494-40F0-184F-B0E7-211BD192EC83}" type="parTrans" cxnId="{1F450595-5D52-A944-8016-036CC006CF68}">
      <dgm:prSet/>
      <dgm:spPr/>
      <dgm:t>
        <a:bodyPr/>
        <a:lstStyle/>
        <a:p>
          <a:endParaRPr lang="en-US"/>
        </a:p>
      </dgm:t>
    </dgm:pt>
    <dgm:pt modelId="{861CC76A-E728-7E49-9ABA-EB6F311EC52B}" type="sibTrans" cxnId="{1F450595-5D52-A944-8016-036CC006CF68}">
      <dgm:prSet/>
      <dgm:spPr/>
      <dgm:t>
        <a:bodyPr/>
        <a:lstStyle/>
        <a:p>
          <a:endParaRPr lang="en-US"/>
        </a:p>
      </dgm:t>
    </dgm:pt>
    <dgm:pt modelId="{AA3612A0-F581-5742-BBC5-06647B41EF76}">
      <dgm:prSet phldrT="[Text]"/>
      <dgm:spPr/>
      <dgm:t>
        <a:bodyPr/>
        <a:lstStyle/>
        <a:p>
          <a:r>
            <a:rPr lang="en-US" dirty="0"/>
            <a:t>API for Graph Access</a:t>
          </a:r>
        </a:p>
      </dgm:t>
    </dgm:pt>
    <dgm:pt modelId="{0147797C-C3AE-A944-ADB4-1DC60C7E8CBC}" type="parTrans" cxnId="{309618E9-A636-1E47-932B-FFCCFCE99ACD}">
      <dgm:prSet/>
      <dgm:spPr/>
      <dgm:t>
        <a:bodyPr/>
        <a:lstStyle/>
        <a:p>
          <a:endParaRPr lang="en-US"/>
        </a:p>
      </dgm:t>
    </dgm:pt>
    <dgm:pt modelId="{F632874D-2D75-B244-85A9-85A7B445BDC7}" type="sibTrans" cxnId="{309618E9-A636-1E47-932B-FFCCFCE99ACD}">
      <dgm:prSet/>
      <dgm:spPr/>
      <dgm:t>
        <a:bodyPr/>
        <a:lstStyle/>
        <a:p>
          <a:endParaRPr lang="en-US"/>
        </a:p>
      </dgm:t>
    </dgm:pt>
    <dgm:pt modelId="{5C2725F9-4565-2E41-9A8A-D3C36C8DD72A}">
      <dgm:prSet phldrT="[Text]"/>
      <dgm:spPr/>
      <dgm:t>
        <a:bodyPr/>
        <a:lstStyle/>
        <a:p>
          <a:r>
            <a:rPr lang="en-US" dirty="0"/>
            <a:t>Framework for Efficient Scans</a:t>
          </a:r>
        </a:p>
      </dgm:t>
    </dgm:pt>
    <dgm:pt modelId="{4B6986A3-E9F1-5444-A7A6-E68019625441}" type="parTrans" cxnId="{FB5E8C97-1F0A-DE45-B3B2-BCA37CFF7757}">
      <dgm:prSet/>
      <dgm:spPr/>
      <dgm:t>
        <a:bodyPr/>
        <a:lstStyle/>
        <a:p>
          <a:endParaRPr lang="en-US"/>
        </a:p>
      </dgm:t>
    </dgm:pt>
    <dgm:pt modelId="{988D4DEF-2263-FC42-91D3-763B04C11655}" type="sibTrans" cxnId="{FB5E8C97-1F0A-DE45-B3B2-BCA37CFF7757}">
      <dgm:prSet/>
      <dgm:spPr/>
      <dgm:t>
        <a:bodyPr/>
        <a:lstStyle/>
        <a:p>
          <a:endParaRPr lang="en-US"/>
        </a:p>
      </dgm:t>
    </dgm:pt>
    <dgm:pt modelId="{9496E976-EAED-5744-8F1D-6C5E8E05EBD0}" type="pres">
      <dgm:prSet presAssocID="{91C121A3-8018-E444-850E-76E741014697}" presName="composite" presStyleCnt="0">
        <dgm:presLayoutVars>
          <dgm:chMax val="3"/>
          <dgm:animLvl val="lvl"/>
          <dgm:resizeHandles val="exact"/>
        </dgm:presLayoutVars>
      </dgm:prSet>
      <dgm:spPr/>
    </dgm:pt>
    <dgm:pt modelId="{2D1EA367-4433-3E42-B09F-88A33496AB14}" type="pres">
      <dgm:prSet presAssocID="{6286E2DF-366F-C544-A6D8-995C6FA73EDB}" presName="gear1" presStyleLbl="node1" presStyleIdx="0" presStyleCnt="3" custScaleX="90325" custScaleY="91133">
        <dgm:presLayoutVars>
          <dgm:chMax val="1"/>
          <dgm:bulletEnabled val="1"/>
        </dgm:presLayoutVars>
      </dgm:prSet>
      <dgm:spPr/>
    </dgm:pt>
    <dgm:pt modelId="{DCDF004C-5E7E-CF43-BF77-5060F09D480F}" type="pres">
      <dgm:prSet presAssocID="{6286E2DF-366F-C544-A6D8-995C6FA73EDB}" presName="gear1srcNode" presStyleLbl="node1" presStyleIdx="0" presStyleCnt="3"/>
      <dgm:spPr/>
    </dgm:pt>
    <dgm:pt modelId="{9F3B85F9-2E71-004C-8C74-410A46A44A32}" type="pres">
      <dgm:prSet presAssocID="{6286E2DF-366F-C544-A6D8-995C6FA73EDB}" presName="gear1dstNode" presStyleLbl="node1" presStyleIdx="0" presStyleCnt="3"/>
      <dgm:spPr/>
    </dgm:pt>
    <dgm:pt modelId="{5BCA5309-7B5A-FB47-BA6F-D0D2A560B310}" type="pres">
      <dgm:prSet presAssocID="{AA3612A0-F581-5742-BBC5-06647B41EF76}" presName="gear2" presStyleLbl="node1" presStyleIdx="1" presStyleCnt="3">
        <dgm:presLayoutVars>
          <dgm:chMax val="1"/>
          <dgm:bulletEnabled val="1"/>
        </dgm:presLayoutVars>
      </dgm:prSet>
      <dgm:spPr/>
    </dgm:pt>
    <dgm:pt modelId="{E8F44B1B-9678-584B-8233-80B21FF3C2C9}" type="pres">
      <dgm:prSet presAssocID="{AA3612A0-F581-5742-BBC5-06647B41EF76}" presName="gear2srcNode" presStyleLbl="node1" presStyleIdx="1" presStyleCnt="3"/>
      <dgm:spPr/>
    </dgm:pt>
    <dgm:pt modelId="{FC8ACBD5-013E-D048-B2BC-144CA6295EC2}" type="pres">
      <dgm:prSet presAssocID="{AA3612A0-F581-5742-BBC5-06647B41EF76}" presName="gear2dstNode" presStyleLbl="node1" presStyleIdx="1" presStyleCnt="3"/>
      <dgm:spPr/>
    </dgm:pt>
    <dgm:pt modelId="{CE823C61-7543-9D4F-A57E-66AEA53577A3}" type="pres">
      <dgm:prSet presAssocID="{5C2725F9-4565-2E41-9A8A-D3C36C8DD72A}" presName="gear3" presStyleLbl="node1" presStyleIdx="2" presStyleCnt="3"/>
      <dgm:spPr/>
    </dgm:pt>
    <dgm:pt modelId="{8ABFF1F4-B694-2449-BDFC-B87FFA6D62A2}" type="pres">
      <dgm:prSet presAssocID="{5C2725F9-4565-2E41-9A8A-D3C36C8DD72A}" presName="gear3tx" presStyleLbl="node1" presStyleIdx="2" presStyleCnt="3">
        <dgm:presLayoutVars>
          <dgm:chMax val="1"/>
          <dgm:bulletEnabled val="1"/>
        </dgm:presLayoutVars>
      </dgm:prSet>
      <dgm:spPr/>
    </dgm:pt>
    <dgm:pt modelId="{5F4E2773-B2A2-1247-812A-724EA4162D67}" type="pres">
      <dgm:prSet presAssocID="{5C2725F9-4565-2E41-9A8A-D3C36C8DD72A}" presName="gear3srcNode" presStyleLbl="node1" presStyleIdx="2" presStyleCnt="3"/>
      <dgm:spPr/>
    </dgm:pt>
    <dgm:pt modelId="{43FB3831-22E4-1049-9F28-98CCD0BBBA38}" type="pres">
      <dgm:prSet presAssocID="{5C2725F9-4565-2E41-9A8A-D3C36C8DD72A}" presName="gear3dstNode" presStyleLbl="node1" presStyleIdx="2" presStyleCnt="3"/>
      <dgm:spPr/>
    </dgm:pt>
    <dgm:pt modelId="{7BC40CED-6D70-D747-BFAA-D9F7B6B824F2}" type="pres">
      <dgm:prSet presAssocID="{861CC76A-E728-7E49-9ABA-EB6F311EC52B}" presName="connector1" presStyleLbl="sibTrans2D1" presStyleIdx="0" presStyleCnt="3"/>
      <dgm:spPr/>
    </dgm:pt>
    <dgm:pt modelId="{CEF4E4C8-680E-A24C-8BB7-C94412C184C5}" type="pres">
      <dgm:prSet presAssocID="{F632874D-2D75-B244-85A9-85A7B445BDC7}" presName="connector2" presStyleLbl="sibTrans2D1" presStyleIdx="1" presStyleCnt="3"/>
      <dgm:spPr/>
    </dgm:pt>
    <dgm:pt modelId="{66408953-8197-0C46-8AF2-76B389160FA9}" type="pres">
      <dgm:prSet presAssocID="{988D4DEF-2263-FC42-91D3-763B04C11655}" presName="connector3" presStyleLbl="sibTrans2D1" presStyleIdx="2" presStyleCnt="3"/>
      <dgm:spPr/>
    </dgm:pt>
  </dgm:ptLst>
  <dgm:cxnLst>
    <dgm:cxn modelId="{2E91F508-B83F-5749-84D5-F954A65A51A0}" type="presOf" srcId="{6286E2DF-366F-C544-A6D8-995C6FA73EDB}" destId="{DCDF004C-5E7E-CF43-BF77-5060F09D480F}" srcOrd="1" destOrd="0" presId="urn:microsoft.com/office/officeart/2005/8/layout/gear1"/>
    <dgm:cxn modelId="{139EB420-ADB8-0E4D-8FD8-B2C3ECD4DBA3}" type="presOf" srcId="{5C2725F9-4565-2E41-9A8A-D3C36C8DD72A}" destId="{CE823C61-7543-9D4F-A57E-66AEA53577A3}" srcOrd="0" destOrd="0" presId="urn:microsoft.com/office/officeart/2005/8/layout/gear1"/>
    <dgm:cxn modelId="{7FAA8330-7A27-7E42-8CEB-A8BABD525483}" type="presOf" srcId="{5C2725F9-4565-2E41-9A8A-D3C36C8DD72A}" destId="{8ABFF1F4-B694-2449-BDFC-B87FFA6D62A2}" srcOrd="1" destOrd="0" presId="urn:microsoft.com/office/officeart/2005/8/layout/gear1"/>
    <dgm:cxn modelId="{BCA1D432-029F-D14F-B379-DC4D6B8BDBFE}" type="presOf" srcId="{F632874D-2D75-B244-85A9-85A7B445BDC7}" destId="{CEF4E4C8-680E-A24C-8BB7-C94412C184C5}" srcOrd="0" destOrd="0" presId="urn:microsoft.com/office/officeart/2005/8/layout/gear1"/>
    <dgm:cxn modelId="{3759DA36-7F99-5849-AC59-56BA5CDDF367}" type="presOf" srcId="{6286E2DF-366F-C544-A6D8-995C6FA73EDB}" destId="{9F3B85F9-2E71-004C-8C74-410A46A44A32}" srcOrd="2" destOrd="0" presId="urn:microsoft.com/office/officeart/2005/8/layout/gear1"/>
    <dgm:cxn modelId="{579C6939-9EE3-5942-A3DB-5FDC374D53CF}" type="presOf" srcId="{AA3612A0-F581-5742-BBC5-06647B41EF76}" destId="{FC8ACBD5-013E-D048-B2BC-144CA6295EC2}" srcOrd="2" destOrd="0" presId="urn:microsoft.com/office/officeart/2005/8/layout/gear1"/>
    <dgm:cxn modelId="{9396CB41-1E4D-824D-89B8-53E312FDEB65}" type="presOf" srcId="{5C2725F9-4565-2E41-9A8A-D3C36C8DD72A}" destId="{43FB3831-22E4-1049-9F28-98CCD0BBBA38}" srcOrd="3" destOrd="0" presId="urn:microsoft.com/office/officeart/2005/8/layout/gear1"/>
    <dgm:cxn modelId="{06EC517B-A643-3B4C-8508-82CDAE556F32}" type="presOf" srcId="{AA3612A0-F581-5742-BBC5-06647B41EF76}" destId="{5BCA5309-7B5A-FB47-BA6F-D0D2A560B310}" srcOrd="0" destOrd="0" presId="urn:microsoft.com/office/officeart/2005/8/layout/gear1"/>
    <dgm:cxn modelId="{4ABF4B8F-94BF-834C-AC6A-C331EF01A6D5}" type="presOf" srcId="{5C2725F9-4565-2E41-9A8A-D3C36C8DD72A}" destId="{5F4E2773-B2A2-1247-812A-724EA4162D67}" srcOrd="2" destOrd="0" presId="urn:microsoft.com/office/officeart/2005/8/layout/gear1"/>
    <dgm:cxn modelId="{1F450595-5D52-A944-8016-036CC006CF68}" srcId="{91C121A3-8018-E444-850E-76E741014697}" destId="{6286E2DF-366F-C544-A6D8-995C6FA73EDB}" srcOrd="0" destOrd="0" parTransId="{DAFA3494-40F0-184F-B0E7-211BD192EC83}" sibTransId="{861CC76A-E728-7E49-9ABA-EB6F311EC52B}"/>
    <dgm:cxn modelId="{FB5E8C97-1F0A-DE45-B3B2-BCA37CFF7757}" srcId="{91C121A3-8018-E444-850E-76E741014697}" destId="{5C2725F9-4565-2E41-9A8A-D3C36C8DD72A}" srcOrd="2" destOrd="0" parTransId="{4B6986A3-E9F1-5444-A7A6-E68019625441}" sibTransId="{988D4DEF-2263-FC42-91D3-763B04C11655}"/>
    <dgm:cxn modelId="{C42EC29B-5442-2F45-B565-88E86DDB2ECE}" type="presOf" srcId="{91C121A3-8018-E444-850E-76E741014697}" destId="{9496E976-EAED-5744-8F1D-6C5E8E05EBD0}" srcOrd="0" destOrd="0" presId="urn:microsoft.com/office/officeart/2005/8/layout/gear1"/>
    <dgm:cxn modelId="{B2E32AA7-2630-624B-94B2-0EE4B3B9685B}" type="presOf" srcId="{861CC76A-E728-7E49-9ABA-EB6F311EC52B}" destId="{7BC40CED-6D70-D747-BFAA-D9F7B6B824F2}" srcOrd="0" destOrd="0" presId="urn:microsoft.com/office/officeart/2005/8/layout/gear1"/>
    <dgm:cxn modelId="{05A42ACA-5F6F-5442-96B8-C67F1667DC7E}" type="presOf" srcId="{AA3612A0-F581-5742-BBC5-06647B41EF76}" destId="{E8F44B1B-9678-584B-8233-80B21FF3C2C9}" srcOrd="1" destOrd="0" presId="urn:microsoft.com/office/officeart/2005/8/layout/gear1"/>
    <dgm:cxn modelId="{9C5686E4-5553-0D4B-AB66-571D8D10B6CE}" type="presOf" srcId="{6286E2DF-366F-C544-A6D8-995C6FA73EDB}" destId="{2D1EA367-4433-3E42-B09F-88A33496AB14}" srcOrd="0" destOrd="0" presId="urn:microsoft.com/office/officeart/2005/8/layout/gear1"/>
    <dgm:cxn modelId="{309618E9-A636-1E47-932B-FFCCFCE99ACD}" srcId="{91C121A3-8018-E444-850E-76E741014697}" destId="{AA3612A0-F581-5742-BBC5-06647B41EF76}" srcOrd="1" destOrd="0" parTransId="{0147797C-C3AE-A944-ADB4-1DC60C7E8CBC}" sibTransId="{F632874D-2D75-B244-85A9-85A7B445BDC7}"/>
    <dgm:cxn modelId="{1062E5FF-238C-F74B-ADB9-F328EDD22FD0}" type="presOf" srcId="{988D4DEF-2263-FC42-91D3-763B04C11655}" destId="{66408953-8197-0C46-8AF2-76B389160FA9}" srcOrd="0" destOrd="0" presId="urn:microsoft.com/office/officeart/2005/8/layout/gear1"/>
    <dgm:cxn modelId="{F38D1EFB-4B7A-7342-86E8-4CCAB91D5F8E}" type="presParOf" srcId="{9496E976-EAED-5744-8F1D-6C5E8E05EBD0}" destId="{2D1EA367-4433-3E42-B09F-88A33496AB14}" srcOrd="0" destOrd="0" presId="urn:microsoft.com/office/officeart/2005/8/layout/gear1"/>
    <dgm:cxn modelId="{310C74D1-72E5-B94D-8CC0-3C7C802C4411}" type="presParOf" srcId="{9496E976-EAED-5744-8F1D-6C5E8E05EBD0}" destId="{DCDF004C-5E7E-CF43-BF77-5060F09D480F}" srcOrd="1" destOrd="0" presId="urn:microsoft.com/office/officeart/2005/8/layout/gear1"/>
    <dgm:cxn modelId="{A4D940AE-5944-D249-BC85-B67C6698D658}" type="presParOf" srcId="{9496E976-EAED-5744-8F1D-6C5E8E05EBD0}" destId="{9F3B85F9-2E71-004C-8C74-410A46A44A32}" srcOrd="2" destOrd="0" presId="urn:microsoft.com/office/officeart/2005/8/layout/gear1"/>
    <dgm:cxn modelId="{FE1AD239-2A15-EC4B-ADDA-B9316202D4F7}" type="presParOf" srcId="{9496E976-EAED-5744-8F1D-6C5E8E05EBD0}" destId="{5BCA5309-7B5A-FB47-BA6F-D0D2A560B310}" srcOrd="3" destOrd="0" presId="urn:microsoft.com/office/officeart/2005/8/layout/gear1"/>
    <dgm:cxn modelId="{D119A3F8-3D54-BE43-9826-7219AA8A8115}" type="presParOf" srcId="{9496E976-EAED-5744-8F1D-6C5E8E05EBD0}" destId="{E8F44B1B-9678-584B-8233-80B21FF3C2C9}" srcOrd="4" destOrd="0" presId="urn:microsoft.com/office/officeart/2005/8/layout/gear1"/>
    <dgm:cxn modelId="{B388782D-4291-6B47-9340-6A29B53113A7}" type="presParOf" srcId="{9496E976-EAED-5744-8F1D-6C5E8E05EBD0}" destId="{FC8ACBD5-013E-D048-B2BC-144CA6295EC2}" srcOrd="5" destOrd="0" presId="urn:microsoft.com/office/officeart/2005/8/layout/gear1"/>
    <dgm:cxn modelId="{2CDB5C2B-0337-D149-9E20-E6B7B25438B7}" type="presParOf" srcId="{9496E976-EAED-5744-8F1D-6C5E8E05EBD0}" destId="{CE823C61-7543-9D4F-A57E-66AEA53577A3}" srcOrd="6" destOrd="0" presId="urn:microsoft.com/office/officeart/2005/8/layout/gear1"/>
    <dgm:cxn modelId="{87F1BB3C-636D-A244-9FA7-05711B42D96B}" type="presParOf" srcId="{9496E976-EAED-5744-8F1D-6C5E8E05EBD0}" destId="{8ABFF1F4-B694-2449-BDFC-B87FFA6D62A2}" srcOrd="7" destOrd="0" presId="urn:microsoft.com/office/officeart/2005/8/layout/gear1"/>
    <dgm:cxn modelId="{3891CF35-FE75-8F48-BB68-D522F2648EBF}" type="presParOf" srcId="{9496E976-EAED-5744-8F1D-6C5E8E05EBD0}" destId="{5F4E2773-B2A2-1247-812A-724EA4162D67}" srcOrd="8" destOrd="0" presId="urn:microsoft.com/office/officeart/2005/8/layout/gear1"/>
    <dgm:cxn modelId="{8CA51216-EE9E-0244-ACA2-1E16AE7F5E07}" type="presParOf" srcId="{9496E976-EAED-5744-8F1D-6C5E8E05EBD0}" destId="{43FB3831-22E4-1049-9F28-98CCD0BBBA38}" srcOrd="9" destOrd="0" presId="urn:microsoft.com/office/officeart/2005/8/layout/gear1"/>
    <dgm:cxn modelId="{5BF269C2-CABE-204C-A009-511D91291B0C}" type="presParOf" srcId="{9496E976-EAED-5744-8F1D-6C5E8E05EBD0}" destId="{7BC40CED-6D70-D747-BFAA-D9F7B6B824F2}" srcOrd="10" destOrd="0" presId="urn:microsoft.com/office/officeart/2005/8/layout/gear1"/>
    <dgm:cxn modelId="{C5030F6A-DE1F-5144-809A-C6E1F1EC46A0}" type="presParOf" srcId="{9496E976-EAED-5744-8F1D-6C5E8E05EBD0}" destId="{CEF4E4C8-680E-A24C-8BB7-C94412C184C5}" srcOrd="11" destOrd="0" presId="urn:microsoft.com/office/officeart/2005/8/layout/gear1"/>
    <dgm:cxn modelId="{B1592C22-7A97-C842-8A9B-0B90D34CF97D}" type="presParOf" srcId="{9496E976-EAED-5744-8F1D-6C5E8E05EBD0}" destId="{66408953-8197-0C46-8AF2-76B389160FA9}"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EA367-4433-3E42-B09F-88A33496AB14}">
      <dsp:nvSpPr>
        <dsp:cNvPr id="0" name=""/>
        <dsp:cNvSpPr/>
      </dsp:nvSpPr>
      <dsp:spPr>
        <a:xfrm>
          <a:off x="2929271" y="3279929"/>
          <a:ext cx="2990560" cy="3017312"/>
        </a:xfrm>
        <a:prstGeom prst="gear9">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Graph Representations</a:t>
          </a:r>
        </a:p>
      </dsp:txBody>
      <dsp:txXfrm>
        <a:off x="3530507" y="3984943"/>
        <a:ext cx="1788088" cy="1554398"/>
      </dsp:txXfrm>
    </dsp:sp>
    <dsp:sp modelId="{5BCA5309-7B5A-FB47-BA6F-D0D2A560B310}">
      <dsp:nvSpPr>
        <dsp:cNvPr id="0" name=""/>
        <dsp:cNvSpPr/>
      </dsp:nvSpPr>
      <dsp:spPr>
        <a:xfrm>
          <a:off x="842771" y="2350567"/>
          <a:ext cx="2407919" cy="2407919"/>
        </a:xfrm>
        <a:prstGeom prst="gear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API for Graph Access</a:t>
          </a:r>
        </a:p>
      </dsp:txBody>
      <dsp:txXfrm>
        <a:off x="1448972" y="2960432"/>
        <a:ext cx="1195517" cy="1188189"/>
      </dsp:txXfrm>
    </dsp:sp>
    <dsp:sp modelId="{CE823C61-7543-9D4F-A57E-66AEA53577A3}">
      <dsp:nvSpPr>
        <dsp:cNvPr id="0" name=""/>
        <dsp:cNvSpPr/>
      </dsp:nvSpPr>
      <dsp:spPr>
        <a:xfrm rot="20700000">
          <a:off x="2191452" y="689349"/>
          <a:ext cx="2359269" cy="2359269"/>
        </a:xfrm>
        <a:prstGeom prst="gear6">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Framework for Efficient Scans</a:t>
          </a:r>
        </a:p>
      </dsp:txBody>
      <dsp:txXfrm rot="-20700000">
        <a:off x="2708909" y="1206806"/>
        <a:ext cx="1324355" cy="1324355"/>
      </dsp:txXfrm>
    </dsp:sp>
    <dsp:sp modelId="{7BC40CED-6D70-D747-BFAA-D9F7B6B824F2}">
      <dsp:nvSpPr>
        <dsp:cNvPr id="0" name=""/>
        <dsp:cNvSpPr/>
      </dsp:nvSpPr>
      <dsp:spPr>
        <a:xfrm>
          <a:off x="2535052" y="2621771"/>
          <a:ext cx="4237937" cy="4237937"/>
        </a:xfrm>
        <a:prstGeom prst="circularArrow">
          <a:avLst>
            <a:gd name="adj1" fmla="val 4688"/>
            <a:gd name="adj2" fmla="val 299029"/>
            <a:gd name="adj3" fmla="val 2547501"/>
            <a:gd name="adj4" fmla="val 15795353"/>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EF4E4C8-680E-A24C-8BB7-C94412C184C5}">
      <dsp:nvSpPr>
        <dsp:cNvPr id="0" name=""/>
        <dsp:cNvSpPr/>
      </dsp:nvSpPr>
      <dsp:spPr>
        <a:xfrm>
          <a:off x="416333" y="1809952"/>
          <a:ext cx="3079126" cy="3079126"/>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6408953-8197-0C46-8AF2-76B389160FA9}">
      <dsp:nvSpPr>
        <dsp:cNvPr id="0" name=""/>
        <dsp:cNvSpPr/>
      </dsp:nvSpPr>
      <dsp:spPr>
        <a:xfrm>
          <a:off x="1645728" y="164746"/>
          <a:ext cx="3319918" cy="3319918"/>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9488A-22F5-F54C-A8CA-F9B4F91C0607}" type="datetimeFigureOut">
              <a:rPr lang="en-US" smtClean="0"/>
              <a:t>6/29/24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74A667-ACEB-274E-B6A3-A942A5050705}" type="slidenum">
              <a:rPr lang="en-US" smtClean="0"/>
              <a:t>‹#›</a:t>
            </a:fld>
            <a:endParaRPr lang="en-US"/>
          </a:p>
        </p:txBody>
      </p:sp>
    </p:spTree>
    <p:extLst>
      <p:ext uri="{BB962C8B-B14F-4D97-AF65-F5344CB8AC3E}">
        <p14:creationId xmlns:p14="http://schemas.microsoft.com/office/powerpoint/2010/main" val="2324260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we have not done the property time graph stuff, we have spent considerable time in designing the system such that adding the properties does not require duplicating the structure nor does it affect the perf of the analytics stuff we will show in this chapter</a:t>
            </a:r>
          </a:p>
        </p:txBody>
      </p:sp>
      <p:sp>
        <p:nvSpPr>
          <p:cNvPr id="4" name="Slide Number Placeholder 3"/>
          <p:cNvSpPr>
            <a:spLocks noGrp="1"/>
          </p:cNvSpPr>
          <p:nvPr>
            <p:ph type="sldNum" sz="quarter" idx="5"/>
          </p:nvPr>
        </p:nvSpPr>
        <p:spPr/>
        <p:txBody>
          <a:bodyPr/>
          <a:lstStyle/>
          <a:p>
            <a:fld id="{C674A667-ACEB-274E-B6A3-A942A5050705}" type="slidenum">
              <a:rPr lang="en-US" smtClean="0"/>
              <a:t>3</a:t>
            </a:fld>
            <a:endParaRPr lang="en-US"/>
          </a:p>
        </p:txBody>
      </p:sp>
    </p:spTree>
    <p:extLst>
      <p:ext uri="{BB962C8B-B14F-4D97-AF65-F5344CB8AC3E}">
        <p14:creationId xmlns:p14="http://schemas.microsoft.com/office/powerpoint/2010/main" val="691534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4</a:t>
            </a:fld>
            <a:endParaRPr lang="en-US"/>
          </a:p>
        </p:txBody>
      </p:sp>
    </p:spTree>
    <p:extLst>
      <p:ext uri="{BB962C8B-B14F-4D97-AF65-F5344CB8AC3E}">
        <p14:creationId xmlns:p14="http://schemas.microsoft.com/office/powerpoint/2010/main" val="2624254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pseudocode</a:t>
            </a:r>
          </a:p>
        </p:txBody>
      </p:sp>
      <p:sp>
        <p:nvSpPr>
          <p:cNvPr id="4" name="Slide Number Placeholder 3"/>
          <p:cNvSpPr>
            <a:spLocks noGrp="1"/>
          </p:cNvSpPr>
          <p:nvPr>
            <p:ph type="sldNum" sz="quarter" idx="5"/>
          </p:nvPr>
        </p:nvSpPr>
        <p:spPr/>
        <p:txBody>
          <a:bodyPr/>
          <a:lstStyle/>
          <a:p>
            <a:fld id="{C674A667-ACEB-274E-B6A3-A942A5050705}" type="slidenum">
              <a:rPr lang="en-US" smtClean="0"/>
              <a:t>5</a:t>
            </a:fld>
            <a:endParaRPr lang="en-US"/>
          </a:p>
        </p:txBody>
      </p:sp>
    </p:spTree>
    <p:extLst>
      <p:ext uri="{BB962C8B-B14F-4D97-AF65-F5344CB8AC3E}">
        <p14:creationId xmlns:p14="http://schemas.microsoft.com/office/powerpoint/2010/main" val="3438047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6</a:t>
            </a:fld>
            <a:endParaRPr lang="en-US"/>
          </a:p>
        </p:txBody>
      </p:sp>
    </p:spTree>
    <p:extLst>
      <p:ext uri="{BB962C8B-B14F-4D97-AF65-F5344CB8AC3E}">
        <p14:creationId xmlns:p14="http://schemas.microsoft.com/office/powerpoint/2010/main" val="2363259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10</a:t>
            </a:fld>
            <a:endParaRPr lang="en-US"/>
          </a:p>
        </p:txBody>
      </p:sp>
    </p:spTree>
    <p:extLst>
      <p:ext uri="{BB962C8B-B14F-4D97-AF65-F5344CB8AC3E}">
        <p14:creationId xmlns:p14="http://schemas.microsoft.com/office/powerpoint/2010/main" val="3923487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11</a:t>
            </a:fld>
            <a:endParaRPr lang="en-US"/>
          </a:p>
        </p:txBody>
      </p:sp>
    </p:spTree>
    <p:extLst>
      <p:ext uri="{BB962C8B-B14F-4D97-AF65-F5344CB8AC3E}">
        <p14:creationId xmlns:p14="http://schemas.microsoft.com/office/powerpoint/2010/main" val="4172394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19</a:t>
            </a:fld>
            <a:endParaRPr lang="en-US"/>
          </a:p>
        </p:txBody>
      </p:sp>
    </p:spTree>
    <p:extLst>
      <p:ext uri="{BB962C8B-B14F-4D97-AF65-F5344CB8AC3E}">
        <p14:creationId xmlns:p14="http://schemas.microsoft.com/office/powerpoint/2010/main" val="93553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20</a:t>
            </a:fld>
            <a:endParaRPr lang="en-US"/>
          </a:p>
        </p:txBody>
      </p:sp>
    </p:spTree>
    <p:extLst>
      <p:ext uri="{BB962C8B-B14F-4D97-AF65-F5344CB8AC3E}">
        <p14:creationId xmlns:p14="http://schemas.microsoft.com/office/powerpoint/2010/main" val="3129094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21</a:t>
            </a:fld>
            <a:endParaRPr lang="en-US"/>
          </a:p>
        </p:txBody>
      </p:sp>
    </p:spTree>
    <p:extLst>
      <p:ext uri="{BB962C8B-B14F-4D97-AF65-F5344CB8AC3E}">
        <p14:creationId xmlns:p14="http://schemas.microsoft.com/office/powerpoint/2010/main" val="1579815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22</a:t>
            </a:fld>
            <a:endParaRPr lang="en-US"/>
          </a:p>
        </p:txBody>
      </p:sp>
    </p:spTree>
    <p:extLst>
      <p:ext uri="{BB962C8B-B14F-4D97-AF65-F5344CB8AC3E}">
        <p14:creationId xmlns:p14="http://schemas.microsoft.com/office/powerpoint/2010/main" val="2316937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graph handle</a:t>
            </a:r>
          </a:p>
        </p:txBody>
      </p:sp>
      <p:sp>
        <p:nvSpPr>
          <p:cNvPr id="4" name="Slide Number Placeholder 3"/>
          <p:cNvSpPr>
            <a:spLocks noGrp="1"/>
          </p:cNvSpPr>
          <p:nvPr>
            <p:ph type="sldNum" sz="quarter" idx="5"/>
          </p:nvPr>
        </p:nvSpPr>
        <p:spPr/>
        <p:txBody>
          <a:bodyPr/>
          <a:lstStyle/>
          <a:p>
            <a:fld id="{C674A667-ACEB-274E-B6A3-A942A5050705}" type="slidenum">
              <a:rPr lang="en-US" smtClean="0"/>
              <a:t>23</a:t>
            </a:fld>
            <a:endParaRPr lang="en-US"/>
          </a:p>
        </p:txBody>
      </p:sp>
    </p:spTree>
    <p:extLst>
      <p:ext uri="{BB962C8B-B14F-4D97-AF65-F5344CB8AC3E}">
        <p14:creationId xmlns:p14="http://schemas.microsoft.com/office/powerpoint/2010/main" val="2916465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Vertex types can be 64 bits</a:t>
            </a:r>
          </a:p>
        </p:txBody>
      </p:sp>
      <p:sp>
        <p:nvSpPr>
          <p:cNvPr id="4" name="Slide Number Placeholder 3"/>
          <p:cNvSpPr>
            <a:spLocks noGrp="1"/>
          </p:cNvSpPr>
          <p:nvPr>
            <p:ph type="sldNum" sz="quarter" idx="5"/>
          </p:nvPr>
        </p:nvSpPr>
        <p:spPr/>
        <p:txBody>
          <a:bodyPr/>
          <a:lstStyle/>
          <a:p>
            <a:fld id="{C674A667-ACEB-274E-B6A3-A942A5050705}" type="slidenum">
              <a:rPr lang="en-US" smtClean="0"/>
              <a:t>27</a:t>
            </a:fld>
            <a:endParaRPr lang="en-US"/>
          </a:p>
        </p:txBody>
      </p:sp>
    </p:spTree>
    <p:extLst>
      <p:ext uri="{BB962C8B-B14F-4D97-AF65-F5344CB8AC3E}">
        <p14:creationId xmlns:p14="http://schemas.microsoft.com/office/powerpoint/2010/main" val="3850909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PR </a:t>
            </a:r>
            <a:r>
              <a:rPr lang="en-US" dirty="0" err="1"/>
              <a:t>exampke</a:t>
            </a:r>
            <a:endParaRPr lang="en-US" dirty="0"/>
          </a:p>
        </p:txBody>
      </p:sp>
      <p:sp>
        <p:nvSpPr>
          <p:cNvPr id="4" name="Slide Number Placeholder 3"/>
          <p:cNvSpPr>
            <a:spLocks noGrp="1"/>
          </p:cNvSpPr>
          <p:nvPr>
            <p:ph type="sldNum" sz="quarter" idx="5"/>
          </p:nvPr>
        </p:nvSpPr>
        <p:spPr/>
        <p:txBody>
          <a:bodyPr/>
          <a:lstStyle/>
          <a:p>
            <a:fld id="{C674A667-ACEB-274E-B6A3-A942A5050705}" type="slidenum">
              <a:rPr lang="en-US" smtClean="0"/>
              <a:t>32</a:t>
            </a:fld>
            <a:endParaRPr lang="en-US"/>
          </a:p>
        </p:txBody>
      </p:sp>
    </p:spTree>
    <p:extLst>
      <p:ext uri="{BB962C8B-B14F-4D97-AF65-F5344CB8AC3E}">
        <p14:creationId xmlns:p14="http://schemas.microsoft.com/office/powerpoint/2010/main" val="4023330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C6A5-9606-BCEB-2189-F03EF91E58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4FECDB-3AC1-9D2D-0D73-4994B7770B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99DDAA-460A-C608-A392-9D23EDD0F765}"/>
              </a:ext>
            </a:extLst>
          </p:cNvPr>
          <p:cNvSpPr>
            <a:spLocks noGrp="1"/>
          </p:cNvSpPr>
          <p:nvPr>
            <p:ph type="dt" sz="half" idx="10"/>
          </p:nvPr>
        </p:nvSpPr>
        <p:spPr/>
        <p:txBody>
          <a:bodyPr/>
          <a:lstStyle/>
          <a:p>
            <a:fld id="{40A464C0-CF97-9245-A0D9-54D08FA6B5D8}" type="datetime1">
              <a:rPr lang="en-CA" smtClean="0"/>
              <a:t>2024-06-29</a:t>
            </a:fld>
            <a:endParaRPr lang="en-US"/>
          </a:p>
        </p:txBody>
      </p:sp>
      <p:sp>
        <p:nvSpPr>
          <p:cNvPr id="5" name="Footer Placeholder 4">
            <a:extLst>
              <a:ext uri="{FF2B5EF4-FFF2-40B4-BE49-F238E27FC236}">
                <a16:creationId xmlns:a16="http://schemas.microsoft.com/office/drawing/2014/main" id="{D7B80702-7E23-E076-0A92-A57FBA6C2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D4CFC6-B7CB-1CF8-E484-893644FC3FEF}"/>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2037302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4BF-F9F5-3AB1-19C5-DD4CFAAE50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ECC009-AE0E-25DC-FE5D-110E469399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9490F-9154-4D30-2250-C1AEFADE7F1E}"/>
              </a:ext>
            </a:extLst>
          </p:cNvPr>
          <p:cNvSpPr>
            <a:spLocks noGrp="1"/>
          </p:cNvSpPr>
          <p:nvPr>
            <p:ph type="dt" sz="half" idx="10"/>
          </p:nvPr>
        </p:nvSpPr>
        <p:spPr/>
        <p:txBody>
          <a:bodyPr/>
          <a:lstStyle/>
          <a:p>
            <a:fld id="{AEB02DB1-7EAE-4F43-BD24-667A2CBE6F33}" type="datetime1">
              <a:rPr lang="en-CA" smtClean="0"/>
              <a:t>2024-06-29</a:t>
            </a:fld>
            <a:endParaRPr lang="en-US"/>
          </a:p>
        </p:txBody>
      </p:sp>
      <p:sp>
        <p:nvSpPr>
          <p:cNvPr id="5" name="Footer Placeholder 4">
            <a:extLst>
              <a:ext uri="{FF2B5EF4-FFF2-40B4-BE49-F238E27FC236}">
                <a16:creationId xmlns:a16="http://schemas.microsoft.com/office/drawing/2014/main" id="{742C7510-D767-FB19-56A2-D03F320B96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ABF2A-C2D5-139D-6BE7-8D2DE4675B70}"/>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1663139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8A8F6-546B-34DB-90A1-A99F5EE942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575141-57A8-6A67-5E28-7FAB063ED9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C1FF37-D702-F7BA-D6B4-C6C7535EA029}"/>
              </a:ext>
            </a:extLst>
          </p:cNvPr>
          <p:cNvSpPr>
            <a:spLocks noGrp="1"/>
          </p:cNvSpPr>
          <p:nvPr>
            <p:ph type="dt" sz="half" idx="10"/>
          </p:nvPr>
        </p:nvSpPr>
        <p:spPr/>
        <p:txBody>
          <a:bodyPr/>
          <a:lstStyle/>
          <a:p>
            <a:fld id="{1EEBCC8E-AC73-B041-A643-881D14AC9E96}" type="datetime1">
              <a:rPr lang="en-CA" smtClean="0"/>
              <a:t>2024-06-29</a:t>
            </a:fld>
            <a:endParaRPr lang="en-US"/>
          </a:p>
        </p:txBody>
      </p:sp>
      <p:sp>
        <p:nvSpPr>
          <p:cNvPr id="5" name="Footer Placeholder 4">
            <a:extLst>
              <a:ext uri="{FF2B5EF4-FFF2-40B4-BE49-F238E27FC236}">
                <a16:creationId xmlns:a16="http://schemas.microsoft.com/office/drawing/2014/main" id="{7C0CCCCB-7470-9E12-2A29-5430CFE66C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9FDB12-09F1-D966-2BC8-DF76AB196C14}"/>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3978566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611D4-A02F-1A54-2191-7947B49F91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FD95A8-54D6-557D-AF8A-023AC71759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D489AF-8F13-2B53-CE41-0910EDCF33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D0B8D2-EA76-5E47-CC9F-83D0B58B74AF}"/>
              </a:ext>
            </a:extLst>
          </p:cNvPr>
          <p:cNvSpPr>
            <a:spLocks noGrp="1"/>
          </p:cNvSpPr>
          <p:nvPr>
            <p:ph type="dt" sz="half" idx="10"/>
          </p:nvPr>
        </p:nvSpPr>
        <p:spPr/>
        <p:txBody>
          <a:bodyPr/>
          <a:lstStyle/>
          <a:p>
            <a:fld id="{B7D153E5-9259-1046-AF8C-708564DBBA6B}" type="datetime1">
              <a:rPr lang="en-CA" smtClean="0"/>
              <a:t>2024-06-29</a:t>
            </a:fld>
            <a:endParaRPr lang="en-US"/>
          </a:p>
        </p:txBody>
      </p:sp>
      <p:sp>
        <p:nvSpPr>
          <p:cNvPr id="6" name="Footer Placeholder 5">
            <a:extLst>
              <a:ext uri="{FF2B5EF4-FFF2-40B4-BE49-F238E27FC236}">
                <a16:creationId xmlns:a16="http://schemas.microsoft.com/office/drawing/2014/main" id="{080C96CA-369D-28D4-C933-371CEA006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C3F88F-595A-6EBF-F044-837BD8BB87C7}"/>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1946407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22F4-3677-90DD-BF90-D0C9EA1DE9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966033-8C84-9737-91CB-35B970D766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DDB95-6C71-B041-8E5F-1607D252E5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0B29D6-372E-1785-2DA1-4E9B2340CA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C8D1D8-2F2D-CC3A-7815-DE0BD3F3EA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6367B3-03B4-9E87-0DA1-624A1F9AC86D}"/>
              </a:ext>
            </a:extLst>
          </p:cNvPr>
          <p:cNvSpPr>
            <a:spLocks noGrp="1"/>
          </p:cNvSpPr>
          <p:nvPr>
            <p:ph type="dt" sz="half" idx="10"/>
          </p:nvPr>
        </p:nvSpPr>
        <p:spPr/>
        <p:txBody>
          <a:bodyPr/>
          <a:lstStyle/>
          <a:p>
            <a:fld id="{81F41693-106C-2543-9C96-20B50D639AA3}" type="datetime1">
              <a:rPr lang="en-CA" smtClean="0"/>
              <a:t>2024-06-29</a:t>
            </a:fld>
            <a:endParaRPr lang="en-US"/>
          </a:p>
        </p:txBody>
      </p:sp>
      <p:sp>
        <p:nvSpPr>
          <p:cNvPr id="8" name="Footer Placeholder 7">
            <a:extLst>
              <a:ext uri="{FF2B5EF4-FFF2-40B4-BE49-F238E27FC236}">
                <a16:creationId xmlns:a16="http://schemas.microsoft.com/office/drawing/2014/main" id="{156EA1DE-4B6A-600A-6B47-857F1A9D1E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86CBBD-93B1-3F99-1977-C311AD99EC90}"/>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3652496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D0D6F-A00F-18F0-09A1-50107EF16F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F07073-9248-0B3D-F1B6-0E86514CC011}"/>
              </a:ext>
            </a:extLst>
          </p:cNvPr>
          <p:cNvSpPr>
            <a:spLocks noGrp="1"/>
          </p:cNvSpPr>
          <p:nvPr>
            <p:ph type="dt" sz="half" idx="10"/>
          </p:nvPr>
        </p:nvSpPr>
        <p:spPr/>
        <p:txBody>
          <a:bodyPr/>
          <a:lstStyle/>
          <a:p>
            <a:fld id="{8B01BA73-A6C9-724F-BEE4-DD6E0535B08A}" type="datetime1">
              <a:rPr lang="en-CA" smtClean="0"/>
              <a:t>2024-06-29</a:t>
            </a:fld>
            <a:endParaRPr lang="en-US"/>
          </a:p>
        </p:txBody>
      </p:sp>
      <p:sp>
        <p:nvSpPr>
          <p:cNvPr id="4" name="Footer Placeholder 3">
            <a:extLst>
              <a:ext uri="{FF2B5EF4-FFF2-40B4-BE49-F238E27FC236}">
                <a16:creationId xmlns:a16="http://schemas.microsoft.com/office/drawing/2014/main" id="{ECDA77A3-6098-D5E2-C379-250A439AC4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D04815-9179-8587-541F-CD6E533C6BA0}"/>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3845237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2A3DDD-DFD0-A2AD-AC0E-CDCEE83D0866}"/>
              </a:ext>
            </a:extLst>
          </p:cNvPr>
          <p:cNvSpPr>
            <a:spLocks noGrp="1"/>
          </p:cNvSpPr>
          <p:nvPr>
            <p:ph type="dt" sz="half" idx="10"/>
          </p:nvPr>
        </p:nvSpPr>
        <p:spPr/>
        <p:txBody>
          <a:bodyPr/>
          <a:lstStyle/>
          <a:p>
            <a:fld id="{64F10FC2-143A-8A49-B6D2-34756D069D62}" type="datetime1">
              <a:rPr lang="en-CA" smtClean="0"/>
              <a:t>2024-06-29</a:t>
            </a:fld>
            <a:endParaRPr lang="en-US"/>
          </a:p>
        </p:txBody>
      </p:sp>
      <p:sp>
        <p:nvSpPr>
          <p:cNvPr id="3" name="Footer Placeholder 2">
            <a:extLst>
              <a:ext uri="{FF2B5EF4-FFF2-40B4-BE49-F238E27FC236}">
                <a16:creationId xmlns:a16="http://schemas.microsoft.com/office/drawing/2014/main" id="{FC9B7CCF-A680-7293-5C61-5E1284C0E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D2BADB-0B38-53C6-8C50-9E321232707F}"/>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2031104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E8B8F-42BA-5557-CA16-AB26930A58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789518-E94F-3A7E-55F4-A7F041EC64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75C5B2-A32E-4F0D-2E73-D24C397D75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D48D4-35A3-FED3-AD4B-4F0B63FB5177}"/>
              </a:ext>
            </a:extLst>
          </p:cNvPr>
          <p:cNvSpPr>
            <a:spLocks noGrp="1"/>
          </p:cNvSpPr>
          <p:nvPr>
            <p:ph type="dt" sz="half" idx="10"/>
          </p:nvPr>
        </p:nvSpPr>
        <p:spPr/>
        <p:txBody>
          <a:bodyPr/>
          <a:lstStyle/>
          <a:p>
            <a:fld id="{B274F44D-2F0C-7F4F-BCFD-8868E9836F56}" type="datetime1">
              <a:rPr lang="en-CA" smtClean="0"/>
              <a:t>2024-06-29</a:t>
            </a:fld>
            <a:endParaRPr lang="en-US"/>
          </a:p>
        </p:txBody>
      </p:sp>
      <p:sp>
        <p:nvSpPr>
          <p:cNvPr id="6" name="Footer Placeholder 5">
            <a:extLst>
              <a:ext uri="{FF2B5EF4-FFF2-40B4-BE49-F238E27FC236}">
                <a16:creationId xmlns:a16="http://schemas.microsoft.com/office/drawing/2014/main" id="{5EAD74DA-4F9A-74B9-5AFA-C0363A114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4BC8BA-3C5B-6940-9563-A1A07D41B4CE}"/>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4047125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3CFD-238A-8E23-32D7-809A71E775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02D4A2-2FA4-B194-E9D1-90DB27041E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A66285-C8E1-9806-9C52-482712BE0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5C72A3-500A-AC07-76F5-B749A7C9B756}"/>
              </a:ext>
            </a:extLst>
          </p:cNvPr>
          <p:cNvSpPr>
            <a:spLocks noGrp="1"/>
          </p:cNvSpPr>
          <p:nvPr>
            <p:ph type="dt" sz="half" idx="10"/>
          </p:nvPr>
        </p:nvSpPr>
        <p:spPr/>
        <p:txBody>
          <a:bodyPr/>
          <a:lstStyle/>
          <a:p>
            <a:fld id="{85DE3116-6E4F-D74A-8C8D-D8CF0F626DCF}" type="datetime1">
              <a:rPr lang="en-CA" smtClean="0"/>
              <a:t>2024-06-29</a:t>
            </a:fld>
            <a:endParaRPr lang="en-US"/>
          </a:p>
        </p:txBody>
      </p:sp>
      <p:sp>
        <p:nvSpPr>
          <p:cNvPr id="6" name="Footer Placeholder 5">
            <a:extLst>
              <a:ext uri="{FF2B5EF4-FFF2-40B4-BE49-F238E27FC236}">
                <a16:creationId xmlns:a16="http://schemas.microsoft.com/office/drawing/2014/main" id="{A9645050-BFB4-53C3-B747-74EC7B8822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E034EB-1395-DC92-D7EC-13BA535CD431}"/>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2959817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D563A-1218-7FEE-2442-625424F80A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483A3B-1978-BAEF-09E5-1A16BD81FD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5FF03E-407E-BD42-0891-0906CEBD1F1A}"/>
              </a:ext>
            </a:extLst>
          </p:cNvPr>
          <p:cNvSpPr>
            <a:spLocks noGrp="1"/>
          </p:cNvSpPr>
          <p:nvPr>
            <p:ph type="dt" sz="half" idx="10"/>
          </p:nvPr>
        </p:nvSpPr>
        <p:spPr/>
        <p:txBody>
          <a:bodyPr/>
          <a:lstStyle/>
          <a:p>
            <a:fld id="{2BB3E4C0-BBF0-8544-8AD2-F06F5E15103B}" type="datetime1">
              <a:rPr lang="en-CA" smtClean="0"/>
              <a:t>2024-06-29</a:t>
            </a:fld>
            <a:endParaRPr lang="en-US"/>
          </a:p>
        </p:txBody>
      </p:sp>
      <p:sp>
        <p:nvSpPr>
          <p:cNvPr id="5" name="Footer Placeholder 4">
            <a:extLst>
              <a:ext uri="{FF2B5EF4-FFF2-40B4-BE49-F238E27FC236}">
                <a16:creationId xmlns:a16="http://schemas.microsoft.com/office/drawing/2014/main" id="{13ACE49B-AA63-BE73-BE03-4F9339AFD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57D8F-316C-5ADE-F44D-560027C4359D}"/>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2786576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C0EF63-380B-A9E5-FA65-2512C9CA19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6EFD3-C995-9FB4-A467-57611A9055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D1C971-E1A0-B706-D48A-CBB2AD00E3BA}"/>
              </a:ext>
            </a:extLst>
          </p:cNvPr>
          <p:cNvSpPr>
            <a:spLocks noGrp="1"/>
          </p:cNvSpPr>
          <p:nvPr>
            <p:ph type="dt" sz="half" idx="10"/>
          </p:nvPr>
        </p:nvSpPr>
        <p:spPr/>
        <p:txBody>
          <a:bodyPr/>
          <a:lstStyle/>
          <a:p>
            <a:fld id="{6C6218AA-097A-FD4B-9D21-4196BAA4809C}" type="datetime1">
              <a:rPr lang="en-CA" smtClean="0"/>
              <a:t>2024-06-29</a:t>
            </a:fld>
            <a:endParaRPr lang="en-US"/>
          </a:p>
        </p:txBody>
      </p:sp>
      <p:sp>
        <p:nvSpPr>
          <p:cNvPr id="5" name="Footer Placeholder 4">
            <a:extLst>
              <a:ext uri="{FF2B5EF4-FFF2-40B4-BE49-F238E27FC236}">
                <a16:creationId xmlns:a16="http://schemas.microsoft.com/office/drawing/2014/main" id="{8C8079B2-019C-5BC2-2E43-CBD06B22D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BE87B1-DCD0-1BA9-42B8-9F3B5D5F7582}"/>
              </a:ext>
            </a:extLst>
          </p:cNvPr>
          <p:cNvSpPr>
            <a:spLocks noGrp="1"/>
          </p:cNvSpPr>
          <p:nvPr>
            <p:ph type="sldNum" sz="quarter" idx="12"/>
          </p:nvPr>
        </p:nvSpPr>
        <p:spPr/>
        <p:txBody>
          <a:bodyPr/>
          <a:lstStyle/>
          <a:p>
            <a:fld id="{EEBEF218-D4C5-B946-BB13-027BCA6FFA2A}" type="slidenum">
              <a:rPr lang="en-US" smtClean="0"/>
              <a:t>‹#›</a:t>
            </a:fld>
            <a:endParaRPr lang="en-US"/>
          </a:p>
        </p:txBody>
      </p:sp>
    </p:spTree>
    <p:extLst>
      <p:ext uri="{BB962C8B-B14F-4D97-AF65-F5344CB8AC3E}">
        <p14:creationId xmlns:p14="http://schemas.microsoft.com/office/powerpoint/2010/main" val="818389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C8FE0F-3B5C-912E-02D5-A586500BF6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FA1472-7032-CA6F-E993-07A78C402D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0D4B45-FBA4-6417-33EE-0296AE8B1C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5E96CB-08FF-C240-B43E-C3C6CBABEAD7}" type="datetime1">
              <a:rPr lang="en-CA" smtClean="0"/>
              <a:t>2024-06-29</a:t>
            </a:fld>
            <a:endParaRPr lang="en-US"/>
          </a:p>
        </p:txBody>
      </p:sp>
      <p:sp>
        <p:nvSpPr>
          <p:cNvPr id="5" name="Footer Placeholder 4">
            <a:extLst>
              <a:ext uri="{FF2B5EF4-FFF2-40B4-BE49-F238E27FC236}">
                <a16:creationId xmlns:a16="http://schemas.microsoft.com/office/drawing/2014/main" id="{275F2FEE-49FA-CC7D-2DA8-79BE5FC6B5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B01E513-93C5-BE45-CB34-BF2DA68BBB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BEF218-D4C5-B946-BB13-027BCA6FFA2A}" type="slidenum">
              <a:rPr lang="en-US" smtClean="0"/>
              <a:t>‹#›</a:t>
            </a:fld>
            <a:endParaRPr lang="en-US"/>
          </a:p>
        </p:txBody>
      </p:sp>
    </p:spTree>
    <p:extLst>
      <p:ext uri="{BB962C8B-B14F-4D97-AF65-F5344CB8AC3E}">
        <p14:creationId xmlns:p14="http://schemas.microsoft.com/office/powerpoint/2010/main" val="1806489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BFC0D-68E7-3174-DE8C-7B203B53E819}"/>
              </a:ext>
            </a:extLst>
          </p:cNvPr>
          <p:cNvSpPr>
            <a:spLocks noGrp="1"/>
          </p:cNvSpPr>
          <p:nvPr>
            <p:ph type="ctrTitle"/>
          </p:nvPr>
        </p:nvSpPr>
        <p:spPr/>
        <p:txBody>
          <a:bodyPr/>
          <a:lstStyle/>
          <a:p>
            <a:r>
              <a:rPr lang="en-US" dirty="0"/>
              <a:t>Flexograph Architecture</a:t>
            </a:r>
          </a:p>
        </p:txBody>
      </p:sp>
      <p:sp>
        <p:nvSpPr>
          <p:cNvPr id="3" name="Subtitle 2">
            <a:extLst>
              <a:ext uri="{FF2B5EF4-FFF2-40B4-BE49-F238E27FC236}">
                <a16:creationId xmlns:a16="http://schemas.microsoft.com/office/drawing/2014/main" id="{956997B7-CC7A-47B5-5385-46C67241CE4A}"/>
              </a:ext>
            </a:extLst>
          </p:cNvPr>
          <p:cNvSpPr>
            <a:spLocks noGrp="1"/>
          </p:cNvSpPr>
          <p:nvPr>
            <p:ph type="subTitle" idx="1"/>
          </p:nvPr>
        </p:nvSpPr>
        <p:spPr/>
        <p:txBody>
          <a:bodyPr/>
          <a:lstStyle/>
          <a:p>
            <a:r>
              <a:rPr lang="en-US" dirty="0"/>
              <a:t>Chapter 4</a:t>
            </a:r>
          </a:p>
        </p:txBody>
      </p:sp>
      <p:sp>
        <p:nvSpPr>
          <p:cNvPr id="4" name="Slide Number Placeholder 3">
            <a:extLst>
              <a:ext uri="{FF2B5EF4-FFF2-40B4-BE49-F238E27FC236}">
                <a16:creationId xmlns:a16="http://schemas.microsoft.com/office/drawing/2014/main" id="{6C404EFD-8C81-34EC-C6E3-38341E196C33}"/>
              </a:ext>
            </a:extLst>
          </p:cNvPr>
          <p:cNvSpPr>
            <a:spLocks noGrp="1"/>
          </p:cNvSpPr>
          <p:nvPr>
            <p:ph type="sldNum" sz="quarter" idx="12"/>
          </p:nvPr>
        </p:nvSpPr>
        <p:spPr/>
        <p:txBody>
          <a:bodyPr/>
          <a:lstStyle/>
          <a:p>
            <a:fld id="{EEBEF218-D4C5-B946-BB13-027BCA6FFA2A}" type="slidenum">
              <a:rPr lang="en-US" smtClean="0"/>
              <a:t>1</a:t>
            </a:fld>
            <a:endParaRPr lang="en-US"/>
          </a:p>
        </p:txBody>
      </p:sp>
    </p:spTree>
    <p:extLst>
      <p:ext uri="{BB962C8B-B14F-4D97-AF65-F5344CB8AC3E}">
        <p14:creationId xmlns:p14="http://schemas.microsoft.com/office/powerpoint/2010/main" val="3811427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0B483-B971-D6C3-1015-96A3CED45E9F}"/>
              </a:ext>
            </a:extLst>
          </p:cNvPr>
          <p:cNvSpPr>
            <a:spLocks noGrp="1"/>
          </p:cNvSpPr>
          <p:nvPr>
            <p:ph type="title"/>
          </p:nvPr>
        </p:nvSpPr>
        <p:spPr/>
        <p:txBody>
          <a:bodyPr/>
          <a:lstStyle/>
          <a:p>
            <a:r>
              <a:rPr lang="en-US" dirty="0"/>
              <a:t>4.1 Goals of our design</a:t>
            </a:r>
          </a:p>
        </p:txBody>
      </p:sp>
      <p:sp>
        <p:nvSpPr>
          <p:cNvPr id="3" name="Content Placeholder 2">
            <a:extLst>
              <a:ext uri="{FF2B5EF4-FFF2-40B4-BE49-F238E27FC236}">
                <a16:creationId xmlns:a16="http://schemas.microsoft.com/office/drawing/2014/main" id="{D8211F6C-16A4-9048-BDAB-D600331D0F98}"/>
              </a:ext>
            </a:extLst>
          </p:cNvPr>
          <p:cNvSpPr>
            <a:spLocks noGrp="1"/>
          </p:cNvSpPr>
          <p:nvPr>
            <p:ph idx="1"/>
          </p:nvPr>
        </p:nvSpPr>
        <p:spPr>
          <a:xfrm>
            <a:off x="838200" y="1825625"/>
            <a:ext cx="10515600" cy="4667250"/>
          </a:xfrm>
        </p:spPr>
        <p:txBody>
          <a:bodyPr/>
          <a:lstStyle/>
          <a:p>
            <a:r>
              <a:rPr lang="en-US" dirty="0"/>
              <a:t>We saw in Section 3.2 that all GPS use the same data structures to store their graphs</a:t>
            </a:r>
          </a:p>
          <a:p>
            <a:pPr lvl="1"/>
            <a:r>
              <a:rPr lang="en-US" dirty="0"/>
              <a:t>CSR (sequential vertex and neighborhood access) and Adjacency Lists (random vertex seek + sequential neighborhood scan)</a:t>
            </a:r>
          </a:p>
          <a:p>
            <a:pPr lvl="1"/>
            <a:endParaRPr lang="en-US" dirty="0"/>
          </a:p>
          <a:p>
            <a:r>
              <a:rPr lang="en-US" dirty="0"/>
              <a:t>Flexograph is a system that provides a persistent store for mutable graph data in formats that are close to in-memory representations amenable to graph analytics</a:t>
            </a:r>
          </a:p>
          <a:p>
            <a:pPr lvl="1"/>
            <a:r>
              <a:rPr lang="en-US" dirty="0"/>
              <a:t>So far, the project has focused on structural graphs</a:t>
            </a:r>
          </a:p>
          <a:p>
            <a:pPr lvl="1"/>
            <a:r>
              <a:rPr lang="en-US" dirty="0"/>
              <a:t>We will extend our analytics-first graph representations to store labels and properties of nodes and edges</a:t>
            </a:r>
          </a:p>
        </p:txBody>
      </p:sp>
      <p:sp>
        <p:nvSpPr>
          <p:cNvPr id="4" name="Slide Number Placeholder 3">
            <a:extLst>
              <a:ext uri="{FF2B5EF4-FFF2-40B4-BE49-F238E27FC236}">
                <a16:creationId xmlns:a16="http://schemas.microsoft.com/office/drawing/2014/main" id="{1D4751BF-60A4-5127-552C-28F184C0AE0A}"/>
              </a:ext>
            </a:extLst>
          </p:cNvPr>
          <p:cNvSpPr>
            <a:spLocks noGrp="1"/>
          </p:cNvSpPr>
          <p:nvPr>
            <p:ph type="sldNum" sz="quarter" idx="12"/>
          </p:nvPr>
        </p:nvSpPr>
        <p:spPr/>
        <p:txBody>
          <a:bodyPr/>
          <a:lstStyle/>
          <a:p>
            <a:fld id="{EEBEF218-D4C5-B946-BB13-027BCA6FFA2A}" type="slidenum">
              <a:rPr lang="en-US" smtClean="0"/>
              <a:t>2</a:t>
            </a:fld>
            <a:endParaRPr lang="en-US"/>
          </a:p>
        </p:txBody>
      </p:sp>
    </p:spTree>
    <p:extLst>
      <p:ext uri="{BB962C8B-B14F-4D97-AF65-F5344CB8AC3E}">
        <p14:creationId xmlns:p14="http://schemas.microsoft.com/office/powerpoint/2010/main" val="24611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5D962-6E7B-73ED-E240-1024E133DF4D}"/>
              </a:ext>
            </a:extLst>
          </p:cNvPr>
          <p:cNvSpPr>
            <a:spLocks noGrp="1"/>
          </p:cNvSpPr>
          <p:nvPr>
            <p:ph type="title"/>
          </p:nvPr>
        </p:nvSpPr>
        <p:spPr/>
        <p:txBody>
          <a:bodyPr/>
          <a:lstStyle/>
          <a:p>
            <a:r>
              <a:rPr lang="en-US" dirty="0"/>
              <a:t>4.1 Our Design: Current &amp; Future Work</a:t>
            </a:r>
          </a:p>
        </p:txBody>
      </p:sp>
      <p:sp>
        <p:nvSpPr>
          <p:cNvPr id="3" name="Content Placeholder 2">
            <a:extLst>
              <a:ext uri="{FF2B5EF4-FFF2-40B4-BE49-F238E27FC236}">
                <a16:creationId xmlns:a16="http://schemas.microsoft.com/office/drawing/2014/main" id="{526E7AAA-F275-016A-6B99-E067F86EB8DE}"/>
              </a:ext>
            </a:extLst>
          </p:cNvPr>
          <p:cNvSpPr>
            <a:spLocks noGrp="1"/>
          </p:cNvSpPr>
          <p:nvPr>
            <p:ph idx="1"/>
          </p:nvPr>
        </p:nvSpPr>
        <p:spPr>
          <a:xfrm>
            <a:off x="838200" y="1825624"/>
            <a:ext cx="10515600" cy="4747297"/>
          </a:xfrm>
        </p:spPr>
        <p:txBody>
          <a:bodyPr>
            <a:normAutofit lnSpcReduction="10000"/>
          </a:bodyPr>
          <a:lstStyle/>
          <a:p>
            <a:r>
              <a:rPr lang="en-US" dirty="0"/>
              <a:t>The current design of Flexograph is centered around structural graphs</a:t>
            </a:r>
          </a:p>
          <a:p>
            <a:pPr lvl="1"/>
            <a:r>
              <a:rPr lang="en-US" dirty="0"/>
              <a:t>This covers most of the design landscape we described in Section 3.1 – 3.2 </a:t>
            </a:r>
          </a:p>
          <a:p>
            <a:pPr lvl="1"/>
            <a:r>
              <a:rPr lang="en-US" dirty="0"/>
              <a:t>Getting this right lays the foundation for building a robust system for property graph storage</a:t>
            </a:r>
          </a:p>
          <a:p>
            <a:pPr lvl="1"/>
            <a:endParaRPr lang="en-US" dirty="0"/>
          </a:p>
          <a:p>
            <a:r>
              <a:rPr lang="en-US" dirty="0"/>
              <a:t>This chapter details the Architecture as it exists today</a:t>
            </a:r>
          </a:p>
          <a:p>
            <a:r>
              <a:rPr lang="en-US" dirty="0"/>
              <a:t>Chapter 6 describes how I will extend this architecture to handle property graphs</a:t>
            </a:r>
          </a:p>
          <a:p>
            <a:pPr lvl="1"/>
            <a:r>
              <a:rPr lang="en-US" dirty="0"/>
              <a:t>There are two proposals for storing property and label information – inline with the element or separately using column stores</a:t>
            </a:r>
          </a:p>
          <a:p>
            <a:pPr lvl="1"/>
            <a:r>
              <a:rPr lang="en-US" dirty="0"/>
              <a:t>We provide mechanisms to do both and perform a comparative study of how they perform under a variety of workloads</a:t>
            </a:r>
          </a:p>
        </p:txBody>
      </p:sp>
      <p:sp>
        <p:nvSpPr>
          <p:cNvPr id="4" name="Slide Number Placeholder 3">
            <a:extLst>
              <a:ext uri="{FF2B5EF4-FFF2-40B4-BE49-F238E27FC236}">
                <a16:creationId xmlns:a16="http://schemas.microsoft.com/office/drawing/2014/main" id="{679D6D33-CB10-C32B-7A34-9F9E1CDC248D}"/>
              </a:ext>
            </a:extLst>
          </p:cNvPr>
          <p:cNvSpPr>
            <a:spLocks noGrp="1"/>
          </p:cNvSpPr>
          <p:nvPr>
            <p:ph type="sldNum" sz="quarter" idx="12"/>
          </p:nvPr>
        </p:nvSpPr>
        <p:spPr/>
        <p:txBody>
          <a:bodyPr/>
          <a:lstStyle/>
          <a:p>
            <a:fld id="{EEBEF218-D4C5-B946-BB13-027BCA6FFA2A}" type="slidenum">
              <a:rPr lang="en-US" smtClean="0"/>
              <a:t>3</a:t>
            </a:fld>
            <a:endParaRPr lang="en-US"/>
          </a:p>
        </p:txBody>
      </p:sp>
    </p:spTree>
    <p:extLst>
      <p:ext uri="{BB962C8B-B14F-4D97-AF65-F5344CB8AC3E}">
        <p14:creationId xmlns:p14="http://schemas.microsoft.com/office/powerpoint/2010/main" val="3392058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7C22D11-5051-AB32-E79D-91EDA5684FCD}"/>
              </a:ext>
            </a:extLst>
          </p:cNvPr>
          <p:cNvSpPr>
            <a:spLocks noGrp="1"/>
          </p:cNvSpPr>
          <p:nvPr>
            <p:ph type="title"/>
          </p:nvPr>
        </p:nvSpPr>
        <p:spPr/>
        <p:txBody>
          <a:bodyPr/>
          <a:lstStyle/>
          <a:p>
            <a:r>
              <a:rPr lang="en-US" dirty="0"/>
              <a:t>4.2 What should a graph database provide?</a:t>
            </a:r>
          </a:p>
        </p:txBody>
      </p:sp>
      <p:sp>
        <p:nvSpPr>
          <p:cNvPr id="7" name="Content Placeholder 6">
            <a:extLst>
              <a:ext uri="{FF2B5EF4-FFF2-40B4-BE49-F238E27FC236}">
                <a16:creationId xmlns:a16="http://schemas.microsoft.com/office/drawing/2014/main" id="{5C1B0B01-7E2C-CAB9-C786-DFFFB6F15D8E}"/>
              </a:ext>
            </a:extLst>
          </p:cNvPr>
          <p:cNvSpPr>
            <a:spLocks noGrp="1"/>
          </p:cNvSpPr>
          <p:nvPr>
            <p:ph idx="1"/>
          </p:nvPr>
        </p:nvSpPr>
        <p:spPr/>
        <p:txBody>
          <a:bodyPr>
            <a:normAutofit/>
          </a:bodyPr>
          <a:lstStyle/>
          <a:p>
            <a:r>
              <a:rPr lang="en-US" dirty="0"/>
              <a:t>A GDB must store the graph in </a:t>
            </a:r>
            <a:r>
              <a:rPr lang="en-US" b="1" dirty="0"/>
              <a:t>formats</a:t>
            </a:r>
            <a:r>
              <a:rPr lang="en-US" dirty="0"/>
              <a:t> that facilitates high performance analytics by supporting the workload’s access patterns </a:t>
            </a:r>
          </a:p>
          <a:p>
            <a:pPr lvl="1"/>
            <a:r>
              <a:rPr lang="en-US" dirty="0"/>
              <a:t>Sequential access to data</a:t>
            </a:r>
          </a:p>
          <a:p>
            <a:pPr lvl="1"/>
            <a:r>
              <a:rPr lang="en-US" dirty="0"/>
              <a:t>Indexes to find the desired node and edge types</a:t>
            </a:r>
          </a:p>
          <a:p>
            <a:r>
              <a:rPr lang="en-US" dirty="0"/>
              <a:t>A GDB must provide an </a:t>
            </a:r>
            <a:r>
              <a:rPr lang="en-US" b="1" dirty="0"/>
              <a:t>API </a:t>
            </a:r>
            <a:r>
              <a:rPr lang="en-US" dirty="0"/>
              <a:t>that abstracts the inner representation of the data away from the user </a:t>
            </a:r>
          </a:p>
          <a:p>
            <a:pPr lvl="1"/>
            <a:r>
              <a:rPr lang="en-US" dirty="0"/>
              <a:t>The user doesn’t need to know what is the internal representation used by the DB</a:t>
            </a:r>
          </a:p>
          <a:p>
            <a:r>
              <a:rPr lang="en-US" dirty="0"/>
              <a:t>A GDB must provide a </a:t>
            </a:r>
            <a:r>
              <a:rPr lang="en-US" b="1" dirty="0"/>
              <a:t>framework</a:t>
            </a:r>
            <a:r>
              <a:rPr lang="en-US" dirty="0"/>
              <a:t> to support fast graph operations</a:t>
            </a:r>
          </a:p>
          <a:p>
            <a:pPr lvl="1"/>
            <a:r>
              <a:rPr lang="en-US" dirty="0"/>
              <a:t>Iterators are critical for performance and should be first class primitives</a:t>
            </a:r>
          </a:p>
        </p:txBody>
      </p:sp>
      <p:sp>
        <p:nvSpPr>
          <p:cNvPr id="5" name="Slide Number Placeholder 4">
            <a:extLst>
              <a:ext uri="{FF2B5EF4-FFF2-40B4-BE49-F238E27FC236}">
                <a16:creationId xmlns:a16="http://schemas.microsoft.com/office/drawing/2014/main" id="{392DE033-D9B9-BA07-D423-94D3214B44E8}"/>
              </a:ext>
            </a:extLst>
          </p:cNvPr>
          <p:cNvSpPr>
            <a:spLocks noGrp="1"/>
          </p:cNvSpPr>
          <p:nvPr>
            <p:ph type="sldNum" sz="quarter" idx="12"/>
          </p:nvPr>
        </p:nvSpPr>
        <p:spPr/>
        <p:txBody>
          <a:bodyPr/>
          <a:lstStyle/>
          <a:p>
            <a:fld id="{EEBEF218-D4C5-B946-BB13-027BCA6FFA2A}" type="slidenum">
              <a:rPr lang="en-US" smtClean="0"/>
              <a:t>4</a:t>
            </a:fld>
            <a:endParaRPr lang="en-US"/>
          </a:p>
        </p:txBody>
      </p:sp>
    </p:spTree>
    <p:extLst>
      <p:ext uri="{BB962C8B-B14F-4D97-AF65-F5344CB8AC3E}">
        <p14:creationId xmlns:p14="http://schemas.microsoft.com/office/powerpoint/2010/main" val="127796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6E0B-52F7-C3E0-B916-8CBEBC615F31}"/>
              </a:ext>
            </a:extLst>
          </p:cNvPr>
          <p:cNvSpPr>
            <a:spLocks noGrp="1"/>
          </p:cNvSpPr>
          <p:nvPr>
            <p:ph type="title"/>
          </p:nvPr>
        </p:nvSpPr>
        <p:spPr>
          <a:xfrm>
            <a:off x="225911" y="333262"/>
            <a:ext cx="11822653" cy="885040"/>
          </a:xfrm>
        </p:spPr>
        <p:txBody>
          <a:bodyPr>
            <a:normAutofit/>
          </a:bodyPr>
          <a:lstStyle/>
          <a:p>
            <a:r>
              <a:rPr lang="en-US" sz="4400" dirty="0"/>
              <a:t>4.2 Examine A Use Case: PageRank</a:t>
            </a:r>
          </a:p>
        </p:txBody>
      </p:sp>
      <p:sp>
        <p:nvSpPr>
          <p:cNvPr id="3" name="Content Placeholder 2">
            <a:extLst>
              <a:ext uri="{FF2B5EF4-FFF2-40B4-BE49-F238E27FC236}">
                <a16:creationId xmlns:a16="http://schemas.microsoft.com/office/drawing/2014/main" id="{FAB20AA1-F464-E089-02E7-FDDE5680B0E3}"/>
              </a:ext>
            </a:extLst>
          </p:cNvPr>
          <p:cNvSpPr>
            <a:spLocks noGrp="1"/>
          </p:cNvSpPr>
          <p:nvPr>
            <p:ph type="body" sz="half" idx="2"/>
          </p:nvPr>
        </p:nvSpPr>
        <p:spPr>
          <a:xfrm>
            <a:off x="225911" y="1267862"/>
            <a:ext cx="4768364" cy="1135046"/>
          </a:xfrm>
        </p:spPr>
        <p:txBody>
          <a:bodyPr>
            <a:normAutofit/>
          </a:bodyPr>
          <a:lstStyle/>
          <a:p>
            <a:pPr marL="285750" indent="-285750">
              <a:buFont typeface="Arial" panose="020B0604020202020204" pitchFamily="34" charset="0"/>
              <a:buChar char="•"/>
            </a:pPr>
            <a:r>
              <a:rPr lang="en-US" sz="2400" dirty="0"/>
              <a:t>PageRank computation involves accessing the neighborhood of every vertex in the graph</a:t>
            </a:r>
          </a:p>
        </p:txBody>
      </p:sp>
      <p:sp>
        <p:nvSpPr>
          <p:cNvPr id="4" name="Slide Number Placeholder 3">
            <a:extLst>
              <a:ext uri="{FF2B5EF4-FFF2-40B4-BE49-F238E27FC236}">
                <a16:creationId xmlns:a16="http://schemas.microsoft.com/office/drawing/2014/main" id="{09730656-2883-09EE-30E9-E9B84818285B}"/>
              </a:ext>
            </a:extLst>
          </p:cNvPr>
          <p:cNvSpPr>
            <a:spLocks noGrp="1"/>
          </p:cNvSpPr>
          <p:nvPr>
            <p:ph type="sldNum" sz="quarter" idx="12"/>
          </p:nvPr>
        </p:nvSpPr>
        <p:spPr/>
        <p:txBody>
          <a:bodyPr/>
          <a:lstStyle/>
          <a:p>
            <a:fld id="{EEBEF218-D4C5-B946-BB13-027BCA6FFA2A}" type="slidenum">
              <a:rPr lang="en-US" smtClean="0"/>
              <a:t>5</a:t>
            </a:fld>
            <a:endParaRPr lang="en-US"/>
          </a:p>
        </p:txBody>
      </p:sp>
      <p:pic>
        <p:nvPicPr>
          <p:cNvPr id="5" name="Picture 4">
            <a:extLst>
              <a:ext uri="{FF2B5EF4-FFF2-40B4-BE49-F238E27FC236}">
                <a16:creationId xmlns:a16="http://schemas.microsoft.com/office/drawing/2014/main" id="{84541A8F-7E74-A5B5-6D2F-D214C815D279}"/>
              </a:ext>
            </a:extLst>
          </p:cNvPr>
          <p:cNvPicPr>
            <a:picLocks noChangeAspect="1"/>
          </p:cNvPicPr>
          <p:nvPr/>
        </p:nvPicPr>
        <p:blipFill>
          <a:blip r:embed="rId3"/>
          <a:stretch>
            <a:fillRect/>
          </a:stretch>
        </p:blipFill>
        <p:spPr>
          <a:xfrm>
            <a:off x="5411245" y="1211202"/>
            <a:ext cx="6777580" cy="4897498"/>
          </a:xfrm>
          <a:prstGeom prst="rect">
            <a:avLst/>
          </a:prstGeom>
        </p:spPr>
      </p:pic>
      <p:sp>
        <p:nvSpPr>
          <p:cNvPr id="10" name="TextBox 9">
            <a:extLst>
              <a:ext uri="{FF2B5EF4-FFF2-40B4-BE49-F238E27FC236}">
                <a16:creationId xmlns:a16="http://schemas.microsoft.com/office/drawing/2014/main" id="{E7263BA0-8E6E-099B-81F4-68BAAB2F0365}"/>
              </a:ext>
            </a:extLst>
          </p:cNvPr>
          <p:cNvSpPr txBox="1"/>
          <p:nvPr/>
        </p:nvSpPr>
        <p:spPr>
          <a:xfrm>
            <a:off x="225911" y="2707213"/>
            <a:ext cx="4659240" cy="830997"/>
          </a:xfrm>
          <a:prstGeom prst="rect">
            <a:avLst/>
          </a:prstGeom>
          <a:solidFill>
            <a:srgbClr val="E57A77">
              <a:alpha val="40000"/>
            </a:srgbClr>
          </a:solidFill>
        </p:spPr>
        <p:txBody>
          <a:bodyPr wrap="square">
            <a:spAutoFit/>
          </a:bodyPr>
          <a:lstStyle/>
          <a:p>
            <a:pPr marL="285750" indent="-285750">
              <a:buFont typeface="Arial" panose="020B0604020202020204" pitchFamily="34" charset="0"/>
              <a:buChar char="•"/>
            </a:pPr>
            <a:r>
              <a:rPr lang="en-US" sz="2400" dirty="0"/>
              <a:t>Outer loop accesses the vertices in the graph</a:t>
            </a:r>
          </a:p>
        </p:txBody>
      </p:sp>
      <p:sp>
        <p:nvSpPr>
          <p:cNvPr id="14" name="TextBox 13">
            <a:extLst>
              <a:ext uri="{FF2B5EF4-FFF2-40B4-BE49-F238E27FC236}">
                <a16:creationId xmlns:a16="http://schemas.microsoft.com/office/drawing/2014/main" id="{B5267999-0A7E-0635-FEDA-0778922BAD0E}"/>
              </a:ext>
            </a:extLst>
          </p:cNvPr>
          <p:cNvSpPr txBox="1"/>
          <p:nvPr/>
        </p:nvSpPr>
        <p:spPr>
          <a:xfrm>
            <a:off x="225911" y="3708747"/>
            <a:ext cx="4659240" cy="1200329"/>
          </a:xfrm>
          <a:prstGeom prst="rect">
            <a:avLst/>
          </a:prstGeom>
          <a:solidFill>
            <a:srgbClr val="7CA0CB">
              <a:alpha val="39887"/>
            </a:srgbClr>
          </a:solidFill>
        </p:spPr>
        <p:txBody>
          <a:bodyPr wrap="square">
            <a:spAutoFit/>
          </a:bodyPr>
          <a:lstStyle/>
          <a:p>
            <a:pPr marL="285750" indent="-285750">
              <a:buFont typeface="Arial" panose="020B0604020202020204" pitchFamily="34" charset="0"/>
              <a:buChar char="•"/>
            </a:pPr>
            <a:r>
              <a:rPr lang="en-US" sz="2400" dirty="0"/>
              <a:t>Inner loop accesses each edge in a vertex’s in-neighborhood (Line 7)</a:t>
            </a:r>
          </a:p>
        </p:txBody>
      </p:sp>
      <p:sp>
        <p:nvSpPr>
          <p:cNvPr id="17" name="TextBox 16">
            <a:extLst>
              <a:ext uri="{FF2B5EF4-FFF2-40B4-BE49-F238E27FC236}">
                <a16:creationId xmlns:a16="http://schemas.microsoft.com/office/drawing/2014/main" id="{82B15683-87F4-F459-454B-734CECE167BA}"/>
              </a:ext>
            </a:extLst>
          </p:cNvPr>
          <p:cNvSpPr txBox="1"/>
          <p:nvPr/>
        </p:nvSpPr>
        <p:spPr>
          <a:xfrm>
            <a:off x="225911" y="5018309"/>
            <a:ext cx="4659240" cy="1200329"/>
          </a:xfrm>
          <a:prstGeom prst="rect">
            <a:avLst/>
          </a:prstGeom>
          <a:solidFill>
            <a:srgbClr val="E2C0B3">
              <a:alpha val="40000"/>
            </a:srgbClr>
          </a:solidFill>
        </p:spPr>
        <p:txBody>
          <a:bodyPr wrap="square">
            <a:spAutoFit/>
          </a:bodyPr>
          <a:lstStyle/>
          <a:p>
            <a:pPr marL="285750" indent="-285750">
              <a:buFont typeface="Arial" panose="020B0604020202020204" pitchFamily="34" charset="0"/>
              <a:buChar char="•"/>
            </a:pPr>
            <a:r>
              <a:rPr lang="en-US" sz="2400" dirty="0"/>
              <a:t>Access the results vector (Line 8):</a:t>
            </a:r>
          </a:p>
          <a:p>
            <a:pPr marL="742950" lvl="1" indent="-285750">
              <a:buFont typeface="Arial" panose="020B0604020202020204" pitchFamily="34" charset="0"/>
              <a:buChar char="•"/>
            </a:pPr>
            <a:r>
              <a:rPr lang="en-US" sz="2400" dirty="0"/>
              <a:t>For the vertex and all it’s in-neighbors</a:t>
            </a:r>
          </a:p>
        </p:txBody>
      </p:sp>
      <p:sp>
        <p:nvSpPr>
          <p:cNvPr id="19" name="Rectangle 18">
            <a:extLst>
              <a:ext uri="{FF2B5EF4-FFF2-40B4-BE49-F238E27FC236}">
                <a16:creationId xmlns:a16="http://schemas.microsoft.com/office/drawing/2014/main" id="{1DDE26B3-F040-2BB0-D3D8-7ECF29976BA3}"/>
              </a:ext>
            </a:extLst>
          </p:cNvPr>
          <p:cNvSpPr/>
          <p:nvPr/>
        </p:nvSpPr>
        <p:spPr>
          <a:xfrm>
            <a:off x="5411245" y="3655459"/>
            <a:ext cx="3093928" cy="247650"/>
          </a:xfrm>
          <a:prstGeom prst="rect">
            <a:avLst/>
          </a:prstGeom>
          <a:solidFill>
            <a:srgbClr val="E57A77">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C075E59-3FCE-BEBA-16AA-A7B7CD5238BC}"/>
              </a:ext>
            </a:extLst>
          </p:cNvPr>
          <p:cNvSpPr/>
          <p:nvPr/>
        </p:nvSpPr>
        <p:spPr>
          <a:xfrm>
            <a:off x="5411245" y="4356187"/>
            <a:ext cx="5148196" cy="341073"/>
          </a:xfrm>
          <a:prstGeom prst="rect">
            <a:avLst/>
          </a:prstGeom>
          <a:solidFill>
            <a:srgbClr val="E2C0B3">
              <a:alpha val="3960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896C4F3-24BB-6848-5590-58C768561F75}"/>
              </a:ext>
            </a:extLst>
          </p:cNvPr>
          <p:cNvSpPr/>
          <p:nvPr/>
        </p:nvSpPr>
        <p:spPr>
          <a:xfrm>
            <a:off x="5411245" y="4121752"/>
            <a:ext cx="3093928" cy="234435"/>
          </a:xfrm>
          <a:prstGeom prst="rect">
            <a:avLst/>
          </a:prstGeom>
          <a:solidFill>
            <a:srgbClr val="7CA0CB">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Curved Connector 27">
            <a:extLst>
              <a:ext uri="{FF2B5EF4-FFF2-40B4-BE49-F238E27FC236}">
                <a16:creationId xmlns:a16="http://schemas.microsoft.com/office/drawing/2014/main" id="{2E3C4643-41C4-78D8-D0C4-25F20EACC3A3}"/>
              </a:ext>
            </a:extLst>
          </p:cNvPr>
          <p:cNvCxnSpPr>
            <a:cxnSpLocks/>
            <a:stCxn id="10" idx="3"/>
            <a:endCxn id="19" idx="1"/>
          </p:cNvCxnSpPr>
          <p:nvPr/>
        </p:nvCxnSpPr>
        <p:spPr>
          <a:xfrm>
            <a:off x="4885151" y="3122712"/>
            <a:ext cx="526094" cy="65657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5879D955-3A69-AA54-230F-3C39170320D9}"/>
              </a:ext>
            </a:extLst>
          </p:cNvPr>
          <p:cNvCxnSpPr>
            <a:stCxn id="14" idx="3"/>
            <a:endCxn id="24" idx="1"/>
          </p:cNvCxnSpPr>
          <p:nvPr/>
        </p:nvCxnSpPr>
        <p:spPr>
          <a:xfrm flipV="1">
            <a:off x="4885151" y="4238970"/>
            <a:ext cx="526094" cy="699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urved Connector 32">
            <a:extLst>
              <a:ext uri="{FF2B5EF4-FFF2-40B4-BE49-F238E27FC236}">
                <a16:creationId xmlns:a16="http://schemas.microsoft.com/office/drawing/2014/main" id="{23188B82-6562-C695-7574-EED7C9152805}"/>
              </a:ext>
            </a:extLst>
          </p:cNvPr>
          <p:cNvCxnSpPr>
            <a:stCxn id="17" idx="3"/>
            <a:endCxn id="21" idx="1"/>
          </p:cNvCxnSpPr>
          <p:nvPr/>
        </p:nvCxnSpPr>
        <p:spPr>
          <a:xfrm flipV="1">
            <a:off x="4885151" y="4526724"/>
            <a:ext cx="526094" cy="109175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924B6D5-6958-440F-8C62-D3C1C65E87FC}"/>
              </a:ext>
            </a:extLst>
          </p:cNvPr>
          <p:cNvSpPr txBox="1"/>
          <p:nvPr/>
        </p:nvSpPr>
        <p:spPr>
          <a:xfrm>
            <a:off x="225911" y="6340929"/>
            <a:ext cx="9538060" cy="461665"/>
          </a:xfrm>
          <a:prstGeom prst="rect">
            <a:avLst/>
          </a:prstGeom>
          <a:noFill/>
        </p:spPr>
        <p:txBody>
          <a:bodyPr wrap="none" rtlCol="0">
            <a:spAutoFit/>
          </a:bodyPr>
          <a:lstStyle/>
          <a:p>
            <a:r>
              <a:rPr lang="en-US" sz="2400" dirty="0"/>
              <a:t>Ideally, our representation provides sequential access to all these elements</a:t>
            </a:r>
          </a:p>
        </p:txBody>
      </p:sp>
    </p:spTree>
    <p:extLst>
      <p:ext uri="{BB962C8B-B14F-4D97-AF65-F5344CB8AC3E}">
        <p14:creationId xmlns:p14="http://schemas.microsoft.com/office/powerpoint/2010/main" val="81505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6E0B-52F7-C3E0-B916-8CBEBC615F31}"/>
              </a:ext>
            </a:extLst>
          </p:cNvPr>
          <p:cNvSpPr>
            <a:spLocks noGrp="1"/>
          </p:cNvSpPr>
          <p:nvPr>
            <p:ph type="title"/>
          </p:nvPr>
        </p:nvSpPr>
        <p:spPr>
          <a:xfrm>
            <a:off x="574431" y="333262"/>
            <a:ext cx="11474133" cy="885040"/>
          </a:xfrm>
        </p:spPr>
        <p:txBody>
          <a:bodyPr>
            <a:normAutofit/>
          </a:bodyPr>
          <a:lstStyle/>
          <a:p>
            <a:r>
              <a:rPr lang="en-US" sz="4400" dirty="0"/>
              <a:t>4.2 Desiderata for Running PageRank</a:t>
            </a:r>
          </a:p>
        </p:txBody>
      </p:sp>
      <p:sp>
        <p:nvSpPr>
          <p:cNvPr id="3" name="Content Placeholder 2">
            <a:extLst>
              <a:ext uri="{FF2B5EF4-FFF2-40B4-BE49-F238E27FC236}">
                <a16:creationId xmlns:a16="http://schemas.microsoft.com/office/drawing/2014/main" id="{FAB20AA1-F464-E089-02E7-FDDE5680B0E3}"/>
              </a:ext>
            </a:extLst>
          </p:cNvPr>
          <p:cNvSpPr>
            <a:spLocks noGrp="1"/>
          </p:cNvSpPr>
          <p:nvPr>
            <p:ph type="body" sz="half" idx="2"/>
          </p:nvPr>
        </p:nvSpPr>
        <p:spPr>
          <a:xfrm>
            <a:off x="225911" y="1572166"/>
            <a:ext cx="5185334" cy="4664075"/>
          </a:xfrm>
        </p:spPr>
        <p:txBody>
          <a:bodyPr>
            <a:normAutofit/>
          </a:bodyPr>
          <a:lstStyle/>
          <a:p>
            <a:r>
              <a:rPr lang="en-US" sz="2400" dirty="0"/>
              <a:t>The graph store must provide an API for:</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r>
              <a:rPr lang="en-US" sz="2400" b="1" dirty="0"/>
              <a:t>Vertex iterator</a:t>
            </a:r>
            <a:r>
              <a:rPr lang="en-US" sz="2400" dirty="0"/>
              <a:t>: for efficient vertex scans</a:t>
            </a:r>
          </a:p>
          <a:p>
            <a:pPr marL="285750" indent="-285750">
              <a:buFont typeface="Arial" panose="020B0604020202020204" pitchFamily="34" charset="0"/>
              <a:buChar char="•"/>
            </a:pPr>
            <a:r>
              <a:rPr lang="en-US" sz="2400" b="1" dirty="0"/>
              <a:t>Neighborhood iterator</a:t>
            </a:r>
            <a:r>
              <a:rPr lang="en-US" sz="2400" dirty="0"/>
              <a:t>: for efficient neighborhood scans</a:t>
            </a:r>
          </a:p>
          <a:p>
            <a:pPr marL="285750" indent="-285750">
              <a:buFont typeface="Arial" panose="020B0604020202020204" pitchFamily="34" charset="0"/>
              <a:buChar char="•"/>
            </a:pPr>
            <a:r>
              <a:rPr lang="en-US" sz="2400" dirty="0"/>
              <a:t>? </a:t>
            </a:r>
          </a:p>
          <a:p>
            <a:pPr marL="285750" indent="-285750">
              <a:buFont typeface="Arial" panose="020B0604020202020204" pitchFamily="34" charset="0"/>
              <a:buChar char="•"/>
            </a:pPr>
            <a:endParaRPr lang="en-US" sz="2400" dirty="0"/>
          </a:p>
        </p:txBody>
      </p:sp>
      <p:sp>
        <p:nvSpPr>
          <p:cNvPr id="4" name="Slide Number Placeholder 3">
            <a:extLst>
              <a:ext uri="{FF2B5EF4-FFF2-40B4-BE49-F238E27FC236}">
                <a16:creationId xmlns:a16="http://schemas.microsoft.com/office/drawing/2014/main" id="{09730656-2883-09EE-30E9-E9B84818285B}"/>
              </a:ext>
            </a:extLst>
          </p:cNvPr>
          <p:cNvSpPr>
            <a:spLocks noGrp="1"/>
          </p:cNvSpPr>
          <p:nvPr>
            <p:ph type="sldNum" sz="quarter" idx="12"/>
          </p:nvPr>
        </p:nvSpPr>
        <p:spPr/>
        <p:txBody>
          <a:bodyPr/>
          <a:lstStyle/>
          <a:p>
            <a:fld id="{EEBEF218-D4C5-B946-BB13-027BCA6FFA2A}" type="slidenum">
              <a:rPr lang="en-US" smtClean="0"/>
              <a:t>6</a:t>
            </a:fld>
            <a:endParaRPr lang="en-US"/>
          </a:p>
        </p:txBody>
      </p:sp>
      <p:pic>
        <p:nvPicPr>
          <p:cNvPr id="5" name="Picture 4">
            <a:extLst>
              <a:ext uri="{FF2B5EF4-FFF2-40B4-BE49-F238E27FC236}">
                <a16:creationId xmlns:a16="http://schemas.microsoft.com/office/drawing/2014/main" id="{84541A8F-7E74-A5B5-6D2F-D214C815D279}"/>
              </a:ext>
            </a:extLst>
          </p:cNvPr>
          <p:cNvPicPr>
            <a:picLocks noChangeAspect="1"/>
          </p:cNvPicPr>
          <p:nvPr/>
        </p:nvPicPr>
        <p:blipFill>
          <a:blip r:embed="rId3"/>
          <a:stretch>
            <a:fillRect/>
          </a:stretch>
        </p:blipFill>
        <p:spPr>
          <a:xfrm>
            <a:off x="5411245" y="1211202"/>
            <a:ext cx="6777580" cy="4897498"/>
          </a:xfrm>
          <a:prstGeom prst="rect">
            <a:avLst/>
          </a:prstGeom>
        </p:spPr>
      </p:pic>
    </p:spTree>
    <p:extLst>
      <p:ext uri="{BB962C8B-B14F-4D97-AF65-F5344CB8AC3E}">
        <p14:creationId xmlns:p14="http://schemas.microsoft.com/office/powerpoint/2010/main" val="2989863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67B16E0B-52F7-C3E0-B916-8CBEBC615F31}"/>
              </a:ext>
            </a:extLst>
          </p:cNvPr>
          <p:cNvSpPr>
            <a:spLocks noGrp="1"/>
          </p:cNvSpPr>
          <p:nvPr>
            <p:ph type="title"/>
          </p:nvPr>
        </p:nvSpPr>
        <p:spPr>
          <a:xfrm>
            <a:off x="160077" y="3429000"/>
            <a:ext cx="3981854" cy="2216513"/>
          </a:xfrm>
        </p:spPr>
        <p:txBody>
          <a:bodyPr vert="horz" lIns="91440" tIns="45720" rIns="91440" bIns="45720" rtlCol="0" anchor="ctr">
            <a:normAutofit/>
          </a:bodyPr>
          <a:lstStyle/>
          <a:p>
            <a:r>
              <a:rPr lang="en-US" sz="4400" kern="1200" dirty="0">
                <a:solidFill>
                  <a:schemeClr val="tx1"/>
                </a:solidFill>
                <a:latin typeface="+mj-lt"/>
                <a:ea typeface="+mj-ea"/>
                <a:cs typeface="+mj-cs"/>
              </a:rPr>
              <a:t>4.2 Examine Querying a Social Network</a:t>
            </a:r>
          </a:p>
        </p:txBody>
      </p:sp>
      <p:sp>
        <p:nvSpPr>
          <p:cNvPr id="26" name="Arc 25">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2" name="Picture 11" descr="A diagram of a company&#10;&#10;Description automatically generated">
            <a:extLst>
              <a:ext uri="{FF2B5EF4-FFF2-40B4-BE49-F238E27FC236}">
                <a16:creationId xmlns:a16="http://schemas.microsoft.com/office/drawing/2014/main" id="{60B9477C-17F7-F0C6-A193-0CCF21F53D73}"/>
              </a:ext>
            </a:extLst>
          </p:cNvPr>
          <p:cNvPicPr>
            <a:picLocks noChangeAspect="1"/>
          </p:cNvPicPr>
          <p:nvPr/>
        </p:nvPicPr>
        <p:blipFill>
          <a:blip r:embed="rId2"/>
          <a:stretch>
            <a:fillRect/>
          </a:stretch>
        </p:blipFill>
        <p:spPr>
          <a:xfrm>
            <a:off x="0" y="218502"/>
            <a:ext cx="12196680" cy="2652775"/>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4" name="Slide Number Placeholder 3">
            <a:extLst>
              <a:ext uri="{FF2B5EF4-FFF2-40B4-BE49-F238E27FC236}">
                <a16:creationId xmlns:a16="http://schemas.microsoft.com/office/drawing/2014/main" id="{09730656-2883-09EE-30E9-E9B84818285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EBEF218-D4C5-B946-BB13-027BCA6FFA2A}" type="slidenum">
              <a:rPr lang="en-US" smtClean="0">
                <a:solidFill>
                  <a:schemeClr val="tx1">
                    <a:tint val="75000"/>
                  </a:schemeClr>
                </a:solidFill>
              </a:rPr>
              <a:pPr>
                <a:spcAft>
                  <a:spcPts val="600"/>
                </a:spcAft>
              </a:pPr>
              <a:t>7</a:t>
            </a:fld>
            <a:endParaRPr lang="en-US">
              <a:solidFill>
                <a:schemeClr val="tx1">
                  <a:tint val="75000"/>
                </a:schemeClr>
              </a:solidFill>
            </a:endParaRPr>
          </a:p>
        </p:txBody>
      </p:sp>
      <p:sp>
        <p:nvSpPr>
          <p:cNvPr id="13" name="Oval 12">
            <a:extLst>
              <a:ext uri="{FF2B5EF4-FFF2-40B4-BE49-F238E27FC236}">
                <a16:creationId xmlns:a16="http://schemas.microsoft.com/office/drawing/2014/main" id="{F19AC751-5907-BAB0-1A3D-336837B3A864}"/>
              </a:ext>
            </a:extLst>
          </p:cNvPr>
          <p:cNvSpPr/>
          <p:nvPr/>
        </p:nvSpPr>
        <p:spPr>
          <a:xfrm>
            <a:off x="8926286" y="3802743"/>
            <a:ext cx="3265714" cy="30552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B4380E71-FFD5-1EE3-F52E-700C088F1CFF}"/>
              </a:ext>
            </a:extLst>
          </p:cNvPr>
          <p:cNvSpPr>
            <a:spLocks noGrp="1"/>
          </p:cNvSpPr>
          <p:nvPr>
            <p:ph type="body" sz="half" idx="2"/>
          </p:nvPr>
        </p:nvSpPr>
        <p:spPr>
          <a:xfrm>
            <a:off x="4409812" y="3089780"/>
            <a:ext cx="7622111" cy="3365738"/>
          </a:xfrm>
        </p:spPr>
        <p:txBody>
          <a:bodyPr vert="horz" lIns="91440" tIns="45720" rIns="91440" bIns="45720" rtlCol="0">
            <a:normAutofit/>
          </a:bodyPr>
          <a:lstStyle/>
          <a:p>
            <a:pPr indent="-228600">
              <a:buFont typeface="Arial" panose="020B0604020202020204" pitchFamily="34" charset="0"/>
              <a:buChar char="•"/>
            </a:pPr>
            <a:r>
              <a:rPr lang="en-US" sz="2800" dirty="0"/>
              <a:t>Examine </a:t>
            </a:r>
            <a:r>
              <a:rPr lang="en-US" sz="2800" b="1" dirty="0"/>
              <a:t>LDBC SNB Interactive IC1 Query </a:t>
            </a:r>
            <a:r>
              <a:rPr lang="en-US" sz="2800" dirty="0"/>
              <a:t>to find </a:t>
            </a:r>
            <a:r>
              <a:rPr lang="en-CA" sz="2800" dirty="0"/>
              <a:t>transitive friends with certain name</a:t>
            </a:r>
            <a:endParaRPr lang="en-US" sz="2800" dirty="0"/>
          </a:p>
          <a:p>
            <a:pPr indent="-228600">
              <a:buFont typeface="Arial" panose="020B0604020202020204" pitchFamily="34" charset="0"/>
              <a:buChar char="•"/>
            </a:pPr>
            <a:r>
              <a:rPr lang="en-US" sz="2800" dirty="0"/>
              <a:t>Given a start Person with ID </a:t>
            </a:r>
            <a:r>
              <a:rPr lang="en-US" sz="2800" b="1" dirty="0"/>
              <a:t>$</a:t>
            </a:r>
            <a:r>
              <a:rPr lang="en-US" sz="2800" b="1" dirty="0" err="1"/>
              <a:t>personId</a:t>
            </a:r>
            <a:r>
              <a:rPr lang="en-US" sz="2800" dirty="0"/>
              <a:t>, find Persons with a given first name (</a:t>
            </a:r>
            <a:r>
              <a:rPr lang="en-US" sz="2800" b="1" dirty="0"/>
              <a:t>$</a:t>
            </a:r>
            <a:r>
              <a:rPr lang="en-US" sz="2800" b="1" dirty="0" err="1"/>
              <a:t>firstName</a:t>
            </a:r>
            <a:r>
              <a:rPr lang="en-US" sz="2800" dirty="0"/>
              <a:t>) that the start Person is connected to (excluding start Person) by at most 3 steps via the knows relationships.</a:t>
            </a:r>
          </a:p>
        </p:txBody>
      </p:sp>
    </p:spTree>
    <p:extLst>
      <p:ext uri="{BB962C8B-B14F-4D97-AF65-F5344CB8AC3E}">
        <p14:creationId xmlns:p14="http://schemas.microsoft.com/office/powerpoint/2010/main" val="168995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6E0B-52F7-C3E0-B916-8CBEBC615F31}"/>
              </a:ext>
            </a:extLst>
          </p:cNvPr>
          <p:cNvSpPr>
            <a:spLocks noGrp="1"/>
          </p:cNvSpPr>
          <p:nvPr>
            <p:ph type="title"/>
          </p:nvPr>
        </p:nvSpPr>
        <p:spPr/>
        <p:txBody>
          <a:bodyPr vert="horz" lIns="91440" tIns="45720" rIns="91440" bIns="45720" rtlCol="0" anchor="ctr">
            <a:normAutofit/>
          </a:bodyPr>
          <a:lstStyle/>
          <a:p>
            <a:r>
              <a:rPr lang="en-US" dirty="0"/>
              <a:t>4.2 Desiderata for</a:t>
            </a:r>
            <a:r>
              <a:rPr lang="en-US" sz="4400" kern="1200" dirty="0">
                <a:solidFill>
                  <a:schemeClr val="tx1"/>
                </a:solidFill>
                <a:latin typeface="+mj-lt"/>
                <a:ea typeface="+mj-ea"/>
                <a:cs typeface="+mj-cs"/>
              </a:rPr>
              <a:t> Querying a Social Network</a:t>
            </a:r>
          </a:p>
        </p:txBody>
      </p:sp>
      <p:sp>
        <p:nvSpPr>
          <p:cNvPr id="7" name="Text Placeholder 6">
            <a:extLst>
              <a:ext uri="{FF2B5EF4-FFF2-40B4-BE49-F238E27FC236}">
                <a16:creationId xmlns:a16="http://schemas.microsoft.com/office/drawing/2014/main" id="{B4380E71-FFD5-1EE3-F52E-700C088F1CFF}"/>
              </a:ext>
            </a:extLst>
          </p:cNvPr>
          <p:cNvSpPr>
            <a:spLocks noGrp="1"/>
          </p:cNvSpPr>
          <p:nvPr>
            <p:ph sz="half" idx="1"/>
          </p:nvPr>
        </p:nvSpPr>
        <p:spPr>
          <a:xfrm>
            <a:off x="6516915" y="1847850"/>
            <a:ext cx="5181600" cy="4351338"/>
          </a:xfrm>
        </p:spPr>
        <p:txBody>
          <a:bodyPr vert="horz" lIns="91440" tIns="45720" rIns="91440" bIns="45720" rtlCol="0">
            <a:normAutofit/>
          </a:bodyPr>
          <a:lstStyle/>
          <a:p>
            <a:pPr indent="-228600">
              <a:buFont typeface="Arial" panose="020B0604020202020204" pitchFamily="34" charset="0"/>
              <a:buChar char="•"/>
            </a:pPr>
            <a:r>
              <a:rPr lang="en-US" sz="2800" dirty="0"/>
              <a:t>Assume that the “knows” relationship graph has been materialized</a:t>
            </a:r>
          </a:p>
          <a:p>
            <a:pPr indent="-228600">
              <a:buFont typeface="Arial" panose="020B0604020202020204" pitchFamily="34" charset="0"/>
              <a:buChar char="•"/>
            </a:pPr>
            <a:r>
              <a:rPr lang="en-US" sz="2800" dirty="0"/>
              <a:t>The system provides neighborhood iterators</a:t>
            </a:r>
          </a:p>
          <a:p>
            <a:pPr indent="-228600">
              <a:buFont typeface="Arial" panose="020B0604020202020204" pitchFamily="34" charset="0"/>
              <a:buChar char="•"/>
            </a:pPr>
            <a:r>
              <a:rPr lang="en-US" sz="2800" dirty="0"/>
              <a:t>This query needs an API call to:</a:t>
            </a:r>
          </a:p>
          <a:p>
            <a:pPr lvl="1"/>
            <a:r>
              <a:rPr lang="en-US" dirty="0"/>
              <a:t>Find a node’s neighbors</a:t>
            </a:r>
          </a:p>
          <a:p>
            <a:pPr lvl="1"/>
            <a:r>
              <a:rPr lang="en-US" dirty="0"/>
              <a:t>Get a node’s properties </a:t>
            </a:r>
          </a:p>
        </p:txBody>
      </p:sp>
      <p:sp>
        <p:nvSpPr>
          <p:cNvPr id="4" name="Slide Number Placeholder 3">
            <a:extLst>
              <a:ext uri="{FF2B5EF4-FFF2-40B4-BE49-F238E27FC236}">
                <a16:creationId xmlns:a16="http://schemas.microsoft.com/office/drawing/2014/main" id="{09730656-2883-09EE-30E9-E9B84818285B}"/>
              </a:ext>
            </a:extLst>
          </p:cNvPr>
          <p:cNvSpPr>
            <a:spLocks noGrp="1"/>
          </p:cNvSpPr>
          <p:nvPr>
            <p:ph type="sldNum" sz="quarter" idx="12"/>
          </p:nvPr>
        </p:nvSpPr>
        <p:spPr/>
        <p:txBody>
          <a:bodyPr vert="horz" lIns="91440" tIns="45720" rIns="91440" bIns="45720" rtlCol="0" anchor="ctr">
            <a:normAutofit/>
          </a:bodyPr>
          <a:lstStyle/>
          <a:p>
            <a:pPr>
              <a:spcAft>
                <a:spcPts val="600"/>
              </a:spcAft>
            </a:pPr>
            <a:fld id="{EEBEF218-D4C5-B946-BB13-027BCA6FFA2A}" type="slidenum">
              <a:rPr lang="en-US" smtClean="0">
                <a:solidFill>
                  <a:schemeClr val="tx1">
                    <a:tint val="75000"/>
                  </a:schemeClr>
                </a:solidFill>
              </a:rPr>
              <a:pPr>
                <a:spcAft>
                  <a:spcPts val="600"/>
                </a:spcAft>
              </a:pPr>
              <a:t>8</a:t>
            </a:fld>
            <a:endParaRPr lang="en-US">
              <a:solidFill>
                <a:schemeClr val="tx1">
                  <a:tint val="75000"/>
                </a:schemeClr>
              </a:solidFill>
            </a:endParaRPr>
          </a:p>
        </p:txBody>
      </p:sp>
      <p:sp>
        <p:nvSpPr>
          <p:cNvPr id="5" name="Text Placeholder 6">
            <a:extLst>
              <a:ext uri="{FF2B5EF4-FFF2-40B4-BE49-F238E27FC236}">
                <a16:creationId xmlns:a16="http://schemas.microsoft.com/office/drawing/2014/main" id="{823AEC43-E877-161F-462A-6E970C763E01}"/>
              </a:ext>
            </a:extLst>
          </p:cNvPr>
          <p:cNvSpPr>
            <a:spLocks noGrp="1"/>
          </p:cNvSpPr>
          <p:nvPr>
            <p:ph sz="half" idx="2"/>
          </p:nvPr>
        </p:nvSpPr>
        <p:spPr>
          <a:xfrm>
            <a:off x="838200" y="1847850"/>
            <a:ext cx="5181600" cy="4351338"/>
          </a:xfrm>
        </p:spPr>
        <p:txBody>
          <a:bodyPr vert="horz" lIns="91440" tIns="45720" rIns="91440" bIns="45720" rtlCol="0">
            <a:normAutofit/>
          </a:bodyPr>
          <a:lstStyle/>
          <a:p>
            <a:pPr indent="-228600">
              <a:buFont typeface="Arial" panose="020B0604020202020204" pitchFamily="34" charset="0"/>
              <a:buChar char="•"/>
            </a:pPr>
            <a:r>
              <a:rPr lang="en-US" sz="2800" dirty="0"/>
              <a:t>Examine </a:t>
            </a:r>
            <a:r>
              <a:rPr lang="en-US" sz="2800" b="1" dirty="0"/>
              <a:t>LDBC SNB Interactive IC1 Query </a:t>
            </a:r>
            <a:r>
              <a:rPr lang="en-US" sz="2800" dirty="0"/>
              <a:t>to find </a:t>
            </a:r>
            <a:r>
              <a:rPr lang="en-CA" sz="2800" dirty="0"/>
              <a:t>transitive friends with certain name</a:t>
            </a:r>
            <a:endParaRPr lang="en-US" sz="2800" dirty="0"/>
          </a:p>
          <a:p>
            <a:pPr indent="-228600">
              <a:buFont typeface="Arial" panose="020B0604020202020204" pitchFamily="34" charset="0"/>
              <a:buChar char="•"/>
            </a:pPr>
            <a:r>
              <a:rPr lang="en-US" sz="2800" dirty="0"/>
              <a:t>Given a start Person with ID </a:t>
            </a:r>
            <a:r>
              <a:rPr lang="en-US" sz="2800" b="1" dirty="0"/>
              <a:t>$</a:t>
            </a:r>
            <a:r>
              <a:rPr lang="en-US" sz="2800" b="1" dirty="0" err="1"/>
              <a:t>personId</a:t>
            </a:r>
            <a:r>
              <a:rPr lang="en-US" sz="2800" dirty="0"/>
              <a:t>, find Persons with a given first name (</a:t>
            </a:r>
            <a:r>
              <a:rPr lang="en-US" sz="2800" b="1" dirty="0"/>
              <a:t>$</a:t>
            </a:r>
            <a:r>
              <a:rPr lang="en-US" sz="2800" b="1" dirty="0" err="1"/>
              <a:t>firstName</a:t>
            </a:r>
            <a:r>
              <a:rPr lang="en-US" sz="2800" dirty="0"/>
              <a:t>) that the start Person is connected to (excluding start Person) by at most 3 steps via the knows relationships.</a:t>
            </a:r>
          </a:p>
        </p:txBody>
      </p:sp>
    </p:spTree>
    <p:extLst>
      <p:ext uri="{BB962C8B-B14F-4D97-AF65-F5344CB8AC3E}">
        <p14:creationId xmlns:p14="http://schemas.microsoft.com/office/powerpoint/2010/main" val="2374684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F12ED-456E-BAED-281B-8F9FE4E7131B}"/>
              </a:ext>
            </a:extLst>
          </p:cNvPr>
          <p:cNvSpPr>
            <a:spLocks noGrp="1"/>
          </p:cNvSpPr>
          <p:nvPr>
            <p:ph type="title"/>
          </p:nvPr>
        </p:nvSpPr>
        <p:spPr/>
        <p:txBody>
          <a:bodyPr/>
          <a:lstStyle/>
          <a:p>
            <a:r>
              <a:rPr lang="en-US" dirty="0"/>
              <a:t>4.3 Flexograph Architecture</a:t>
            </a:r>
          </a:p>
        </p:txBody>
      </p:sp>
      <p:sp>
        <p:nvSpPr>
          <p:cNvPr id="7" name="Content Placeholder 6">
            <a:extLst>
              <a:ext uri="{FF2B5EF4-FFF2-40B4-BE49-F238E27FC236}">
                <a16:creationId xmlns:a16="http://schemas.microsoft.com/office/drawing/2014/main" id="{C8B77D4E-FDF0-2DFE-153B-59C3DDCF605F}"/>
              </a:ext>
            </a:extLst>
          </p:cNvPr>
          <p:cNvSpPr>
            <a:spLocks noGrp="1"/>
          </p:cNvSpPr>
          <p:nvPr>
            <p:ph sz="half" idx="1"/>
          </p:nvPr>
        </p:nvSpPr>
        <p:spPr/>
        <p:txBody>
          <a:bodyPr/>
          <a:lstStyle/>
          <a:p>
            <a:r>
              <a:rPr lang="en-US" dirty="0"/>
              <a:t>In the previous section we saw the components needed to build a graph database</a:t>
            </a:r>
          </a:p>
          <a:p>
            <a:r>
              <a:rPr lang="en-US" dirty="0"/>
              <a:t>We now examine the architecture of Flexograph and its three building blocks: the </a:t>
            </a:r>
            <a:r>
              <a:rPr lang="en-US" b="1" dirty="0"/>
              <a:t>representations</a:t>
            </a:r>
            <a:r>
              <a:rPr lang="en-US" dirty="0"/>
              <a:t>, the </a:t>
            </a:r>
            <a:r>
              <a:rPr lang="en-US" b="1" dirty="0"/>
              <a:t>API</a:t>
            </a:r>
            <a:r>
              <a:rPr lang="en-US" dirty="0"/>
              <a:t>, and the </a:t>
            </a:r>
            <a:r>
              <a:rPr lang="en-US" b="1" dirty="0"/>
              <a:t>framework</a:t>
            </a:r>
            <a:r>
              <a:rPr lang="en-US" dirty="0"/>
              <a:t> for higher level access primitives</a:t>
            </a:r>
          </a:p>
        </p:txBody>
      </p:sp>
      <p:sp>
        <p:nvSpPr>
          <p:cNvPr id="5" name="Slide Number Placeholder 4">
            <a:extLst>
              <a:ext uri="{FF2B5EF4-FFF2-40B4-BE49-F238E27FC236}">
                <a16:creationId xmlns:a16="http://schemas.microsoft.com/office/drawing/2014/main" id="{C71D5E94-1BF3-2863-B618-3BC59CCE2665}"/>
              </a:ext>
            </a:extLst>
          </p:cNvPr>
          <p:cNvSpPr>
            <a:spLocks noGrp="1"/>
          </p:cNvSpPr>
          <p:nvPr>
            <p:ph type="sldNum" sz="quarter" idx="12"/>
          </p:nvPr>
        </p:nvSpPr>
        <p:spPr/>
        <p:txBody>
          <a:bodyPr/>
          <a:lstStyle/>
          <a:p>
            <a:fld id="{EEBEF218-D4C5-B946-BB13-027BCA6FFA2A}" type="slidenum">
              <a:rPr lang="en-US" smtClean="0"/>
              <a:t>9</a:t>
            </a:fld>
            <a:endParaRPr lang="en-US"/>
          </a:p>
        </p:txBody>
      </p:sp>
      <p:sp>
        <p:nvSpPr>
          <p:cNvPr id="11" name="Shape 4">
            <a:extLst>
              <a:ext uri="{FF2B5EF4-FFF2-40B4-BE49-F238E27FC236}">
                <a16:creationId xmlns:a16="http://schemas.microsoft.com/office/drawing/2014/main" id="{12F13D56-F26E-36C8-0183-F258C754B8A3}"/>
              </a:ext>
            </a:extLst>
          </p:cNvPr>
          <p:cNvSpPr txBox="1"/>
          <p:nvPr/>
        </p:nvSpPr>
        <p:spPr>
          <a:xfrm>
            <a:off x="7326452" y="4881021"/>
            <a:ext cx="1192106" cy="11921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Storage Backend</a:t>
            </a:r>
          </a:p>
        </p:txBody>
      </p:sp>
      <p:graphicFrame>
        <p:nvGraphicFramePr>
          <p:cNvPr id="12" name="Diagram 11">
            <a:extLst>
              <a:ext uri="{FF2B5EF4-FFF2-40B4-BE49-F238E27FC236}">
                <a16:creationId xmlns:a16="http://schemas.microsoft.com/office/drawing/2014/main" id="{A869848C-75FE-A641-08A0-4A883BD86C5A}"/>
              </a:ext>
            </a:extLst>
          </p:cNvPr>
          <p:cNvGraphicFramePr/>
          <p:nvPr>
            <p:extLst>
              <p:ext uri="{D42A27DB-BD31-4B8C-83A1-F6EECF244321}">
                <p14:modId xmlns:p14="http://schemas.microsoft.com/office/powerpoint/2010/main" val="1019878231"/>
              </p:ext>
            </p:extLst>
          </p:nvPr>
        </p:nvGraphicFramePr>
        <p:xfrm>
          <a:off x="5321597" y="0"/>
          <a:ext cx="6019798"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8468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8DB8-BCA5-F81A-05FD-7072CBCEC692}"/>
              </a:ext>
            </a:extLst>
          </p:cNvPr>
          <p:cNvSpPr>
            <a:spLocks noGrp="1"/>
          </p:cNvSpPr>
          <p:nvPr>
            <p:ph type="title"/>
          </p:nvPr>
        </p:nvSpPr>
        <p:spPr/>
        <p:txBody>
          <a:bodyPr/>
          <a:lstStyle/>
          <a:p>
            <a:r>
              <a:rPr lang="en-US" dirty="0"/>
              <a:t>4.3.1 Graph API</a:t>
            </a:r>
          </a:p>
        </p:txBody>
      </p:sp>
      <p:sp>
        <p:nvSpPr>
          <p:cNvPr id="6" name="Content Placeholder 5">
            <a:extLst>
              <a:ext uri="{FF2B5EF4-FFF2-40B4-BE49-F238E27FC236}">
                <a16:creationId xmlns:a16="http://schemas.microsoft.com/office/drawing/2014/main" id="{62395C89-C082-A2EB-62D5-CAEA641F6BF8}"/>
              </a:ext>
            </a:extLst>
          </p:cNvPr>
          <p:cNvSpPr>
            <a:spLocks noGrp="1"/>
          </p:cNvSpPr>
          <p:nvPr>
            <p:ph idx="1"/>
          </p:nvPr>
        </p:nvSpPr>
        <p:spPr/>
        <p:txBody>
          <a:bodyPr>
            <a:normAutofit/>
          </a:bodyPr>
          <a:lstStyle/>
          <a:p>
            <a:r>
              <a:rPr lang="en-US" dirty="0"/>
              <a:t>The Graph API provides the user a means to interact with the graph that elides the underlying storage backend or the representation used to store the graph</a:t>
            </a:r>
          </a:p>
          <a:p>
            <a:pPr lvl="1"/>
            <a:r>
              <a:rPr lang="en-US" dirty="0"/>
              <a:t>This increases portability of the application code</a:t>
            </a:r>
          </a:p>
          <a:p>
            <a:pPr lvl="1"/>
            <a:endParaRPr lang="en-US" dirty="0"/>
          </a:p>
          <a:p>
            <a:r>
              <a:rPr lang="en-US" dirty="0"/>
              <a:t>The Graph API must provide methods for:</a:t>
            </a:r>
          </a:p>
          <a:p>
            <a:pPr lvl="1"/>
            <a:r>
              <a:rPr lang="en-US" b="1" dirty="0"/>
              <a:t>Structural</a:t>
            </a:r>
            <a:r>
              <a:rPr lang="en-US" dirty="0"/>
              <a:t> manipulation and querying (add/delete nodes and edges, get degrees, get a node’s neighborhood)</a:t>
            </a:r>
          </a:p>
          <a:p>
            <a:pPr lvl="1"/>
            <a:r>
              <a:rPr lang="en-US" b="1" dirty="0">
                <a:highlight>
                  <a:srgbClr val="C0C0C0"/>
                </a:highlight>
              </a:rPr>
              <a:t>Property and Label </a:t>
            </a:r>
            <a:r>
              <a:rPr lang="en-US" dirty="0">
                <a:highlight>
                  <a:srgbClr val="C0C0C0"/>
                </a:highlight>
              </a:rPr>
              <a:t>manipulation and querying (add/query/remove property)</a:t>
            </a:r>
          </a:p>
          <a:p>
            <a:pPr lvl="1"/>
            <a:r>
              <a:rPr lang="en-US" dirty="0"/>
              <a:t>Adding and retrieving </a:t>
            </a:r>
            <a:r>
              <a:rPr lang="en-US" b="1" dirty="0"/>
              <a:t>Metadata</a:t>
            </a:r>
            <a:r>
              <a:rPr lang="en-US" dirty="0"/>
              <a:t> (querying the num nodes/edges, etc.)</a:t>
            </a:r>
          </a:p>
        </p:txBody>
      </p:sp>
      <p:sp>
        <p:nvSpPr>
          <p:cNvPr id="5" name="Slide Number Placeholder 4">
            <a:extLst>
              <a:ext uri="{FF2B5EF4-FFF2-40B4-BE49-F238E27FC236}">
                <a16:creationId xmlns:a16="http://schemas.microsoft.com/office/drawing/2014/main" id="{32207CA5-2ED0-1A0B-BDDA-D9F6E1372CF1}"/>
              </a:ext>
            </a:extLst>
          </p:cNvPr>
          <p:cNvSpPr>
            <a:spLocks noGrp="1"/>
          </p:cNvSpPr>
          <p:nvPr>
            <p:ph type="sldNum" sz="quarter" idx="12"/>
          </p:nvPr>
        </p:nvSpPr>
        <p:spPr/>
        <p:txBody>
          <a:bodyPr/>
          <a:lstStyle/>
          <a:p>
            <a:fld id="{EEBEF218-D4C5-B946-BB13-027BCA6FFA2A}" type="slidenum">
              <a:rPr lang="en-US" smtClean="0"/>
              <a:t>10</a:t>
            </a:fld>
            <a:endParaRPr lang="en-US"/>
          </a:p>
        </p:txBody>
      </p:sp>
    </p:spTree>
    <p:extLst>
      <p:ext uri="{BB962C8B-B14F-4D97-AF65-F5344CB8AC3E}">
        <p14:creationId xmlns:p14="http://schemas.microsoft.com/office/powerpoint/2010/main" val="3999592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8DB8-BCA5-F81A-05FD-7072CBCEC692}"/>
              </a:ext>
            </a:extLst>
          </p:cNvPr>
          <p:cNvSpPr>
            <a:spLocks noGrp="1"/>
          </p:cNvSpPr>
          <p:nvPr>
            <p:ph type="title"/>
          </p:nvPr>
        </p:nvSpPr>
        <p:spPr/>
        <p:txBody>
          <a:bodyPr/>
          <a:lstStyle/>
          <a:p>
            <a:r>
              <a:rPr lang="en-US" dirty="0"/>
              <a:t>4.3.1 Graph API</a:t>
            </a:r>
          </a:p>
        </p:txBody>
      </p:sp>
      <p:sp>
        <p:nvSpPr>
          <p:cNvPr id="6" name="Content Placeholder 5">
            <a:extLst>
              <a:ext uri="{FF2B5EF4-FFF2-40B4-BE49-F238E27FC236}">
                <a16:creationId xmlns:a16="http://schemas.microsoft.com/office/drawing/2014/main" id="{62395C89-C082-A2EB-62D5-CAEA641F6BF8}"/>
              </a:ext>
            </a:extLst>
          </p:cNvPr>
          <p:cNvSpPr>
            <a:spLocks noGrp="1"/>
          </p:cNvSpPr>
          <p:nvPr>
            <p:ph idx="1"/>
          </p:nvPr>
        </p:nvSpPr>
        <p:spPr/>
        <p:txBody>
          <a:bodyPr>
            <a:normAutofit fontScale="92500" lnSpcReduction="10000"/>
          </a:bodyPr>
          <a:lstStyle/>
          <a:p>
            <a:r>
              <a:rPr lang="en-US" dirty="0"/>
              <a:t>Different parts of the graph need different consistency guarantees</a:t>
            </a:r>
          </a:p>
          <a:p>
            <a:r>
              <a:rPr lang="en-US" dirty="0"/>
              <a:t>The structure of the graph can never be inconsistent:</a:t>
            </a:r>
          </a:p>
          <a:p>
            <a:pPr lvl="1"/>
            <a:r>
              <a:rPr lang="en-US" dirty="0"/>
              <a:t>Ex: the reverse edge must be atomically created for undirected graphs, an edge can only connect existing nodes</a:t>
            </a:r>
          </a:p>
          <a:p>
            <a:r>
              <a:rPr lang="en-US" dirty="0">
                <a:highlight>
                  <a:srgbClr val="C0C0C0"/>
                </a:highlight>
              </a:rPr>
              <a:t>The properties/Labels of an element must also always be consistent</a:t>
            </a:r>
          </a:p>
          <a:p>
            <a:pPr lvl="1"/>
            <a:r>
              <a:rPr lang="en-US" dirty="0">
                <a:highlight>
                  <a:srgbClr val="C0C0C0"/>
                </a:highlight>
              </a:rPr>
              <a:t>Ex: A node cannot exist unlabeled in a property graph</a:t>
            </a:r>
          </a:p>
          <a:p>
            <a:r>
              <a:rPr lang="en-US" dirty="0"/>
              <a:t>The Metadata does not have as strict a consistency requirement</a:t>
            </a:r>
          </a:p>
          <a:p>
            <a:pPr lvl="1"/>
            <a:endParaRPr lang="en-US" dirty="0"/>
          </a:p>
          <a:p>
            <a:r>
              <a:rPr lang="en-US" dirty="0"/>
              <a:t>Regardless of the needs of each operation, the API must have clearly defined semantics so that an application developer can reason about the code</a:t>
            </a:r>
          </a:p>
        </p:txBody>
      </p:sp>
      <p:sp>
        <p:nvSpPr>
          <p:cNvPr id="5" name="Slide Number Placeholder 4">
            <a:extLst>
              <a:ext uri="{FF2B5EF4-FFF2-40B4-BE49-F238E27FC236}">
                <a16:creationId xmlns:a16="http://schemas.microsoft.com/office/drawing/2014/main" id="{32207CA5-2ED0-1A0B-BDDA-D9F6E1372CF1}"/>
              </a:ext>
            </a:extLst>
          </p:cNvPr>
          <p:cNvSpPr>
            <a:spLocks noGrp="1"/>
          </p:cNvSpPr>
          <p:nvPr>
            <p:ph type="sldNum" sz="quarter" idx="12"/>
          </p:nvPr>
        </p:nvSpPr>
        <p:spPr/>
        <p:txBody>
          <a:bodyPr/>
          <a:lstStyle/>
          <a:p>
            <a:fld id="{EEBEF218-D4C5-B946-BB13-027BCA6FFA2A}" type="slidenum">
              <a:rPr lang="en-US" smtClean="0"/>
              <a:t>11</a:t>
            </a:fld>
            <a:endParaRPr lang="en-US"/>
          </a:p>
        </p:txBody>
      </p:sp>
    </p:spTree>
    <p:extLst>
      <p:ext uri="{BB962C8B-B14F-4D97-AF65-F5344CB8AC3E}">
        <p14:creationId xmlns:p14="http://schemas.microsoft.com/office/powerpoint/2010/main" val="1143028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D214-EBA0-7E92-D642-AEE4C82F77DA}"/>
              </a:ext>
            </a:extLst>
          </p:cNvPr>
          <p:cNvSpPr>
            <a:spLocks noGrp="1"/>
          </p:cNvSpPr>
          <p:nvPr>
            <p:ph type="title"/>
          </p:nvPr>
        </p:nvSpPr>
        <p:spPr/>
        <p:txBody>
          <a:bodyPr/>
          <a:lstStyle/>
          <a:p>
            <a:r>
              <a:rPr lang="en-US" dirty="0"/>
              <a:t>Graph API</a:t>
            </a:r>
          </a:p>
        </p:txBody>
      </p:sp>
      <p:sp>
        <p:nvSpPr>
          <p:cNvPr id="3" name="Content Placeholder 2">
            <a:extLst>
              <a:ext uri="{FF2B5EF4-FFF2-40B4-BE49-F238E27FC236}">
                <a16:creationId xmlns:a16="http://schemas.microsoft.com/office/drawing/2014/main" id="{9DB9C8E9-614B-2810-D188-FC846FB20396}"/>
              </a:ext>
            </a:extLst>
          </p:cNvPr>
          <p:cNvSpPr>
            <a:spLocks noGrp="1"/>
          </p:cNvSpPr>
          <p:nvPr>
            <p:ph idx="1"/>
          </p:nvPr>
        </p:nvSpPr>
        <p:spPr/>
        <p:txBody>
          <a:bodyPr/>
          <a:lstStyle/>
          <a:p>
            <a:r>
              <a:rPr lang="en-US" dirty="0"/>
              <a:t>The API must not make assumptions about application semantics</a:t>
            </a:r>
          </a:p>
          <a:p>
            <a:pPr lvl="1"/>
            <a:r>
              <a:rPr lang="en-US" dirty="0"/>
              <a:t>Return appropriate error codes back to the application and let the application handle failures</a:t>
            </a:r>
          </a:p>
          <a:p>
            <a:pPr marL="0" indent="0">
              <a:buNone/>
            </a:pPr>
            <a:endParaRPr lang="en-US" dirty="0"/>
          </a:p>
        </p:txBody>
      </p:sp>
      <p:sp>
        <p:nvSpPr>
          <p:cNvPr id="4" name="Slide Number Placeholder 3">
            <a:extLst>
              <a:ext uri="{FF2B5EF4-FFF2-40B4-BE49-F238E27FC236}">
                <a16:creationId xmlns:a16="http://schemas.microsoft.com/office/drawing/2014/main" id="{7EC3AF5C-E7CF-985A-92FD-484379419176}"/>
              </a:ext>
            </a:extLst>
          </p:cNvPr>
          <p:cNvSpPr>
            <a:spLocks noGrp="1"/>
          </p:cNvSpPr>
          <p:nvPr>
            <p:ph type="sldNum" sz="quarter" idx="12"/>
          </p:nvPr>
        </p:nvSpPr>
        <p:spPr/>
        <p:txBody>
          <a:bodyPr/>
          <a:lstStyle/>
          <a:p>
            <a:fld id="{EEBEF218-D4C5-B946-BB13-027BCA6FFA2A}" type="slidenum">
              <a:rPr lang="en-US" smtClean="0"/>
              <a:t>12</a:t>
            </a:fld>
            <a:endParaRPr lang="en-US"/>
          </a:p>
        </p:txBody>
      </p:sp>
    </p:spTree>
    <p:extLst>
      <p:ext uri="{BB962C8B-B14F-4D97-AF65-F5344CB8AC3E}">
        <p14:creationId xmlns:p14="http://schemas.microsoft.com/office/powerpoint/2010/main" val="378432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151B1-BB47-A448-7385-ED464ABE0357}"/>
              </a:ext>
            </a:extLst>
          </p:cNvPr>
          <p:cNvSpPr>
            <a:spLocks noGrp="1"/>
          </p:cNvSpPr>
          <p:nvPr>
            <p:ph type="title"/>
          </p:nvPr>
        </p:nvSpPr>
        <p:spPr/>
        <p:txBody>
          <a:bodyPr/>
          <a:lstStyle/>
          <a:p>
            <a:r>
              <a:rPr lang="en-US" dirty="0"/>
              <a:t>4.3.2 Framework for higher level primitives</a:t>
            </a:r>
          </a:p>
        </p:txBody>
      </p:sp>
      <p:sp>
        <p:nvSpPr>
          <p:cNvPr id="6" name="Content Placeholder 5">
            <a:extLst>
              <a:ext uri="{FF2B5EF4-FFF2-40B4-BE49-F238E27FC236}">
                <a16:creationId xmlns:a16="http://schemas.microsoft.com/office/drawing/2014/main" id="{3FB7E246-1F7B-FDF0-4784-33A90120FD4F}"/>
              </a:ext>
            </a:extLst>
          </p:cNvPr>
          <p:cNvSpPr>
            <a:spLocks noGrp="1"/>
          </p:cNvSpPr>
          <p:nvPr>
            <p:ph idx="1"/>
          </p:nvPr>
        </p:nvSpPr>
        <p:spPr/>
        <p:txBody>
          <a:bodyPr>
            <a:normAutofit lnSpcReduction="10000"/>
          </a:bodyPr>
          <a:lstStyle/>
          <a:p>
            <a:r>
              <a:rPr lang="en-US" dirty="0"/>
              <a:t>We saw in Section 3.X and 4.2 that analytics tasks require efficient access to neighborhoods of the graph</a:t>
            </a:r>
          </a:p>
          <a:p>
            <a:r>
              <a:rPr lang="en-US" dirty="0"/>
              <a:t>While the Graph API can find a vertex’s neighborhood, making repeated calls to the API for all nodes is tedious and inefficient</a:t>
            </a:r>
          </a:p>
          <a:p>
            <a:r>
              <a:rPr lang="en-US" dirty="0"/>
              <a:t>Moreover, the user might wish to access the graph in some specific fashion that is inefficiently expressed with the Graph API</a:t>
            </a:r>
          </a:p>
          <a:p>
            <a:pPr lvl="1"/>
            <a:r>
              <a:rPr lang="en-US" dirty="0"/>
              <a:t>Ex: the user might want to traverse the edges in a Hilbert Order, or she might want to iterate over some motifs in the graph</a:t>
            </a:r>
          </a:p>
          <a:p>
            <a:pPr lvl="1"/>
            <a:endParaRPr lang="en-US" dirty="0"/>
          </a:p>
          <a:p>
            <a:r>
              <a:rPr lang="en-US" dirty="0"/>
              <a:t>The system must provide a framework to express higher-level traversal primitives for use in graph analytics</a:t>
            </a:r>
          </a:p>
        </p:txBody>
      </p:sp>
      <p:sp>
        <p:nvSpPr>
          <p:cNvPr id="5" name="Slide Number Placeholder 4">
            <a:extLst>
              <a:ext uri="{FF2B5EF4-FFF2-40B4-BE49-F238E27FC236}">
                <a16:creationId xmlns:a16="http://schemas.microsoft.com/office/drawing/2014/main" id="{4CEE806C-811D-D5DD-A5D1-20B0A843D3C7}"/>
              </a:ext>
            </a:extLst>
          </p:cNvPr>
          <p:cNvSpPr>
            <a:spLocks noGrp="1"/>
          </p:cNvSpPr>
          <p:nvPr>
            <p:ph type="sldNum" sz="quarter" idx="12"/>
          </p:nvPr>
        </p:nvSpPr>
        <p:spPr/>
        <p:txBody>
          <a:bodyPr/>
          <a:lstStyle/>
          <a:p>
            <a:fld id="{EEBEF218-D4C5-B946-BB13-027BCA6FFA2A}" type="slidenum">
              <a:rPr lang="en-US" smtClean="0"/>
              <a:t>13</a:t>
            </a:fld>
            <a:endParaRPr lang="en-US"/>
          </a:p>
        </p:txBody>
      </p:sp>
    </p:spTree>
    <p:extLst>
      <p:ext uri="{BB962C8B-B14F-4D97-AF65-F5344CB8AC3E}">
        <p14:creationId xmlns:p14="http://schemas.microsoft.com/office/powerpoint/2010/main" val="1379928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F9E2FE-EC4F-68CB-40AC-E8E873D44ED9}"/>
              </a:ext>
            </a:extLst>
          </p:cNvPr>
          <p:cNvSpPr>
            <a:spLocks noGrp="1"/>
          </p:cNvSpPr>
          <p:nvPr>
            <p:ph idx="1"/>
          </p:nvPr>
        </p:nvSpPr>
        <p:spPr/>
        <p:txBody>
          <a:bodyPr/>
          <a:lstStyle/>
          <a:p>
            <a:r>
              <a:rPr lang="en-US" dirty="0"/>
              <a:t>Such a framework should at the least provide:</a:t>
            </a:r>
          </a:p>
          <a:p>
            <a:pPr lvl="1"/>
            <a:r>
              <a:rPr lang="en-US" dirty="0"/>
              <a:t>Node iterators: to traverse over all nodes in the graph</a:t>
            </a:r>
          </a:p>
          <a:p>
            <a:pPr lvl="1"/>
            <a:r>
              <a:rPr lang="en-US" dirty="0"/>
              <a:t>Edge iterators: to traverse over all edges in the graph</a:t>
            </a:r>
          </a:p>
          <a:p>
            <a:pPr lvl="1"/>
            <a:r>
              <a:rPr lang="en-US" dirty="0"/>
              <a:t>Neighborhood Iterators to traverse over the in-and out- neighborhoods of all vertices in the graph</a:t>
            </a:r>
          </a:p>
          <a:p>
            <a:pPr lvl="1"/>
            <a:endParaRPr lang="en-US" dirty="0"/>
          </a:p>
          <a:p>
            <a:r>
              <a:rPr lang="en-US" dirty="0">
                <a:solidFill>
                  <a:srgbClr val="FF0000"/>
                </a:solidFill>
              </a:rPr>
              <a:t>Additionally, the framework could provide ways to construct more complicated traversal schemes that progress in a certain order or access motifs.</a:t>
            </a:r>
          </a:p>
          <a:p>
            <a:pPr lvl="1"/>
            <a:r>
              <a:rPr lang="en-US" dirty="0">
                <a:solidFill>
                  <a:srgbClr val="FF0000"/>
                </a:solidFill>
              </a:rPr>
              <a:t>(Future work)</a:t>
            </a:r>
          </a:p>
          <a:p>
            <a:pPr lvl="1"/>
            <a:endParaRPr lang="en-US" dirty="0"/>
          </a:p>
        </p:txBody>
      </p:sp>
      <p:sp>
        <p:nvSpPr>
          <p:cNvPr id="4" name="Slide Number Placeholder 3">
            <a:extLst>
              <a:ext uri="{FF2B5EF4-FFF2-40B4-BE49-F238E27FC236}">
                <a16:creationId xmlns:a16="http://schemas.microsoft.com/office/drawing/2014/main" id="{7AEF4BA3-68D5-73EE-300F-D305DA559399}"/>
              </a:ext>
            </a:extLst>
          </p:cNvPr>
          <p:cNvSpPr>
            <a:spLocks noGrp="1"/>
          </p:cNvSpPr>
          <p:nvPr>
            <p:ph type="sldNum" sz="quarter" idx="12"/>
          </p:nvPr>
        </p:nvSpPr>
        <p:spPr/>
        <p:txBody>
          <a:bodyPr/>
          <a:lstStyle/>
          <a:p>
            <a:fld id="{EEBEF218-D4C5-B946-BB13-027BCA6FFA2A}" type="slidenum">
              <a:rPr lang="en-US" smtClean="0"/>
              <a:t>14</a:t>
            </a:fld>
            <a:endParaRPr lang="en-US"/>
          </a:p>
        </p:txBody>
      </p:sp>
      <p:sp>
        <p:nvSpPr>
          <p:cNvPr id="5" name="Title 1">
            <a:extLst>
              <a:ext uri="{FF2B5EF4-FFF2-40B4-BE49-F238E27FC236}">
                <a16:creationId xmlns:a16="http://schemas.microsoft.com/office/drawing/2014/main" id="{A8725330-1FFA-FF45-B585-0CD172C925C2}"/>
              </a:ext>
            </a:extLst>
          </p:cNvPr>
          <p:cNvSpPr>
            <a:spLocks noGrp="1"/>
          </p:cNvSpPr>
          <p:nvPr>
            <p:ph type="title"/>
          </p:nvPr>
        </p:nvSpPr>
        <p:spPr/>
        <p:txBody>
          <a:bodyPr/>
          <a:lstStyle/>
          <a:p>
            <a:r>
              <a:rPr lang="en-US" dirty="0"/>
              <a:t>4.3.2 Framework for higher level primitives</a:t>
            </a:r>
          </a:p>
        </p:txBody>
      </p:sp>
    </p:spTree>
    <p:extLst>
      <p:ext uri="{BB962C8B-B14F-4D97-AF65-F5344CB8AC3E}">
        <p14:creationId xmlns:p14="http://schemas.microsoft.com/office/powerpoint/2010/main" val="1624814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57BE-9E69-0F72-9F69-831A1E9FB4EF}"/>
              </a:ext>
            </a:extLst>
          </p:cNvPr>
          <p:cNvSpPr>
            <a:spLocks noGrp="1"/>
          </p:cNvSpPr>
          <p:nvPr>
            <p:ph type="title"/>
          </p:nvPr>
        </p:nvSpPr>
        <p:spPr/>
        <p:txBody>
          <a:bodyPr/>
          <a:lstStyle/>
          <a:p>
            <a:r>
              <a:rPr lang="en-US" dirty="0"/>
              <a:t>4.3.3 Graph Representations</a:t>
            </a:r>
          </a:p>
        </p:txBody>
      </p:sp>
      <p:sp>
        <p:nvSpPr>
          <p:cNvPr id="6" name="Content Placeholder 5">
            <a:extLst>
              <a:ext uri="{FF2B5EF4-FFF2-40B4-BE49-F238E27FC236}">
                <a16:creationId xmlns:a16="http://schemas.microsoft.com/office/drawing/2014/main" id="{B3C4CE31-8B6E-9DDB-D19D-117F0CD31AE3}"/>
              </a:ext>
            </a:extLst>
          </p:cNvPr>
          <p:cNvSpPr>
            <a:spLocks noGrp="1"/>
          </p:cNvSpPr>
          <p:nvPr>
            <p:ph idx="1"/>
          </p:nvPr>
        </p:nvSpPr>
        <p:spPr/>
        <p:txBody>
          <a:bodyPr/>
          <a:lstStyle/>
          <a:p>
            <a:r>
              <a:rPr lang="en-US" dirty="0"/>
              <a:t>We graph workloads in Sections 2.2,  and the graph representations that suit them in Section 2.3</a:t>
            </a:r>
          </a:p>
          <a:p>
            <a:pPr lvl="1"/>
            <a:r>
              <a:rPr lang="en-US" dirty="0"/>
              <a:t>And how most structural graph processing systems use CSR-like or Adjacency List-like representations to store data</a:t>
            </a:r>
          </a:p>
          <a:p>
            <a:pPr lvl="1"/>
            <a:endParaRPr lang="en-US" dirty="0"/>
          </a:p>
          <a:p>
            <a:r>
              <a:rPr lang="en-US" dirty="0"/>
              <a:t>A graph database should be able to persist these data structures in ways that allows for efficient reconstruction and access</a:t>
            </a:r>
          </a:p>
          <a:p>
            <a:pPr lvl="1"/>
            <a:r>
              <a:rPr lang="en-US" dirty="0"/>
              <a:t>The database designer must figure out how to store them in the underlying storage engine</a:t>
            </a:r>
          </a:p>
          <a:p>
            <a:pPr lvl="1"/>
            <a:r>
              <a:rPr lang="en-US" dirty="0"/>
              <a:t>Should be done in ways that preserves access locality to vertices and neighborhoods</a:t>
            </a:r>
          </a:p>
        </p:txBody>
      </p:sp>
      <p:sp>
        <p:nvSpPr>
          <p:cNvPr id="5" name="Slide Number Placeholder 4">
            <a:extLst>
              <a:ext uri="{FF2B5EF4-FFF2-40B4-BE49-F238E27FC236}">
                <a16:creationId xmlns:a16="http://schemas.microsoft.com/office/drawing/2014/main" id="{5E0BE154-4BF7-AB40-7DC6-1A93F5FFD885}"/>
              </a:ext>
            </a:extLst>
          </p:cNvPr>
          <p:cNvSpPr>
            <a:spLocks noGrp="1"/>
          </p:cNvSpPr>
          <p:nvPr>
            <p:ph type="sldNum" sz="quarter" idx="12"/>
          </p:nvPr>
        </p:nvSpPr>
        <p:spPr/>
        <p:txBody>
          <a:bodyPr/>
          <a:lstStyle/>
          <a:p>
            <a:fld id="{EEBEF218-D4C5-B946-BB13-027BCA6FFA2A}" type="slidenum">
              <a:rPr lang="en-US" smtClean="0"/>
              <a:t>15</a:t>
            </a:fld>
            <a:endParaRPr lang="en-US"/>
          </a:p>
        </p:txBody>
      </p:sp>
    </p:spTree>
    <p:extLst>
      <p:ext uri="{BB962C8B-B14F-4D97-AF65-F5344CB8AC3E}">
        <p14:creationId xmlns:p14="http://schemas.microsoft.com/office/powerpoint/2010/main" val="1904940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D228A-BEBE-EDA2-F062-F8582E30FF63}"/>
              </a:ext>
            </a:extLst>
          </p:cNvPr>
          <p:cNvSpPr>
            <a:spLocks noGrp="1"/>
          </p:cNvSpPr>
          <p:nvPr>
            <p:ph type="title"/>
          </p:nvPr>
        </p:nvSpPr>
        <p:spPr/>
        <p:txBody>
          <a:bodyPr/>
          <a:lstStyle/>
          <a:p>
            <a:r>
              <a:rPr lang="en-US" dirty="0"/>
              <a:t>4.3.3 Graph Representations</a:t>
            </a:r>
          </a:p>
        </p:txBody>
      </p:sp>
      <p:sp>
        <p:nvSpPr>
          <p:cNvPr id="3" name="Content Placeholder 2">
            <a:extLst>
              <a:ext uri="{FF2B5EF4-FFF2-40B4-BE49-F238E27FC236}">
                <a16:creationId xmlns:a16="http://schemas.microsoft.com/office/drawing/2014/main" id="{241F2348-02FC-AE80-98B2-DD85954D6CD3}"/>
              </a:ext>
            </a:extLst>
          </p:cNvPr>
          <p:cNvSpPr>
            <a:spLocks noGrp="1"/>
          </p:cNvSpPr>
          <p:nvPr>
            <p:ph idx="1"/>
          </p:nvPr>
        </p:nvSpPr>
        <p:spPr/>
        <p:txBody>
          <a:bodyPr/>
          <a:lstStyle/>
          <a:p>
            <a:r>
              <a:rPr lang="en-US" dirty="0"/>
              <a:t>CSR: </a:t>
            </a:r>
          </a:p>
          <a:p>
            <a:pPr lvl="1"/>
            <a:r>
              <a:rPr lang="en-US" dirty="0"/>
              <a:t>store the vertex and all the incoming/outgoing edges to/from that vertex sequentially or in the same “chunk”</a:t>
            </a:r>
          </a:p>
          <a:p>
            <a:pPr lvl="1"/>
            <a:r>
              <a:rPr lang="en-US" dirty="0"/>
              <a:t>Provide an index/search to find where a node begins</a:t>
            </a:r>
          </a:p>
          <a:p>
            <a:pPr lvl="1"/>
            <a:endParaRPr lang="en-US" dirty="0"/>
          </a:p>
          <a:p>
            <a:r>
              <a:rPr lang="en-US" dirty="0"/>
              <a:t>Adjacency List:</a:t>
            </a:r>
          </a:p>
          <a:p>
            <a:pPr lvl="1"/>
            <a:r>
              <a:rPr lang="en-US" dirty="0"/>
              <a:t>The neighborhood of each node is materialized and stored inline with the node</a:t>
            </a:r>
          </a:p>
          <a:p>
            <a:pPr lvl="1"/>
            <a:r>
              <a:rPr lang="en-US" dirty="0"/>
              <a:t>The nodes can be sequentially laid out in some ordering of their ID</a:t>
            </a:r>
          </a:p>
        </p:txBody>
      </p:sp>
      <p:sp>
        <p:nvSpPr>
          <p:cNvPr id="4" name="Slide Number Placeholder 3">
            <a:extLst>
              <a:ext uri="{FF2B5EF4-FFF2-40B4-BE49-F238E27FC236}">
                <a16:creationId xmlns:a16="http://schemas.microsoft.com/office/drawing/2014/main" id="{95DEF688-331E-7F80-229C-3AA07A7A44F3}"/>
              </a:ext>
            </a:extLst>
          </p:cNvPr>
          <p:cNvSpPr>
            <a:spLocks noGrp="1"/>
          </p:cNvSpPr>
          <p:nvPr>
            <p:ph type="sldNum" sz="quarter" idx="12"/>
          </p:nvPr>
        </p:nvSpPr>
        <p:spPr/>
        <p:txBody>
          <a:bodyPr/>
          <a:lstStyle/>
          <a:p>
            <a:fld id="{EEBEF218-D4C5-B946-BB13-027BCA6FFA2A}" type="slidenum">
              <a:rPr lang="en-US" smtClean="0"/>
              <a:t>16</a:t>
            </a:fld>
            <a:endParaRPr lang="en-US"/>
          </a:p>
        </p:txBody>
      </p:sp>
    </p:spTree>
    <p:extLst>
      <p:ext uri="{BB962C8B-B14F-4D97-AF65-F5344CB8AC3E}">
        <p14:creationId xmlns:p14="http://schemas.microsoft.com/office/powerpoint/2010/main" val="1259638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4D74A-891A-9455-1853-ABCF9EF9AC25}"/>
              </a:ext>
            </a:extLst>
          </p:cNvPr>
          <p:cNvSpPr>
            <a:spLocks noGrp="1"/>
          </p:cNvSpPr>
          <p:nvPr>
            <p:ph type="title"/>
          </p:nvPr>
        </p:nvSpPr>
        <p:spPr/>
        <p:txBody>
          <a:bodyPr/>
          <a:lstStyle/>
          <a:p>
            <a:r>
              <a:rPr lang="en-US" dirty="0"/>
              <a:t>4.4 Implementation</a:t>
            </a:r>
          </a:p>
        </p:txBody>
      </p:sp>
      <p:sp>
        <p:nvSpPr>
          <p:cNvPr id="3" name="Content Placeholder 2">
            <a:extLst>
              <a:ext uri="{FF2B5EF4-FFF2-40B4-BE49-F238E27FC236}">
                <a16:creationId xmlns:a16="http://schemas.microsoft.com/office/drawing/2014/main" id="{28543FDC-7DA9-4FC8-CCBD-5598A73D42AB}"/>
              </a:ext>
            </a:extLst>
          </p:cNvPr>
          <p:cNvSpPr>
            <a:spLocks noGrp="1"/>
          </p:cNvSpPr>
          <p:nvPr>
            <p:ph idx="1"/>
          </p:nvPr>
        </p:nvSpPr>
        <p:spPr/>
        <p:txBody>
          <a:bodyPr/>
          <a:lstStyle/>
          <a:p>
            <a:r>
              <a:rPr lang="en-US" dirty="0"/>
              <a:t>Flexograph is a concrete realization of the architecture discussed in section 4.3</a:t>
            </a:r>
          </a:p>
          <a:p>
            <a:r>
              <a:rPr lang="en-US" dirty="0"/>
              <a:t>Our implementation discusses the following aspects:</a:t>
            </a:r>
          </a:p>
          <a:p>
            <a:pPr lvl="1"/>
            <a:r>
              <a:rPr lang="en-US" dirty="0"/>
              <a:t>Our choice of </a:t>
            </a:r>
            <a:r>
              <a:rPr lang="en-US" b="1" dirty="0"/>
              <a:t>storage engine </a:t>
            </a:r>
            <a:r>
              <a:rPr lang="en-US" dirty="0"/>
              <a:t>and how its design influences ours</a:t>
            </a:r>
          </a:p>
          <a:p>
            <a:pPr lvl="1"/>
            <a:r>
              <a:rPr lang="en-US" dirty="0"/>
              <a:t>An example of an application written using our </a:t>
            </a:r>
            <a:r>
              <a:rPr lang="en-US" b="1" dirty="0" err="1"/>
              <a:t>GraphAPI</a:t>
            </a:r>
            <a:endParaRPr lang="en-US" b="1" dirty="0"/>
          </a:p>
          <a:p>
            <a:pPr lvl="1"/>
            <a:r>
              <a:rPr lang="en-US" dirty="0"/>
              <a:t>How we store the </a:t>
            </a:r>
            <a:r>
              <a:rPr lang="en-US" b="1" dirty="0"/>
              <a:t>graph representations </a:t>
            </a:r>
            <a:r>
              <a:rPr lang="en-US" dirty="0"/>
              <a:t>in our storage engine and how the API facilitates interaction with the data</a:t>
            </a:r>
          </a:p>
          <a:p>
            <a:pPr lvl="1"/>
            <a:r>
              <a:rPr lang="en-US" dirty="0"/>
              <a:t>The higher-level </a:t>
            </a:r>
            <a:r>
              <a:rPr lang="en-US" b="1" dirty="0"/>
              <a:t>traversal primitives </a:t>
            </a:r>
            <a:r>
              <a:rPr lang="en-US" dirty="0"/>
              <a:t>that Flexograph supports</a:t>
            </a:r>
          </a:p>
          <a:p>
            <a:pPr lvl="1"/>
            <a:r>
              <a:rPr lang="en-US" dirty="0"/>
              <a:t>How we </a:t>
            </a:r>
            <a:r>
              <a:rPr lang="en-US" b="1" dirty="0"/>
              <a:t>manage</a:t>
            </a:r>
            <a:r>
              <a:rPr lang="en-US" dirty="0"/>
              <a:t> </a:t>
            </a:r>
            <a:r>
              <a:rPr lang="en-US" b="1" dirty="0"/>
              <a:t>transient attributes</a:t>
            </a:r>
            <a:r>
              <a:rPr lang="en-US" dirty="0"/>
              <a:t> generated during an application run</a:t>
            </a:r>
          </a:p>
          <a:p>
            <a:pPr lvl="1"/>
            <a:r>
              <a:rPr lang="en-US" dirty="0"/>
              <a:t>The design of an efficient </a:t>
            </a:r>
            <a:r>
              <a:rPr lang="en-US" b="1" dirty="0" err="1"/>
              <a:t>Bulkloader</a:t>
            </a:r>
            <a:r>
              <a:rPr lang="en-US" dirty="0"/>
              <a:t> to fast-track data ingestion</a:t>
            </a:r>
          </a:p>
        </p:txBody>
      </p:sp>
      <p:sp>
        <p:nvSpPr>
          <p:cNvPr id="4" name="Slide Number Placeholder 3">
            <a:extLst>
              <a:ext uri="{FF2B5EF4-FFF2-40B4-BE49-F238E27FC236}">
                <a16:creationId xmlns:a16="http://schemas.microsoft.com/office/drawing/2014/main" id="{30FCA7E3-D5C3-0194-62F7-4C5700696CEC}"/>
              </a:ext>
            </a:extLst>
          </p:cNvPr>
          <p:cNvSpPr>
            <a:spLocks noGrp="1"/>
          </p:cNvSpPr>
          <p:nvPr>
            <p:ph type="sldNum" sz="quarter" idx="12"/>
          </p:nvPr>
        </p:nvSpPr>
        <p:spPr/>
        <p:txBody>
          <a:bodyPr/>
          <a:lstStyle/>
          <a:p>
            <a:fld id="{EEBEF218-D4C5-B946-BB13-027BCA6FFA2A}" type="slidenum">
              <a:rPr lang="en-US" smtClean="0"/>
              <a:t>17</a:t>
            </a:fld>
            <a:endParaRPr lang="en-US"/>
          </a:p>
        </p:txBody>
      </p:sp>
    </p:spTree>
    <p:extLst>
      <p:ext uri="{BB962C8B-B14F-4D97-AF65-F5344CB8AC3E}">
        <p14:creationId xmlns:p14="http://schemas.microsoft.com/office/powerpoint/2010/main" val="1697816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A7746-1533-FA53-E77B-69058BE65A3D}"/>
              </a:ext>
            </a:extLst>
          </p:cNvPr>
          <p:cNvSpPr>
            <a:spLocks noGrp="1"/>
          </p:cNvSpPr>
          <p:nvPr>
            <p:ph type="title"/>
          </p:nvPr>
        </p:nvSpPr>
        <p:spPr/>
        <p:txBody>
          <a:bodyPr/>
          <a:lstStyle/>
          <a:p>
            <a:r>
              <a:rPr lang="en-US" dirty="0"/>
              <a:t>4.4 Flexograph Implementation</a:t>
            </a:r>
          </a:p>
        </p:txBody>
      </p:sp>
      <p:pic>
        <p:nvPicPr>
          <p:cNvPr id="6" name="Content Placeholder 5">
            <a:extLst>
              <a:ext uri="{FF2B5EF4-FFF2-40B4-BE49-F238E27FC236}">
                <a16:creationId xmlns:a16="http://schemas.microsoft.com/office/drawing/2014/main" id="{F521BD80-B3BD-53FE-FAB7-9E6EE96A58BC}"/>
              </a:ext>
            </a:extLst>
          </p:cNvPr>
          <p:cNvPicPr>
            <a:picLocks noGrp="1" noChangeAspect="1"/>
          </p:cNvPicPr>
          <p:nvPr>
            <p:ph idx="1"/>
          </p:nvPr>
        </p:nvPicPr>
        <p:blipFill>
          <a:blip r:embed="rId2">
            <a:alphaModFix amt="71000"/>
          </a:blip>
          <a:stretch>
            <a:fillRect/>
          </a:stretch>
        </p:blipFill>
        <p:spPr>
          <a:xfrm>
            <a:off x="2732172" y="1825625"/>
            <a:ext cx="6727656" cy="4351338"/>
          </a:xfrm>
        </p:spPr>
      </p:pic>
      <p:sp>
        <p:nvSpPr>
          <p:cNvPr id="4" name="Slide Number Placeholder 3">
            <a:extLst>
              <a:ext uri="{FF2B5EF4-FFF2-40B4-BE49-F238E27FC236}">
                <a16:creationId xmlns:a16="http://schemas.microsoft.com/office/drawing/2014/main" id="{790999D4-CA77-D3F2-908B-25326A340805}"/>
              </a:ext>
            </a:extLst>
          </p:cNvPr>
          <p:cNvSpPr>
            <a:spLocks noGrp="1"/>
          </p:cNvSpPr>
          <p:nvPr>
            <p:ph type="sldNum" sz="quarter" idx="12"/>
          </p:nvPr>
        </p:nvSpPr>
        <p:spPr/>
        <p:txBody>
          <a:bodyPr/>
          <a:lstStyle/>
          <a:p>
            <a:fld id="{EEBEF218-D4C5-B946-BB13-027BCA6FFA2A}" type="slidenum">
              <a:rPr lang="en-US" smtClean="0"/>
              <a:t>18</a:t>
            </a:fld>
            <a:endParaRPr lang="en-US"/>
          </a:p>
        </p:txBody>
      </p:sp>
      <p:sp>
        <p:nvSpPr>
          <p:cNvPr id="8" name="TextBox 7">
            <a:extLst>
              <a:ext uri="{FF2B5EF4-FFF2-40B4-BE49-F238E27FC236}">
                <a16:creationId xmlns:a16="http://schemas.microsoft.com/office/drawing/2014/main" id="{4B5FB724-EB94-93E5-1A09-42A2D7B855AA}"/>
              </a:ext>
            </a:extLst>
          </p:cNvPr>
          <p:cNvSpPr txBox="1"/>
          <p:nvPr/>
        </p:nvSpPr>
        <p:spPr>
          <a:xfrm>
            <a:off x="838200" y="5315415"/>
            <a:ext cx="1581587" cy="646331"/>
          </a:xfrm>
          <a:prstGeom prst="rect">
            <a:avLst/>
          </a:prstGeom>
          <a:noFill/>
        </p:spPr>
        <p:txBody>
          <a:bodyPr wrap="none" rtlCol="0">
            <a:spAutoFit/>
          </a:bodyPr>
          <a:lstStyle/>
          <a:p>
            <a:r>
              <a:rPr lang="en-US" dirty="0"/>
              <a:t>Storage Engine</a:t>
            </a:r>
          </a:p>
          <a:p>
            <a:pPr algn="ctr"/>
            <a:r>
              <a:rPr lang="en-US" dirty="0"/>
              <a:t>(Sec 4.4.1)</a:t>
            </a:r>
          </a:p>
        </p:txBody>
      </p:sp>
      <p:cxnSp>
        <p:nvCxnSpPr>
          <p:cNvPr id="10" name="Straight Arrow Connector 9">
            <a:extLst>
              <a:ext uri="{FF2B5EF4-FFF2-40B4-BE49-F238E27FC236}">
                <a16:creationId xmlns:a16="http://schemas.microsoft.com/office/drawing/2014/main" id="{AF0EEEA1-8A84-8A41-CBB4-29A14E4F5DB0}"/>
              </a:ext>
            </a:extLst>
          </p:cNvPr>
          <p:cNvCxnSpPr>
            <a:stCxn id="8" idx="3"/>
          </p:cNvCxnSpPr>
          <p:nvPr/>
        </p:nvCxnSpPr>
        <p:spPr>
          <a:xfrm>
            <a:off x="2419787" y="5638581"/>
            <a:ext cx="1007354" cy="3087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D77104E-ACB2-E602-C813-B1044D6D5B79}"/>
              </a:ext>
            </a:extLst>
          </p:cNvPr>
          <p:cNvCxnSpPr/>
          <p:nvPr/>
        </p:nvCxnSpPr>
        <p:spPr>
          <a:xfrm>
            <a:off x="8006576" y="2676293"/>
            <a:ext cx="2319454" cy="0"/>
          </a:xfrm>
          <a:prstGeom prst="straightConnector1">
            <a:avLst/>
          </a:prstGeom>
          <a:ln>
            <a:headEnd type="triangle" w="sm" len="sm"/>
            <a:tailEnd type="non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1FC2D21-C7D7-0094-8B9C-2FFFAF3BBB14}"/>
              </a:ext>
            </a:extLst>
          </p:cNvPr>
          <p:cNvSpPr txBox="1"/>
          <p:nvPr/>
        </p:nvSpPr>
        <p:spPr>
          <a:xfrm>
            <a:off x="10326030" y="2353127"/>
            <a:ext cx="1537600" cy="646331"/>
          </a:xfrm>
          <a:prstGeom prst="rect">
            <a:avLst/>
          </a:prstGeom>
          <a:noFill/>
        </p:spPr>
        <p:txBody>
          <a:bodyPr wrap="none" rtlCol="0">
            <a:spAutoFit/>
          </a:bodyPr>
          <a:lstStyle/>
          <a:p>
            <a:pPr algn="ctr"/>
            <a:r>
              <a:rPr lang="en-US" dirty="0"/>
              <a:t>Graph API</a:t>
            </a:r>
            <a:br>
              <a:rPr lang="en-US" dirty="0"/>
            </a:br>
            <a:r>
              <a:rPr lang="en-US" dirty="0"/>
              <a:t>(Section 4.4.2)</a:t>
            </a:r>
          </a:p>
        </p:txBody>
      </p:sp>
      <p:sp>
        <p:nvSpPr>
          <p:cNvPr id="14" name="TextBox 13">
            <a:extLst>
              <a:ext uri="{FF2B5EF4-FFF2-40B4-BE49-F238E27FC236}">
                <a16:creationId xmlns:a16="http://schemas.microsoft.com/office/drawing/2014/main" id="{74A8CBC2-D86F-8C10-A6C3-FE3FDB19A012}"/>
              </a:ext>
            </a:extLst>
          </p:cNvPr>
          <p:cNvSpPr txBox="1"/>
          <p:nvPr/>
        </p:nvSpPr>
        <p:spPr>
          <a:xfrm>
            <a:off x="8898673" y="5894685"/>
            <a:ext cx="1947747" cy="923330"/>
          </a:xfrm>
          <a:prstGeom prst="rect">
            <a:avLst/>
          </a:prstGeom>
          <a:noFill/>
        </p:spPr>
        <p:txBody>
          <a:bodyPr wrap="square" rtlCol="0">
            <a:spAutoFit/>
          </a:bodyPr>
          <a:lstStyle/>
          <a:p>
            <a:r>
              <a:rPr lang="en-US" dirty="0"/>
              <a:t>Graph Representations </a:t>
            </a:r>
          </a:p>
          <a:p>
            <a:r>
              <a:rPr lang="en-US" dirty="0"/>
              <a:t>(Section 4.4.3)</a:t>
            </a:r>
          </a:p>
        </p:txBody>
      </p:sp>
      <p:cxnSp>
        <p:nvCxnSpPr>
          <p:cNvPr id="16" name="Elbow Connector 15">
            <a:extLst>
              <a:ext uri="{FF2B5EF4-FFF2-40B4-BE49-F238E27FC236}">
                <a16:creationId xmlns:a16="http://schemas.microsoft.com/office/drawing/2014/main" id="{93AD4A17-4E64-9979-AC79-95AE4AFD5236}"/>
              </a:ext>
            </a:extLst>
          </p:cNvPr>
          <p:cNvCxnSpPr>
            <a:cxnSpLocks/>
            <a:stCxn id="6" idx="2"/>
            <a:endCxn id="14" idx="1"/>
          </p:cNvCxnSpPr>
          <p:nvPr/>
        </p:nvCxnSpPr>
        <p:spPr>
          <a:xfrm rot="16200000" flipH="1">
            <a:off x="7407643" y="4865319"/>
            <a:ext cx="179387" cy="2802673"/>
          </a:xfrm>
          <a:prstGeom prst="bentConnector2">
            <a:avLst/>
          </a:prstGeom>
          <a:ln>
            <a:headEnd type="none"/>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A4E8D70F-5FB2-EC26-4E4B-06B9125E47B2}"/>
              </a:ext>
            </a:extLst>
          </p:cNvPr>
          <p:cNvSpPr/>
          <p:nvPr/>
        </p:nvSpPr>
        <p:spPr>
          <a:xfrm>
            <a:off x="4999437" y="3263590"/>
            <a:ext cx="1096563" cy="239461"/>
          </a:xfrm>
          <a:prstGeom prst="rect">
            <a:avLst/>
          </a:prstGeom>
          <a:solidFill>
            <a:schemeClr val="accent1">
              <a:alpha val="3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9FF91A61-4139-1381-41B9-16A848C96EA5}"/>
              </a:ext>
            </a:extLst>
          </p:cNvPr>
          <p:cNvCxnSpPr>
            <a:stCxn id="18" idx="1"/>
          </p:cNvCxnSpPr>
          <p:nvPr/>
        </p:nvCxnSpPr>
        <p:spPr>
          <a:xfrm flipH="1" flipV="1">
            <a:off x="2732172" y="3383320"/>
            <a:ext cx="226726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D156E2C-684F-82A0-0340-B482D84E4078}"/>
              </a:ext>
            </a:extLst>
          </p:cNvPr>
          <p:cNvSpPr txBox="1"/>
          <p:nvPr/>
        </p:nvSpPr>
        <p:spPr>
          <a:xfrm>
            <a:off x="838200" y="3060154"/>
            <a:ext cx="1990353" cy="646331"/>
          </a:xfrm>
          <a:prstGeom prst="rect">
            <a:avLst/>
          </a:prstGeom>
          <a:noFill/>
        </p:spPr>
        <p:txBody>
          <a:bodyPr wrap="none" rtlCol="0">
            <a:spAutoFit/>
          </a:bodyPr>
          <a:lstStyle/>
          <a:p>
            <a:pPr algn="ctr"/>
            <a:r>
              <a:rPr lang="en-US" dirty="0"/>
              <a:t>Traversal Primitives</a:t>
            </a:r>
          </a:p>
          <a:p>
            <a:pPr algn="ctr"/>
            <a:r>
              <a:rPr lang="en-US" dirty="0"/>
              <a:t>(Section 4.4.4)</a:t>
            </a:r>
          </a:p>
        </p:txBody>
      </p:sp>
      <p:sp>
        <p:nvSpPr>
          <p:cNvPr id="22" name="TextBox 21">
            <a:extLst>
              <a:ext uri="{FF2B5EF4-FFF2-40B4-BE49-F238E27FC236}">
                <a16:creationId xmlns:a16="http://schemas.microsoft.com/office/drawing/2014/main" id="{8D5794D6-8877-383E-1D46-1C144DBCD457}"/>
              </a:ext>
            </a:extLst>
          </p:cNvPr>
          <p:cNvSpPr txBox="1"/>
          <p:nvPr/>
        </p:nvSpPr>
        <p:spPr>
          <a:xfrm>
            <a:off x="9982200" y="3846907"/>
            <a:ext cx="2032223" cy="646331"/>
          </a:xfrm>
          <a:prstGeom prst="rect">
            <a:avLst/>
          </a:prstGeom>
          <a:noFill/>
        </p:spPr>
        <p:txBody>
          <a:bodyPr wrap="none" rtlCol="0">
            <a:spAutoFit/>
          </a:bodyPr>
          <a:lstStyle/>
          <a:p>
            <a:r>
              <a:rPr lang="en-US" dirty="0"/>
              <a:t>Transient Attributes</a:t>
            </a:r>
          </a:p>
          <a:p>
            <a:r>
              <a:rPr lang="en-US" dirty="0"/>
              <a:t>(Section 4.4.5)</a:t>
            </a:r>
          </a:p>
        </p:txBody>
      </p:sp>
      <p:cxnSp>
        <p:nvCxnSpPr>
          <p:cNvPr id="24" name="Straight Arrow Connector 23">
            <a:extLst>
              <a:ext uri="{FF2B5EF4-FFF2-40B4-BE49-F238E27FC236}">
                <a16:creationId xmlns:a16="http://schemas.microsoft.com/office/drawing/2014/main" id="{E1901C69-2740-9512-0C7E-C98FF13D059D}"/>
              </a:ext>
            </a:extLst>
          </p:cNvPr>
          <p:cNvCxnSpPr>
            <a:cxnSpLocks/>
            <a:stCxn id="6" idx="3"/>
            <a:endCxn id="22" idx="1"/>
          </p:cNvCxnSpPr>
          <p:nvPr/>
        </p:nvCxnSpPr>
        <p:spPr>
          <a:xfrm>
            <a:off x="9459828" y="4001294"/>
            <a:ext cx="522372" cy="1687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6183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84EFF-34C7-F280-4ED4-962E0F9A597E}"/>
              </a:ext>
            </a:extLst>
          </p:cNvPr>
          <p:cNvSpPr>
            <a:spLocks noGrp="1"/>
          </p:cNvSpPr>
          <p:nvPr>
            <p:ph type="title"/>
          </p:nvPr>
        </p:nvSpPr>
        <p:spPr/>
        <p:txBody>
          <a:bodyPr/>
          <a:lstStyle/>
          <a:p>
            <a:r>
              <a:rPr lang="en-US" dirty="0"/>
              <a:t>4.4.1 </a:t>
            </a:r>
            <a:r>
              <a:rPr lang="en-US" b="1" dirty="0"/>
              <a:t>WiredTiger</a:t>
            </a:r>
            <a:r>
              <a:rPr lang="en-US" dirty="0"/>
              <a:t> makes the World go Round</a:t>
            </a:r>
          </a:p>
        </p:txBody>
      </p:sp>
      <p:sp>
        <p:nvSpPr>
          <p:cNvPr id="3" name="Content Placeholder 2">
            <a:extLst>
              <a:ext uri="{FF2B5EF4-FFF2-40B4-BE49-F238E27FC236}">
                <a16:creationId xmlns:a16="http://schemas.microsoft.com/office/drawing/2014/main" id="{076E21FB-80DF-E69F-B579-7936BF9A4E30}"/>
              </a:ext>
            </a:extLst>
          </p:cNvPr>
          <p:cNvSpPr>
            <a:spLocks noGrp="1"/>
          </p:cNvSpPr>
          <p:nvPr>
            <p:ph idx="1"/>
          </p:nvPr>
        </p:nvSpPr>
        <p:spPr/>
        <p:txBody>
          <a:bodyPr>
            <a:normAutofit lnSpcReduction="10000"/>
          </a:bodyPr>
          <a:lstStyle/>
          <a:p>
            <a:r>
              <a:rPr lang="en-US" dirty="0"/>
              <a:t>We use WiredTiger as our graph storage engine</a:t>
            </a:r>
          </a:p>
          <a:p>
            <a:pPr lvl="1"/>
            <a:r>
              <a:rPr lang="en-US" dirty="0"/>
              <a:t>Production-ready,</a:t>
            </a:r>
          </a:p>
          <a:p>
            <a:pPr lvl="1"/>
            <a:r>
              <a:rPr lang="en-US" dirty="0"/>
              <a:t>Excellent multi-threaded read performance – reads are non-blocking (critical since graph workloads are ready heavy)</a:t>
            </a:r>
          </a:p>
          <a:p>
            <a:pPr lvl="1"/>
            <a:r>
              <a:rPr lang="en-US" dirty="0"/>
              <a:t>ACID compliant and clear semantics for write-write conflicts to same object:</a:t>
            </a:r>
          </a:p>
          <a:p>
            <a:pPr lvl="2"/>
            <a:r>
              <a:rPr lang="en-US" dirty="0"/>
              <a:t>All but one concurrent writes to the same key will fail</a:t>
            </a:r>
          </a:p>
          <a:p>
            <a:pPr lvl="2"/>
            <a:r>
              <a:rPr lang="en-US" dirty="0"/>
              <a:t>Mention snapshots</a:t>
            </a:r>
          </a:p>
          <a:p>
            <a:endParaRPr lang="en-US" dirty="0"/>
          </a:p>
          <a:p>
            <a:r>
              <a:rPr lang="en-US" dirty="0"/>
              <a:t>Using a Key-value store allows more flexibility than using a RDBMS:</a:t>
            </a:r>
          </a:p>
          <a:p>
            <a:pPr lvl="1"/>
            <a:r>
              <a:rPr lang="en-US" dirty="0"/>
              <a:t>Relational Model does not allow flexibility to prototype layouts</a:t>
            </a:r>
          </a:p>
          <a:p>
            <a:pPr lvl="1"/>
            <a:r>
              <a:rPr lang="en-US" strike="sngStrike" dirty="0"/>
              <a:t>Simpler to prototype things and write custom traversal operators in WT</a:t>
            </a:r>
          </a:p>
        </p:txBody>
      </p:sp>
      <p:sp>
        <p:nvSpPr>
          <p:cNvPr id="4" name="Slide Number Placeholder 3">
            <a:extLst>
              <a:ext uri="{FF2B5EF4-FFF2-40B4-BE49-F238E27FC236}">
                <a16:creationId xmlns:a16="http://schemas.microsoft.com/office/drawing/2014/main" id="{BBA8E668-1E79-33FC-F611-9F0C5893CB16}"/>
              </a:ext>
            </a:extLst>
          </p:cNvPr>
          <p:cNvSpPr>
            <a:spLocks noGrp="1"/>
          </p:cNvSpPr>
          <p:nvPr>
            <p:ph type="sldNum" sz="quarter" idx="12"/>
          </p:nvPr>
        </p:nvSpPr>
        <p:spPr/>
        <p:txBody>
          <a:bodyPr/>
          <a:lstStyle/>
          <a:p>
            <a:fld id="{EEBEF218-D4C5-B946-BB13-027BCA6FFA2A}" type="slidenum">
              <a:rPr lang="en-US" smtClean="0"/>
              <a:t>19</a:t>
            </a:fld>
            <a:endParaRPr lang="en-US"/>
          </a:p>
        </p:txBody>
      </p:sp>
    </p:spTree>
    <p:extLst>
      <p:ext uri="{BB962C8B-B14F-4D97-AF65-F5344CB8AC3E}">
        <p14:creationId xmlns:p14="http://schemas.microsoft.com/office/powerpoint/2010/main" val="2227981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8F56B-6AFB-A3B6-D596-FB8A2C152ED7}"/>
              </a:ext>
            </a:extLst>
          </p:cNvPr>
          <p:cNvSpPr>
            <a:spLocks noGrp="1"/>
          </p:cNvSpPr>
          <p:nvPr>
            <p:ph type="title"/>
          </p:nvPr>
        </p:nvSpPr>
        <p:spPr/>
        <p:txBody>
          <a:bodyPr/>
          <a:lstStyle/>
          <a:p>
            <a:r>
              <a:rPr lang="en-US" dirty="0"/>
              <a:t>4.4.1 WiredTiger: Essential Properties</a:t>
            </a:r>
          </a:p>
        </p:txBody>
      </p:sp>
      <p:sp>
        <p:nvSpPr>
          <p:cNvPr id="3" name="Content Placeholder 2">
            <a:extLst>
              <a:ext uri="{FF2B5EF4-FFF2-40B4-BE49-F238E27FC236}">
                <a16:creationId xmlns:a16="http://schemas.microsoft.com/office/drawing/2014/main" id="{5FB61422-1C2D-7809-32A1-A5B22096C7B4}"/>
              </a:ext>
            </a:extLst>
          </p:cNvPr>
          <p:cNvSpPr>
            <a:spLocks noGrp="1"/>
          </p:cNvSpPr>
          <p:nvPr>
            <p:ph idx="1"/>
          </p:nvPr>
        </p:nvSpPr>
        <p:spPr/>
        <p:txBody>
          <a:bodyPr>
            <a:normAutofit/>
          </a:bodyPr>
          <a:lstStyle/>
          <a:p>
            <a:r>
              <a:rPr lang="en-US" dirty="0"/>
              <a:t>WiredTiger is an </a:t>
            </a:r>
            <a:r>
              <a:rPr lang="en-US" b="1" dirty="0"/>
              <a:t>embedded</a:t>
            </a:r>
            <a:r>
              <a:rPr lang="en-US" dirty="0"/>
              <a:t> KV store:</a:t>
            </a:r>
          </a:p>
          <a:p>
            <a:pPr lvl="1"/>
            <a:r>
              <a:rPr lang="en-US" dirty="0"/>
              <a:t>The KV store is part of the application</a:t>
            </a:r>
          </a:p>
          <a:p>
            <a:pPr lvl="1"/>
            <a:r>
              <a:rPr lang="en-US" dirty="0"/>
              <a:t>A WT  databases work on a single-process multi-threaded model</a:t>
            </a:r>
          </a:p>
          <a:p>
            <a:pPr marL="0" indent="0">
              <a:buNone/>
            </a:pPr>
            <a:endParaRPr lang="en-US" dirty="0"/>
          </a:p>
          <a:p>
            <a:r>
              <a:rPr lang="en-US" dirty="0"/>
              <a:t>The WT API requires a single connection to the database (</a:t>
            </a:r>
            <a:r>
              <a:rPr lang="en-US" b="1" dirty="0"/>
              <a:t>WT_CONNECTION </a:t>
            </a:r>
            <a:r>
              <a:rPr lang="en-US" dirty="0"/>
              <a:t>object)</a:t>
            </a:r>
          </a:p>
          <a:p>
            <a:pPr lvl="1"/>
            <a:r>
              <a:rPr lang="en-US" dirty="0"/>
              <a:t>Thread safe</a:t>
            </a:r>
          </a:p>
          <a:p>
            <a:r>
              <a:rPr lang="en-US" dirty="0"/>
              <a:t>A Session object encapsulates the transactional context of data operations (</a:t>
            </a:r>
            <a:r>
              <a:rPr lang="en-US" b="1" dirty="0"/>
              <a:t>WT_SESSION </a:t>
            </a:r>
            <a:r>
              <a:rPr lang="en-US" dirty="0"/>
              <a:t>object)</a:t>
            </a:r>
          </a:p>
          <a:p>
            <a:pPr lvl="1"/>
            <a:r>
              <a:rPr lang="en-US" dirty="0"/>
              <a:t>WT_SESSION methods are not thread safe</a:t>
            </a:r>
          </a:p>
        </p:txBody>
      </p:sp>
      <p:sp>
        <p:nvSpPr>
          <p:cNvPr id="4" name="Slide Number Placeholder 3">
            <a:extLst>
              <a:ext uri="{FF2B5EF4-FFF2-40B4-BE49-F238E27FC236}">
                <a16:creationId xmlns:a16="http://schemas.microsoft.com/office/drawing/2014/main" id="{8E850DC0-A5AD-46BD-5FFC-CDA74DD5CA18}"/>
              </a:ext>
            </a:extLst>
          </p:cNvPr>
          <p:cNvSpPr>
            <a:spLocks noGrp="1"/>
          </p:cNvSpPr>
          <p:nvPr>
            <p:ph type="sldNum" sz="quarter" idx="12"/>
          </p:nvPr>
        </p:nvSpPr>
        <p:spPr/>
        <p:txBody>
          <a:bodyPr/>
          <a:lstStyle/>
          <a:p>
            <a:fld id="{EEBEF218-D4C5-B946-BB13-027BCA6FFA2A}" type="slidenum">
              <a:rPr lang="en-US" smtClean="0"/>
              <a:t>20</a:t>
            </a:fld>
            <a:endParaRPr lang="en-US"/>
          </a:p>
        </p:txBody>
      </p:sp>
    </p:spTree>
    <p:extLst>
      <p:ext uri="{BB962C8B-B14F-4D97-AF65-F5344CB8AC3E}">
        <p14:creationId xmlns:p14="http://schemas.microsoft.com/office/powerpoint/2010/main" val="1462960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8F56B-6AFB-A3B6-D596-FB8A2C152ED7}"/>
              </a:ext>
            </a:extLst>
          </p:cNvPr>
          <p:cNvSpPr>
            <a:spLocks noGrp="1"/>
          </p:cNvSpPr>
          <p:nvPr>
            <p:ph type="title"/>
          </p:nvPr>
        </p:nvSpPr>
        <p:spPr>
          <a:xfrm>
            <a:off x="838200" y="365125"/>
            <a:ext cx="10515600" cy="977793"/>
          </a:xfrm>
        </p:spPr>
        <p:txBody>
          <a:bodyPr/>
          <a:lstStyle/>
          <a:p>
            <a:r>
              <a:rPr lang="en-US" dirty="0"/>
              <a:t>4.4.1 WiredTiger: Essential Properties</a:t>
            </a:r>
          </a:p>
        </p:txBody>
      </p:sp>
      <p:sp>
        <p:nvSpPr>
          <p:cNvPr id="3" name="Content Placeholder 2">
            <a:extLst>
              <a:ext uri="{FF2B5EF4-FFF2-40B4-BE49-F238E27FC236}">
                <a16:creationId xmlns:a16="http://schemas.microsoft.com/office/drawing/2014/main" id="{5FB61422-1C2D-7809-32A1-A5B22096C7B4}"/>
              </a:ext>
            </a:extLst>
          </p:cNvPr>
          <p:cNvSpPr>
            <a:spLocks noGrp="1"/>
          </p:cNvSpPr>
          <p:nvPr>
            <p:ph idx="1"/>
          </p:nvPr>
        </p:nvSpPr>
        <p:spPr>
          <a:xfrm>
            <a:off x="847040" y="1306336"/>
            <a:ext cx="10515600" cy="3846636"/>
          </a:xfrm>
        </p:spPr>
        <p:txBody>
          <a:bodyPr/>
          <a:lstStyle/>
          <a:p>
            <a:r>
              <a:rPr lang="en-US" dirty="0"/>
              <a:t>Cursors are used to find, locate, and traverse over records in the database</a:t>
            </a:r>
          </a:p>
          <a:p>
            <a:pPr lvl="1"/>
            <a:r>
              <a:rPr lang="en-US" dirty="0"/>
              <a:t>WT_CURSOR objects are not thread safe and are tied to a session</a:t>
            </a:r>
          </a:p>
          <a:p>
            <a:endParaRPr lang="en-US" dirty="0"/>
          </a:p>
          <a:p>
            <a:r>
              <a:rPr lang="en-US" dirty="0"/>
              <a:t>The single-process multi-threaded model dictates the design of a WT application:</a:t>
            </a:r>
          </a:p>
          <a:p>
            <a:pPr lvl="1"/>
            <a:r>
              <a:rPr lang="en-US" dirty="0"/>
              <a:t>The process opens a database connection</a:t>
            </a:r>
          </a:p>
          <a:p>
            <a:pPr lvl="1"/>
            <a:r>
              <a:rPr lang="en-US" dirty="0"/>
              <a:t>Each application thread creates a new session and as many cursors as it needs</a:t>
            </a:r>
          </a:p>
          <a:p>
            <a:pPr lvl="1"/>
            <a:endParaRPr lang="en-US" dirty="0"/>
          </a:p>
        </p:txBody>
      </p:sp>
      <p:sp>
        <p:nvSpPr>
          <p:cNvPr id="4" name="Slide Number Placeholder 3">
            <a:extLst>
              <a:ext uri="{FF2B5EF4-FFF2-40B4-BE49-F238E27FC236}">
                <a16:creationId xmlns:a16="http://schemas.microsoft.com/office/drawing/2014/main" id="{8E850DC0-A5AD-46BD-5FFC-CDA74DD5CA18}"/>
              </a:ext>
            </a:extLst>
          </p:cNvPr>
          <p:cNvSpPr>
            <a:spLocks noGrp="1"/>
          </p:cNvSpPr>
          <p:nvPr>
            <p:ph type="sldNum" sz="quarter" idx="12"/>
          </p:nvPr>
        </p:nvSpPr>
        <p:spPr/>
        <p:txBody>
          <a:bodyPr/>
          <a:lstStyle/>
          <a:p>
            <a:fld id="{EEBEF218-D4C5-B946-BB13-027BCA6FFA2A}" type="slidenum">
              <a:rPr lang="en-US" smtClean="0"/>
              <a:t>21</a:t>
            </a:fld>
            <a:endParaRPr lang="en-US"/>
          </a:p>
        </p:txBody>
      </p:sp>
      <p:grpSp>
        <p:nvGrpSpPr>
          <p:cNvPr id="51" name="Group 50">
            <a:extLst>
              <a:ext uri="{FF2B5EF4-FFF2-40B4-BE49-F238E27FC236}">
                <a16:creationId xmlns:a16="http://schemas.microsoft.com/office/drawing/2014/main" id="{C0B555AE-EDF2-B86A-F60F-2D412A104C89}"/>
              </a:ext>
            </a:extLst>
          </p:cNvPr>
          <p:cNvGrpSpPr/>
          <p:nvPr/>
        </p:nvGrpSpPr>
        <p:grpSpPr>
          <a:xfrm>
            <a:off x="2328203" y="4773440"/>
            <a:ext cx="6774766" cy="1962443"/>
            <a:chOff x="1835834" y="4895557"/>
            <a:chExt cx="6774766" cy="1962443"/>
          </a:xfrm>
        </p:grpSpPr>
        <p:sp>
          <p:nvSpPr>
            <p:cNvPr id="50" name="Rectangle 49">
              <a:extLst>
                <a:ext uri="{FF2B5EF4-FFF2-40B4-BE49-F238E27FC236}">
                  <a16:creationId xmlns:a16="http://schemas.microsoft.com/office/drawing/2014/main" id="{559A4F1A-6AD5-88A9-65B3-B48836305389}"/>
                </a:ext>
              </a:extLst>
            </p:cNvPr>
            <p:cNvSpPr/>
            <p:nvPr/>
          </p:nvSpPr>
          <p:spPr>
            <a:xfrm>
              <a:off x="1835834" y="4895557"/>
              <a:ext cx="6774766" cy="19624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5CF14AA-193A-60B1-C8CC-DCCDFAF4622F}"/>
                </a:ext>
              </a:extLst>
            </p:cNvPr>
            <p:cNvSpPr txBox="1"/>
            <p:nvPr/>
          </p:nvSpPr>
          <p:spPr>
            <a:xfrm>
              <a:off x="2147103" y="5726927"/>
              <a:ext cx="1894687"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WT</a:t>
              </a:r>
              <a:r>
                <a:rPr lang="en-US"/>
                <a:t>_CONNECTION</a:t>
              </a:r>
              <a:endParaRPr lang="en-US" dirty="0"/>
            </a:p>
          </p:txBody>
        </p:sp>
        <p:sp>
          <p:nvSpPr>
            <p:cNvPr id="30" name="Rectangle 29">
              <a:extLst>
                <a:ext uri="{FF2B5EF4-FFF2-40B4-BE49-F238E27FC236}">
                  <a16:creationId xmlns:a16="http://schemas.microsoft.com/office/drawing/2014/main" id="{8F41C35C-7969-34AF-ECF1-85A4A3514693}"/>
                </a:ext>
              </a:extLst>
            </p:cNvPr>
            <p:cNvSpPr/>
            <p:nvPr/>
          </p:nvSpPr>
          <p:spPr>
            <a:xfrm>
              <a:off x="4504267" y="5238044"/>
              <a:ext cx="1518355" cy="399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WT_SESSION</a:t>
              </a:r>
            </a:p>
          </p:txBody>
        </p:sp>
        <p:sp>
          <p:nvSpPr>
            <p:cNvPr id="32" name="Rectangle 31">
              <a:extLst>
                <a:ext uri="{FF2B5EF4-FFF2-40B4-BE49-F238E27FC236}">
                  <a16:creationId xmlns:a16="http://schemas.microsoft.com/office/drawing/2014/main" id="{57D5127B-D2D9-816E-5AE9-09B76A8A7A71}"/>
                </a:ext>
              </a:extLst>
            </p:cNvPr>
            <p:cNvSpPr/>
            <p:nvPr/>
          </p:nvSpPr>
          <p:spPr>
            <a:xfrm>
              <a:off x="4504264" y="6306638"/>
              <a:ext cx="1518355" cy="399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WT_SESSION</a:t>
              </a:r>
            </a:p>
          </p:txBody>
        </p:sp>
        <p:sp>
          <p:nvSpPr>
            <p:cNvPr id="33" name="Rectangle 32">
              <a:extLst>
                <a:ext uri="{FF2B5EF4-FFF2-40B4-BE49-F238E27FC236}">
                  <a16:creationId xmlns:a16="http://schemas.microsoft.com/office/drawing/2014/main" id="{A4C78392-BD23-9FA1-A687-4E8BBAB0FD67}"/>
                </a:ext>
              </a:extLst>
            </p:cNvPr>
            <p:cNvSpPr/>
            <p:nvPr/>
          </p:nvSpPr>
          <p:spPr>
            <a:xfrm>
              <a:off x="6880578" y="5238044"/>
              <a:ext cx="1405466" cy="399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WT_CURSOR</a:t>
              </a:r>
            </a:p>
          </p:txBody>
        </p:sp>
        <p:sp>
          <p:nvSpPr>
            <p:cNvPr id="34" name="Rectangle 33">
              <a:extLst>
                <a:ext uri="{FF2B5EF4-FFF2-40B4-BE49-F238E27FC236}">
                  <a16:creationId xmlns:a16="http://schemas.microsoft.com/office/drawing/2014/main" id="{FBE97F65-EAB1-DA02-B191-E9E93B9743C4}"/>
                </a:ext>
              </a:extLst>
            </p:cNvPr>
            <p:cNvSpPr/>
            <p:nvPr/>
          </p:nvSpPr>
          <p:spPr>
            <a:xfrm>
              <a:off x="6880578" y="5772342"/>
              <a:ext cx="1405466" cy="399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WT_CURSOR</a:t>
              </a:r>
            </a:p>
          </p:txBody>
        </p:sp>
        <p:sp>
          <p:nvSpPr>
            <p:cNvPr id="35" name="Rectangle 34">
              <a:extLst>
                <a:ext uri="{FF2B5EF4-FFF2-40B4-BE49-F238E27FC236}">
                  <a16:creationId xmlns:a16="http://schemas.microsoft.com/office/drawing/2014/main" id="{3E984B85-E40F-7F52-F417-378C7A4A6F52}"/>
                </a:ext>
              </a:extLst>
            </p:cNvPr>
            <p:cNvSpPr/>
            <p:nvPr/>
          </p:nvSpPr>
          <p:spPr>
            <a:xfrm>
              <a:off x="6880578" y="6339334"/>
              <a:ext cx="1405466" cy="399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WT_CURSOR</a:t>
              </a:r>
            </a:p>
          </p:txBody>
        </p:sp>
        <p:cxnSp>
          <p:nvCxnSpPr>
            <p:cNvPr id="37" name="Straight Arrow Connector 36">
              <a:extLst>
                <a:ext uri="{FF2B5EF4-FFF2-40B4-BE49-F238E27FC236}">
                  <a16:creationId xmlns:a16="http://schemas.microsoft.com/office/drawing/2014/main" id="{36811EC3-C4A0-47BB-E565-DBAAA466229E}"/>
                </a:ext>
              </a:extLst>
            </p:cNvPr>
            <p:cNvCxnSpPr>
              <a:cxnSpLocks/>
              <a:stCxn id="29" idx="3"/>
              <a:endCxn id="30" idx="1"/>
            </p:cNvCxnSpPr>
            <p:nvPr/>
          </p:nvCxnSpPr>
          <p:spPr>
            <a:xfrm flipV="1">
              <a:off x="4041790" y="5437622"/>
              <a:ext cx="462477" cy="4739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E54CC8F-4B4E-4FE4-D97D-C1152D57D4D7}"/>
                </a:ext>
              </a:extLst>
            </p:cNvPr>
            <p:cNvCxnSpPr>
              <a:stCxn id="30" idx="3"/>
              <a:endCxn id="33" idx="1"/>
            </p:cNvCxnSpPr>
            <p:nvPr/>
          </p:nvCxnSpPr>
          <p:spPr>
            <a:xfrm>
              <a:off x="6022622" y="5437622"/>
              <a:ext cx="8579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AC40A3FF-4335-6541-D347-B27AC6C66FA7}"/>
                </a:ext>
              </a:extLst>
            </p:cNvPr>
            <p:cNvCxnSpPr>
              <a:stCxn id="30" idx="3"/>
              <a:endCxn id="34" idx="1"/>
            </p:cNvCxnSpPr>
            <p:nvPr/>
          </p:nvCxnSpPr>
          <p:spPr>
            <a:xfrm>
              <a:off x="6022622" y="5437622"/>
              <a:ext cx="857956" cy="5342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BA8AD476-74AE-16C8-58FA-0A40DDC90667}"/>
                </a:ext>
              </a:extLst>
            </p:cNvPr>
            <p:cNvCxnSpPr>
              <a:stCxn id="30" idx="3"/>
              <a:endCxn id="35" idx="1"/>
            </p:cNvCxnSpPr>
            <p:nvPr/>
          </p:nvCxnSpPr>
          <p:spPr>
            <a:xfrm>
              <a:off x="6022622" y="5437622"/>
              <a:ext cx="857956" cy="11012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DD6353AC-7FE5-1BB3-48B1-68E164245550}"/>
                </a:ext>
              </a:extLst>
            </p:cNvPr>
            <p:cNvSpPr txBox="1"/>
            <p:nvPr/>
          </p:nvSpPr>
          <p:spPr>
            <a:xfrm>
              <a:off x="5032204" y="5741086"/>
              <a:ext cx="462477" cy="461665"/>
            </a:xfrm>
            <a:prstGeom prst="rect">
              <a:avLst/>
            </a:prstGeom>
            <a:noFill/>
          </p:spPr>
          <p:txBody>
            <a:bodyPr wrap="square" rtlCol="0">
              <a:spAutoFit/>
            </a:bodyPr>
            <a:lstStyle/>
            <a:p>
              <a:r>
                <a:rPr lang="en-US" sz="2400" b="1" dirty="0"/>
                <a:t>…</a:t>
              </a:r>
            </a:p>
          </p:txBody>
        </p:sp>
        <p:cxnSp>
          <p:nvCxnSpPr>
            <p:cNvPr id="49" name="Straight Arrow Connector 48">
              <a:extLst>
                <a:ext uri="{FF2B5EF4-FFF2-40B4-BE49-F238E27FC236}">
                  <a16:creationId xmlns:a16="http://schemas.microsoft.com/office/drawing/2014/main" id="{026C92DF-ED0E-FF3E-7F57-633D77464908}"/>
                </a:ext>
              </a:extLst>
            </p:cNvPr>
            <p:cNvCxnSpPr>
              <a:stCxn id="29" idx="3"/>
              <a:endCxn id="32" idx="1"/>
            </p:cNvCxnSpPr>
            <p:nvPr/>
          </p:nvCxnSpPr>
          <p:spPr>
            <a:xfrm>
              <a:off x="4041790" y="5911593"/>
              <a:ext cx="462474" cy="5946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52" name="TextBox 51">
            <a:extLst>
              <a:ext uri="{FF2B5EF4-FFF2-40B4-BE49-F238E27FC236}">
                <a16:creationId xmlns:a16="http://schemas.microsoft.com/office/drawing/2014/main" id="{0172766E-E3FA-0A03-B519-7C9E2FE3A551}"/>
              </a:ext>
            </a:extLst>
          </p:cNvPr>
          <p:cNvSpPr txBox="1"/>
          <p:nvPr/>
        </p:nvSpPr>
        <p:spPr>
          <a:xfrm>
            <a:off x="2440745" y="4923692"/>
            <a:ext cx="1245021" cy="369332"/>
          </a:xfrm>
          <a:prstGeom prst="rect">
            <a:avLst/>
          </a:prstGeom>
          <a:noFill/>
        </p:spPr>
        <p:txBody>
          <a:bodyPr wrap="none" rtlCol="0">
            <a:spAutoFit/>
          </a:bodyPr>
          <a:lstStyle/>
          <a:p>
            <a:r>
              <a:rPr lang="en-US" dirty="0"/>
              <a:t>Application</a:t>
            </a:r>
          </a:p>
        </p:txBody>
      </p:sp>
    </p:spTree>
    <p:extLst>
      <p:ext uri="{BB962C8B-B14F-4D97-AF65-F5344CB8AC3E}">
        <p14:creationId xmlns:p14="http://schemas.microsoft.com/office/powerpoint/2010/main" val="3652218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8F56B-6AFB-A3B6-D596-FB8A2C152ED7}"/>
              </a:ext>
            </a:extLst>
          </p:cNvPr>
          <p:cNvSpPr>
            <a:spLocks noGrp="1"/>
          </p:cNvSpPr>
          <p:nvPr>
            <p:ph type="title"/>
          </p:nvPr>
        </p:nvSpPr>
        <p:spPr/>
        <p:txBody>
          <a:bodyPr/>
          <a:lstStyle/>
          <a:p>
            <a:r>
              <a:rPr lang="en-US" dirty="0"/>
              <a:t>4.4.1 WiredTiger: Essential Properties</a:t>
            </a:r>
          </a:p>
        </p:txBody>
      </p:sp>
      <p:sp>
        <p:nvSpPr>
          <p:cNvPr id="5" name="Content Placeholder 4">
            <a:extLst>
              <a:ext uri="{FF2B5EF4-FFF2-40B4-BE49-F238E27FC236}">
                <a16:creationId xmlns:a16="http://schemas.microsoft.com/office/drawing/2014/main" id="{7D110086-2E79-58D2-D1D3-596A9BEA057E}"/>
              </a:ext>
            </a:extLst>
          </p:cNvPr>
          <p:cNvSpPr>
            <a:spLocks noGrp="1"/>
          </p:cNvSpPr>
          <p:nvPr>
            <p:ph idx="1"/>
          </p:nvPr>
        </p:nvSpPr>
        <p:spPr/>
        <p:txBody>
          <a:bodyPr/>
          <a:lstStyle/>
          <a:p>
            <a:r>
              <a:rPr lang="en-US" dirty="0"/>
              <a:t>WiredTiger supports both row-stores and column stores</a:t>
            </a:r>
          </a:p>
          <a:p>
            <a:pPr lvl="1"/>
            <a:r>
              <a:rPr lang="en-US" dirty="0"/>
              <a:t>Traditional row-based storage is inefficient when we are primarily interested only in a small subset of properties</a:t>
            </a:r>
          </a:p>
          <a:p>
            <a:pPr lvl="1"/>
            <a:r>
              <a:rPr lang="en-US" dirty="0"/>
              <a:t>Column groups define groups of columns (properties) to be stored in a separate file</a:t>
            </a:r>
          </a:p>
          <a:p>
            <a:pPr lvl="1"/>
            <a:r>
              <a:rPr lang="en-US" dirty="0"/>
              <a:t>The same key can be used to access the row store and column group entry</a:t>
            </a:r>
          </a:p>
          <a:p>
            <a:r>
              <a:rPr lang="en-US" dirty="0"/>
              <a:t>Using column groups can significantly improve cache behavior by only reading WT files containing columns needed by the query</a:t>
            </a:r>
          </a:p>
          <a:p>
            <a:pPr lvl="1"/>
            <a:r>
              <a:rPr lang="en-US" dirty="0"/>
              <a:t>Especially critical in property graphs where nodes and edges can have arbitrary number of properties</a:t>
            </a:r>
          </a:p>
        </p:txBody>
      </p:sp>
      <p:sp>
        <p:nvSpPr>
          <p:cNvPr id="4" name="Slide Number Placeholder 3">
            <a:extLst>
              <a:ext uri="{FF2B5EF4-FFF2-40B4-BE49-F238E27FC236}">
                <a16:creationId xmlns:a16="http://schemas.microsoft.com/office/drawing/2014/main" id="{8E850DC0-A5AD-46BD-5FFC-CDA74DD5CA18}"/>
              </a:ext>
            </a:extLst>
          </p:cNvPr>
          <p:cNvSpPr>
            <a:spLocks noGrp="1"/>
          </p:cNvSpPr>
          <p:nvPr>
            <p:ph type="sldNum" sz="quarter" idx="12"/>
          </p:nvPr>
        </p:nvSpPr>
        <p:spPr/>
        <p:txBody>
          <a:bodyPr/>
          <a:lstStyle/>
          <a:p>
            <a:fld id="{EEBEF218-D4C5-B946-BB13-027BCA6FFA2A}" type="slidenum">
              <a:rPr lang="en-US" smtClean="0"/>
              <a:t>22</a:t>
            </a:fld>
            <a:endParaRPr lang="en-US"/>
          </a:p>
        </p:txBody>
      </p:sp>
    </p:spTree>
    <p:extLst>
      <p:ext uri="{BB962C8B-B14F-4D97-AF65-F5344CB8AC3E}">
        <p14:creationId xmlns:p14="http://schemas.microsoft.com/office/powerpoint/2010/main" val="3327137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69B0-9A49-F9F3-2198-FC943B857CCE}"/>
              </a:ext>
            </a:extLst>
          </p:cNvPr>
          <p:cNvSpPr>
            <a:spLocks noGrp="1"/>
          </p:cNvSpPr>
          <p:nvPr>
            <p:ph type="title"/>
          </p:nvPr>
        </p:nvSpPr>
        <p:spPr>
          <a:xfrm>
            <a:off x="415684" y="176041"/>
            <a:ext cx="10515600" cy="923923"/>
          </a:xfrm>
        </p:spPr>
        <p:txBody>
          <a:bodyPr/>
          <a:lstStyle/>
          <a:p>
            <a:r>
              <a:rPr lang="en-US" dirty="0"/>
              <a:t>4.4.2 Writing a Flexograph Application</a:t>
            </a:r>
          </a:p>
        </p:txBody>
      </p:sp>
      <p:sp>
        <p:nvSpPr>
          <p:cNvPr id="5" name="Content Placeholder 4">
            <a:extLst>
              <a:ext uri="{FF2B5EF4-FFF2-40B4-BE49-F238E27FC236}">
                <a16:creationId xmlns:a16="http://schemas.microsoft.com/office/drawing/2014/main" id="{A5577FD2-E59B-7FB0-BB4E-9CCA416331B3}"/>
              </a:ext>
            </a:extLst>
          </p:cNvPr>
          <p:cNvSpPr>
            <a:spLocks noGrp="1"/>
          </p:cNvSpPr>
          <p:nvPr>
            <p:ph sz="half" idx="1"/>
          </p:nvPr>
        </p:nvSpPr>
        <p:spPr>
          <a:xfrm>
            <a:off x="415684" y="1345852"/>
            <a:ext cx="5181600" cy="1541889"/>
          </a:xfrm>
          <a:ln>
            <a:solidFill>
              <a:schemeClr val="accent1"/>
            </a:solidFill>
          </a:ln>
        </p:spPr>
        <p:txBody>
          <a:bodyPr>
            <a:normAutofit fontScale="85000" lnSpcReduction="10000"/>
          </a:bodyPr>
          <a:lstStyle/>
          <a:p>
            <a:r>
              <a:rPr lang="en-US" dirty="0"/>
              <a:t>An application first creates a </a:t>
            </a:r>
            <a:r>
              <a:rPr lang="en-US" b="1" dirty="0"/>
              <a:t>GraphEngine</a:t>
            </a:r>
            <a:r>
              <a:rPr lang="en-US" dirty="0"/>
              <a:t> object</a:t>
            </a:r>
          </a:p>
          <a:p>
            <a:pPr lvl="1"/>
            <a:r>
              <a:rPr lang="en-US" dirty="0"/>
              <a:t>Encapsulates the connection to the DB</a:t>
            </a:r>
          </a:p>
          <a:p>
            <a:pPr lvl="1"/>
            <a:r>
              <a:rPr lang="en-US" sz="2400" dirty="0"/>
              <a:t>Compute the vertex ID ranges a thread operates over</a:t>
            </a:r>
          </a:p>
        </p:txBody>
      </p:sp>
      <p:pic>
        <p:nvPicPr>
          <p:cNvPr id="7" name="Content Placeholder 6">
            <a:extLst>
              <a:ext uri="{FF2B5EF4-FFF2-40B4-BE49-F238E27FC236}">
                <a16:creationId xmlns:a16="http://schemas.microsoft.com/office/drawing/2014/main" id="{1B599CB0-BADB-CC58-C701-8F3E49DDE6E7}"/>
              </a:ext>
            </a:extLst>
          </p:cNvPr>
          <p:cNvPicPr>
            <a:picLocks noGrp="1" noChangeAspect="1"/>
          </p:cNvPicPr>
          <p:nvPr>
            <p:ph sz="half" idx="2"/>
          </p:nvPr>
        </p:nvPicPr>
        <p:blipFill>
          <a:blip r:embed="rId3"/>
          <a:stretch>
            <a:fillRect/>
          </a:stretch>
        </p:blipFill>
        <p:spPr>
          <a:xfrm>
            <a:off x="6172199" y="1825625"/>
            <a:ext cx="5941491" cy="3857925"/>
          </a:xfrm>
          <a:prstGeom prst="rect">
            <a:avLst/>
          </a:prstGeom>
        </p:spPr>
      </p:pic>
      <p:sp>
        <p:nvSpPr>
          <p:cNvPr id="4" name="Slide Number Placeholder 3">
            <a:extLst>
              <a:ext uri="{FF2B5EF4-FFF2-40B4-BE49-F238E27FC236}">
                <a16:creationId xmlns:a16="http://schemas.microsoft.com/office/drawing/2014/main" id="{84D14159-7FC4-5D87-A2F2-F027A34FA018}"/>
              </a:ext>
            </a:extLst>
          </p:cNvPr>
          <p:cNvSpPr>
            <a:spLocks noGrp="1"/>
          </p:cNvSpPr>
          <p:nvPr>
            <p:ph type="sldNum" sz="quarter" idx="12"/>
          </p:nvPr>
        </p:nvSpPr>
        <p:spPr/>
        <p:txBody>
          <a:bodyPr/>
          <a:lstStyle/>
          <a:p>
            <a:fld id="{EEBEF218-D4C5-B946-BB13-027BCA6FFA2A}" type="slidenum">
              <a:rPr lang="en-US" smtClean="0"/>
              <a:t>23</a:t>
            </a:fld>
            <a:endParaRPr lang="en-US"/>
          </a:p>
        </p:txBody>
      </p:sp>
      <p:sp>
        <p:nvSpPr>
          <p:cNvPr id="8" name="TextBox 7">
            <a:extLst>
              <a:ext uri="{FF2B5EF4-FFF2-40B4-BE49-F238E27FC236}">
                <a16:creationId xmlns:a16="http://schemas.microsoft.com/office/drawing/2014/main" id="{3E7C22ED-648C-A9ED-2583-CF4141EB3BFA}"/>
              </a:ext>
            </a:extLst>
          </p:cNvPr>
          <p:cNvSpPr txBox="1"/>
          <p:nvPr/>
        </p:nvSpPr>
        <p:spPr>
          <a:xfrm>
            <a:off x="6275599" y="5818487"/>
            <a:ext cx="5838091" cy="646331"/>
          </a:xfrm>
          <a:prstGeom prst="rect">
            <a:avLst/>
          </a:prstGeom>
          <a:noFill/>
        </p:spPr>
        <p:txBody>
          <a:bodyPr wrap="square" rtlCol="0">
            <a:spAutoFit/>
          </a:bodyPr>
          <a:lstStyle/>
          <a:p>
            <a:pPr algn="ctr"/>
            <a:r>
              <a:rPr lang="en-US" dirty="0"/>
              <a:t>A sample application that traverses the out-neighborhoods of all nodes in the graph</a:t>
            </a:r>
          </a:p>
        </p:txBody>
      </p:sp>
      <p:sp>
        <p:nvSpPr>
          <p:cNvPr id="10" name="Left Brace 9">
            <a:extLst>
              <a:ext uri="{FF2B5EF4-FFF2-40B4-BE49-F238E27FC236}">
                <a16:creationId xmlns:a16="http://schemas.microsoft.com/office/drawing/2014/main" id="{A0CDF4EF-4307-F22E-660C-D9BDDD3F853C}"/>
              </a:ext>
            </a:extLst>
          </p:cNvPr>
          <p:cNvSpPr/>
          <p:nvPr/>
        </p:nvSpPr>
        <p:spPr>
          <a:xfrm>
            <a:off x="6096000" y="1942312"/>
            <a:ext cx="121920" cy="34053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9FE6215-EA36-2EF8-A9FB-26BEBBC87F16}"/>
              </a:ext>
            </a:extLst>
          </p:cNvPr>
          <p:cNvCxnSpPr>
            <a:cxnSpLocks/>
            <a:stCxn id="10" idx="1"/>
            <a:endCxn id="5" idx="3"/>
          </p:cNvCxnSpPr>
          <p:nvPr/>
        </p:nvCxnSpPr>
        <p:spPr>
          <a:xfrm flipH="1">
            <a:off x="5597284" y="2112580"/>
            <a:ext cx="498716" cy="42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5778DB9-E3CA-CAB0-2E25-1A5018ED70E6}"/>
              </a:ext>
            </a:extLst>
          </p:cNvPr>
          <p:cNvSpPr txBox="1"/>
          <p:nvPr/>
        </p:nvSpPr>
        <p:spPr>
          <a:xfrm>
            <a:off x="415684" y="3051703"/>
            <a:ext cx="5181600" cy="1569660"/>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sz="2400" dirty="0"/>
              <a:t>Each thread creates a graph handle </a:t>
            </a:r>
          </a:p>
          <a:p>
            <a:pPr marL="742950" lvl="1" indent="-285750">
              <a:buFont typeface="Arial" panose="020B0604020202020204" pitchFamily="34" charset="0"/>
              <a:buChar char="•"/>
            </a:pPr>
            <a:r>
              <a:rPr lang="en-US" sz="2400" dirty="0"/>
              <a:t>Held in a </a:t>
            </a:r>
            <a:r>
              <a:rPr lang="en-US" sz="2400" b="1" dirty="0" err="1"/>
              <a:t>GraphBase</a:t>
            </a:r>
            <a:r>
              <a:rPr lang="en-US" sz="2400" dirty="0"/>
              <a:t> reference – has a session and few cursors pre-instantiated</a:t>
            </a:r>
          </a:p>
        </p:txBody>
      </p:sp>
      <p:sp>
        <p:nvSpPr>
          <p:cNvPr id="15" name="Left Brace 14">
            <a:extLst>
              <a:ext uri="{FF2B5EF4-FFF2-40B4-BE49-F238E27FC236}">
                <a16:creationId xmlns:a16="http://schemas.microsoft.com/office/drawing/2014/main" id="{CD905E98-4687-6D7D-449D-FEB99D16E46B}"/>
              </a:ext>
            </a:extLst>
          </p:cNvPr>
          <p:cNvSpPr/>
          <p:nvPr/>
        </p:nvSpPr>
        <p:spPr>
          <a:xfrm>
            <a:off x="6111239" y="2880237"/>
            <a:ext cx="121920" cy="34053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22C0CD26-4956-E386-9052-F84B872571E3}"/>
              </a:ext>
            </a:extLst>
          </p:cNvPr>
          <p:cNvCxnSpPr>
            <a:stCxn id="15" idx="1"/>
            <a:endCxn id="14" idx="3"/>
          </p:cNvCxnSpPr>
          <p:nvPr/>
        </p:nvCxnSpPr>
        <p:spPr>
          <a:xfrm flipH="1">
            <a:off x="5597284" y="3050505"/>
            <a:ext cx="513955" cy="7860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EEE5CE47-953E-D306-B95D-573B9412F8BD}"/>
              </a:ext>
            </a:extLst>
          </p:cNvPr>
          <p:cNvSpPr txBox="1"/>
          <p:nvPr/>
        </p:nvSpPr>
        <p:spPr>
          <a:xfrm>
            <a:off x="346841" y="4784122"/>
            <a:ext cx="5297214" cy="1569660"/>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sz="2400" dirty="0"/>
              <a:t>A thread can then ask for an </a:t>
            </a:r>
            <a:r>
              <a:rPr lang="en-US" sz="2400" b="1" dirty="0"/>
              <a:t>iterator </a:t>
            </a:r>
            <a:r>
              <a:rPr lang="en-US" sz="2400" dirty="0"/>
              <a:t>from the API – here out </a:t>
            </a:r>
            <a:r>
              <a:rPr lang="en-US" sz="2400" dirty="0" err="1"/>
              <a:t>nbd</a:t>
            </a:r>
            <a:r>
              <a:rPr lang="en-US" sz="2400" dirty="0"/>
              <a:t> iterator</a:t>
            </a:r>
          </a:p>
          <a:p>
            <a:pPr marL="742950" lvl="1" indent="-285750">
              <a:buFont typeface="Arial" panose="020B0604020202020204" pitchFamily="34" charset="0"/>
              <a:buChar char="•"/>
            </a:pPr>
            <a:r>
              <a:rPr lang="en-US" sz="2400" b="1" dirty="0"/>
              <a:t>Iterators</a:t>
            </a:r>
            <a:r>
              <a:rPr lang="en-US" sz="2400" dirty="0"/>
              <a:t> internally manage cursor operations and range checks</a:t>
            </a:r>
          </a:p>
        </p:txBody>
      </p:sp>
      <p:sp>
        <p:nvSpPr>
          <p:cNvPr id="21" name="Left Brace 20">
            <a:extLst>
              <a:ext uri="{FF2B5EF4-FFF2-40B4-BE49-F238E27FC236}">
                <a16:creationId xmlns:a16="http://schemas.microsoft.com/office/drawing/2014/main" id="{83EB82C4-0BCA-3872-9D6D-307C554948B4}"/>
              </a:ext>
            </a:extLst>
          </p:cNvPr>
          <p:cNvSpPr/>
          <p:nvPr/>
        </p:nvSpPr>
        <p:spPr>
          <a:xfrm>
            <a:off x="6107034" y="3403111"/>
            <a:ext cx="121920" cy="46823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7BEC2B60-5F3E-5B6F-7D81-732AAA38D609}"/>
              </a:ext>
            </a:extLst>
          </p:cNvPr>
          <p:cNvCxnSpPr>
            <a:endCxn id="18" idx="3"/>
          </p:cNvCxnSpPr>
          <p:nvPr/>
        </p:nvCxnSpPr>
        <p:spPr>
          <a:xfrm flipH="1">
            <a:off x="5644055" y="3637229"/>
            <a:ext cx="451945" cy="19317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9473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Content Placeholder 41">
            <a:extLst>
              <a:ext uri="{FF2B5EF4-FFF2-40B4-BE49-F238E27FC236}">
                <a16:creationId xmlns:a16="http://schemas.microsoft.com/office/drawing/2014/main" id="{D62DB7A3-59C9-EC7C-09BF-537F543B29CA}"/>
              </a:ext>
            </a:extLst>
          </p:cNvPr>
          <p:cNvPicPr>
            <a:picLocks noGrp="1" noChangeAspect="1"/>
          </p:cNvPicPr>
          <p:nvPr>
            <p:ph sz="half" idx="1"/>
          </p:nvPr>
        </p:nvPicPr>
        <p:blipFill>
          <a:blip r:embed="rId2"/>
          <a:stretch>
            <a:fillRect/>
          </a:stretch>
        </p:blipFill>
        <p:spPr>
          <a:xfrm>
            <a:off x="838200" y="1984363"/>
            <a:ext cx="5181600" cy="4033862"/>
          </a:xfrm>
          <a:prstGeom prst="rect">
            <a:avLst/>
          </a:prstGeom>
        </p:spPr>
      </p:pic>
      <p:sp>
        <p:nvSpPr>
          <p:cNvPr id="2" name="Title 1">
            <a:extLst>
              <a:ext uri="{FF2B5EF4-FFF2-40B4-BE49-F238E27FC236}">
                <a16:creationId xmlns:a16="http://schemas.microsoft.com/office/drawing/2014/main" id="{2CC969B0-9A49-F9F3-2198-FC943B857CCE}"/>
              </a:ext>
            </a:extLst>
          </p:cNvPr>
          <p:cNvSpPr>
            <a:spLocks noGrp="1"/>
          </p:cNvSpPr>
          <p:nvPr>
            <p:ph type="title"/>
          </p:nvPr>
        </p:nvSpPr>
        <p:spPr>
          <a:xfrm>
            <a:off x="415684" y="176041"/>
            <a:ext cx="10515600" cy="923923"/>
          </a:xfrm>
        </p:spPr>
        <p:txBody>
          <a:bodyPr/>
          <a:lstStyle/>
          <a:p>
            <a:r>
              <a:rPr lang="en-US" dirty="0"/>
              <a:t>4.4.2 Application example: PageRank</a:t>
            </a:r>
          </a:p>
        </p:txBody>
      </p:sp>
      <p:sp>
        <p:nvSpPr>
          <p:cNvPr id="4" name="Slide Number Placeholder 3">
            <a:extLst>
              <a:ext uri="{FF2B5EF4-FFF2-40B4-BE49-F238E27FC236}">
                <a16:creationId xmlns:a16="http://schemas.microsoft.com/office/drawing/2014/main" id="{84D14159-7FC4-5D87-A2F2-F027A34FA018}"/>
              </a:ext>
            </a:extLst>
          </p:cNvPr>
          <p:cNvSpPr>
            <a:spLocks noGrp="1"/>
          </p:cNvSpPr>
          <p:nvPr>
            <p:ph type="sldNum" sz="quarter" idx="12"/>
          </p:nvPr>
        </p:nvSpPr>
        <p:spPr/>
        <p:txBody>
          <a:bodyPr/>
          <a:lstStyle/>
          <a:p>
            <a:fld id="{EEBEF218-D4C5-B946-BB13-027BCA6FFA2A}" type="slidenum">
              <a:rPr lang="en-US" smtClean="0"/>
              <a:t>24</a:t>
            </a:fld>
            <a:endParaRPr lang="en-US"/>
          </a:p>
        </p:txBody>
      </p:sp>
      <p:sp>
        <p:nvSpPr>
          <p:cNvPr id="11" name="Content Placeholder 10">
            <a:extLst>
              <a:ext uri="{FF2B5EF4-FFF2-40B4-BE49-F238E27FC236}">
                <a16:creationId xmlns:a16="http://schemas.microsoft.com/office/drawing/2014/main" id="{CFA99805-8C06-6974-8E38-D474CAB2F2C2}"/>
              </a:ext>
            </a:extLst>
          </p:cNvPr>
          <p:cNvSpPr>
            <a:spLocks noGrp="1"/>
          </p:cNvSpPr>
          <p:nvPr>
            <p:ph sz="half" idx="2"/>
          </p:nvPr>
        </p:nvSpPr>
        <p:spPr>
          <a:xfrm>
            <a:off x="6172200" y="1825625"/>
            <a:ext cx="5181600" cy="1655401"/>
          </a:xfrm>
          <a:ln>
            <a:solidFill>
              <a:schemeClr val="accent1"/>
            </a:solidFill>
          </a:ln>
        </p:spPr>
        <p:txBody>
          <a:bodyPr/>
          <a:lstStyle/>
          <a:p>
            <a:r>
              <a:rPr lang="en-US" dirty="0"/>
              <a:t>Initialize the PR score vectors:</a:t>
            </a:r>
          </a:p>
          <a:p>
            <a:pPr lvl="1"/>
            <a:r>
              <a:rPr lang="en-US" dirty="0" err="1">
                <a:latin typeface="Courier New" panose="02070309020205020404" pitchFamily="49" charset="0"/>
                <a:cs typeface="Courier New" panose="02070309020205020404" pitchFamily="49" charset="0"/>
              </a:rPr>
              <a:t>pvector</a:t>
            </a:r>
            <a:r>
              <a:rPr lang="en-US" dirty="0"/>
              <a:t> initialization is parallel and handled in the constructor</a:t>
            </a:r>
          </a:p>
          <a:p>
            <a:endParaRPr lang="en-US" dirty="0"/>
          </a:p>
          <a:p>
            <a:endParaRPr lang="en-US" dirty="0"/>
          </a:p>
        </p:txBody>
      </p:sp>
      <p:cxnSp>
        <p:nvCxnSpPr>
          <p:cNvPr id="19" name="Straight Arrow Connector 18">
            <a:extLst>
              <a:ext uri="{FF2B5EF4-FFF2-40B4-BE49-F238E27FC236}">
                <a16:creationId xmlns:a16="http://schemas.microsoft.com/office/drawing/2014/main" id="{017E8B1A-E6E2-9DFF-4D21-AD4259732E45}"/>
              </a:ext>
            </a:extLst>
          </p:cNvPr>
          <p:cNvCxnSpPr>
            <a:cxnSpLocks/>
            <a:endCxn id="20" idx="1"/>
          </p:cNvCxnSpPr>
          <p:nvPr/>
        </p:nvCxnSpPr>
        <p:spPr>
          <a:xfrm flipH="1">
            <a:off x="5019740" y="2043211"/>
            <a:ext cx="1280161" cy="9997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Right Brace 19">
            <a:extLst>
              <a:ext uri="{FF2B5EF4-FFF2-40B4-BE49-F238E27FC236}">
                <a16:creationId xmlns:a16="http://schemas.microsoft.com/office/drawing/2014/main" id="{EF554477-F289-F5EC-7829-77DEDAF2F663}"/>
              </a:ext>
            </a:extLst>
          </p:cNvPr>
          <p:cNvSpPr/>
          <p:nvPr/>
        </p:nvSpPr>
        <p:spPr>
          <a:xfrm>
            <a:off x="4931453" y="2888243"/>
            <a:ext cx="88287" cy="30944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Right Bracket 24">
            <a:extLst>
              <a:ext uri="{FF2B5EF4-FFF2-40B4-BE49-F238E27FC236}">
                <a16:creationId xmlns:a16="http://schemas.microsoft.com/office/drawing/2014/main" id="{637B0840-2CDE-C930-DB28-3DDF4FFF546D}"/>
              </a:ext>
            </a:extLst>
          </p:cNvPr>
          <p:cNvSpPr/>
          <p:nvPr/>
        </p:nvSpPr>
        <p:spPr>
          <a:xfrm>
            <a:off x="4305564" y="3197691"/>
            <a:ext cx="45719" cy="169823"/>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96929DEC-3F5A-A43A-695C-3CD6B40C8B31}"/>
              </a:ext>
            </a:extLst>
          </p:cNvPr>
          <p:cNvSpPr txBox="1"/>
          <p:nvPr/>
        </p:nvSpPr>
        <p:spPr>
          <a:xfrm>
            <a:off x="6236050" y="3975288"/>
            <a:ext cx="5117750" cy="1569660"/>
          </a:xfrm>
          <a:prstGeom prst="rect">
            <a:avLst/>
          </a:prstGeom>
          <a:noFill/>
          <a:ln>
            <a:solidFill>
              <a:schemeClr val="accent1"/>
            </a:solidFill>
          </a:ln>
        </p:spPr>
        <p:txBody>
          <a:bodyPr wrap="square" rtlCol="0">
            <a:spAutoFit/>
          </a:bodyPr>
          <a:lstStyle/>
          <a:p>
            <a:pPr marL="342900" indent="-342900">
              <a:buFont typeface="Arial" panose="020B0604020202020204" pitchFamily="34" charset="0"/>
              <a:buChar char="•"/>
            </a:pPr>
            <a:r>
              <a:rPr lang="en-US" sz="2400" dirty="0">
                <a:latin typeface="Courier New" panose="02070309020205020404" pitchFamily="49" charset="0"/>
                <a:cs typeface="Courier New" panose="02070309020205020404" pitchFamily="49" charset="0"/>
              </a:rPr>
              <a:t>deg</a:t>
            </a:r>
            <a:r>
              <a:rPr lang="en-US" dirty="0"/>
              <a:t> vector holds the degrees of vertices</a:t>
            </a:r>
          </a:p>
          <a:p>
            <a:pPr marL="742950" lvl="1" indent="-285750">
              <a:buFont typeface="Arial" panose="020B0604020202020204" pitchFamily="34" charset="0"/>
              <a:buChar char="•"/>
            </a:pPr>
            <a:r>
              <a:rPr lang="en-US" dirty="0"/>
              <a:t>Initialization needs a traversal over the nodes</a:t>
            </a:r>
          </a:p>
          <a:p>
            <a:pPr marL="742950" lvl="1" indent="-285750">
              <a:buFont typeface="Arial" panose="020B0604020202020204" pitchFamily="34" charset="0"/>
              <a:buChar char="•"/>
            </a:pPr>
            <a:r>
              <a:rPr lang="en-US" dirty="0"/>
              <a:t>Uses a node iterator</a:t>
            </a:r>
          </a:p>
          <a:p>
            <a:pPr marL="285750" indent="-285750">
              <a:buFont typeface="Arial" panose="020B0604020202020204" pitchFamily="34" charset="0"/>
              <a:buChar char="•"/>
            </a:pPr>
            <a:endParaRPr lang="en-US" dirty="0"/>
          </a:p>
        </p:txBody>
      </p:sp>
      <p:cxnSp>
        <p:nvCxnSpPr>
          <p:cNvPr id="34" name="Curved Connector 33">
            <a:extLst>
              <a:ext uri="{FF2B5EF4-FFF2-40B4-BE49-F238E27FC236}">
                <a16:creationId xmlns:a16="http://schemas.microsoft.com/office/drawing/2014/main" id="{EABDB292-0152-2C56-26BB-9396F53220B1}"/>
              </a:ext>
            </a:extLst>
          </p:cNvPr>
          <p:cNvCxnSpPr>
            <a:stCxn id="29" idx="1"/>
          </p:cNvCxnSpPr>
          <p:nvPr/>
        </p:nvCxnSpPr>
        <p:spPr>
          <a:xfrm rot="10800000">
            <a:off x="4351288" y="3272924"/>
            <a:ext cx="1884763" cy="1487195"/>
          </a:xfrm>
          <a:prstGeom prst="curvedConnector3">
            <a:avLst>
              <a:gd name="adj1" fmla="val 8846"/>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Rectangle 36">
            <a:extLst>
              <a:ext uri="{FF2B5EF4-FFF2-40B4-BE49-F238E27FC236}">
                <a16:creationId xmlns:a16="http://schemas.microsoft.com/office/drawing/2014/main" id="{639ADC16-BCFF-98B6-184D-3280316B3143}"/>
              </a:ext>
            </a:extLst>
          </p:cNvPr>
          <p:cNvSpPr/>
          <p:nvPr/>
        </p:nvSpPr>
        <p:spPr>
          <a:xfrm>
            <a:off x="1784657" y="3865705"/>
            <a:ext cx="4235143" cy="489164"/>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50159D6-AE03-2BA6-6873-5FCE71BB6A63}"/>
              </a:ext>
            </a:extLst>
          </p:cNvPr>
          <p:cNvSpPr/>
          <p:nvPr/>
        </p:nvSpPr>
        <p:spPr>
          <a:xfrm>
            <a:off x="1784654" y="4555503"/>
            <a:ext cx="4235143" cy="187232"/>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C0BC992-B612-B1AA-91E5-AFD9ADD56436}"/>
              </a:ext>
            </a:extLst>
          </p:cNvPr>
          <p:cNvSpPr/>
          <p:nvPr/>
        </p:nvSpPr>
        <p:spPr>
          <a:xfrm>
            <a:off x="1784655" y="5470954"/>
            <a:ext cx="4235143" cy="313021"/>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1F0C7732-3784-4002-5D4B-ECBE2EB03B33}"/>
              </a:ext>
            </a:extLst>
          </p:cNvPr>
          <p:cNvGrpSpPr/>
          <p:nvPr/>
        </p:nvGrpSpPr>
        <p:grpSpPr>
          <a:xfrm>
            <a:off x="6407106" y="5726036"/>
            <a:ext cx="2734872" cy="369332"/>
            <a:chOff x="6407106" y="5726036"/>
            <a:chExt cx="2734872" cy="369332"/>
          </a:xfrm>
        </p:grpSpPr>
        <p:sp>
          <p:nvSpPr>
            <p:cNvPr id="43" name="TextBox 42">
              <a:extLst>
                <a:ext uri="{FF2B5EF4-FFF2-40B4-BE49-F238E27FC236}">
                  <a16:creationId xmlns:a16="http://schemas.microsoft.com/office/drawing/2014/main" id="{E1F6505A-D3E0-7EB6-32FE-97B8D303C224}"/>
                </a:ext>
              </a:extLst>
            </p:cNvPr>
            <p:cNvSpPr txBox="1"/>
            <p:nvPr/>
          </p:nvSpPr>
          <p:spPr>
            <a:xfrm>
              <a:off x="6407106" y="5726036"/>
              <a:ext cx="2347566" cy="369332"/>
            </a:xfrm>
            <a:prstGeom prst="rect">
              <a:avLst/>
            </a:prstGeom>
            <a:noFill/>
          </p:spPr>
          <p:txBody>
            <a:bodyPr wrap="none" rtlCol="0">
              <a:spAutoFit/>
            </a:bodyPr>
            <a:lstStyle/>
            <a:p>
              <a:r>
                <a:rPr lang="en-US" dirty="0"/>
                <a:t>API calls are marked in </a:t>
              </a:r>
            </a:p>
          </p:txBody>
        </p:sp>
        <p:sp>
          <p:nvSpPr>
            <p:cNvPr id="44" name="Rectangle 43">
              <a:extLst>
                <a:ext uri="{FF2B5EF4-FFF2-40B4-BE49-F238E27FC236}">
                  <a16:creationId xmlns:a16="http://schemas.microsoft.com/office/drawing/2014/main" id="{C6C4AC47-08E7-E9CF-70C1-5E8BCD9D10D3}"/>
                </a:ext>
              </a:extLst>
            </p:cNvPr>
            <p:cNvSpPr/>
            <p:nvPr/>
          </p:nvSpPr>
          <p:spPr>
            <a:xfrm>
              <a:off x="8643787" y="5783975"/>
              <a:ext cx="498191" cy="307821"/>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0369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69B0-9A49-F9F3-2198-FC943B857CCE}"/>
              </a:ext>
            </a:extLst>
          </p:cNvPr>
          <p:cNvSpPr>
            <a:spLocks noGrp="1"/>
          </p:cNvSpPr>
          <p:nvPr>
            <p:ph type="title"/>
          </p:nvPr>
        </p:nvSpPr>
        <p:spPr>
          <a:xfrm>
            <a:off x="415684" y="176041"/>
            <a:ext cx="10515600" cy="923923"/>
          </a:xfrm>
        </p:spPr>
        <p:txBody>
          <a:bodyPr/>
          <a:lstStyle/>
          <a:p>
            <a:r>
              <a:rPr lang="en-US" dirty="0"/>
              <a:t>4.4.2 Application example: PageRank</a:t>
            </a:r>
          </a:p>
        </p:txBody>
      </p:sp>
      <p:sp>
        <p:nvSpPr>
          <p:cNvPr id="4" name="Slide Number Placeholder 3">
            <a:extLst>
              <a:ext uri="{FF2B5EF4-FFF2-40B4-BE49-F238E27FC236}">
                <a16:creationId xmlns:a16="http://schemas.microsoft.com/office/drawing/2014/main" id="{84D14159-7FC4-5D87-A2F2-F027A34FA018}"/>
              </a:ext>
            </a:extLst>
          </p:cNvPr>
          <p:cNvSpPr>
            <a:spLocks noGrp="1"/>
          </p:cNvSpPr>
          <p:nvPr>
            <p:ph type="sldNum" sz="quarter" idx="12"/>
          </p:nvPr>
        </p:nvSpPr>
        <p:spPr/>
        <p:txBody>
          <a:bodyPr/>
          <a:lstStyle/>
          <a:p>
            <a:fld id="{EEBEF218-D4C5-B946-BB13-027BCA6FFA2A}" type="slidenum">
              <a:rPr lang="en-US" smtClean="0"/>
              <a:t>25</a:t>
            </a:fld>
            <a:endParaRPr lang="en-US"/>
          </a:p>
        </p:txBody>
      </p:sp>
      <p:sp>
        <p:nvSpPr>
          <p:cNvPr id="11" name="Content Placeholder 10">
            <a:extLst>
              <a:ext uri="{FF2B5EF4-FFF2-40B4-BE49-F238E27FC236}">
                <a16:creationId xmlns:a16="http://schemas.microsoft.com/office/drawing/2014/main" id="{CFA99805-8C06-6974-8E38-D474CAB2F2C2}"/>
              </a:ext>
            </a:extLst>
          </p:cNvPr>
          <p:cNvSpPr>
            <a:spLocks noGrp="1"/>
          </p:cNvSpPr>
          <p:nvPr>
            <p:ph sz="half" idx="2"/>
          </p:nvPr>
        </p:nvSpPr>
        <p:spPr>
          <a:xfrm>
            <a:off x="6172200" y="1825625"/>
            <a:ext cx="5181600" cy="1958099"/>
          </a:xfrm>
          <a:ln>
            <a:solidFill>
              <a:schemeClr val="accent1"/>
            </a:solidFill>
          </a:ln>
        </p:spPr>
        <p:txBody>
          <a:bodyPr/>
          <a:lstStyle/>
          <a:p>
            <a:r>
              <a:rPr lang="en-US" dirty="0"/>
              <a:t>The outer loop creates threads</a:t>
            </a:r>
          </a:p>
          <a:p>
            <a:pPr lvl="1"/>
            <a:r>
              <a:rPr lang="en-US" dirty="0"/>
              <a:t>Each thread opens a graph handle and gets a key range to traverse</a:t>
            </a:r>
          </a:p>
          <a:p>
            <a:pPr lvl="1"/>
            <a:r>
              <a:rPr lang="en-US" dirty="0"/>
              <a:t>Here, an in-</a:t>
            </a:r>
            <a:r>
              <a:rPr lang="en-US" dirty="0" err="1"/>
              <a:t>nbd</a:t>
            </a:r>
            <a:r>
              <a:rPr lang="en-US" dirty="0"/>
              <a:t> cursor gets a node ID range</a:t>
            </a:r>
          </a:p>
        </p:txBody>
      </p:sp>
      <p:pic>
        <p:nvPicPr>
          <p:cNvPr id="7" name="Content Placeholder 6">
            <a:extLst>
              <a:ext uri="{FF2B5EF4-FFF2-40B4-BE49-F238E27FC236}">
                <a16:creationId xmlns:a16="http://schemas.microsoft.com/office/drawing/2014/main" id="{9284AD4D-D5B4-B22B-3179-76177F3C360A}"/>
              </a:ext>
            </a:extLst>
          </p:cNvPr>
          <p:cNvPicPr>
            <a:picLocks noGrp="1" noChangeAspect="1"/>
          </p:cNvPicPr>
          <p:nvPr>
            <p:ph sz="half" idx="1"/>
          </p:nvPr>
        </p:nvPicPr>
        <p:blipFill>
          <a:blip r:embed="rId2"/>
          <a:stretch>
            <a:fillRect/>
          </a:stretch>
        </p:blipFill>
        <p:spPr>
          <a:xfrm>
            <a:off x="899695" y="1825625"/>
            <a:ext cx="5058609" cy="4351338"/>
          </a:xfrm>
          <a:prstGeom prst="rect">
            <a:avLst/>
          </a:prstGeom>
        </p:spPr>
      </p:pic>
      <p:sp>
        <p:nvSpPr>
          <p:cNvPr id="8" name="Rectangle 7">
            <a:extLst>
              <a:ext uri="{FF2B5EF4-FFF2-40B4-BE49-F238E27FC236}">
                <a16:creationId xmlns:a16="http://schemas.microsoft.com/office/drawing/2014/main" id="{87C50181-E211-D850-1065-AE3D96569E2E}"/>
              </a:ext>
            </a:extLst>
          </p:cNvPr>
          <p:cNvSpPr/>
          <p:nvPr/>
        </p:nvSpPr>
        <p:spPr>
          <a:xfrm>
            <a:off x="1438341" y="2497258"/>
            <a:ext cx="4235143" cy="416210"/>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0845FC3-6681-AA65-CA15-F8A30E6B54DB}"/>
              </a:ext>
            </a:extLst>
          </p:cNvPr>
          <p:cNvSpPr/>
          <p:nvPr/>
        </p:nvSpPr>
        <p:spPr>
          <a:xfrm>
            <a:off x="1438341" y="4899922"/>
            <a:ext cx="4235143" cy="567559"/>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A902FC-B14C-22D7-484C-96A8EC8E1FC0}"/>
              </a:ext>
            </a:extLst>
          </p:cNvPr>
          <p:cNvSpPr/>
          <p:nvPr/>
        </p:nvSpPr>
        <p:spPr>
          <a:xfrm>
            <a:off x="1438340" y="3086418"/>
            <a:ext cx="4235143" cy="117136"/>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03FDDAFB-9958-A2F8-736B-ED3645511F26}"/>
              </a:ext>
            </a:extLst>
          </p:cNvPr>
          <p:cNvCxnSpPr>
            <a:endCxn id="11" idx="1"/>
          </p:cNvCxnSpPr>
          <p:nvPr/>
        </p:nvCxnSpPr>
        <p:spPr>
          <a:xfrm>
            <a:off x="5673483" y="2705363"/>
            <a:ext cx="498717" cy="993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Content Placeholder 10">
            <a:extLst>
              <a:ext uri="{FF2B5EF4-FFF2-40B4-BE49-F238E27FC236}">
                <a16:creationId xmlns:a16="http://schemas.microsoft.com/office/drawing/2014/main" id="{DDA9C522-FDC1-AAD3-4E95-CE519A4EDA8D}"/>
              </a:ext>
            </a:extLst>
          </p:cNvPr>
          <p:cNvSpPr txBox="1">
            <a:spLocks/>
          </p:cNvSpPr>
          <p:nvPr/>
        </p:nvSpPr>
        <p:spPr>
          <a:xfrm>
            <a:off x="6172200" y="3920873"/>
            <a:ext cx="5181600" cy="1653814"/>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inner loop traverses over the neighborhood of each vertex from the outer loop and computes PageRank values</a:t>
            </a:r>
          </a:p>
        </p:txBody>
      </p:sp>
      <p:sp>
        <p:nvSpPr>
          <p:cNvPr id="17" name="Right Brace 16">
            <a:extLst>
              <a:ext uri="{FF2B5EF4-FFF2-40B4-BE49-F238E27FC236}">
                <a16:creationId xmlns:a16="http://schemas.microsoft.com/office/drawing/2014/main" id="{063D93B6-AE7F-F02F-EBE9-F7193E6757AF}"/>
              </a:ext>
            </a:extLst>
          </p:cNvPr>
          <p:cNvSpPr/>
          <p:nvPr/>
        </p:nvSpPr>
        <p:spPr>
          <a:xfrm>
            <a:off x="5404419" y="3511769"/>
            <a:ext cx="107206" cy="57921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889F725-6F74-130A-9C7D-31A9D4D5D7C4}"/>
              </a:ext>
            </a:extLst>
          </p:cNvPr>
          <p:cNvCxnSpPr>
            <a:cxnSpLocks/>
            <a:endCxn id="16" idx="1"/>
          </p:cNvCxnSpPr>
          <p:nvPr/>
        </p:nvCxnSpPr>
        <p:spPr>
          <a:xfrm>
            <a:off x="5524237" y="3783724"/>
            <a:ext cx="647963" cy="964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CB35A065-3198-5A9D-AFB0-91188AB81A4E}"/>
              </a:ext>
            </a:extLst>
          </p:cNvPr>
          <p:cNvGrpSpPr/>
          <p:nvPr/>
        </p:nvGrpSpPr>
        <p:grpSpPr>
          <a:xfrm>
            <a:off x="6233698" y="5807631"/>
            <a:ext cx="2734872" cy="369332"/>
            <a:chOff x="6407106" y="5726036"/>
            <a:chExt cx="2734872" cy="369332"/>
          </a:xfrm>
        </p:grpSpPr>
        <p:sp>
          <p:nvSpPr>
            <p:cNvPr id="23" name="TextBox 22">
              <a:extLst>
                <a:ext uri="{FF2B5EF4-FFF2-40B4-BE49-F238E27FC236}">
                  <a16:creationId xmlns:a16="http://schemas.microsoft.com/office/drawing/2014/main" id="{A2572C56-40FB-300E-904F-2186B8FE6916}"/>
                </a:ext>
              </a:extLst>
            </p:cNvPr>
            <p:cNvSpPr txBox="1"/>
            <p:nvPr/>
          </p:nvSpPr>
          <p:spPr>
            <a:xfrm>
              <a:off x="6407106" y="5726036"/>
              <a:ext cx="2347566" cy="369332"/>
            </a:xfrm>
            <a:prstGeom prst="rect">
              <a:avLst/>
            </a:prstGeom>
            <a:noFill/>
          </p:spPr>
          <p:txBody>
            <a:bodyPr wrap="none" rtlCol="0">
              <a:spAutoFit/>
            </a:bodyPr>
            <a:lstStyle/>
            <a:p>
              <a:r>
                <a:rPr lang="en-US" dirty="0"/>
                <a:t>API calls are marked in </a:t>
              </a:r>
            </a:p>
          </p:txBody>
        </p:sp>
        <p:sp>
          <p:nvSpPr>
            <p:cNvPr id="24" name="Rectangle 23">
              <a:extLst>
                <a:ext uri="{FF2B5EF4-FFF2-40B4-BE49-F238E27FC236}">
                  <a16:creationId xmlns:a16="http://schemas.microsoft.com/office/drawing/2014/main" id="{4FAE91DC-1A20-9970-4939-B5BE59A51F61}"/>
                </a:ext>
              </a:extLst>
            </p:cNvPr>
            <p:cNvSpPr/>
            <p:nvPr/>
          </p:nvSpPr>
          <p:spPr>
            <a:xfrm>
              <a:off x="8643787" y="5783975"/>
              <a:ext cx="498191" cy="307821"/>
            </a:xfrm>
            <a:prstGeom prst="rect">
              <a:avLst/>
            </a:prstGeom>
            <a:solidFill>
              <a:schemeClr val="accent1">
                <a:alpha val="20031"/>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70370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6AF7-11A6-0BD8-2500-D799F0F7D776}"/>
              </a:ext>
            </a:extLst>
          </p:cNvPr>
          <p:cNvSpPr>
            <a:spLocks noGrp="1"/>
          </p:cNvSpPr>
          <p:nvPr>
            <p:ph type="title"/>
          </p:nvPr>
        </p:nvSpPr>
        <p:spPr/>
        <p:txBody>
          <a:bodyPr/>
          <a:lstStyle/>
          <a:p>
            <a:r>
              <a:rPr lang="en-US" dirty="0"/>
              <a:t>4.4.3 Graph Representations</a:t>
            </a:r>
          </a:p>
        </p:txBody>
      </p:sp>
      <p:sp>
        <p:nvSpPr>
          <p:cNvPr id="6" name="Content Placeholder 5">
            <a:extLst>
              <a:ext uri="{FF2B5EF4-FFF2-40B4-BE49-F238E27FC236}">
                <a16:creationId xmlns:a16="http://schemas.microsoft.com/office/drawing/2014/main" id="{4DCA9DE2-1551-979F-C62F-F76E129D0B86}"/>
              </a:ext>
            </a:extLst>
          </p:cNvPr>
          <p:cNvSpPr>
            <a:spLocks noGrp="1"/>
          </p:cNvSpPr>
          <p:nvPr>
            <p:ph idx="1"/>
          </p:nvPr>
        </p:nvSpPr>
        <p:spPr/>
        <p:txBody>
          <a:bodyPr/>
          <a:lstStyle/>
          <a:p>
            <a:r>
              <a:rPr lang="en-US" dirty="0"/>
              <a:t>Flexograph supports two representations for graphs</a:t>
            </a:r>
          </a:p>
          <a:p>
            <a:r>
              <a:rPr lang="en-US" dirty="0"/>
              <a:t>Adjacency List Representation</a:t>
            </a:r>
          </a:p>
          <a:p>
            <a:r>
              <a:rPr lang="en-US" dirty="0" err="1"/>
              <a:t>EdgeKey</a:t>
            </a:r>
            <a:r>
              <a:rPr lang="en-US" dirty="0"/>
              <a:t> representation:</a:t>
            </a:r>
          </a:p>
          <a:p>
            <a:pPr lvl="1"/>
            <a:r>
              <a:rPr lang="en-US" dirty="0"/>
              <a:t>Designed to create a CSR-like representation in the key-value store</a:t>
            </a:r>
          </a:p>
          <a:p>
            <a:endParaRPr lang="en-US" dirty="0"/>
          </a:p>
          <a:p>
            <a:r>
              <a:rPr lang="en-US" dirty="0"/>
              <a:t>Another RDBMS-like representation was prototyped but abandoned</a:t>
            </a:r>
          </a:p>
          <a:p>
            <a:pPr lvl="1"/>
            <a:r>
              <a:rPr lang="en-US" dirty="0"/>
              <a:t>Poor benchmark performance across the board</a:t>
            </a:r>
          </a:p>
        </p:txBody>
      </p:sp>
      <p:sp>
        <p:nvSpPr>
          <p:cNvPr id="5" name="Slide Number Placeholder 4">
            <a:extLst>
              <a:ext uri="{FF2B5EF4-FFF2-40B4-BE49-F238E27FC236}">
                <a16:creationId xmlns:a16="http://schemas.microsoft.com/office/drawing/2014/main" id="{434BD4B3-94C3-88A5-212A-915EC772F188}"/>
              </a:ext>
            </a:extLst>
          </p:cNvPr>
          <p:cNvSpPr>
            <a:spLocks noGrp="1"/>
          </p:cNvSpPr>
          <p:nvPr>
            <p:ph type="sldNum" sz="quarter" idx="12"/>
          </p:nvPr>
        </p:nvSpPr>
        <p:spPr/>
        <p:txBody>
          <a:bodyPr/>
          <a:lstStyle/>
          <a:p>
            <a:fld id="{EEBEF218-D4C5-B946-BB13-027BCA6FFA2A}" type="slidenum">
              <a:rPr lang="en-US" smtClean="0"/>
              <a:t>26</a:t>
            </a:fld>
            <a:endParaRPr lang="en-US"/>
          </a:p>
        </p:txBody>
      </p:sp>
    </p:spTree>
    <p:extLst>
      <p:ext uri="{BB962C8B-B14F-4D97-AF65-F5344CB8AC3E}">
        <p14:creationId xmlns:p14="http://schemas.microsoft.com/office/powerpoint/2010/main" val="1789799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6AF7-11A6-0BD8-2500-D799F0F7D776}"/>
              </a:ext>
            </a:extLst>
          </p:cNvPr>
          <p:cNvSpPr>
            <a:spLocks noGrp="1"/>
          </p:cNvSpPr>
          <p:nvPr>
            <p:ph type="title"/>
          </p:nvPr>
        </p:nvSpPr>
        <p:spPr/>
        <p:txBody>
          <a:bodyPr/>
          <a:lstStyle/>
          <a:p>
            <a:r>
              <a:rPr lang="en-US" dirty="0"/>
              <a:t>4.4.3 Adjacency List Representation</a:t>
            </a:r>
          </a:p>
        </p:txBody>
      </p:sp>
      <p:sp>
        <p:nvSpPr>
          <p:cNvPr id="6" name="Content Placeholder 5">
            <a:extLst>
              <a:ext uri="{FF2B5EF4-FFF2-40B4-BE49-F238E27FC236}">
                <a16:creationId xmlns:a16="http://schemas.microsoft.com/office/drawing/2014/main" id="{4DCA9DE2-1551-979F-C62F-F76E129D0B86}"/>
              </a:ext>
            </a:extLst>
          </p:cNvPr>
          <p:cNvSpPr>
            <a:spLocks noGrp="1"/>
          </p:cNvSpPr>
          <p:nvPr>
            <p:ph sz="half" idx="1"/>
          </p:nvPr>
        </p:nvSpPr>
        <p:spPr/>
        <p:txBody>
          <a:bodyPr>
            <a:normAutofit/>
          </a:bodyPr>
          <a:lstStyle/>
          <a:p>
            <a:r>
              <a:rPr lang="en-US" dirty="0" err="1"/>
              <a:t>AdjList</a:t>
            </a:r>
            <a:r>
              <a:rPr lang="en-US" dirty="0"/>
              <a:t> has two tables for structural information:</a:t>
            </a:r>
          </a:p>
          <a:p>
            <a:pPr lvl="1"/>
            <a:r>
              <a:rPr lang="en-US" dirty="0"/>
              <a:t>In/Out </a:t>
            </a:r>
            <a:r>
              <a:rPr lang="en-US" dirty="0" err="1"/>
              <a:t>AdjList</a:t>
            </a:r>
            <a:r>
              <a:rPr lang="en-US" dirty="0"/>
              <a:t> tables store the in/out neighborhoods of every vertex</a:t>
            </a:r>
          </a:p>
          <a:p>
            <a:r>
              <a:rPr lang="en-US" dirty="0"/>
              <a:t>Node and Edge tables are needed only if the table has labels and properties</a:t>
            </a:r>
          </a:p>
          <a:p>
            <a:r>
              <a:rPr lang="en-US" dirty="0"/>
              <a:t>This representation does not need any indexes</a:t>
            </a:r>
          </a:p>
        </p:txBody>
      </p:sp>
      <p:pic>
        <p:nvPicPr>
          <p:cNvPr id="7" name="Content Placeholder 6" descr="A group of black and white rectangular objects&#10;&#10;Description automatically generated">
            <a:extLst>
              <a:ext uri="{FF2B5EF4-FFF2-40B4-BE49-F238E27FC236}">
                <a16:creationId xmlns:a16="http://schemas.microsoft.com/office/drawing/2014/main" id="{12D0C653-1D73-413F-E87C-DA13F48B62D9}"/>
              </a:ext>
            </a:extLst>
          </p:cNvPr>
          <p:cNvPicPr>
            <a:picLocks noGrp="1" noChangeAspect="1"/>
          </p:cNvPicPr>
          <p:nvPr>
            <p:ph sz="half" idx="2"/>
          </p:nvPr>
        </p:nvPicPr>
        <p:blipFill>
          <a:blip r:embed="rId3"/>
          <a:stretch>
            <a:fillRect/>
          </a:stretch>
        </p:blipFill>
        <p:spPr>
          <a:xfrm>
            <a:off x="6497886" y="2345993"/>
            <a:ext cx="5337675" cy="2166013"/>
          </a:xfrm>
        </p:spPr>
      </p:pic>
      <p:sp>
        <p:nvSpPr>
          <p:cNvPr id="5" name="Slide Number Placeholder 4">
            <a:extLst>
              <a:ext uri="{FF2B5EF4-FFF2-40B4-BE49-F238E27FC236}">
                <a16:creationId xmlns:a16="http://schemas.microsoft.com/office/drawing/2014/main" id="{434BD4B3-94C3-88A5-212A-915EC772F188}"/>
              </a:ext>
            </a:extLst>
          </p:cNvPr>
          <p:cNvSpPr>
            <a:spLocks noGrp="1"/>
          </p:cNvSpPr>
          <p:nvPr>
            <p:ph type="sldNum" sz="quarter" idx="12"/>
          </p:nvPr>
        </p:nvSpPr>
        <p:spPr/>
        <p:txBody>
          <a:bodyPr/>
          <a:lstStyle/>
          <a:p>
            <a:fld id="{EEBEF218-D4C5-B946-BB13-027BCA6FFA2A}" type="slidenum">
              <a:rPr lang="en-US" smtClean="0"/>
              <a:t>27</a:t>
            </a:fld>
            <a:endParaRPr lang="en-US"/>
          </a:p>
        </p:txBody>
      </p:sp>
      <p:sp>
        <p:nvSpPr>
          <p:cNvPr id="8" name="TextBox 7">
            <a:extLst>
              <a:ext uri="{FF2B5EF4-FFF2-40B4-BE49-F238E27FC236}">
                <a16:creationId xmlns:a16="http://schemas.microsoft.com/office/drawing/2014/main" id="{60749158-B27F-2106-F723-B34EB860AD70}"/>
              </a:ext>
            </a:extLst>
          </p:cNvPr>
          <p:cNvSpPr txBox="1"/>
          <p:nvPr/>
        </p:nvSpPr>
        <p:spPr>
          <a:xfrm>
            <a:off x="7371955" y="4950372"/>
            <a:ext cx="3796337" cy="923330"/>
          </a:xfrm>
          <a:prstGeom prst="rect">
            <a:avLst/>
          </a:prstGeom>
          <a:noFill/>
        </p:spPr>
        <p:txBody>
          <a:bodyPr wrap="square" rtlCol="0">
            <a:spAutoFit/>
          </a:bodyPr>
          <a:lstStyle/>
          <a:p>
            <a:r>
              <a:rPr lang="en-US" b="1" dirty="0">
                <a:latin typeface="Courier New" panose="02070309020205020404" pitchFamily="49" charset="0"/>
                <a:cs typeface="Courier New" panose="02070309020205020404" pitchFamily="49" charset="0"/>
              </a:rPr>
              <a:t>u</a:t>
            </a:r>
            <a:r>
              <a:rPr lang="en-US" dirty="0"/>
              <a:t> denotes a serialized byte array</a:t>
            </a:r>
          </a:p>
          <a:p>
            <a:r>
              <a:rPr lang="en-US" b="1" dirty="0">
                <a:latin typeface="Courier New" panose="02070309020205020404" pitchFamily="49" charset="0"/>
                <a:cs typeface="Courier New" panose="02070309020205020404" pitchFamily="49" charset="0"/>
              </a:rPr>
              <a:t>I</a:t>
            </a:r>
            <a:r>
              <a:rPr lang="en-US" dirty="0"/>
              <a:t> denotes an unsigned integer</a:t>
            </a:r>
          </a:p>
          <a:p>
            <a:r>
              <a:rPr lang="en-US" b="1" dirty="0" err="1">
                <a:latin typeface="Courier New" panose="02070309020205020404" pitchFamily="49" charset="0"/>
                <a:cs typeface="Courier New" panose="02070309020205020404" pitchFamily="49" charset="0"/>
              </a:rPr>
              <a:t>i</a:t>
            </a:r>
            <a:r>
              <a:rPr lang="en-US" dirty="0"/>
              <a:t> denotes a signed integer </a:t>
            </a:r>
          </a:p>
        </p:txBody>
      </p:sp>
    </p:spTree>
    <p:extLst>
      <p:ext uri="{BB962C8B-B14F-4D97-AF65-F5344CB8AC3E}">
        <p14:creationId xmlns:p14="http://schemas.microsoft.com/office/powerpoint/2010/main" val="1810148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6AF7-11A6-0BD8-2500-D799F0F7D776}"/>
              </a:ext>
            </a:extLst>
          </p:cNvPr>
          <p:cNvSpPr>
            <a:spLocks noGrp="1"/>
          </p:cNvSpPr>
          <p:nvPr>
            <p:ph type="title"/>
          </p:nvPr>
        </p:nvSpPr>
        <p:spPr/>
        <p:txBody>
          <a:bodyPr/>
          <a:lstStyle/>
          <a:p>
            <a:r>
              <a:rPr lang="en-US" dirty="0"/>
              <a:t>4.4.3 </a:t>
            </a:r>
            <a:r>
              <a:rPr lang="en-US" dirty="0" err="1"/>
              <a:t>EdgeKey</a:t>
            </a:r>
            <a:r>
              <a:rPr lang="en-US" dirty="0"/>
              <a:t> Representation - initial</a:t>
            </a:r>
          </a:p>
        </p:txBody>
      </p:sp>
      <p:sp>
        <p:nvSpPr>
          <p:cNvPr id="6" name="Content Placeholder 5">
            <a:extLst>
              <a:ext uri="{FF2B5EF4-FFF2-40B4-BE49-F238E27FC236}">
                <a16:creationId xmlns:a16="http://schemas.microsoft.com/office/drawing/2014/main" id="{4DCA9DE2-1551-979F-C62F-F76E129D0B86}"/>
              </a:ext>
            </a:extLst>
          </p:cNvPr>
          <p:cNvSpPr>
            <a:spLocks noGrp="1"/>
          </p:cNvSpPr>
          <p:nvPr>
            <p:ph sz="half" idx="1"/>
          </p:nvPr>
        </p:nvSpPr>
        <p:spPr>
          <a:xfrm>
            <a:off x="302698" y="1825625"/>
            <a:ext cx="6880072" cy="4985078"/>
          </a:xfrm>
        </p:spPr>
        <p:txBody>
          <a:bodyPr>
            <a:normAutofit fontScale="92500" lnSpcReduction="10000"/>
          </a:bodyPr>
          <a:lstStyle/>
          <a:p>
            <a:r>
              <a:rPr lang="en-US" dirty="0" err="1"/>
              <a:t>EdgeKey</a:t>
            </a:r>
            <a:r>
              <a:rPr lang="en-US" dirty="0"/>
              <a:t> uses one table to store both nodes and edges</a:t>
            </a:r>
          </a:p>
          <a:p>
            <a:pPr lvl="1"/>
            <a:r>
              <a:rPr lang="en-US" dirty="0"/>
              <a:t>Keyed on </a:t>
            </a:r>
            <a:r>
              <a:rPr lang="en-US" dirty="0" err="1">
                <a:latin typeface="Courier New" panose="02070309020205020404" pitchFamily="49" charset="0"/>
                <a:cs typeface="Courier New" panose="02070309020205020404" pitchFamily="49" charset="0"/>
              </a:rPr>
              <a:t>src_id</a:t>
            </a:r>
            <a:r>
              <a:rPr lang="en-US" dirty="0">
                <a:latin typeface="Courier New" panose="02070309020205020404" pitchFamily="49" charset="0"/>
                <a:cs typeface="Courier New" panose="02070309020205020404" pitchFamily="49" charset="0"/>
              </a:rPr>
              <a:t> </a:t>
            </a:r>
            <a:r>
              <a:rPr lang="en-US" dirty="0"/>
              <a:t>and </a:t>
            </a:r>
            <a:r>
              <a:rPr lang="en-US" dirty="0" err="1">
                <a:latin typeface="Courier New" panose="02070309020205020404" pitchFamily="49" charset="0"/>
                <a:cs typeface="Courier New" panose="02070309020205020404" pitchFamily="49" charset="0"/>
              </a:rPr>
              <a:t>dst_id</a:t>
            </a:r>
            <a:r>
              <a:rPr lang="en-US" dirty="0"/>
              <a:t> </a:t>
            </a:r>
          </a:p>
          <a:p>
            <a:pPr lvl="1"/>
            <a:r>
              <a:rPr lang="en-US" dirty="0"/>
              <a:t>Node entry: </a:t>
            </a:r>
          </a:p>
          <a:p>
            <a:pPr lvl="2"/>
            <a:r>
              <a:rPr lang="en-US" dirty="0" err="1">
                <a:latin typeface="Courier New" panose="02070309020205020404" pitchFamily="49" charset="0"/>
                <a:cs typeface="Courier New" panose="02070309020205020404" pitchFamily="49" charset="0"/>
              </a:rPr>
              <a:t>src_id</a:t>
            </a:r>
            <a:r>
              <a:rPr lang="en-US" dirty="0">
                <a:latin typeface="Courier New" panose="02070309020205020404" pitchFamily="49" charset="0"/>
                <a:cs typeface="Courier New" panose="02070309020205020404" pitchFamily="49" charset="0"/>
              </a:rPr>
              <a:t> </a:t>
            </a:r>
            <a:r>
              <a:rPr lang="en-US" dirty="0"/>
              <a:t>is the node ID</a:t>
            </a:r>
          </a:p>
          <a:p>
            <a:pPr lvl="2"/>
            <a:r>
              <a:rPr lang="en-US" dirty="0" err="1">
                <a:latin typeface="Courier New" panose="02070309020205020404" pitchFamily="49" charset="0"/>
                <a:cs typeface="Courier New" panose="02070309020205020404" pitchFamily="49" charset="0"/>
              </a:rPr>
              <a:t>dst_id</a:t>
            </a:r>
            <a:r>
              <a:rPr lang="en-US" dirty="0">
                <a:latin typeface="Courier New" panose="02070309020205020404" pitchFamily="49" charset="0"/>
                <a:cs typeface="Courier New" panose="02070309020205020404" pitchFamily="49" charset="0"/>
              </a:rPr>
              <a:t> </a:t>
            </a:r>
            <a:r>
              <a:rPr lang="en-US" dirty="0"/>
              <a:t>is an </a:t>
            </a:r>
            <a:r>
              <a:rPr lang="en-US" dirty="0" err="1">
                <a:latin typeface="Courier New" panose="02070309020205020404" pitchFamily="49" charset="0"/>
                <a:cs typeface="Courier New" panose="02070309020205020404" pitchFamily="49" charset="0"/>
              </a:rPr>
              <a:t>Out_Of_Band</a:t>
            </a:r>
            <a:r>
              <a:rPr lang="en-US" dirty="0">
                <a:latin typeface="Courier New" panose="02070309020205020404" pitchFamily="49" charset="0"/>
                <a:cs typeface="Courier New" panose="02070309020205020404" pitchFamily="49" charset="0"/>
              </a:rPr>
              <a:t> </a:t>
            </a:r>
            <a:r>
              <a:rPr lang="en-US" dirty="0"/>
              <a:t>Value (INT32_MAX)</a:t>
            </a:r>
          </a:p>
          <a:p>
            <a:pPr lvl="2"/>
            <a:r>
              <a:rPr lang="en-US" dirty="0">
                <a:latin typeface="Courier New" panose="02070309020205020404" pitchFamily="49" charset="0"/>
                <a:cs typeface="Courier New" panose="02070309020205020404" pitchFamily="49" charset="0"/>
              </a:rPr>
              <a:t>val1</a:t>
            </a:r>
            <a:r>
              <a:rPr lang="en-US" dirty="0"/>
              <a:t> is in degree &amp; </a:t>
            </a:r>
            <a:r>
              <a:rPr lang="en-US" dirty="0">
                <a:latin typeface="Courier New" panose="02070309020205020404" pitchFamily="49" charset="0"/>
                <a:cs typeface="Courier New" panose="02070309020205020404" pitchFamily="49" charset="0"/>
              </a:rPr>
              <a:t>val2</a:t>
            </a:r>
            <a:r>
              <a:rPr lang="en-US" dirty="0"/>
              <a:t> is out degree if the table is read optimized (uninterpreted if not)</a:t>
            </a:r>
          </a:p>
          <a:p>
            <a:pPr lvl="1"/>
            <a:r>
              <a:rPr lang="en-US" dirty="0"/>
              <a:t>Edge entry:</a:t>
            </a:r>
          </a:p>
          <a:p>
            <a:pPr lvl="2"/>
            <a:r>
              <a:rPr lang="en-US" dirty="0" err="1">
                <a:latin typeface="Courier New" panose="02070309020205020404" pitchFamily="49" charset="0"/>
                <a:cs typeface="Courier New" panose="02070309020205020404" pitchFamily="49" charset="0"/>
              </a:rPr>
              <a:t>src_id</a:t>
            </a:r>
            <a:r>
              <a:rPr lang="en-US" dirty="0">
                <a:latin typeface="Courier New" panose="02070309020205020404" pitchFamily="49" charset="0"/>
                <a:cs typeface="Courier New" panose="02070309020205020404" pitchFamily="49" charset="0"/>
              </a:rPr>
              <a:t> </a:t>
            </a:r>
            <a:r>
              <a:rPr lang="en-US" dirty="0"/>
              <a:t>and </a:t>
            </a:r>
            <a:r>
              <a:rPr lang="en-US" dirty="0" err="1">
                <a:latin typeface="Courier New" panose="02070309020205020404" pitchFamily="49" charset="0"/>
                <a:cs typeface="Courier New" panose="02070309020205020404" pitchFamily="49" charset="0"/>
              </a:rPr>
              <a:t>dst_id</a:t>
            </a:r>
            <a:r>
              <a:rPr lang="en-US" dirty="0"/>
              <a:t> store the source and destination node IDs for the edge</a:t>
            </a:r>
          </a:p>
          <a:p>
            <a:pPr lvl="2"/>
            <a:r>
              <a:rPr lang="en-US" dirty="0">
                <a:latin typeface="Courier New" panose="02070309020205020404" pitchFamily="49" charset="0"/>
                <a:cs typeface="Courier New" panose="02070309020205020404" pitchFamily="49" charset="0"/>
              </a:rPr>
              <a:t>val1</a:t>
            </a:r>
            <a:r>
              <a:rPr lang="en-US" dirty="0"/>
              <a:t> stores edge weight (if weighted graph), </a:t>
            </a:r>
            <a:r>
              <a:rPr lang="en-US" dirty="0">
                <a:latin typeface="Courier New" panose="02070309020205020404" pitchFamily="49" charset="0"/>
                <a:cs typeface="Courier New" panose="02070309020205020404" pitchFamily="49" charset="0"/>
              </a:rPr>
              <a:t>val2</a:t>
            </a:r>
            <a:r>
              <a:rPr lang="en-US" dirty="0"/>
              <a:t> always 0</a:t>
            </a:r>
          </a:p>
          <a:p>
            <a:r>
              <a:rPr lang="en-US" dirty="0"/>
              <a:t>An index is used to find in-neighborhoods of nodes (keyed on &lt;</a:t>
            </a:r>
            <a:r>
              <a:rPr lang="en-US" dirty="0" err="1"/>
              <a:t>dst_id</a:t>
            </a:r>
            <a:r>
              <a:rPr lang="en-US" dirty="0"/>
              <a:t>, </a:t>
            </a:r>
            <a:r>
              <a:rPr lang="en-US" dirty="0" err="1"/>
              <a:t>src_id</a:t>
            </a:r>
            <a:r>
              <a:rPr lang="en-US" dirty="0"/>
              <a:t>&gt;)</a:t>
            </a:r>
          </a:p>
          <a:p>
            <a:pPr lvl="2"/>
            <a:endParaRPr lang="en-US" dirty="0"/>
          </a:p>
        </p:txBody>
      </p:sp>
      <p:sp>
        <p:nvSpPr>
          <p:cNvPr id="5" name="Slide Number Placeholder 4">
            <a:extLst>
              <a:ext uri="{FF2B5EF4-FFF2-40B4-BE49-F238E27FC236}">
                <a16:creationId xmlns:a16="http://schemas.microsoft.com/office/drawing/2014/main" id="{434BD4B3-94C3-88A5-212A-915EC772F188}"/>
              </a:ext>
            </a:extLst>
          </p:cNvPr>
          <p:cNvSpPr>
            <a:spLocks noGrp="1"/>
          </p:cNvSpPr>
          <p:nvPr>
            <p:ph type="sldNum" sz="quarter" idx="12"/>
          </p:nvPr>
        </p:nvSpPr>
        <p:spPr/>
        <p:txBody>
          <a:bodyPr/>
          <a:lstStyle/>
          <a:p>
            <a:fld id="{EEBEF218-D4C5-B946-BB13-027BCA6FFA2A}" type="slidenum">
              <a:rPr lang="en-US" smtClean="0"/>
              <a:t>28</a:t>
            </a:fld>
            <a:endParaRPr lang="en-US" dirty="0"/>
          </a:p>
        </p:txBody>
      </p:sp>
      <p:sp>
        <p:nvSpPr>
          <p:cNvPr id="8" name="TextBox 7">
            <a:extLst>
              <a:ext uri="{FF2B5EF4-FFF2-40B4-BE49-F238E27FC236}">
                <a16:creationId xmlns:a16="http://schemas.microsoft.com/office/drawing/2014/main" id="{60749158-B27F-2106-F723-B34EB860AD70}"/>
              </a:ext>
            </a:extLst>
          </p:cNvPr>
          <p:cNvSpPr txBox="1"/>
          <p:nvPr/>
        </p:nvSpPr>
        <p:spPr>
          <a:xfrm>
            <a:off x="7371955" y="3678128"/>
            <a:ext cx="3796337" cy="646331"/>
          </a:xfrm>
          <a:prstGeom prst="rect">
            <a:avLst/>
          </a:prstGeom>
          <a:noFill/>
        </p:spPr>
        <p:txBody>
          <a:bodyPr wrap="square" rtlCol="0">
            <a:spAutoFit/>
          </a:bodyPr>
          <a:lstStyle/>
          <a:p>
            <a:r>
              <a:rPr lang="en-US" b="1" dirty="0">
                <a:latin typeface="Courier New" panose="02070309020205020404" pitchFamily="49" charset="0"/>
                <a:cs typeface="Courier New" panose="02070309020205020404" pitchFamily="49" charset="0"/>
              </a:rPr>
              <a:t>u</a:t>
            </a:r>
            <a:r>
              <a:rPr lang="en-US" dirty="0"/>
              <a:t> denotes a serialized byte array</a:t>
            </a:r>
          </a:p>
          <a:p>
            <a:r>
              <a:rPr lang="en-US" b="1" dirty="0">
                <a:latin typeface="Courier New" panose="02070309020205020404" pitchFamily="49" charset="0"/>
                <a:cs typeface="Courier New" panose="02070309020205020404" pitchFamily="49" charset="0"/>
              </a:rPr>
              <a:t>I</a:t>
            </a:r>
            <a:r>
              <a:rPr lang="en-US" dirty="0"/>
              <a:t> denotes an unsigned 32-bit integer</a:t>
            </a:r>
          </a:p>
        </p:txBody>
      </p:sp>
      <p:pic>
        <p:nvPicPr>
          <p:cNvPr id="14" name="Content Placeholder 13" descr="A table with black text&#10;&#10;Description automatically generated">
            <a:extLst>
              <a:ext uri="{FF2B5EF4-FFF2-40B4-BE49-F238E27FC236}">
                <a16:creationId xmlns:a16="http://schemas.microsoft.com/office/drawing/2014/main" id="{A7C8B0C1-C83A-F960-6EF0-6A2F5EADF853}"/>
              </a:ext>
            </a:extLst>
          </p:cNvPr>
          <p:cNvPicPr>
            <a:picLocks noGrp="1" noChangeAspect="1"/>
          </p:cNvPicPr>
          <p:nvPr>
            <p:ph sz="half" idx="2"/>
          </p:nvPr>
        </p:nvPicPr>
        <p:blipFill>
          <a:blip r:embed="rId2"/>
          <a:stretch>
            <a:fillRect/>
          </a:stretch>
        </p:blipFill>
        <p:spPr>
          <a:xfrm>
            <a:off x="7371955" y="2355566"/>
            <a:ext cx="3232325" cy="1175391"/>
          </a:xfrm>
        </p:spPr>
      </p:pic>
      <p:cxnSp>
        <p:nvCxnSpPr>
          <p:cNvPr id="16" name="Straight Arrow Connector 15">
            <a:extLst>
              <a:ext uri="{FF2B5EF4-FFF2-40B4-BE49-F238E27FC236}">
                <a16:creationId xmlns:a16="http://schemas.microsoft.com/office/drawing/2014/main" id="{3CC14B7D-26CA-4384-1EAD-41E15641D972}"/>
              </a:ext>
            </a:extLst>
          </p:cNvPr>
          <p:cNvCxnSpPr>
            <a:cxnSpLocks/>
            <a:stCxn id="18" idx="3"/>
          </p:cNvCxnSpPr>
          <p:nvPr/>
        </p:nvCxnSpPr>
        <p:spPr>
          <a:xfrm flipV="1">
            <a:off x="6678592" y="5289630"/>
            <a:ext cx="1238492" cy="8035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2823045-6235-E4F0-AAAC-9B83DE5E49EC}"/>
              </a:ext>
            </a:extLst>
          </p:cNvPr>
          <p:cNvSpPr txBox="1"/>
          <p:nvPr/>
        </p:nvSpPr>
        <p:spPr>
          <a:xfrm>
            <a:off x="8044405" y="4930815"/>
            <a:ext cx="3507129" cy="646331"/>
          </a:xfrm>
          <a:prstGeom prst="rect">
            <a:avLst/>
          </a:prstGeom>
          <a:noFill/>
        </p:spPr>
        <p:txBody>
          <a:bodyPr wrap="square" rtlCol="0">
            <a:spAutoFit/>
          </a:bodyPr>
          <a:lstStyle/>
          <a:p>
            <a:r>
              <a:rPr lang="en-US" dirty="0" err="1"/>
              <a:t>Iterativng</a:t>
            </a:r>
            <a:r>
              <a:rPr lang="en-US" dirty="0"/>
              <a:t> over this secondary index destroys performance </a:t>
            </a:r>
          </a:p>
        </p:txBody>
      </p:sp>
      <p:sp>
        <p:nvSpPr>
          <p:cNvPr id="18" name="Rectangle 17">
            <a:extLst>
              <a:ext uri="{FF2B5EF4-FFF2-40B4-BE49-F238E27FC236}">
                <a16:creationId xmlns:a16="http://schemas.microsoft.com/office/drawing/2014/main" id="{54438F20-8DF3-0737-2CC8-90E92623D24F}"/>
              </a:ext>
            </a:extLst>
          </p:cNvPr>
          <p:cNvSpPr/>
          <p:nvPr/>
        </p:nvSpPr>
        <p:spPr>
          <a:xfrm>
            <a:off x="302698" y="5577146"/>
            <a:ext cx="6375894" cy="1031998"/>
          </a:xfrm>
          <a:prstGeom prst="rect">
            <a:avLst/>
          </a:prstGeom>
          <a:solidFill>
            <a:schemeClr val="accent1">
              <a:alpha val="20237"/>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5352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6AF7-11A6-0BD8-2500-D799F0F7D776}"/>
              </a:ext>
            </a:extLst>
          </p:cNvPr>
          <p:cNvSpPr>
            <a:spLocks noGrp="1"/>
          </p:cNvSpPr>
          <p:nvPr>
            <p:ph type="title"/>
          </p:nvPr>
        </p:nvSpPr>
        <p:spPr/>
        <p:txBody>
          <a:bodyPr/>
          <a:lstStyle/>
          <a:p>
            <a:r>
              <a:rPr lang="en-US" dirty="0"/>
              <a:t>4.4.3 </a:t>
            </a:r>
            <a:r>
              <a:rPr lang="en-US" dirty="0" err="1"/>
              <a:t>EdgeKey</a:t>
            </a:r>
            <a:r>
              <a:rPr lang="en-US" dirty="0"/>
              <a:t> Representation – Split Design</a:t>
            </a:r>
          </a:p>
        </p:txBody>
      </p:sp>
      <p:sp>
        <p:nvSpPr>
          <p:cNvPr id="5" name="Slide Number Placeholder 4">
            <a:extLst>
              <a:ext uri="{FF2B5EF4-FFF2-40B4-BE49-F238E27FC236}">
                <a16:creationId xmlns:a16="http://schemas.microsoft.com/office/drawing/2014/main" id="{434BD4B3-94C3-88A5-212A-915EC772F188}"/>
              </a:ext>
            </a:extLst>
          </p:cNvPr>
          <p:cNvSpPr>
            <a:spLocks noGrp="1"/>
          </p:cNvSpPr>
          <p:nvPr>
            <p:ph type="sldNum" sz="quarter" idx="12"/>
          </p:nvPr>
        </p:nvSpPr>
        <p:spPr/>
        <p:txBody>
          <a:bodyPr/>
          <a:lstStyle/>
          <a:p>
            <a:fld id="{EEBEF218-D4C5-B946-BB13-027BCA6FFA2A}" type="slidenum">
              <a:rPr lang="en-US" smtClean="0"/>
              <a:t>29</a:t>
            </a:fld>
            <a:endParaRPr lang="en-US"/>
          </a:p>
        </p:txBody>
      </p:sp>
      <p:sp>
        <p:nvSpPr>
          <p:cNvPr id="8" name="TextBox 7">
            <a:extLst>
              <a:ext uri="{FF2B5EF4-FFF2-40B4-BE49-F238E27FC236}">
                <a16:creationId xmlns:a16="http://schemas.microsoft.com/office/drawing/2014/main" id="{60749158-B27F-2106-F723-B34EB860AD70}"/>
              </a:ext>
            </a:extLst>
          </p:cNvPr>
          <p:cNvSpPr txBox="1"/>
          <p:nvPr/>
        </p:nvSpPr>
        <p:spPr>
          <a:xfrm>
            <a:off x="7371955" y="4950372"/>
            <a:ext cx="3796337" cy="646331"/>
          </a:xfrm>
          <a:prstGeom prst="rect">
            <a:avLst/>
          </a:prstGeom>
          <a:noFill/>
        </p:spPr>
        <p:txBody>
          <a:bodyPr wrap="square" rtlCol="0">
            <a:spAutoFit/>
          </a:bodyPr>
          <a:lstStyle/>
          <a:p>
            <a:r>
              <a:rPr lang="en-US" b="1" dirty="0">
                <a:latin typeface="Courier New" panose="02070309020205020404" pitchFamily="49" charset="0"/>
                <a:cs typeface="Courier New" panose="02070309020205020404" pitchFamily="49" charset="0"/>
              </a:rPr>
              <a:t>u</a:t>
            </a:r>
            <a:r>
              <a:rPr lang="en-US" dirty="0"/>
              <a:t> denotes a serialized byte array</a:t>
            </a:r>
          </a:p>
          <a:p>
            <a:r>
              <a:rPr lang="en-US" b="1" dirty="0">
                <a:latin typeface="Courier New" panose="02070309020205020404" pitchFamily="49" charset="0"/>
                <a:cs typeface="Courier New" panose="02070309020205020404" pitchFamily="49" charset="0"/>
              </a:rPr>
              <a:t>I</a:t>
            </a:r>
            <a:r>
              <a:rPr lang="en-US" dirty="0"/>
              <a:t> denotes an unsigned 32-bit integer</a:t>
            </a:r>
          </a:p>
        </p:txBody>
      </p:sp>
      <p:pic>
        <p:nvPicPr>
          <p:cNvPr id="10" name="Content Placeholder 9" descr="A close-up of a couple of squares&#10;&#10;Description automatically generated">
            <a:extLst>
              <a:ext uri="{FF2B5EF4-FFF2-40B4-BE49-F238E27FC236}">
                <a16:creationId xmlns:a16="http://schemas.microsoft.com/office/drawing/2014/main" id="{D308CBBE-0CAF-B3B2-5243-D6A5ECA3E3EB}"/>
              </a:ext>
            </a:extLst>
          </p:cNvPr>
          <p:cNvPicPr>
            <a:picLocks noGrp="1" noChangeAspect="1"/>
          </p:cNvPicPr>
          <p:nvPr>
            <p:ph sz="half" idx="2"/>
          </p:nvPr>
        </p:nvPicPr>
        <p:blipFill>
          <a:blip r:embed="rId2"/>
          <a:stretch>
            <a:fillRect/>
          </a:stretch>
        </p:blipFill>
        <p:spPr>
          <a:xfrm>
            <a:off x="5921889" y="3052204"/>
            <a:ext cx="6270111" cy="1090454"/>
          </a:xfrm>
        </p:spPr>
      </p:pic>
      <p:sp>
        <p:nvSpPr>
          <p:cNvPr id="7" name="Content Placeholder 6">
            <a:extLst>
              <a:ext uri="{FF2B5EF4-FFF2-40B4-BE49-F238E27FC236}">
                <a16:creationId xmlns:a16="http://schemas.microsoft.com/office/drawing/2014/main" id="{68567CDA-5063-05FA-B3DA-C305062125EE}"/>
              </a:ext>
            </a:extLst>
          </p:cNvPr>
          <p:cNvSpPr>
            <a:spLocks noGrp="1"/>
          </p:cNvSpPr>
          <p:nvPr>
            <p:ph sz="half" idx="1"/>
          </p:nvPr>
        </p:nvSpPr>
        <p:spPr>
          <a:xfrm>
            <a:off x="381965" y="1825625"/>
            <a:ext cx="5637835" cy="4351338"/>
          </a:xfrm>
        </p:spPr>
        <p:txBody>
          <a:bodyPr/>
          <a:lstStyle/>
          <a:p>
            <a:r>
              <a:rPr lang="en-US" dirty="0"/>
              <a:t>The split design removes the </a:t>
            </a:r>
            <a:r>
              <a:rPr lang="en-US" dirty="0" err="1"/>
              <a:t>neeed</a:t>
            </a:r>
            <a:r>
              <a:rPr lang="en-US" dirty="0"/>
              <a:t> to use a secondary cursor for finding in-neighborhoods</a:t>
            </a:r>
          </a:p>
          <a:p>
            <a:r>
              <a:rPr lang="en-US" dirty="0"/>
              <a:t>This representation materializes the reverse edges</a:t>
            </a:r>
          </a:p>
          <a:p>
            <a:pPr lvl="1"/>
            <a:r>
              <a:rPr lang="en-US" dirty="0"/>
              <a:t>Out Neighborhood queries use the </a:t>
            </a:r>
            <a:r>
              <a:rPr lang="en-US" dirty="0" err="1"/>
              <a:t>OutEdges</a:t>
            </a:r>
            <a:r>
              <a:rPr lang="en-US" dirty="0"/>
              <a:t> table</a:t>
            </a:r>
          </a:p>
          <a:p>
            <a:pPr lvl="1"/>
            <a:r>
              <a:rPr lang="en-US" dirty="0"/>
              <a:t>In Neighborhood queries use the </a:t>
            </a:r>
            <a:r>
              <a:rPr lang="en-US" dirty="0" err="1"/>
              <a:t>InEdges</a:t>
            </a:r>
            <a:r>
              <a:rPr lang="en-US" dirty="0"/>
              <a:t> table</a:t>
            </a:r>
          </a:p>
          <a:p>
            <a:pPr lvl="1"/>
            <a:r>
              <a:rPr lang="en-US" dirty="0"/>
              <a:t>Everything else remains the same as the initial design</a:t>
            </a:r>
          </a:p>
        </p:txBody>
      </p:sp>
    </p:spTree>
    <p:extLst>
      <p:ext uri="{BB962C8B-B14F-4D97-AF65-F5344CB8AC3E}">
        <p14:creationId xmlns:p14="http://schemas.microsoft.com/office/powerpoint/2010/main" val="55971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7246-6B7E-61B7-F3D2-A2EF951367DC}"/>
              </a:ext>
            </a:extLst>
          </p:cNvPr>
          <p:cNvSpPr>
            <a:spLocks noGrp="1"/>
          </p:cNvSpPr>
          <p:nvPr>
            <p:ph type="title"/>
          </p:nvPr>
        </p:nvSpPr>
        <p:spPr/>
        <p:txBody>
          <a:bodyPr/>
          <a:lstStyle/>
          <a:p>
            <a:r>
              <a:rPr lang="en-US" dirty="0"/>
              <a:t>4.4.4 Iterators</a:t>
            </a:r>
          </a:p>
        </p:txBody>
      </p:sp>
      <p:sp>
        <p:nvSpPr>
          <p:cNvPr id="3" name="Content Placeholder 2">
            <a:extLst>
              <a:ext uri="{FF2B5EF4-FFF2-40B4-BE49-F238E27FC236}">
                <a16:creationId xmlns:a16="http://schemas.microsoft.com/office/drawing/2014/main" id="{9338C04E-CAB0-F4FE-1B79-D018A2E472AE}"/>
              </a:ext>
            </a:extLst>
          </p:cNvPr>
          <p:cNvSpPr>
            <a:spLocks noGrp="1"/>
          </p:cNvSpPr>
          <p:nvPr>
            <p:ph idx="1"/>
          </p:nvPr>
        </p:nvSpPr>
        <p:spPr/>
        <p:txBody>
          <a:bodyPr>
            <a:normAutofit lnSpcReduction="10000"/>
          </a:bodyPr>
          <a:lstStyle/>
          <a:p>
            <a:r>
              <a:rPr lang="en-US" dirty="0"/>
              <a:t>WiredTiger API provides methods to position a cursor on any table and iterate from a valid position till the end of the table is reached</a:t>
            </a:r>
          </a:p>
          <a:p>
            <a:pPr lvl="1"/>
            <a:r>
              <a:rPr lang="en-US" dirty="0"/>
              <a:t>We don’t want to allow the user to use these raw methods</a:t>
            </a:r>
          </a:p>
          <a:p>
            <a:r>
              <a:rPr lang="en-US" dirty="0" err="1"/>
              <a:t>GraphAPI</a:t>
            </a:r>
            <a:r>
              <a:rPr lang="en-US" dirty="0"/>
              <a:t> has methods to get a nodes entire neighborhoods, but these methods do not allow finding neighborhoods of multiple/range of nodes</a:t>
            </a:r>
          </a:p>
          <a:p>
            <a:pPr lvl="1"/>
            <a:r>
              <a:rPr lang="en-US" dirty="0"/>
              <a:t>Doing so in the API would require a search for each node: HIGHLY INEFFICIENT</a:t>
            </a:r>
          </a:p>
          <a:p>
            <a:pPr lvl="1"/>
            <a:r>
              <a:rPr lang="en-US" dirty="0"/>
              <a:t>Also, tedious, repetitive, and needs knowledge of the graph representation</a:t>
            </a:r>
          </a:p>
          <a:p>
            <a:pPr lvl="1"/>
            <a:endParaRPr lang="en-US" dirty="0"/>
          </a:p>
          <a:p>
            <a:r>
              <a:rPr lang="en-US" dirty="0"/>
              <a:t>Iterators allow the user to define a start key and an end key and call the </a:t>
            </a:r>
            <a:r>
              <a:rPr lang="en-US" dirty="0">
                <a:latin typeface="Courier New" panose="02070309020205020404" pitchFamily="49" charset="0"/>
                <a:cs typeface="Courier New" panose="02070309020205020404" pitchFamily="49" charset="0"/>
              </a:rPr>
              <a:t>next() </a:t>
            </a:r>
            <a:r>
              <a:rPr lang="en-US" dirty="0"/>
              <a:t>function to move to the next position</a:t>
            </a:r>
          </a:p>
        </p:txBody>
      </p:sp>
      <p:sp>
        <p:nvSpPr>
          <p:cNvPr id="5" name="Slide Number Placeholder 4">
            <a:extLst>
              <a:ext uri="{FF2B5EF4-FFF2-40B4-BE49-F238E27FC236}">
                <a16:creationId xmlns:a16="http://schemas.microsoft.com/office/drawing/2014/main" id="{2415E8F0-3257-2368-AC44-E7B86F78F485}"/>
              </a:ext>
            </a:extLst>
          </p:cNvPr>
          <p:cNvSpPr>
            <a:spLocks noGrp="1"/>
          </p:cNvSpPr>
          <p:nvPr>
            <p:ph type="sldNum" sz="quarter" idx="12"/>
          </p:nvPr>
        </p:nvSpPr>
        <p:spPr/>
        <p:txBody>
          <a:bodyPr/>
          <a:lstStyle/>
          <a:p>
            <a:fld id="{EEBEF218-D4C5-B946-BB13-027BCA6FFA2A}" type="slidenum">
              <a:rPr lang="en-US" smtClean="0"/>
              <a:t>30</a:t>
            </a:fld>
            <a:endParaRPr lang="en-US"/>
          </a:p>
        </p:txBody>
      </p:sp>
    </p:spTree>
    <p:extLst>
      <p:ext uri="{BB962C8B-B14F-4D97-AF65-F5344CB8AC3E}">
        <p14:creationId xmlns:p14="http://schemas.microsoft.com/office/powerpoint/2010/main" val="1630116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7246-6B7E-61B7-F3D2-A2EF951367DC}"/>
              </a:ext>
            </a:extLst>
          </p:cNvPr>
          <p:cNvSpPr>
            <a:spLocks noGrp="1"/>
          </p:cNvSpPr>
          <p:nvPr>
            <p:ph type="title"/>
          </p:nvPr>
        </p:nvSpPr>
        <p:spPr/>
        <p:txBody>
          <a:bodyPr/>
          <a:lstStyle/>
          <a:p>
            <a:r>
              <a:rPr lang="en-US" dirty="0"/>
              <a:t>4.4.4 Iterators</a:t>
            </a:r>
          </a:p>
        </p:txBody>
      </p:sp>
      <p:sp>
        <p:nvSpPr>
          <p:cNvPr id="4" name="Content Placeholder 3">
            <a:extLst>
              <a:ext uri="{FF2B5EF4-FFF2-40B4-BE49-F238E27FC236}">
                <a16:creationId xmlns:a16="http://schemas.microsoft.com/office/drawing/2014/main" id="{A13956C0-39B4-2D8A-2251-28D533D0D7DB}"/>
              </a:ext>
            </a:extLst>
          </p:cNvPr>
          <p:cNvSpPr>
            <a:spLocks noGrp="1"/>
          </p:cNvSpPr>
          <p:nvPr>
            <p:ph sz="half" idx="1"/>
          </p:nvPr>
        </p:nvSpPr>
        <p:spPr>
          <a:xfrm>
            <a:off x="423949" y="1825625"/>
            <a:ext cx="6143105" cy="4351338"/>
          </a:xfrm>
        </p:spPr>
        <p:txBody>
          <a:bodyPr/>
          <a:lstStyle/>
          <a:p>
            <a:r>
              <a:rPr lang="en-US" dirty="0"/>
              <a:t>Each representation has 4 associated iterator classes: </a:t>
            </a:r>
            <a:r>
              <a:rPr lang="en-US" sz="2400" dirty="0" err="1">
                <a:latin typeface="Courier New" panose="02070309020205020404" pitchFamily="49" charset="0"/>
                <a:cs typeface="Courier New" panose="02070309020205020404" pitchFamily="49" charset="0"/>
              </a:rPr>
              <a:t>EdgeCursor</a:t>
            </a:r>
            <a:r>
              <a:rPr lang="en-US" sz="2400" dirty="0"/>
              <a:t>, </a:t>
            </a:r>
            <a:r>
              <a:rPr lang="en-US" sz="2400" dirty="0" err="1">
                <a:latin typeface="Courier New" panose="02070309020205020404" pitchFamily="49" charset="0"/>
                <a:cs typeface="Courier New" panose="02070309020205020404" pitchFamily="49" charset="0"/>
              </a:rPr>
              <a:t>InCursor</a:t>
            </a:r>
            <a:r>
              <a:rPr lang="en-US" sz="2400" dirty="0"/>
              <a:t>, </a:t>
            </a:r>
            <a:r>
              <a:rPr lang="en-US" sz="2400" dirty="0" err="1">
                <a:latin typeface="Courier New" panose="02070309020205020404" pitchFamily="49" charset="0"/>
                <a:cs typeface="Courier New" panose="02070309020205020404" pitchFamily="49" charset="0"/>
              </a:rPr>
              <a:t>OutCursor</a:t>
            </a:r>
            <a:r>
              <a:rPr lang="en-US" sz="2400" dirty="0"/>
              <a:t>, and </a:t>
            </a:r>
            <a:r>
              <a:rPr lang="en-US" sz="2400" dirty="0" err="1">
                <a:latin typeface="Courier New" panose="02070309020205020404" pitchFamily="49" charset="0"/>
                <a:cs typeface="Courier New" panose="02070309020205020404" pitchFamily="49" charset="0"/>
              </a:rPr>
              <a:t>NodeCursor</a:t>
            </a:r>
            <a:r>
              <a:rPr lang="en-US" sz="2400" dirty="0"/>
              <a:t> </a:t>
            </a:r>
          </a:p>
          <a:p>
            <a:r>
              <a:rPr lang="en-US" sz="2400" dirty="0"/>
              <a:t>All of these classes provide the same interface: </a:t>
            </a:r>
            <a:r>
              <a:rPr lang="en-US" sz="2400" dirty="0" err="1">
                <a:latin typeface="Courier New" panose="02070309020205020404" pitchFamily="49" charset="0"/>
                <a:cs typeface="Courier New" panose="02070309020205020404" pitchFamily="49" charset="0"/>
              </a:rPr>
              <a:t>set_key_range</a:t>
            </a:r>
            <a:r>
              <a:rPr lang="en-US" sz="2400" dirty="0">
                <a:latin typeface="Courier New" panose="02070309020205020404" pitchFamily="49" charset="0"/>
                <a:cs typeface="Courier New" panose="02070309020205020404" pitchFamily="49" charset="0"/>
              </a:rPr>
              <a:t>()</a:t>
            </a:r>
            <a:r>
              <a:rPr lang="en-US" sz="2400" dirty="0"/>
              <a:t>, </a:t>
            </a:r>
            <a:r>
              <a:rPr lang="en-US" sz="2400" dirty="0">
                <a:latin typeface="Courier New" panose="02070309020205020404" pitchFamily="49" charset="0"/>
                <a:cs typeface="Courier New" panose="02070309020205020404" pitchFamily="49" charset="0"/>
              </a:rPr>
              <a:t>next()</a:t>
            </a:r>
            <a:r>
              <a:rPr lang="en-US" sz="2400" dirty="0"/>
              <a:t>, </a:t>
            </a:r>
            <a:r>
              <a:rPr lang="en-US" sz="2400" dirty="0">
                <a:latin typeface="Courier New" panose="02070309020205020404" pitchFamily="49" charset="0"/>
                <a:cs typeface="Courier New" panose="02070309020205020404" pitchFamily="49" charset="0"/>
              </a:rPr>
              <a:t>reset()</a:t>
            </a:r>
            <a:r>
              <a:rPr lang="en-US" sz="2400" dirty="0"/>
              <a:t>, and </a:t>
            </a:r>
            <a:r>
              <a:rPr lang="en-US" sz="2400" dirty="0">
                <a:latin typeface="Courier New" panose="02070309020205020404" pitchFamily="49" charset="0"/>
                <a:cs typeface="Courier New" panose="02070309020205020404" pitchFamily="49" charset="0"/>
              </a:rPr>
              <a:t>close()</a:t>
            </a:r>
          </a:p>
          <a:p>
            <a:pPr lvl="1"/>
            <a:r>
              <a:rPr lang="en-US" sz="2000" dirty="0">
                <a:cs typeface="Courier New" panose="02070309020205020404" pitchFamily="49" charset="0"/>
              </a:rPr>
              <a:t>These methods abstract the internal representation being used </a:t>
            </a:r>
          </a:p>
          <a:p>
            <a:pPr lvl="1"/>
            <a:r>
              <a:rPr lang="en-US" sz="2000" dirty="0">
                <a:latin typeface="Courier New" panose="02070309020205020404" pitchFamily="49" charset="0"/>
                <a:cs typeface="Courier New" panose="02070309020205020404" pitchFamily="49" charset="0"/>
              </a:rPr>
              <a:t>next()</a:t>
            </a:r>
            <a:r>
              <a:rPr lang="en-US" sz="2000" dirty="0">
                <a:cs typeface="Courier New" panose="02070309020205020404" pitchFamily="49" charset="0"/>
              </a:rPr>
              <a:t>returns an </a:t>
            </a:r>
            <a:r>
              <a:rPr lang="en-US" sz="2000" dirty="0" err="1">
                <a:latin typeface="Courier New" panose="02070309020205020404" pitchFamily="49" charset="0"/>
                <a:cs typeface="Courier New" panose="02070309020205020404" pitchFamily="49" charset="0"/>
              </a:rPr>
              <a:t>Out_Of_Band</a:t>
            </a:r>
            <a:r>
              <a:rPr lang="en-US" sz="2000" dirty="0">
                <a:latin typeface="Courier New" panose="02070309020205020404" pitchFamily="49" charset="0"/>
                <a:cs typeface="Courier New" panose="02070309020205020404" pitchFamily="49" charset="0"/>
              </a:rPr>
              <a:t> </a:t>
            </a:r>
            <a:r>
              <a:rPr lang="en-US" sz="2000" dirty="0">
                <a:cs typeface="Courier New" panose="02070309020205020404" pitchFamily="49" charset="0"/>
              </a:rPr>
              <a:t>value when the range has been exhausted</a:t>
            </a:r>
          </a:p>
        </p:txBody>
      </p:sp>
      <p:pic>
        <p:nvPicPr>
          <p:cNvPr id="8" name="Content Placeholder 7">
            <a:extLst>
              <a:ext uri="{FF2B5EF4-FFF2-40B4-BE49-F238E27FC236}">
                <a16:creationId xmlns:a16="http://schemas.microsoft.com/office/drawing/2014/main" id="{47C51F84-AFD5-276E-F541-DC4117B40A9C}"/>
              </a:ext>
            </a:extLst>
          </p:cNvPr>
          <p:cNvPicPr>
            <a:picLocks noGrp="1" noChangeAspect="1"/>
          </p:cNvPicPr>
          <p:nvPr>
            <p:ph sz="half" idx="2"/>
          </p:nvPr>
        </p:nvPicPr>
        <p:blipFill>
          <a:blip r:embed="rId2"/>
          <a:stretch>
            <a:fillRect/>
          </a:stretch>
        </p:blipFill>
        <p:spPr>
          <a:xfrm>
            <a:off x="6343609" y="1825625"/>
            <a:ext cx="4838782" cy="4351338"/>
          </a:xfrm>
        </p:spPr>
      </p:pic>
      <p:sp>
        <p:nvSpPr>
          <p:cNvPr id="5" name="Slide Number Placeholder 4">
            <a:extLst>
              <a:ext uri="{FF2B5EF4-FFF2-40B4-BE49-F238E27FC236}">
                <a16:creationId xmlns:a16="http://schemas.microsoft.com/office/drawing/2014/main" id="{2415E8F0-3257-2368-AC44-E7B86F78F485}"/>
              </a:ext>
            </a:extLst>
          </p:cNvPr>
          <p:cNvSpPr>
            <a:spLocks noGrp="1"/>
          </p:cNvSpPr>
          <p:nvPr>
            <p:ph type="sldNum" sz="quarter" idx="12"/>
          </p:nvPr>
        </p:nvSpPr>
        <p:spPr/>
        <p:txBody>
          <a:bodyPr/>
          <a:lstStyle/>
          <a:p>
            <a:fld id="{EEBEF218-D4C5-B946-BB13-027BCA6FFA2A}" type="slidenum">
              <a:rPr lang="en-US" smtClean="0"/>
              <a:t>31</a:t>
            </a:fld>
            <a:endParaRPr lang="en-US"/>
          </a:p>
        </p:txBody>
      </p:sp>
    </p:spTree>
    <p:extLst>
      <p:ext uri="{BB962C8B-B14F-4D97-AF65-F5344CB8AC3E}">
        <p14:creationId xmlns:p14="http://schemas.microsoft.com/office/powerpoint/2010/main" val="28786215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7069-7AFC-715E-BF5A-839CD6F8EACB}"/>
              </a:ext>
            </a:extLst>
          </p:cNvPr>
          <p:cNvSpPr>
            <a:spLocks noGrp="1"/>
          </p:cNvSpPr>
          <p:nvPr>
            <p:ph type="title"/>
          </p:nvPr>
        </p:nvSpPr>
        <p:spPr/>
        <p:txBody>
          <a:bodyPr/>
          <a:lstStyle/>
          <a:p>
            <a:r>
              <a:rPr lang="en-US" dirty="0"/>
              <a:t>4.5 Managing Transient Attributes</a:t>
            </a:r>
          </a:p>
        </p:txBody>
      </p:sp>
      <p:sp>
        <p:nvSpPr>
          <p:cNvPr id="3" name="Content Placeholder 2">
            <a:extLst>
              <a:ext uri="{FF2B5EF4-FFF2-40B4-BE49-F238E27FC236}">
                <a16:creationId xmlns:a16="http://schemas.microsoft.com/office/drawing/2014/main" id="{6687423A-6E64-A749-3F64-5F02BBD22B21}"/>
              </a:ext>
            </a:extLst>
          </p:cNvPr>
          <p:cNvSpPr>
            <a:spLocks noGrp="1"/>
          </p:cNvSpPr>
          <p:nvPr>
            <p:ph idx="1"/>
          </p:nvPr>
        </p:nvSpPr>
        <p:spPr>
          <a:xfrm>
            <a:off x="838200" y="1825624"/>
            <a:ext cx="10515600" cy="4530725"/>
          </a:xfrm>
        </p:spPr>
        <p:txBody>
          <a:bodyPr>
            <a:normAutofit lnSpcReduction="10000"/>
          </a:bodyPr>
          <a:lstStyle/>
          <a:p>
            <a:r>
              <a:rPr lang="en-US" dirty="0"/>
              <a:t>An application can generate some temporary attributes while it runs</a:t>
            </a:r>
          </a:p>
          <a:p>
            <a:pPr lvl="1"/>
            <a:r>
              <a:rPr lang="en-US" dirty="0"/>
              <a:t>For example: PR values while the algorithm hasn’t converged</a:t>
            </a:r>
          </a:p>
          <a:p>
            <a:r>
              <a:rPr lang="en-US" dirty="0"/>
              <a:t>These </a:t>
            </a:r>
            <a:r>
              <a:rPr lang="en-US" i="1" dirty="0"/>
              <a:t>might </a:t>
            </a:r>
            <a:r>
              <a:rPr lang="en-US" dirty="0"/>
              <a:t>become a permanent attribute depending on the user/app</a:t>
            </a:r>
          </a:p>
          <a:p>
            <a:pPr lvl="1"/>
            <a:r>
              <a:rPr lang="en-US" dirty="0"/>
              <a:t>But while it is still a temporary value, it should not be stored with formal attributes of a graph element</a:t>
            </a:r>
          </a:p>
          <a:p>
            <a:r>
              <a:rPr lang="en-US" dirty="0"/>
              <a:t>We call these </a:t>
            </a:r>
            <a:r>
              <a:rPr lang="en-US" i="1" dirty="0"/>
              <a:t>Transient Attributes</a:t>
            </a:r>
          </a:p>
          <a:p>
            <a:r>
              <a:rPr lang="en-US" dirty="0"/>
              <a:t>Typically, these are in-memory and lost when the application terminates</a:t>
            </a:r>
          </a:p>
          <a:p>
            <a:pPr lvl="1"/>
            <a:r>
              <a:rPr lang="en-US" dirty="0"/>
              <a:t>We provide a mechanism to persist them and reuse them for the next round of computation</a:t>
            </a:r>
          </a:p>
        </p:txBody>
      </p:sp>
      <p:sp>
        <p:nvSpPr>
          <p:cNvPr id="4" name="Slide Number Placeholder 3">
            <a:extLst>
              <a:ext uri="{FF2B5EF4-FFF2-40B4-BE49-F238E27FC236}">
                <a16:creationId xmlns:a16="http://schemas.microsoft.com/office/drawing/2014/main" id="{AECF9358-0750-8AEF-3AB4-B755849C1E77}"/>
              </a:ext>
            </a:extLst>
          </p:cNvPr>
          <p:cNvSpPr>
            <a:spLocks noGrp="1"/>
          </p:cNvSpPr>
          <p:nvPr>
            <p:ph type="sldNum" sz="quarter" idx="12"/>
          </p:nvPr>
        </p:nvSpPr>
        <p:spPr/>
        <p:txBody>
          <a:bodyPr/>
          <a:lstStyle/>
          <a:p>
            <a:fld id="{EEBEF218-D4C5-B946-BB13-027BCA6FFA2A}" type="slidenum">
              <a:rPr lang="en-US" smtClean="0"/>
              <a:t>32</a:t>
            </a:fld>
            <a:endParaRPr lang="en-US"/>
          </a:p>
        </p:txBody>
      </p:sp>
    </p:spTree>
    <p:extLst>
      <p:ext uri="{BB962C8B-B14F-4D97-AF65-F5344CB8AC3E}">
        <p14:creationId xmlns:p14="http://schemas.microsoft.com/office/powerpoint/2010/main" val="936944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7069-7AFC-715E-BF5A-839CD6F8EACB}"/>
              </a:ext>
            </a:extLst>
          </p:cNvPr>
          <p:cNvSpPr>
            <a:spLocks noGrp="1"/>
          </p:cNvSpPr>
          <p:nvPr>
            <p:ph type="title"/>
          </p:nvPr>
        </p:nvSpPr>
        <p:spPr/>
        <p:txBody>
          <a:bodyPr/>
          <a:lstStyle/>
          <a:p>
            <a:r>
              <a:rPr lang="en-US" dirty="0"/>
              <a:t>4.5 Managing Transient Attributes</a:t>
            </a:r>
          </a:p>
        </p:txBody>
      </p:sp>
      <p:sp>
        <p:nvSpPr>
          <p:cNvPr id="4" name="Slide Number Placeholder 3">
            <a:extLst>
              <a:ext uri="{FF2B5EF4-FFF2-40B4-BE49-F238E27FC236}">
                <a16:creationId xmlns:a16="http://schemas.microsoft.com/office/drawing/2014/main" id="{AECF9358-0750-8AEF-3AB4-B755849C1E77}"/>
              </a:ext>
            </a:extLst>
          </p:cNvPr>
          <p:cNvSpPr>
            <a:spLocks noGrp="1"/>
          </p:cNvSpPr>
          <p:nvPr>
            <p:ph type="sldNum" sz="quarter" idx="12"/>
          </p:nvPr>
        </p:nvSpPr>
        <p:spPr/>
        <p:txBody>
          <a:bodyPr/>
          <a:lstStyle/>
          <a:p>
            <a:fld id="{EEBEF218-D4C5-B946-BB13-027BCA6FFA2A}" type="slidenum">
              <a:rPr lang="en-US" smtClean="0"/>
              <a:t>33</a:t>
            </a:fld>
            <a:endParaRPr lang="en-US"/>
          </a:p>
        </p:txBody>
      </p:sp>
      <p:sp>
        <p:nvSpPr>
          <p:cNvPr id="6" name="Content Placeholder 5">
            <a:extLst>
              <a:ext uri="{FF2B5EF4-FFF2-40B4-BE49-F238E27FC236}">
                <a16:creationId xmlns:a16="http://schemas.microsoft.com/office/drawing/2014/main" id="{0ABF42C9-A5E5-6948-1C95-C5E1CBFF3112}"/>
              </a:ext>
            </a:extLst>
          </p:cNvPr>
          <p:cNvSpPr>
            <a:spLocks noGrp="1"/>
          </p:cNvSpPr>
          <p:nvPr>
            <p:ph idx="1"/>
          </p:nvPr>
        </p:nvSpPr>
        <p:spPr/>
        <p:txBody>
          <a:bodyPr>
            <a:normAutofit lnSpcReduction="10000"/>
          </a:bodyPr>
          <a:lstStyle/>
          <a:p>
            <a:r>
              <a:rPr lang="en-US" dirty="0"/>
              <a:t>Flexograph stores Transient attributes in a file-backed </a:t>
            </a:r>
            <a:r>
              <a:rPr lang="en-US" dirty="0" err="1">
                <a:latin typeface="Courier New" panose="02070309020205020404" pitchFamily="49" charset="0"/>
                <a:cs typeface="Courier New" panose="02070309020205020404" pitchFamily="49" charset="0"/>
              </a:rPr>
              <a:t>mmap</a:t>
            </a:r>
            <a:r>
              <a:rPr lang="en-US" dirty="0"/>
              <a:t> region</a:t>
            </a:r>
          </a:p>
          <a:p>
            <a:r>
              <a:rPr lang="en-US" dirty="0"/>
              <a:t>The </a:t>
            </a:r>
            <a:r>
              <a:rPr lang="en-US" dirty="0" err="1"/>
              <a:t>GraphAPI</a:t>
            </a:r>
            <a:r>
              <a:rPr lang="en-US" dirty="0"/>
              <a:t> handles the initialization of this region and also the syncing and </a:t>
            </a:r>
            <a:r>
              <a:rPr lang="en-US" dirty="0" err="1"/>
              <a:t>unmapping</a:t>
            </a:r>
            <a:r>
              <a:rPr lang="en-US" dirty="0"/>
              <a:t> when the application terminates</a:t>
            </a:r>
          </a:p>
          <a:p>
            <a:endParaRPr lang="en-US" dirty="0"/>
          </a:p>
          <a:p>
            <a:r>
              <a:rPr lang="en-US" dirty="0"/>
              <a:t>If an application wishes to reuse an old transient attribute file for bootstrapping the next round of computation, it must </a:t>
            </a:r>
            <a:r>
              <a:rPr lang="en-US" b="1" dirty="0"/>
              <a:t>reconcile the old region and the changes in the graph </a:t>
            </a:r>
            <a:r>
              <a:rPr lang="en-US" dirty="0"/>
              <a:t>that have happened</a:t>
            </a:r>
          </a:p>
          <a:p>
            <a:endParaRPr lang="en-US" dirty="0"/>
          </a:p>
          <a:p>
            <a:r>
              <a:rPr lang="en-US" dirty="0"/>
              <a:t>Can be automatically handled as long as a few rule are met: no vertex ID reuse, and the schema of the transient attributes does not change</a:t>
            </a:r>
          </a:p>
        </p:txBody>
      </p:sp>
    </p:spTree>
    <p:extLst>
      <p:ext uri="{BB962C8B-B14F-4D97-AF65-F5344CB8AC3E}">
        <p14:creationId xmlns:p14="http://schemas.microsoft.com/office/powerpoint/2010/main" val="2194443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91EC3-ABB1-71BD-AE14-1847CDB9F468}"/>
              </a:ext>
            </a:extLst>
          </p:cNvPr>
          <p:cNvSpPr>
            <a:spLocks noGrp="1"/>
          </p:cNvSpPr>
          <p:nvPr>
            <p:ph type="title"/>
          </p:nvPr>
        </p:nvSpPr>
        <p:spPr/>
        <p:txBody>
          <a:bodyPr/>
          <a:lstStyle/>
          <a:p>
            <a:r>
              <a:rPr lang="en-US" dirty="0"/>
              <a:t>4.6 Bulk Loading Graphs</a:t>
            </a:r>
          </a:p>
        </p:txBody>
      </p:sp>
      <p:sp>
        <p:nvSpPr>
          <p:cNvPr id="3" name="Content Placeholder 2">
            <a:extLst>
              <a:ext uri="{FF2B5EF4-FFF2-40B4-BE49-F238E27FC236}">
                <a16:creationId xmlns:a16="http://schemas.microsoft.com/office/drawing/2014/main" id="{8EE26C49-04BE-0939-3EE9-4E2CFEA2DFB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3D7032B-5F1A-7029-E804-6C72216D06EC}"/>
              </a:ext>
            </a:extLst>
          </p:cNvPr>
          <p:cNvSpPr>
            <a:spLocks noGrp="1"/>
          </p:cNvSpPr>
          <p:nvPr>
            <p:ph type="sldNum" sz="quarter" idx="12"/>
          </p:nvPr>
        </p:nvSpPr>
        <p:spPr/>
        <p:txBody>
          <a:bodyPr/>
          <a:lstStyle/>
          <a:p>
            <a:fld id="{EEBEF218-D4C5-B946-BB13-027BCA6FFA2A}" type="slidenum">
              <a:rPr lang="en-US" smtClean="0"/>
              <a:t>34</a:t>
            </a:fld>
            <a:endParaRPr lang="en-US"/>
          </a:p>
        </p:txBody>
      </p:sp>
    </p:spTree>
    <p:extLst>
      <p:ext uri="{BB962C8B-B14F-4D97-AF65-F5344CB8AC3E}">
        <p14:creationId xmlns:p14="http://schemas.microsoft.com/office/powerpoint/2010/main" val="3917944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2900</TotalTime>
  <Words>2591</Words>
  <Application>Microsoft Macintosh PowerPoint</Application>
  <PresentationFormat>Widescreen</PresentationFormat>
  <Paragraphs>309</Paragraphs>
  <Slides>34</Slides>
  <Notes>13</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Arial</vt:lpstr>
      <vt:lpstr>Calibri</vt:lpstr>
      <vt:lpstr>Calibri Light</vt:lpstr>
      <vt:lpstr>Courier New</vt:lpstr>
      <vt:lpstr>Office Theme</vt:lpstr>
      <vt:lpstr>Flexograph Architecture</vt:lpstr>
      <vt:lpstr>4.1 Goals of our design</vt:lpstr>
      <vt:lpstr>4.1 Our Design: Current &amp; Future Work</vt:lpstr>
      <vt:lpstr>4.2 What should a graph database provide?</vt:lpstr>
      <vt:lpstr>4.2 Examine A Use Case: PageRank</vt:lpstr>
      <vt:lpstr>4.2 Desiderata for Running PageRank</vt:lpstr>
      <vt:lpstr>4.2 Examine Querying a Social Network</vt:lpstr>
      <vt:lpstr>4.2 Desiderata for Querying a Social Network</vt:lpstr>
      <vt:lpstr>4.3 Flexograph Architecture</vt:lpstr>
      <vt:lpstr>4.3.1 Graph API</vt:lpstr>
      <vt:lpstr>4.3.1 Graph API</vt:lpstr>
      <vt:lpstr>Graph API</vt:lpstr>
      <vt:lpstr>4.3.2 Framework for higher level primitives</vt:lpstr>
      <vt:lpstr>4.3.2 Framework for higher level primitives</vt:lpstr>
      <vt:lpstr>4.3.3 Graph Representations</vt:lpstr>
      <vt:lpstr>4.3.3 Graph Representations</vt:lpstr>
      <vt:lpstr>4.4 Implementation</vt:lpstr>
      <vt:lpstr>4.4 Flexograph Implementation</vt:lpstr>
      <vt:lpstr>4.4.1 WiredTiger makes the World go Round</vt:lpstr>
      <vt:lpstr>4.4.1 WiredTiger: Essential Properties</vt:lpstr>
      <vt:lpstr>4.4.1 WiredTiger: Essential Properties</vt:lpstr>
      <vt:lpstr>4.4.1 WiredTiger: Essential Properties</vt:lpstr>
      <vt:lpstr>4.4.2 Writing a Flexograph Application</vt:lpstr>
      <vt:lpstr>4.4.2 Application example: PageRank</vt:lpstr>
      <vt:lpstr>4.4.2 Application example: PageRank</vt:lpstr>
      <vt:lpstr>4.4.3 Graph Representations</vt:lpstr>
      <vt:lpstr>4.4.3 Adjacency List Representation</vt:lpstr>
      <vt:lpstr>4.4.3 EdgeKey Representation - initial</vt:lpstr>
      <vt:lpstr>4.4.3 EdgeKey Representation – Split Design</vt:lpstr>
      <vt:lpstr>4.4.4 Iterators</vt:lpstr>
      <vt:lpstr>4.4.4 Iterators</vt:lpstr>
      <vt:lpstr>4.5 Managing Transient Attributes</vt:lpstr>
      <vt:lpstr>4.5 Managing Transient Attributes</vt:lpstr>
      <vt:lpstr>4.6 Bulk Loading Graphs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13</cp:revision>
  <cp:lastPrinted>2024-06-24T03:04:00Z</cp:lastPrinted>
  <dcterms:created xsi:type="dcterms:W3CDTF">2024-06-23T19:02:59Z</dcterms:created>
  <dcterms:modified xsi:type="dcterms:W3CDTF">2024-06-30T16:32:34Z</dcterms:modified>
</cp:coreProperties>
</file>