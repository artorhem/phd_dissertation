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79" r:id="rId3"/>
    <p:sldId id="284" r:id="rId4"/>
    <p:sldId id="288" r:id="rId5"/>
    <p:sldId id="256" r:id="rId6"/>
    <p:sldId id="289" r:id="rId7"/>
    <p:sldId id="294" r:id="rId8"/>
    <p:sldId id="290" r:id="rId9"/>
    <p:sldId id="296" r:id="rId10"/>
    <p:sldId id="297" r:id="rId11"/>
    <p:sldId id="298" r:id="rId12"/>
    <p:sldId id="299" r:id="rId13"/>
    <p:sldId id="301" r:id="rId14"/>
    <p:sldId id="303" r:id="rId15"/>
    <p:sldId id="302" r:id="rId16"/>
    <p:sldId id="3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C094"/>
    <a:srgbClr val="AAD4BA"/>
    <a:srgbClr val="E3AC6D"/>
    <a:srgbClr val="DB8ECB"/>
    <a:srgbClr val="EBCA0E"/>
    <a:srgbClr val="FDDA0D"/>
    <a:srgbClr val="EF9ADC"/>
    <a:srgbClr val="85BFD2"/>
    <a:srgbClr val="9ADCEF"/>
    <a:srgbClr val="BACB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1"/>
    <p:restoredTop sz="94740"/>
  </p:normalViewPr>
  <p:slideViewPr>
    <p:cSldViewPr snapToGrid="0">
      <p:cViewPr>
        <p:scale>
          <a:sx n="101" d="100"/>
          <a:sy n="101" d="100"/>
        </p:scale>
        <p:origin x="1264" y="3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30B5F4-B578-9D4B-BF87-A6722B88B213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6BAFFF-B0E2-774A-A127-0F5AC50A002A}">
      <dgm:prSet phldrT="[Text]"/>
      <dgm:spPr>
        <a:solidFill>
          <a:srgbClr val="DCEF9A">
            <a:alpha val="74902"/>
          </a:srgb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Read-Write Graphs</a:t>
          </a:r>
        </a:p>
      </dgm:t>
    </dgm:pt>
    <dgm:pt modelId="{B88AB2EA-37CB-304A-A1A9-4A4AD133A23B}" type="parTrans" cxnId="{66BAAD46-6DC0-D445-8CE4-B263EB35664E}">
      <dgm:prSet/>
      <dgm:spPr/>
      <dgm:t>
        <a:bodyPr/>
        <a:lstStyle/>
        <a:p>
          <a:endParaRPr lang="en-US"/>
        </a:p>
      </dgm:t>
    </dgm:pt>
    <dgm:pt modelId="{0FB3518D-AE1B-8C4E-AD55-D5301BB214AA}" type="sibTrans" cxnId="{66BAAD46-6DC0-D445-8CE4-B263EB35664E}">
      <dgm:prSet/>
      <dgm:spPr/>
      <dgm:t>
        <a:bodyPr/>
        <a:lstStyle/>
        <a:p>
          <a:endParaRPr lang="en-US"/>
        </a:p>
      </dgm:t>
    </dgm:pt>
    <dgm:pt modelId="{D6F706EC-E9B8-DF48-9E2B-4A431F33D34F}">
      <dgm:prSet phldrT="[Text]"/>
      <dgm:spPr>
        <a:solidFill>
          <a:srgbClr val="9ADCEF">
            <a:alpha val="64314"/>
          </a:srgb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Transactions</a:t>
          </a:r>
        </a:p>
      </dgm:t>
    </dgm:pt>
    <dgm:pt modelId="{FB0D553B-CEAC-6D4F-BB91-4DF338F599F9}" type="parTrans" cxnId="{38002401-F267-7445-89BE-DBD2BDEB79B5}">
      <dgm:prSet/>
      <dgm:spPr/>
      <dgm:t>
        <a:bodyPr/>
        <a:lstStyle/>
        <a:p>
          <a:endParaRPr lang="en-US"/>
        </a:p>
      </dgm:t>
    </dgm:pt>
    <dgm:pt modelId="{22E9AA94-89BE-4A45-A108-1E1483C162E8}" type="sibTrans" cxnId="{38002401-F267-7445-89BE-DBD2BDEB79B5}">
      <dgm:prSet/>
      <dgm:spPr/>
      <dgm:t>
        <a:bodyPr/>
        <a:lstStyle/>
        <a:p>
          <a:endParaRPr lang="en-US"/>
        </a:p>
      </dgm:t>
    </dgm:pt>
    <dgm:pt modelId="{F042A4E5-D53E-CC43-B643-BA833F368533}">
      <dgm:prSet/>
      <dgm:spPr>
        <a:solidFill>
          <a:srgbClr val="EF9ADC">
            <a:alpha val="49804"/>
          </a:srgb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Labeled Property Graph Model</a:t>
          </a:r>
        </a:p>
      </dgm:t>
    </dgm:pt>
    <dgm:pt modelId="{A3EC4EF5-BC38-E045-A68E-C5FBEA4BFA5B}" type="parTrans" cxnId="{56E8F491-2CA2-7841-9893-DE0B8401694E}">
      <dgm:prSet/>
      <dgm:spPr/>
      <dgm:t>
        <a:bodyPr/>
        <a:lstStyle/>
        <a:p>
          <a:endParaRPr lang="en-US"/>
        </a:p>
      </dgm:t>
    </dgm:pt>
    <dgm:pt modelId="{253C5604-4F3D-134D-9EC0-F03146D5AA7B}" type="sibTrans" cxnId="{56E8F491-2CA2-7841-9893-DE0B8401694E}">
      <dgm:prSet/>
      <dgm:spPr/>
      <dgm:t>
        <a:bodyPr/>
        <a:lstStyle/>
        <a:p>
          <a:endParaRPr lang="en-US"/>
        </a:p>
      </dgm:t>
    </dgm:pt>
    <dgm:pt modelId="{31D5A28A-8C89-0946-8597-7E2AF88A77D2}" type="pres">
      <dgm:prSet presAssocID="{8930B5F4-B578-9D4B-BF87-A6722B88B213}" presName="compositeShape" presStyleCnt="0">
        <dgm:presLayoutVars>
          <dgm:chMax val="7"/>
          <dgm:dir/>
          <dgm:resizeHandles val="exact"/>
        </dgm:presLayoutVars>
      </dgm:prSet>
      <dgm:spPr/>
    </dgm:pt>
    <dgm:pt modelId="{A1143548-7513-684C-A206-5C0A13B4B706}" type="pres">
      <dgm:prSet presAssocID="{1D6BAFFF-B0E2-774A-A127-0F5AC50A002A}" presName="circ1" presStyleLbl="vennNode1" presStyleIdx="0" presStyleCnt="3" custLinFactNeighborY="165"/>
      <dgm:spPr/>
    </dgm:pt>
    <dgm:pt modelId="{40D3FB88-2B45-C943-B3EB-64238C9E01AB}" type="pres">
      <dgm:prSet presAssocID="{1D6BAFFF-B0E2-774A-A127-0F5AC50A002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A2820E5-53FA-0C4D-A278-4ACB27B98803}" type="pres">
      <dgm:prSet presAssocID="{D6F706EC-E9B8-DF48-9E2B-4A431F33D34F}" presName="circ2" presStyleLbl="vennNode1" presStyleIdx="1" presStyleCnt="3"/>
      <dgm:spPr/>
    </dgm:pt>
    <dgm:pt modelId="{5C782A50-E85A-1B44-BB7A-2CD7B4F748C5}" type="pres">
      <dgm:prSet presAssocID="{D6F706EC-E9B8-DF48-9E2B-4A431F33D34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F4C9AC7-0F25-7B49-BC8F-7C8EA91DC861}" type="pres">
      <dgm:prSet presAssocID="{F042A4E5-D53E-CC43-B643-BA833F368533}" presName="circ3" presStyleLbl="vennNode1" presStyleIdx="2" presStyleCnt="3"/>
      <dgm:spPr/>
    </dgm:pt>
    <dgm:pt modelId="{F13654D9-2EC0-194D-8609-6AC0697D3465}" type="pres">
      <dgm:prSet presAssocID="{F042A4E5-D53E-CC43-B643-BA833F36853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8002401-F267-7445-89BE-DBD2BDEB79B5}" srcId="{8930B5F4-B578-9D4B-BF87-A6722B88B213}" destId="{D6F706EC-E9B8-DF48-9E2B-4A431F33D34F}" srcOrd="1" destOrd="0" parTransId="{FB0D553B-CEAC-6D4F-BB91-4DF338F599F9}" sibTransId="{22E9AA94-89BE-4A45-A108-1E1483C162E8}"/>
    <dgm:cxn modelId="{6024BE0A-3147-494C-B138-6E6431FF5738}" type="presOf" srcId="{8930B5F4-B578-9D4B-BF87-A6722B88B213}" destId="{31D5A28A-8C89-0946-8597-7E2AF88A77D2}" srcOrd="0" destOrd="0" presId="urn:microsoft.com/office/officeart/2005/8/layout/venn1"/>
    <dgm:cxn modelId="{80D6C810-49C5-1243-BA4F-D129D95D5D93}" type="presOf" srcId="{D6F706EC-E9B8-DF48-9E2B-4A431F33D34F}" destId="{5C782A50-E85A-1B44-BB7A-2CD7B4F748C5}" srcOrd="0" destOrd="0" presId="urn:microsoft.com/office/officeart/2005/8/layout/venn1"/>
    <dgm:cxn modelId="{2D957318-6583-ED4F-B22C-6DB54F08B173}" type="presOf" srcId="{F042A4E5-D53E-CC43-B643-BA833F368533}" destId="{2F4C9AC7-0F25-7B49-BC8F-7C8EA91DC861}" srcOrd="0" destOrd="0" presId="urn:microsoft.com/office/officeart/2005/8/layout/venn1"/>
    <dgm:cxn modelId="{66BAAD46-6DC0-D445-8CE4-B263EB35664E}" srcId="{8930B5F4-B578-9D4B-BF87-A6722B88B213}" destId="{1D6BAFFF-B0E2-774A-A127-0F5AC50A002A}" srcOrd="0" destOrd="0" parTransId="{B88AB2EA-37CB-304A-A1A9-4A4AD133A23B}" sibTransId="{0FB3518D-AE1B-8C4E-AD55-D5301BB214AA}"/>
    <dgm:cxn modelId="{EED9B069-B48B-7E46-88E6-8D21F630E3EE}" type="presOf" srcId="{1D6BAFFF-B0E2-774A-A127-0F5AC50A002A}" destId="{40D3FB88-2B45-C943-B3EB-64238C9E01AB}" srcOrd="0" destOrd="0" presId="urn:microsoft.com/office/officeart/2005/8/layout/venn1"/>
    <dgm:cxn modelId="{56E8F491-2CA2-7841-9893-DE0B8401694E}" srcId="{8930B5F4-B578-9D4B-BF87-A6722B88B213}" destId="{F042A4E5-D53E-CC43-B643-BA833F368533}" srcOrd="2" destOrd="0" parTransId="{A3EC4EF5-BC38-E045-A68E-C5FBEA4BFA5B}" sibTransId="{253C5604-4F3D-134D-9EC0-F03146D5AA7B}"/>
    <dgm:cxn modelId="{551EDCBF-F018-C743-ABE4-7A606196F914}" type="presOf" srcId="{1D6BAFFF-B0E2-774A-A127-0F5AC50A002A}" destId="{A1143548-7513-684C-A206-5C0A13B4B706}" srcOrd="1" destOrd="0" presId="urn:microsoft.com/office/officeart/2005/8/layout/venn1"/>
    <dgm:cxn modelId="{8BAB72ED-1BBE-3F41-A1ED-BA2EA8F54800}" type="presOf" srcId="{F042A4E5-D53E-CC43-B643-BA833F368533}" destId="{F13654D9-2EC0-194D-8609-6AC0697D3465}" srcOrd="1" destOrd="0" presId="urn:microsoft.com/office/officeart/2005/8/layout/venn1"/>
    <dgm:cxn modelId="{222111F3-C791-EA4B-BDD5-DC9C80081871}" type="presOf" srcId="{D6F706EC-E9B8-DF48-9E2B-4A431F33D34F}" destId="{BA2820E5-53FA-0C4D-A278-4ACB27B98803}" srcOrd="1" destOrd="0" presId="urn:microsoft.com/office/officeart/2005/8/layout/venn1"/>
    <dgm:cxn modelId="{CCA5F00E-E936-434A-BF30-C5981B996D5D}" type="presParOf" srcId="{31D5A28A-8C89-0946-8597-7E2AF88A77D2}" destId="{A1143548-7513-684C-A206-5C0A13B4B706}" srcOrd="0" destOrd="0" presId="urn:microsoft.com/office/officeart/2005/8/layout/venn1"/>
    <dgm:cxn modelId="{7BDFAC21-A360-0A46-8BE0-344716C8BC48}" type="presParOf" srcId="{31D5A28A-8C89-0946-8597-7E2AF88A77D2}" destId="{40D3FB88-2B45-C943-B3EB-64238C9E01AB}" srcOrd="1" destOrd="0" presId="urn:microsoft.com/office/officeart/2005/8/layout/venn1"/>
    <dgm:cxn modelId="{35E9C36F-B57A-CC4F-B3C8-FD2FF828F2FF}" type="presParOf" srcId="{31D5A28A-8C89-0946-8597-7E2AF88A77D2}" destId="{BA2820E5-53FA-0C4D-A278-4ACB27B98803}" srcOrd="2" destOrd="0" presId="urn:microsoft.com/office/officeart/2005/8/layout/venn1"/>
    <dgm:cxn modelId="{23F829A4-B995-A24D-ADE1-A7A0B9D36432}" type="presParOf" srcId="{31D5A28A-8C89-0946-8597-7E2AF88A77D2}" destId="{5C782A50-E85A-1B44-BB7A-2CD7B4F748C5}" srcOrd="3" destOrd="0" presId="urn:microsoft.com/office/officeart/2005/8/layout/venn1"/>
    <dgm:cxn modelId="{51F8CE1A-7F35-3443-8B5D-F9010FC7401E}" type="presParOf" srcId="{31D5A28A-8C89-0946-8597-7E2AF88A77D2}" destId="{2F4C9AC7-0F25-7B49-BC8F-7C8EA91DC861}" srcOrd="4" destOrd="0" presId="urn:microsoft.com/office/officeart/2005/8/layout/venn1"/>
    <dgm:cxn modelId="{D72BB8B5-AA95-9D45-8376-113C2371ACF4}" type="presParOf" srcId="{31D5A28A-8C89-0946-8597-7E2AF88A77D2}" destId="{F13654D9-2EC0-194D-8609-6AC0697D3465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143548-7513-684C-A206-5C0A13B4B706}">
      <dsp:nvSpPr>
        <dsp:cNvPr id="0" name=""/>
        <dsp:cNvSpPr/>
      </dsp:nvSpPr>
      <dsp:spPr>
        <a:xfrm>
          <a:off x="2438399" y="73097"/>
          <a:ext cx="3251200" cy="3251200"/>
        </a:xfrm>
        <a:prstGeom prst="ellipse">
          <a:avLst/>
        </a:prstGeom>
        <a:solidFill>
          <a:srgbClr val="DCEF9A">
            <a:alpha val="74902"/>
          </a:srgb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Read-Write Graphs</a:t>
          </a:r>
        </a:p>
      </dsp:txBody>
      <dsp:txXfrm>
        <a:off x="2871893" y="642057"/>
        <a:ext cx="2384213" cy="1463040"/>
      </dsp:txXfrm>
    </dsp:sp>
    <dsp:sp modelId="{BA2820E5-53FA-0C4D-A278-4ACB27B98803}">
      <dsp:nvSpPr>
        <dsp:cNvPr id="0" name=""/>
        <dsp:cNvSpPr/>
      </dsp:nvSpPr>
      <dsp:spPr>
        <a:xfrm>
          <a:off x="3611541" y="2099733"/>
          <a:ext cx="3251200" cy="3251200"/>
        </a:xfrm>
        <a:prstGeom prst="ellipse">
          <a:avLst/>
        </a:prstGeom>
        <a:solidFill>
          <a:srgbClr val="9ADCEF">
            <a:alpha val="64314"/>
          </a:srgb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Transactions</a:t>
          </a:r>
        </a:p>
      </dsp:txBody>
      <dsp:txXfrm>
        <a:off x="4605866" y="2939626"/>
        <a:ext cx="1950720" cy="1788160"/>
      </dsp:txXfrm>
    </dsp:sp>
    <dsp:sp modelId="{2F4C9AC7-0F25-7B49-BC8F-7C8EA91DC861}">
      <dsp:nvSpPr>
        <dsp:cNvPr id="0" name=""/>
        <dsp:cNvSpPr/>
      </dsp:nvSpPr>
      <dsp:spPr>
        <a:xfrm>
          <a:off x="1265258" y="2099733"/>
          <a:ext cx="3251200" cy="3251200"/>
        </a:xfrm>
        <a:prstGeom prst="ellipse">
          <a:avLst/>
        </a:prstGeom>
        <a:solidFill>
          <a:srgbClr val="EF9ADC">
            <a:alpha val="49804"/>
          </a:srgb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Labeled Property Graph Model</a:t>
          </a:r>
        </a:p>
      </dsp:txBody>
      <dsp:txXfrm>
        <a:off x="1571413" y="2939626"/>
        <a:ext cx="1950720" cy="1788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BE150-EAFA-5749-A8B1-7557864E773B}" type="datetimeFigureOut">
              <a:rPr lang="en-US" smtClean="0"/>
              <a:t>6/21/24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CDA04-A6B2-0940-9306-E627D66A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9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49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073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409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CDA04-A6B2-0940-9306-E627D66A7B2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55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CDA04-A6B2-0940-9306-E627D66A7B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66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E2B50-3592-92E8-A6AD-9D34DAFEC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39835-0F1E-A35D-453D-7A6B38B50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3AB17-A339-6AD6-122F-2867DA23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FC988-7936-ABCA-82CF-C1FFF066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9D08-300F-3C12-992C-78C03789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0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0F4E-1905-7BA0-6312-EB521466C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199C4-5691-5233-3224-C64728F9E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85857-FC54-38DE-B3E2-C4FA61EF4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15DC4-18E2-0F66-0031-9C157568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46EE5-3B76-3AB3-AEE8-98343754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4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261E-3A42-3918-468F-497C5BC34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3CAC3-45E7-1856-7DD2-5CF905BCA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C4C46-84C1-4927-61FB-F2781081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998CE-F24C-7DEA-B1DD-6E6B3277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C262E-5023-D10B-BFB2-7849D336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6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9FEC-10E0-5585-AF38-9445E7CA4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D40FA-4B1C-603F-E4AF-217C4A72B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CDCAA-F76E-B48C-CFD8-588C97CBE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FF258-9862-B3B1-4EEE-E5DFB952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F9FD3-B144-489F-7744-B760FB25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48422-F846-9729-BE1B-29555EE2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5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92CD-D15C-EA6C-1CB2-3E1FCD6E7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17452-C2F6-E8CA-85DF-3C0FB33A9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2ADC7-6491-D229-F076-6A3056A38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7A1E2-92B4-47FC-7227-7F78C9062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42287-A991-274E-A51B-62DE74AD6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3DD73-3D7C-1DDE-C83C-40C010338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63909-8687-7568-5E94-D81C7775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752B0-976D-DBED-2405-1B1C34C4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3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F8763-7408-C807-88A9-697282B9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4C99B-CF9F-0DDC-CE2C-C22CDD640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945E4D-94B5-EF2E-73F9-065FDD70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7BA3D-70A5-83FF-50AC-A0127524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9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EBE49-5256-3227-4591-A956F5AB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071D1-59B7-F84E-0875-C41E4084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CC3B6-1AE8-FCAC-B1A3-2981ED00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3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8AC0-BEA5-4495-E13E-7EA87B043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AAEFC-C30E-EFC1-781D-D9313817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ADA01-9B88-6FC4-A59C-271A4620C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FB730-AE31-0516-AC6B-8543E4B5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B60B5-AE23-291A-4FA7-EFED7DAA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D7030-DA34-6B83-20C9-65F235AC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5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CEEE-8CB8-C95B-B3F7-135881679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AA90A-A467-067F-32D1-87DB13D2D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C3DEE-2ADE-78BA-7B02-C9D73A8B9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011BC-D03E-D400-4D0A-E973BE232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252FF-CF6B-EDCB-C6FB-729BBD86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13AF3-ACB9-DBDF-4E0D-C3C0032DD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31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FC9A8-60D6-417E-CE39-A92138AAC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D4CFE-6801-2F6D-12B4-E3641100E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5DB66-FA37-7A9A-3FB4-84E0A024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ECB2A-71C8-F387-DBB2-7A4EC4EA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5C54F-2249-158C-6CCA-2CE253E0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3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A00B0-B392-0C95-6014-C552D24FB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90C39-3F3E-8E87-7058-51EC9D5F5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E5798-AFD5-6414-9883-9472F2B7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107BF-D224-4767-9361-E97289D1F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C40F7-B77A-5889-9EAD-E9B6584E0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37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29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5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7610D-54E6-2ED1-215D-96075ABF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20601-9DE6-B7F0-A45B-99871F689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492A8-5EB3-0954-0635-F325FED13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A91BE-DE24-DC42-B17F-16A3562B2419}" type="datetimeFigureOut">
              <a:rPr lang="en-US" smtClean="0"/>
              <a:t>6/21/24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C011-1ACE-EF24-AC0D-2425CAA2C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011F1-AF50-179A-EA5B-1F1383018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A1300-ADB8-F24A-9D61-8EA6A6B5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GB"/>
              <a:t>Design Space for GPS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GB"/>
              <a:t>Background Section 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3CC55B-A56F-8A85-8ED0-7E231D9061E2}"/>
              </a:ext>
            </a:extLst>
          </p:cNvPr>
          <p:cNvCxnSpPr>
            <a:cxnSpLocks/>
          </p:cNvCxnSpPr>
          <p:nvPr/>
        </p:nvCxnSpPr>
        <p:spPr>
          <a:xfrm flipH="1">
            <a:off x="372534" y="60657"/>
            <a:ext cx="5414117" cy="2185832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0C0ED97-35BC-922A-688D-85449C0FD75C}"/>
              </a:ext>
            </a:extLst>
          </p:cNvPr>
          <p:cNvCxnSpPr/>
          <p:nvPr/>
        </p:nvCxnSpPr>
        <p:spPr>
          <a:xfrm flipV="1">
            <a:off x="4628109" y="60657"/>
            <a:ext cx="4361217" cy="2185832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3D9FCB-0FC7-2750-33EC-C9FBCBCCF8C9}"/>
              </a:ext>
            </a:extLst>
          </p:cNvPr>
          <p:cNvCxnSpPr/>
          <p:nvPr/>
        </p:nvCxnSpPr>
        <p:spPr>
          <a:xfrm>
            <a:off x="4628109" y="4611513"/>
            <a:ext cx="4361217" cy="1781705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E8C3D2F-7133-4423-AAA4-D192CCA713B5}"/>
              </a:ext>
            </a:extLst>
          </p:cNvPr>
          <p:cNvCxnSpPr/>
          <p:nvPr/>
        </p:nvCxnSpPr>
        <p:spPr>
          <a:xfrm>
            <a:off x="372534" y="4611513"/>
            <a:ext cx="5414117" cy="1781705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9DC8E22-606A-6598-1B91-1F3F180A0C19}"/>
              </a:ext>
            </a:extLst>
          </p:cNvPr>
          <p:cNvSpPr txBox="1"/>
          <p:nvPr/>
        </p:nvSpPr>
        <p:spPr>
          <a:xfrm>
            <a:off x="119401" y="3080187"/>
            <a:ext cx="5293975" cy="2656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33" dirty="0"/>
              <a:t>Primary Classification: </a:t>
            </a:r>
          </a:p>
          <a:p>
            <a:pPr algn="ctr"/>
            <a:endParaRPr lang="en-US" sz="3333" dirty="0"/>
          </a:p>
          <a:p>
            <a:pPr algn="ctr"/>
            <a:r>
              <a:rPr lang="en-US" sz="3333" dirty="0"/>
              <a:t> Static/Dynamic </a:t>
            </a:r>
          </a:p>
          <a:p>
            <a:pPr algn="ctr"/>
            <a:r>
              <a:rPr lang="en-US" sz="3333" dirty="0"/>
              <a:t>and </a:t>
            </a:r>
          </a:p>
          <a:p>
            <a:pPr algn="ctr"/>
            <a:r>
              <a:rPr lang="en-US" sz="3333" dirty="0"/>
              <a:t>In-memory/Out-of-Core</a:t>
            </a:r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877A72B2-6556-3B9B-4D04-7CF36C9F4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0656"/>
            <a:ext cx="5976599" cy="668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71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F60E306-6CD6-963D-0273-4300EF0CF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0656"/>
            <a:ext cx="6704528" cy="1007600"/>
          </a:xfrm>
        </p:spPr>
        <p:txBody>
          <a:bodyPr>
            <a:normAutofit/>
          </a:bodyPr>
          <a:lstStyle/>
          <a:p>
            <a:r>
              <a:rPr lang="en-US" sz="3333" dirty="0">
                <a:solidFill>
                  <a:schemeClr val="accent1"/>
                </a:solidFill>
              </a:rPr>
              <a:t>Static GPS Classification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09134-B55B-79BC-1635-C0310D0BB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02144"/>
            <a:ext cx="6363152" cy="5005200"/>
          </a:xfrm>
        </p:spPr>
        <p:txBody>
          <a:bodyPr>
            <a:normAutofit/>
          </a:bodyPr>
          <a:lstStyle/>
          <a:p>
            <a:pPr marL="203195" indent="0">
              <a:buNone/>
            </a:pPr>
            <a:r>
              <a:rPr lang="en-US" sz="2000" dirty="0"/>
              <a:t>Graphs can be in RAM or on disk</a:t>
            </a:r>
          </a:p>
          <a:p>
            <a:pPr marL="203195" indent="0">
              <a:buNone/>
            </a:pPr>
            <a:endParaRPr lang="en-US" sz="2000" dirty="0"/>
          </a:p>
          <a:p>
            <a:pPr marL="203195" indent="0">
              <a:buNone/>
            </a:pPr>
            <a:r>
              <a:rPr lang="en-US" sz="2000" dirty="0"/>
              <a:t>RAM is fast but limited, disk is slow but infinite</a:t>
            </a:r>
          </a:p>
          <a:p>
            <a:pPr marL="203195" indent="0">
              <a:buNone/>
            </a:pPr>
            <a:endParaRPr lang="en-US" sz="2000" dirty="0"/>
          </a:p>
          <a:p>
            <a:pPr marL="203195" indent="0">
              <a:buNone/>
            </a:pPr>
            <a:r>
              <a:rPr lang="en-US" sz="2000" dirty="0"/>
              <a:t>Classic tradeoff, systems have optimizations in place to use the memory-disk barrier more cleverly</a:t>
            </a:r>
          </a:p>
          <a:p>
            <a:pPr marL="203195" indent="0">
              <a:buNone/>
            </a:pPr>
            <a:endParaRPr lang="en-US" sz="2000" dirty="0"/>
          </a:p>
          <a:p>
            <a:pPr marL="203195" indent="0">
              <a:buNone/>
            </a:pPr>
            <a:endParaRPr lang="en-US" sz="2000" dirty="0"/>
          </a:p>
          <a:p>
            <a:pPr marL="203195" indent="0">
              <a:buNone/>
            </a:pPr>
            <a:r>
              <a:rPr lang="en-US" sz="2000" dirty="0"/>
              <a:t>The in-memory/external design space is a continuum</a:t>
            </a:r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423D5527-1CFB-D638-ADBC-747573C5D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39275"/>
            <a:ext cx="3562350" cy="677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64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F60E306-6CD6-963D-0273-4300EF0CF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03195" indent="0">
              <a:buNone/>
            </a:pPr>
            <a:r>
              <a:rPr lang="en-US" sz="3600" dirty="0"/>
              <a:t>In-memory/external System Continuum for Static GPS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FD323-2137-6FF9-6519-52EA33DBE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52799"/>
            <a:ext cx="6977092" cy="4594495"/>
          </a:xfrm>
        </p:spPr>
        <p:txBody>
          <a:bodyPr>
            <a:normAutofit/>
          </a:bodyPr>
          <a:lstStyle/>
          <a:p>
            <a:r>
              <a:rPr lang="en-US" sz="2000" dirty="0"/>
              <a:t>Some systems explicitly designed to keep the graph in memory:</a:t>
            </a:r>
          </a:p>
          <a:p>
            <a:pPr lvl="1"/>
            <a:r>
              <a:rPr lang="en-US" sz="2000" dirty="0"/>
              <a:t>In-memory systems are fast, work on structural graphs</a:t>
            </a:r>
          </a:p>
          <a:p>
            <a:pPr lvl="1"/>
            <a:r>
              <a:rPr lang="en-US" sz="2000" dirty="0"/>
              <a:t>Examples</a:t>
            </a:r>
          </a:p>
          <a:p>
            <a:r>
              <a:rPr lang="en-US" sz="2000" dirty="0"/>
              <a:t>External systems are designed to work on graphs much larger than RAM</a:t>
            </a:r>
          </a:p>
          <a:p>
            <a:pPr lvl="1"/>
            <a:r>
              <a:rPr lang="en-US" sz="2000" dirty="0"/>
              <a:t>Single system can process trillion edged graphs</a:t>
            </a:r>
          </a:p>
          <a:p>
            <a:pPr lvl="1"/>
            <a:r>
              <a:rPr lang="en-US" sz="2000" dirty="0"/>
              <a:t>Slower than in-memory systems</a:t>
            </a:r>
          </a:p>
          <a:p>
            <a:pPr lvl="1"/>
            <a:r>
              <a:rPr lang="en-US" sz="2000" dirty="0"/>
              <a:t>Examples</a:t>
            </a:r>
          </a:p>
          <a:p>
            <a:r>
              <a:rPr lang="en-US" sz="2000" dirty="0"/>
              <a:t>Optimizations exist to carefully choose what part of the graph can be cached in the main memory, Streaming the rest</a:t>
            </a:r>
          </a:p>
          <a:p>
            <a:pPr lvl="1"/>
            <a:r>
              <a:rPr lang="en-US" sz="2000" dirty="0"/>
              <a:t>Semi-External systems</a:t>
            </a:r>
          </a:p>
          <a:p>
            <a:pPr lvl="1"/>
            <a:r>
              <a:rPr lang="en-US" sz="2000" dirty="0"/>
              <a:t>Examples</a:t>
            </a:r>
          </a:p>
          <a:p>
            <a:endParaRPr lang="en-US" dirty="0"/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E8AB044C-3AF7-214F-95E0-8225D2E91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092" y="0"/>
            <a:ext cx="3963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03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B07C1-3AE5-3EB4-3E90-B454BD3B1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78906"/>
            <a:ext cx="10515600" cy="20015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programming model/computation model classification does not do anything to help explain the space, neither does it help situate Flexograph in the research landscape. </a:t>
            </a:r>
          </a:p>
          <a:p>
            <a:pPr algn="ctr"/>
            <a:r>
              <a:rPr lang="en-US" b="1" dirty="0"/>
              <a:t>SKIP?</a:t>
            </a:r>
          </a:p>
        </p:txBody>
      </p:sp>
    </p:spTree>
    <p:extLst>
      <p:ext uri="{BB962C8B-B14F-4D97-AF65-F5344CB8AC3E}">
        <p14:creationId xmlns:p14="http://schemas.microsoft.com/office/powerpoint/2010/main" val="1656234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31500A7E-2858-E8A4-1CD1-DE2F03CE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61" y="285739"/>
            <a:ext cx="10427677" cy="628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04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E4FDD17-4946-7244-09D8-892A58E4C9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3680087"/>
              </p:ext>
            </p:extLst>
          </p:nvPr>
        </p:nvGraphicFramePr>
        <p:xfrm>
          <a:off x="2031999" y="71966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5-Point Star 4">
            <a:extLst>
              <a:ext uri="{FF2B5EF4-FFF2-40B4-BE49-F238E27FC236}">
                <a16:creationId xmlns:a16="http://schemas.microsoft.com/office/drawing/2014/main" id="{A3320C7A-CF6A-7131-0C8F-375D1295A47E}"/>
              </a:ext>
            </a:extLst>
          </p:cNvPr>
          <p:cNvSpPr/>
          <p:nvPr/>
        </p:nvSpPr>
        <p:spPr>
          <a:xfrm>
            <a:off x="5950770" y="3598432"/>
            <a:ext cx="290457" cy="306593"/>
          </a:xfrm>
          <a:prstGeom prst="star5">
            <a:avLst/>
          </a:prstGeom>
          <a:solidFill>
            <a:srgbClr val="FDDA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8B420C-0033-4A4B-0235-F1AD56251650}"/>
              </a:ext>
            </a:extLst>
          </p:cNvPr>
          <p:cNvCxnSpPr>
            <a:cxnSpLocks/>
          </p:cNvCxnSpPr>
          <p:nvPr/>
        </p:nvCxnSpPr>
        <p:spPr>
          <a:xfrm flipV="1">
            <a:off x="6889789" y="1908133"/>
            <a:ext cx="2318757" cy="14267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15959DF-34F5-E7A3-ED0D-FB758293A7A4}"/>
              </a:ext>
            </a:extLst>
          </p:cNvPr>
          <p:cNvSpPr txBox="1"/>
          <p:nvPr/>
        </p:nvSpPr>
        <p:spPr>
          <a:xfrm>
            <a:off x="9208546" y="1495062"/>
            <a:ext cx="275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Dynamic, structural graph</a:t>
            </a:r>
          </a:p>
          <a:p>
            <a:r>
              <a:rPr lang="en-US" dirty="0"/>
              <a:t>(</a:t>
            </a:r>
            <a:r>
              <a:rPr lang="en-US" dirty="0" err="1"/>
              <a:t>Teseo</a:t>
            </a:r>
            <a:r>
              <a:rPr lang="en-US" dirty="0"/>
              <a:t>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8FCB32-9067-0A6C-5446-F28B27090B4E}"/>
              </a:ext>
            </a:extLst>
          </p:cNvPr>
          <p:cNvCxnSpPr>
            <a:cxnSpLocks/>
          </p:cNvCxnSpPr>
          <p:nvPr/>
        </p:nvCxnSpPr>
        <p:spPr>
          <a:xfrm>
            <a:off x="6095998" y="4996927"/>
            <a:ext cx="0" cy="1393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B65DE0-D9EF-1C8E-508C-A0A2FAA93CFD}"/>
              </a:ext>
            </a:extLst>
          </p:cNvPr>
          <p:cNvSpPr txBox="1"/>
          <p:nvPr/>
        </p:nvSpPr>
        <p:spPr>
          <a:xfrm>
            <a:off x="5572489" y="6390042"/>
            <a:ext cx="1047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 que?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4B707F-EEDC-6E13-54FD-1446715AF5FE}"/>
              </a:ext>
            </a:extLst>
          </p:cNvPr>
          <p:cNvCxnSpPr>
            <a:cxnSpLocks/>
          </p:cNvCxnSpPr>
          <p:nvPr/>
        </p:nvCxnSpPr>
        <p:spPr>
          <a:xfrm flipH="1" flipV="1">
            <a:off x="3306670" y="2146588"/>
            <a:ext cx="1995542" cy="1188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6DF86E7-06AB-3BB0-DF82-7ADC16F0FE95}"/>
              </a:ext>
            </a:extLst>
          </p:cNvPr>
          <p:cNvSpPr txBox="1"/>
          <p:nvPr/>
        </p:nvSpPr>
        <p:spPr>
          <a:xfrm>
            <a:off x="2178490" y="1908133"/>
            <a:ext cx="1214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GraphOne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795089-49BC-0EC2-F061-CCAA9C6FE4C0}"/>
              </a:ext>
            </a:extLst>
          </p:cNvPr>
          <p:cNvSpPr txBox="1"/>
          <p:nvPr/>
        </p:nvSpPr>
        <p:spPr>
          <a:xfrm>
            <a:off x="10159999" y="3428997"/>
            <a:ext cx="1257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LiveGraph</a:t>
            </a:r>
            <a:r>
              <a:rPr lang="en-US" dirty="0"/>
              <a:t>,</a:t>
            </a:r>
          </a:p>
          <a:p>
            <a:r>
              <a:rPr lang="en-US" dirty="0"/>
              <a:t>Graph DBs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2685D1-3E87-86B0-A6AF-44EAD9EAB79F}"/>
              </a:ext>
            </a:extLst>
          </p:cNvPr>
          <p:cNvCxnSpPr/>
          <p:nvPr/>
        </p:nvCxnSpPr>
        <p:spPr>
          <a:xfrm flipV="1">
            <a:off x="6954818" y="467953"/>
            <a:ext cx="1091901" cy="839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8F50818-07ED-3534-9820-5613212EF0FF}"/>
              </a:ext>
            </a:extLst>
          </p:cNvPr>
          <p:cNvSpPr txBox="1"/>
          <p:nvPr/>
        </p:nvSpPr>
        <p:spPr>
          <a:xfrm>
            <a:off x="8229600" y="306593"/>
            <a:ext cx="2992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ASPEN, STINGER, …</a:t>
            </a:r>
            <a:br>
              <a:rPr lang="en-US" dirty="0"/>
            </a:br>
            <a:r>
              <a:rPr lang="en-US" dirty="0"/>
              <a:t>(RW, structural graph, no TX)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33055C-95B8-37AD-6B9C-B91CD887CA04}"/>
              </a:ext>
            </a:extLst>
          </p:cNvPr>
          <p:cNvCxnSpPr/>
          <p:nvPr/>
        </p:nvCxnSpPr>
        <p:spPr>
          <a:xfrm flipH="1">
            <a:off x="2415092" y="4437529"/>
            <a:ext cx="1027355" cy="451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736F759-4700-CCF1-9DF9-09781851E427}"/>
              </a:ext>
            </a:extLst>
          </p:cNvPr>
          <p:cNvSpPr txBox="1"/>
          <p:nvPr/>
        </p:nvSpPr>
        <p:spPr>
          <a:xfrm>
            <a:off x="1298167" y="4889351"/>
            <a:ext cx="2051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Snapshots/Dumps</a:t>
            </a:r>
            <a:br>
              <a:rPr lang="en-US" dirty="0"/>
            </a:br>
            <a:r>
              <a:rPr lang="en-US" dirty="0"/>
              <a:t>of Property Graphs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DBA8BC-F6F1-75E1-E1E7-A3D5B3A1C400}"/>
              </a:ext>
            </a:extLst>
          </p:cNvPr>
          <p:cNvCxnSpPr/>
          <p:nvPr/>
        </p:nvCxnSpPr>
        <p:spPr>
          <a:xfrm>
            <a:off x="6241227" y="3751728"/>
            <a:ext cx="39187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70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92B49E3-7A52-B346-288B-B4370299E784}"/>
              </a:ext>
            </a:extLst>
          </p:cNvPr>
          <p:cNvSpPr/>
          <p:nvPr/>
        </p:nvSpPr>
        <p:spPr>
          <a:xfrm>
            <a:off x="3394152" y="727152"/>
            <a:ext cx="5403696" cy="54036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Labeled Property Graph in Transactional R/W Database</a:t>
            </a:r>
          </a:p>
        </p:txBody>
      </p:sp>
    </p:spTree>
    <p:extLst>
      <p:ext uri="{BB962C8B-B14F-4D97-AF65-F5344CB8AC3E}">
        <p14:creationId xmlns:p14="http://schemas.microsoft.com/office/powerpoint/2010/main" val="2069129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92B49E3-7A52-B346-288B-B4370299E784}"/>
              </a:ext>
            </a:extLst>
          </p:cNvPr>
          <p:cNvSpPr/>
          <p:nvPr/>
        </p:nvSpPr>
        <p:spPr>
          <a:xfrm>
            <a:off x="2534266" y="2078076"/>
            <a:ext cx="2701848" cy="270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Labeled Property Graph in Transactional R/W Database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9FAAC54-FEF4-50D7-4765-AA8EFF3398E2}"/>
              </a:ext>
            </a:extLst>
          </p:cNvPr>
          <p:cNvSpPr/>
          <p:nvPr/>
        </p:nvSpPr>
        <p:spPr>
          <a:xfrm>
            <a:off x="7370895" y="2078076"/>
            <a:ext cx="2701848" cy="270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Structural Graph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55489E7-90DC-9584-BA00-53B05AB50BEA}"/>
              </a:ext>
            </a:extLst>
          </p:cNvPr>
          <p:cNvSpPr/>
          <p:nvPr/>
        </p:nvSpPr>
        <p:spPr>
          <a:xfrm>
            <a:off x="5464408" y="3289150"/>
            <a:ext cx="1678193" cy="2796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5FE19-7D3B-F680-15A0-B80205E96433}"/>
              </a:ext>
            </a:extLst>
          </p:cNvPr>
          <p:cNvSpPr txBox="1"/>
          <p:nvPr/>
        </p:nvSpPr>
        <p:spPr>
          <a:xfrm>
            <a:off x="5602158" y="2922507"/>
            <a:ext cx="1402692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Materialized</a:t>
            </a:r>
            <a:br>
              <a:rPr lang="en-US" dirty="0"/>
            </a:br>
            <a:r>
              <a:rPr lang="en-US" dirty="0"/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3263261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9FAAC54-FEF4-50D7-4765-AA8EFF3398E2}"/>
              </a:ext>
            </a:extLst>
          </p:cNvPr>
          <p:cNvSpPr/>
          <p:nvPr/>
        </p:nvSpPr>
        <p:spPr>
          <a:xfrm>
            <a:off x="1307280" y="2078076"/>
            <a:ext cx="2701848" cy="270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Structural Graph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55624C-4083-F542-D13F-E642CC5883F8}"/>
              </a:ext>
            </a:extLst>
          </p:cNvPr>
          <p:cNvSpPr/>
          <p:nvPr/>
        </p:nvSpPr>
        <p:spPr>
          <a:xfrm>
            <a:off x="4745076" y="3996411"/>
            <a:ext cx="2701848" cy="270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Read-Write (Dynamic)</a:t>
            </a:r>
            <a:br>
              <a:rPr lang="en-US" dirty="0"/>
            </a:br>
            <a:r>
              <a:rPr lang="en-US" dirty="0"/>
              <a:t>Structural Graph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E2A72F-610E-AC87-C569-C99A1FE652E0}"/>
              </a:ext>
            </a:extLst>
          </p:cNvPr>
          <p:cNvSpPr/>
          <p:nvPr/>
        </p:nvSpPr>
        <p:spPr>
          <a:xfrm>
            <a:off x="4745076" y="159741"/>
            <a:ext cx="2701848" cy="270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Read- Only (Static)</a:t>
            </a:r>
            <a:br>
              <a:rPr lang="en-US" dirty="0"/>
            </a:br>
            <a:r>
              <a:rPr lang="en-US" dirty="0"/>
              <a:t>Static Graph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8E6892-EE11-1742-D7C8-916EA2FEBD1E}"/>
              </a:ext>
            </a:extLst>
          </p:cNvPr>
          <p:cNvCxnSpPr>
            <a:stCxn id="2" idx="7"/>
            <a:endCxn id="7" idx="2"/>
          </p:cNvCxnSpPr>
          <p:nvPr/>
        </p:nvCxnSpPr>
        <p:spPr>
          <a:xfrm flipV="1">
            <a:off x="3613452" y="1510665"/>
            <a:ext cx="1131624" cy="96308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D87A91-CB47-5104-AFE9-AF96787262E5}"/>
              </a:ext>
            </a:extLst>
          </p:cNvPr>
          <p:cNvCxnSpPr>
            <a:stCxn id="2" idx="5"/>
            <a:endCxn id="6" idx="2"/>
          </p:cNvCxnSpPr>
          <p:nvPr/>
        </p:nvCxnSpPr>
        <p:spPr>
          <a:xfrm>
            <a:off x="3613452" y="4384248"/>
            <a:ext cx="1131624" cy="96308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93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8F9BDA60-070B-2B31-D28F-3E01D80E9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092" y="0"/>
            <a:ext cx="3963666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655624C-4083-F542-D13F-E642CC5883F8}"/>
              </a:ext>
            </a:extLst>
          </p:cNvPr>
          <p:cNvSpPr/>
          <p:nvPr/>
        </p:nvSpPr>
        <p:spPr>
          <a:xfrm>
            <a:off x="355956" y="3554730"/>
            <a:ext cx="2701848" cy="270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Read-Write (Dynamic)</a:t>
            </a:r>
            <a:br>
              <a:rPr lang="en-US" dirty="0"/>
            </a:br>
            <a:r>
              <a:rPr lang="en-US" dirty="0"/>
              <a:t>Structural Graph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9444DBB5-3F4D-37AD-47D4-A36171863A17}"/>
              </a:ext>
            </a:extLst>
          </p:cNvPr>
          <p:cNvSpPr/>
          <p:nvPr/>
        </p:nvSpPr>
        <p:spPr>
          <a:xfrm>
            <a:off x="1588770" y="611505"/>
            <a:ext cx="6703695" cy="5823585"/>
          </a:xfrm>
          <a:custGeom>
            <a:avLst/>
            <a:gdLst>
              <a:gd name="connsiteX0" fmla="*/ 0 w 5326380"/>
              <a:gd name="connsiteY0" fmla="*/ 6069330 h 6069330"/>
              <a:gd name="connsiteX1" fmla="*/ 1331595 w 5326380"/>
              <a:gd name="connsiteY1" fmla="*/ 0 h 6069330"/>
              <a:gd name="connsiteX2" fmla="*/ 3994785 w 5326380"/>
              <a:gd name="connsiteY2" fmla="*/ 0 h 6069330"/>
              <a:gd name="connsiteX3" fmla="*/ 5326380 w 5326380"/>
              <a:gd name="connsiteY3" fmla="*/ 6069330 h 6069330"/>
              <a:gd name="connsiteX4" fmla="*/ 0 w 5326380"/>
              <a:gd name="connsiteY4" fmla="*/ 6069330 h 6069330"/>
              <a:gd name="connsiteX0" fmla="*/ 0 w 5332095"/>
              <a:gd name="connsiteY0" fmla="*/ 6069330 h 6069330"/>
              <a:gd name="connsiteX1" fmla="*/ 1331595 w 5332095"/>
              <a:gd name="connsiteY1" fmla="*/ 0 h 6069330"/>
              <a:gd name="connsiteX2" fmla="*/ 5332095 w 5332095"/>
              <a:gd name="connsiteY2" fmla="*/ 405765 h 6069330"/>
              <a:gd name="connsiteX3" fmla="*/ 5326380 w 5332095"/>
              <a:gd name="connsiteY3" fmla="*/ 6069330 h 6069330"/>
              <a:gd name="connsiteX4" fmla="*/ 0 w 5332095"/>
              <a:gd name="connsiteY4" fmla="*/ 6069330 h 6069330"/>
              <a:gd name="connsiteX0" fmla="*/ 0 w 6703695"/>
              <a:gd name="connsiteY0" fmla="*/ 2926080 h 6069330"/>
              <a:gd name="connsiteX1" fmla="*/ 2703195 w 6703695"/>
              <a:gd name="connsiteY1" fmla="*/ 0 h 6069330"/>
              <a:gd name="connsiteX2" fmla="*/ 6703695 w 6703695"/>
              <a:gd name="connsiteY2" fmla="*/ 405765 h 6069330"/>
              <a:gd name="connsiteX3" fmla="*/ 6697980 w 6703695"/>
              <a:gd name="connsiteY3" fmla="*/ 6069330 h 6069330"/>
              <a:gd name="connsiteX4" fmla="*/ 0 w 6703695"/>
              <a:gd name="connsiteY4" fmla="*/ 2926080 h 6069330"/>
              <a:gd name="connsiteX0" fmla="*/ 0 w 6703695"/>
              <a:gd name="connsiteY0" fmla="*/ 2680335 h 5823585"/>
              <a:gd name="connsiteX1" fmla="*/ 120015 w 6703695"/>
              <a:gd name="connsiteY1" fmla="*/ 0 h 5823585"/>
              <a:gd name="connsiteX2" fmla="*/ 6703695 w 6703695"/>
              <a:gd name="connsiteY2" fmla="*/ 160020 h 5823585"/>
              <a:gd name="connsiteX3" fmla="*/ 6697980 w 6703695"/>
              <a:gd name="connsiteY3" fmla="*/ 5823585 h 5823585"/>
              <a:gd name="connsiteX4" fmla="*/ 0 w 6703695"/>
              <a:gd name="connsiteY4" fmla="*/ 2680335 h 582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3695" h="5823585">
                <a:moveTo>
                  <a:pt x="0" y="2680335"/>
                </a:moveTo>
                <a:lnTo>
                  <a:pt x="120015" y="0"/>
                </a:lnTo>
                <a:lnTo>
                  <a:pt x="6703695" y="160020"/>
                </a:lnTo>
                <a:lnTo>
                  <a:pt x="6697980" y="5823585"/>
                </a:lnTo>
                <a:lnTo>
                  <a:pt x="0" y="2680335"/>
                </a:lnTo>
                <a:close/>
              </a:path>
            </a:pathLst>
          </a:custGeom>
          <a:solidFill>
            <a:schemeClr val="accent1">
              <a:alpha val="12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E2A72F-610E-AC87-C569-C99A1FE652E0}"/>
              </a:ext>
            </a:extLst>
          </p:cNvPr>
          <p:cNvSpPr/>
          <p:nvPr/>
        </p:nvSpPr>
        <p:spPr>
          <a:xfrm>
            <a:off x="355956" y="601422"/>
            <a:ext cx="2701848" cy="270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Read- Only (Static)</a:t>
            </a:r>
            <a:br>
              <a:rPr lang="en-US" dirty="0"/>
            </a:br>
            <a:r>
              <a:rPr lang="en-US" dirty="0"/>
              <a:t>Static Graph</a:t>
            </a:r>
          </a:p>
        </p:txBody>
      </p:sp>
    </p:spTree>
    <p:extLst>
      <p:ext uri="{BB962C8B-B14F-4D97-AF65-F5344CB8AC3E}">
        <p14:creationId xmlns:p14="http://schemas.microsoft.com/office/powerpoint/2010/main" val="3051656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9655624C-4083-F542-D13F-E642CC5883F8}"/>
              </a:ext>
            </a:extLst>
          </p:cNvPr>
          <p:cNvSpPr/>
          <p:nvPr/>
        </p:nvSpPr>
        <p:spPr>
          <a:xfrm>
            <a:off x="333096" y="2078076"/>
            <a:ext cx="2701848" cy="270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Read-Write (Dynamic)</a:t>
            </a:r>
            <a:br>
              <a:rPr lang="en-US" dirty="0"/>
            </a:br>
            <a:r>
              <a:rPr lang="en-US" dirty="0"/>
              <a:t>Structural Graph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BD72CF-B9D9-F5B5-8E6B-CC9810911850}"/>
              </a:ext>
            </a:extLst>
          </p:cNvPr>
          <p:cNvCxnSpPr>
            <a:cxnSpLocks/>
            <a:stCxn id="6" idx="7"/>
            <a:endCxn id="2" idx="2"/>
          </p:cNvCxnSpPr>
          <p:nvPr/>
        </p:nvCxnSpPr>
        <p:spPr>
          <a:xfrm flipV="1">
            <a:off x="2639268" y="1526044"/>
            <a:ext cx="1686708" cy="9477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diagram of a graph&#10;&#10;Description automatically generated">
            <a:extLst>
              <a:ext uri="{FF2B5EF4-FFF2-40B4-BE49-F238E27FC236}">
                <a16:creationId xmlns:a16="http://schemas.microsoft.com/office/drawing/2014/main" id="{D481FB6F-DDE6-57D9-F46B-72B1EC182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213" y="-1"/>
            <a:ext cx="3789325" cy="6411403"/>
          </a:xfrm>
          <a:prstGeom prst="rect">
            <a:avLst/>
          </a:prstGeom>
        </p:spPr>
      </p:pic>
      <p:sp>
        <p:nvSpPr>
          <p:cNvPr id="12" name="Trapezoid 11">
            <a:extLst>
              <a:ext uri="{FF2B5EF4-FFF2-40B4-BE49-F238E27FC236}">
                <a16:creationId xmlns:a16="http://schemas.microsoft.com/office/drawing/2014/main" id="{18BC018C-BFF5-5F03-EE19-A90C3DFAF397}"/>
              </a:ext>
            </a:extLst>
          </p:cNvPr>
          <p:cNvSpPr/>
          <p:nvPr/>
        </p:nvSpPr>
        <p:spPr>
          <a:xfrm>
            <a:off x="4629136" y="834533"/>
            <a:ext cx="6580329" cy="4705149"/>
          </a:xfrm>
          <a:custGeom>
            <a:avLst/>
            <a:gdLst>
              <a:gd name="connsiteX0" fmla="*/ 0 w 2303930"/>
              <a:gd name="connsiteY0" fmla="*/ 1693823 h 1693823"/>
              <a:gd name="connsiteX1" fmla="*/ 423456 w 2303930"/>
              <a:gd name="connsiteY1" fmla="*/ 0 h 1693823"/>
              <a:gd name="connsiteX2" fmla="*/ 1880474 w 2303930"/>
              <a:gd name="connsiteY2" fmla="*/ 0 h 1693823"/>
              <a:gd name="connsiteX3" fmla="*/ 2303930 w 2303930"/>
              <a:gd name="connsiteY3" fmla="*/ 1693823 h 1693823"/>
              <a:gd name="connsiteX4" fmla="*/ 0 w 2303930"/>
              <a:gd name="connsiteY4" fmla="*/ 1693823 h 1693823"/>
              <a:gd name="connsiteX0" fmla="*/ 0 w 6463553"/>
              <a:gd name="connsiteY0" fmla="*/ 1693823 h 2688906"/>
              <a:gd name="connsiteX1" fmla="*/ 423456 w 6463553"/>
              <a:gd name="connsiteY1" fmla="*/ 0 h 2688906"/>
              <a:gd name="connsiteX2" fmla="*/ 1880474 w 6463553"/>
              <a:gd name="connsiteY2" fmla="*/ 0 h 2688906"/>
              <a:gd name="connsiteX3" fmla="*/ 6463553 w 6463553"/>
              <a:gd name="connsiteY3" fmla="*/ 2688906 h 2688906"/>
              <a:gd name="connsiteX4" fmla="*/ 0 w 6463553"/>
              <a:gd name="connsiteY4" fmla="*/ 1693823 h 2688906"/>
              <a:gd name="connsiteX0" fmla="*/ 2911415 w 6040097"/>
              <a:gd name="connsiteY0" fmla="*/ 2688906 h 2688906"/>
              <a:gd name="connsiteX1" fmla="*/ 0 w 6040097"/>
              <a:gd name="connsiteY1" fmla="*/ 0 h 2688906"/>
              <a:gd name="connsiteX2" fmla="*/ 1457018 w 6040097"/>
              <a:gd name="connsiteY2" fmla="*/ 0 h 2688906"/>
              <a:gd name="connsiteX3" fmla="*/ 6040097 w 6040097"/>
              <a:gd name="connsiteY3" fmla="*/ 2688906 h 2688906"/>
              <a:gd name="connsiteX4" fmla="*/ 2911415 w 6040097"/>
              <a:gd name="connsiteY4" fmla="*/ 2688906 h 2688906"/>
              <a:gd name="connsiteX0" fmla="*/ 2911415 w 6040097"/>
              <a:gd name="connsiteY0" fmla="*/ 4849400 h 4849400"/>
              <a:gd name="connsiteX1" fmla="*/ 0 w 6040097"/>
              <a:gd name="connsiteY1" fmla="*/ 2160494 h 4849400"/>
              <a:gd name="connsiteX2" fmla="*/ 721912 w 6040097"/>
              <a:gd name="connsiteY2" fmla="*/ 0 h 4849400"/>
              <a:gd name="connsiteX3" fmla="*/ 6040097 w 6040097"/>
              <a:gd name="connsiteY3" fmla="*/ 4849400 h 4849400"/>
              <a:gd name="connsiteX4" fmla="*/ 2911415 w 6040097"/>
              <a:gd name="connsiteY4" fmla="*/ 4849400 h 4849400"/>
              <a:gd name="connsiteX0" fmla="*/ 2848662 w 5977344"/>
              <a:gd name="connsiteY0" fmla="*/ 4849400 h 4849400"/>
              <a:gd name="connsiteX1" fmla="*/ 0 w 5977344"/>
              <a:gd name="connsiteY1" fmla="*/ 1810871 h 4849400"/>
              <a:gd name="connsiteX2" fmla="*/ 659159 w 5977344"/>
              <a:gd name="connsiteY2" fmla="*/ 0 h 4849400"/>
              <a:gd name="connsiteX3" fmla="*/ 5977344 w 5977344"/>
              <a:gd name="connsiteY3" fmla="*/ 4849400 h 4849400"/>
              <a:gd name="connsiteX4" fmla="*/ 2848662 w 5977344"/>
              <a:gd name="connsiteY4" fmla="*/ 4849400 h 4849400"/>
              <a:gd name="connsiteX0" fmla="*/ 2848662 w 5977344"/>
              <a:gd name="connsiteY0" fmla="*/ 3612270 h 3612270"/>
              <a:gd name="connsiteX1" fmla="*/ 0 w 5977344"/>
              <a:gd name="connsiteY1" fmla="*/ 573741 h 3612270"/>
              <a:gd name="connsiteX2" fmla="*/ 1017747 w 5977344"/>
              <a:gd name="connsiteY2" fmla="*/ 0 h 3612270"/>
              <a:gd name="connsiteX3" fmla="*/ 5977344 w 5977344"/>
              <a:gd name="connsiteY3" fmla="*/ 3612270 h 3612270"/>
              <a:gd name="connsiteX4" fmla="*/ 2848662 w 5977344"/>
              <a:gd name="connsiteY4" fmla="*/ 3612270 h 3612270"/>
              <a:gd name="connsiteX0" fmla="*/ 2848662 w 5977344"/>
              <a:gd name="connsiteY0" fmla="*/ 4499776 h 4499776"/>
              <a:gd name="connsiteX1" fmla="*/ 0 w 5977344"/>
              <a:gd name="connsiteY1" fmla="*/ 1461247 h 4499776"/>
              <a:gd name="connsiteX2" fmla="*/ 963958 w 5977344"/>
              <a:gd name="connsiteY2" fmla="*/ 0 h 4499776"/>
              <a:gd name="connsiteX3" fmla="*/ 5977344 w 5977344"/>
              <a:gd name="connsiteY3" fmla="*/ 4499776 h 4499776"/>
              <a:gd name="connsiteX4" fmla="*/ 2848662 w 5977344"/>
              <a:gd name="connsiteY4" fmla="*/ 4499776 h 4499776"/>
              <a:gd name="connsiteX0" fmla="*/ 3117603 w 6246285"/>
              <a:gd name="connsiteY0" fmla="*/ 4499776 h 4499776"/>
              <a:gd name="connsiteX1" fmla="*/ 0 w 6246285"/>
              <a:gd name="connsiteY1" fmla="*/ 1398494 h 4499776"/>
              <a:gd name="connsiteX2" fmla="*/ 1232899 w 6246285"/>
              <a:gd name="connsiteY2" fmla="*/ 0 h 4499776"/>
              <a:gd name="connsiteX3" fmla="*/ 6246285 w 6246285"/>
              <a:gd name="connsiteY3" fmla="*/ 4499776 h 4499776"/>
              <a:gd name="connsiteX4" fmla="*/ 3117603 w 6246285"/>
              <a:gd name="connsiteY4" fmla="*/ 4499776 h 4499776"/>
              <a:gd name="connsiteX0" fmla="*/ 3117603 w 6246285"/>
              <a:gd name="connsiteY0" fmla="*/ 4885258 h 4885258"/>
              <a:gd name="connsiteX1" fmla="*/ 0 w 6246285"/>
              <a:gd name="connsiteY1" fmla="*/ 1783976 h 4885258"/>
              <a:gd name="connsiteX2" fmla="*/ 829488 w 6246285"/>
              <a:gd name="connsiteY2" fmla="*/ 0 h 4885258"/>
              <a:gd name="connsiteX3" fmla="*/ 6246285 w 6246285"/>
              <a:gd name="connsiteY3" fmla="*/ 4885258 h 4885258"/>
              <a:gd name="connsiteX4" fmla="*/ 3117603 w 6246285"/>
              <a:gd name="connsiteY4" fmla="*/ 4885258 h 4885258"/>
              <a:gd name="connsiteX0" fmla="*/ 3521015 w 6649697"/>
              <a:gd name="connsiteY0" fmla="*/ 4885258 h 4885258"/>
              <a:gd name="connsiteX1" fmla="*/ 0 w 6649697"/>
              <a:gd name="connsiteY1" fmla="*/ 1541929 h 4885258"/>
              <a:gd name="connsiteX2" fmla="*/ 1232900 w 6649697"/>
              <a:gd name="connsiteY2" fmla="*/ 0 h 4885258"/>
              <a:gd name="connsiteX3" fmla="*/ 6649697 w 6649697"/>
              <a:gd name="connsiteY3" fmla="*/ 4885258 h 4885258"/>
              <a:gd name="connsiteX4" fmla="*/ 3521015 w 6649697"/>
              <a:gd name="connsiteY4" fmla="*/ 4885258 h 4885258"/>
              <a:gd name="connsiteX0" fmla="*/ 3521015 w 6649697"/>
              <a:gd name="connsiteY0" fmla="*/ 4607352 h 4607352"/>
              <a:gd name="connsiteX1" fmla="*/ 0 w 6649697"/>
              <a:gd name="connsiteY1" fmla="*/ 1264023 h 4607352"/>
              <a:gd name="connsiteX2" fmla="*/ 1555629 w 6649697"/>
              <a:gd name="connsiteY2" fmla="*/ 0 h 4607352"/>
              <a:gd name="connsiteX3" fmla="*/ 6649697 w 6649697"/>
              <a:gd name="connsiteY3" fmla="*/ 4607352 h 4607352"/>
              <a:gd name="connsiteX4" fmla="*/ 3521015 w 6649697"/>
              <a:gd name="connsiteY4" fmla="*/ 4607352 h 4607352"/>
              <a:gd name="connsiteX0" fmla="*/ 3451647 w 6580329"/>
              <a:gd name="connsiteY0" fmla="*/ 4607352 h 4607352"/>
              <a:gd name="connsiteX1" fmla="*/ 0 w 6580329"/>
              <a:gd name="connsiteY1" fmla="*/ 1308166 h 4607352"/>
              <a:gd name="connsiteX2" fmla="*/ 1486261 w 6580329"/>
              <a:gd name="connsiteY2" fmla="*/ 0 h 4607352"/>
              <a:gd name="connsiteX3" fmla="*/ 6580329 w 6580329"/>
              <a:gd name="connsiteY3" fmla="*/ 4607352 h 4607352"/>
              <a:gd name="connsiteX4" fmla="*/ 3451647 w 6580329"/>
              <a:gd name="connsiteY4" fmla="*/ 4607352 h 4607352"/>
              <a:gd name="connsiteX0" fmla="*/ 3451647 w 6580329"/>
              <a:gd name="connsiteY0" fmla="*/ 4705149 h 4705149"/>
              <a:gd name="connsiteX1" fmla="*/ 0 w 6580329"/>
              <a:gd name="connsiteY1" fmla="*/ 1405963 h 4705149"/>
              <a:gd name="connsiteX2" fmla="*/ 1417804 w 6580329"/>
              <a:gd name="connsiteY2" fmla="*/ 0 h 4705149"/>
              <a:gd name="connsiteX3" fmla="*/ 6580329 w 6580329"/>
              <a:gd name="connsiteY3" fmla="*/ 4705149 h 4705149"/>
              <a:gd name="connsiteX4" fmla="*/ 3451647 w 6580329"/>
              <a:gd name="connsiteY4" fmla="*/ 4705149 h 4705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0329" h="4705149">
                <a:moveTo>
                  <a:pt x="3451647" y="4705149"/>
                </a:moveTo>
                <a:lnTo>
                  <a:pt x="0" y="1405963"/>
                </a:lnTo>
                <a:lnTo>
                  <a:pt x="1417804" y="0"/>
                </a:lnTo>
                <a:lnTo>
                  <a:pt x="6580329" y="4705149"/>
                </a:lnTo>
                <a:lnTo>
                  <a:pt x="3451647" y="4705149"/>
                </a:lnTo>
                <a:close/>
              </a:path>
            </a:pathLst>
          </a:custGeom>
          <a:solidFill>
            <a:schemeClr val="accent1">
              <a:alpha val="1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E7AC2DA-3432-1758-67A9-C4D467082987}"/>
              </a:ext>
            </a:extLst>
          </p:cNvPr>
          <p:cNvSpPr/>
          <p:nvPr/>
        </p:nvSpPr>
        <p:spPr>
          <a:xfrm>
            <a:off x="4325976" y="525779"/>
            <a:ext cx="2000529" cy="2000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Non - Transactional</a:t>
            </a:r>
          </a:p>
        </p:txBody>
      </p:sp>
    </p:spTree>
    <p:extLst>
      <p:ext uri="{BB962C8B-B14F-4D97-AF65-F5344CB8AC3E}">
        <p14:creationId xmlns:p14="http://schemas.microsoft.com/office/powerpoint/2010/main" val="3389208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9655624C-4083-F542-D13F-E642CC5883F8}"/>
              </a:ext>
            </a:extLst>
          </p:cNvPr>
          <p:cNvSpPr/>
          <p:nvPr/>
        </p:nvSpPr>
        <p:spPr>
          <a:xfrm>
            <a:off x="333096" y="2078076"/>
            <a:ext cx="2701848" cy="270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Read-Write (Dynamic)</a:t>
            </a:r>
            <a:br>
              <a:rPr lang="en-US" dirty="0"/>
            </a:br>
            <a:r>
              <a:rPr lang="en-US" dirty="0"/>
              <a:t>Structural Graph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BD72CF-B9D9-F5B5-8E6B-CC9810911850}"/>
              </a:ext>
            </a:extLst>
          </p:cNvPr>
          <p:cNvCxnSpPr>
            <a:cxnSpLocks/>
            <a:stCxn id="6" idx="7"/>
            <a:endCxn id="2" idx="2"/>
          </p:cNvCxnSpPr>
          <p:nvPr/>
        </p:nvCxnSpPr>
        <p:spPr>
          <a:xfrm flipV="1">
            <a:off x="2639268" y="1526044"/>
            <a:ext cx="1686708" cy="9477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E7AC2DA-3432-1758-67A9-C4D467082987}"/>
              </a:ext>
            </a:extLst>
          </p:cNvPr>
          <p:cNvSpPr/>
          <p:nvPr/>
        </p:nvSpPr>
        <p:spPr>
          <a:xfrm>
            <a:off x="4325976" y="525779"/>
            <a:ext cx="2000529" cy="2000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Non - Transactional</a:t>
            </a:r>
          </a:p>
        </p:txBody>
      </p:sp>
      <p:pic>
        <p:nvPicPr>
          <p:cNvPr id="5" name="Picture 4" descr="A diagram of graphs and text&#10;&#10;Description automatically generated with medium confidence">
            <a:extLst>
              <a:ext uri="{FF2B5EF4-FFF2-40B4-BE49-F238E27FC236}">
                <a16:creationId xmlns:a16="http://schemas.microsoft.com/office/drawing/2014/main" id="{7E845FBF-F39F-DD9A-7E1A-014ADE3BA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66" y="479593"/>
            <a:ext cx="5083531" cy="589881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BDF8FE-DF70-F023-7AA8-47B1662DA5FB}"/>
              </a:ext>
            </a:extLst>
          </p:cNvPr>
          <p:cNvCxnSpPr>
            <a:stCxn id="6" idx="5"/>
            <a:endCxn id="3" idx="2"/>
          </p:cNvCxnSpPr>
          <p:nvPr/>
        </p:nvCxnSpPr>
        <p:spPr>
          <a:xfrm>
            <a:off x="2639268" y="4384248"/>
            <a:ext cx="1686707" cy="9477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1D68A7B-CDE1-0740-478D-EB5FE16D8D8E}"/>
              </a:ext>
            </a:extLst>
          </p:cNvPr>
          <p:cNvSpPr/>
          <p:nvPr/>
        </p:nvSpPr>
        <p:spPr>
          <a:xfrm>
            <a:off x="7189513" y="1014186"/>
            <a:ext cx="1432192" cy="4775177"/>
          </a:xfrm>
          <a:custGeom>
            <a:avLst/>
            <a:gdLst>
              <a:gd name="connsiteX0" fmla="*/ 0 w 1421176"/>
              <a:gd name="connsiteY0" fmla="*/ 0 h 4494882"/>
              <a:gd name="connsiteX1" fmla="*/ 1421176 w 1421176"/>
              <a:gd name="connsiteY1" fmla="*/ 0 h 4494882"/>
              <a:gd name="connsiteX2" fmla="*/ 1421176 w 1421176"/>
              <a:gd name="connsiteY2" fmla="*/ 4494882 h 4494882"/>
              <a:gd name="connsiteX3" fmla="*/ 0 w 1421176"/>
              <a:gd name="connsiteY3" fmla="*/ 4494882 h 4494882"/>
              <a:gd name="connsiteX4" fmla="*/ 0 w 1421176"/>
              <a:gd name="connsiteY4" fmla="*/ 0 h 4494882"/>
              <a:gd name="connsiteX0" fmla="*/ 0 w 1432192"/>
              <a:gd name="connsiteY0" fmla="*/ 11017 h 4494882"/>
              <a:gd name="connsiteX1" fmla="*/ 1432192 w 1432192"/>
              <a:gd name="connsiteY1" fmla="*/ 0 h 4494882"/>
              <a:gd name="connsiteX2" fmla="*/ 1432192 w 1432192"/>
              <a:gd name="connsiteY2" fmla="*/ 4494882 h 4494882"/>
              <a:gd name="connsiteX3" fmla="*/ 11016 w 1432192"/>
              <a:gd name="connsiteY3" fmla="*/ 4494882 h 4494882"/>
              <a:gd name="connsiteX4" fmla="*/ 0 w 1432192"/>
              <a:gd name="connsiteY4" fmla="*/ 11017 h 4494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2192" h="4494882">
                <a:moveTo>
                  <a:pt x="0" y="11017"/>
                </a:moveTo>
                <a:lnTo>
                  <a:pt x="1432192" y="0"/>
                </a:lnTo>
                <a:lnTo>
                  <a:pt x="1432192" y="4494882"/>
                </a:lnTo>
                <a:lnTo>
                  <a:pt x="11016" y="4494882"/>
                </a:lnTo>
                <a:lnTo>
                  <a:pt x="0" y="11017"/>
                </a:lnTo>
                <a:close/>
              </a:path>
            </a:pathLst>
          </a:custGeom>
          <a:solidFill>
            <a:schemeClr val="accent1">
              <a:alpha val="1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D9EA2083-361A-4079-8D3F-012958BFD73A}"/>
              </a:ext>
            </a:extLst>
          </p:cNvPr>
          <p:cNvSpPr/>
          <p:nvPr/>
        </p:nvSpPr>
        <p:spPr>
          <a:xfrm>
            <a:off x="5132668" y="1031951"/>
            <a:ext cx="2063911" cy="5245817"/>
          </a:xfrm>
          <a:custGeom>
            <a:avLst/>
            <a:gdLst>
              <a:gd name="connsiteX0" fmla="*/ 0 w 1684727"/>
              <a:gd name="connsiteY0" fmla="*/ 1429102 h 1429102"/>
              <a:gd name="connsiteX1" fmla="*/ 357276 w 1684727"/>
              <a:gd name="connsiteY1" fmla="*/ 0 h 1429102"/>
              <a:gd name="connsiteX2" fmla="*/ 1327452 w 1684727"/>
              <a:gd name="connsiteY2" fmla="*/ 0 h 1429102"/>
              <a:gd name="connsiteX3" fmla="*/ 1684727 w 1684727"/>
              <a:gd name="connsiteY3" fmla="*/ 1429102 h 1429102"/>
              <a:gd name="connsiteX4" fmla="*/ 0 w 1684727"/>
              <a:gd name="connsiteY4" fmla="*/ 1429102 h 1429102"/>
              <a:gd name="connsiteX0" fmla="*/ 0 w 1878295"/>
              <a:gd name="connsiteY0" fmla="*/ 3797729 h 3797729"/>
              <a:gd name="connsiteX1" fmla="*/ 357276 w 1878295"/>
              <a:gd name="connsiteY1" fmla="*/ 2368627 h 3797729"/>
              <a:gd name="connsiteX2" fmla="*/ 1878295 w 1878295"/>
              <a:gd name="connsiteY2" fmla="*/ 0 h 3797729"/>
              <a:gd name="connsiteX3" fmla="*/ 1684727 w 1878295"/>
              <a:gd name="connsiteY3" fmla="*/ 3797729 h 3797729"/>
              <a:gd name="connsiteX4" fmla="*/ 0 w 1878295"/>
              <a:gd name="connsiteY4" fmla="*/ 3797729 h 3797729"/>
              <a:gd name="connsiteX0" fmla="*/ 0 w 1883031"/>
              <a:gd name="connsiteY0" fmla="*/ 3797729 h 4502808"/>
              <a:gd name="connsiteX1" fmla="*/ 357276 w 1883031"/>
              <a:gd name="connsiteY1" fmla="*/ 2368627 h 4502808"/>
              <a:gd name="connsiteX2" fmla="*/ 1878295 w 1883031"/>
              <a:gd name="connsiteY2" fmla="*/ 0 h 4502808"/>
              <a:gd name="connsiteX3" fmla="*/ 1883031 w 1883031"/>
              <a:gd name="connsiteY3" fmla="*/ 4502808 h 4502808"/>
              <a:gd name="connsiteX4" fmla="*/ 0 w 1883031"/>
              <a:gd name="connsiteY4" fmla="*/ 3797729 h 4502808"/>
              <a:gd name="connsiteX0" fmla="*/ 0 w 1530491"/>
              <a:gd name="connsiteY0" fmla="*/ 5229921 h 5229921"/>
              <a:gd name="connsiteX1" fmla="*/ 4736 w 1530491"/>
              <a:gd name="connsiteY1" fmla="*/ 2368627 h 5229921"/>
              <a:gd name="connsiteX2" fmla="*/ 1525755 w 1530491"/>
              <a:gd name="connsiteY2" fmla="*/ 0 h 5229921"/>
              <a:gd name="connsiteX3" fmla="*/ 1530491 w 1530491"/>
              <a:gd name="connsiteY3" fmla="*/ 4502808 h 5229921"/>
              <a:gd name="connsiteX4" fmla="*/ 0 w 1530491"/>
              <a:gd name="connsiteY4" fmla="*/ 5229921 h 5229921"/>
              <a:gd name="connsiteX0" fmla="*/ 546111 w 2076602"/>
              <a:gd name="connsiteY0" fmla="*/ 5229921 h 5229921"/>
              <a:gd name="connsiteX1" fmla="*/ 3 w 2076602"/>
              <a:gd name="connsiteY1" fmla="*/ 3305060 h 5229921"/>
              <a:gd name="connsiteX2" fmla="*/ 2071866 w 2076602"/>
              <a:gd name="connsiteY2" fmla="*/ 0 h 5229921"/>
              <a:gd name="connsiteX3" fmla="*/ 2076602 w 2076602"/>
              <a:gd name="connsiteY3" fmla="*/ 4502808 h 5229921"/>
              <a:gd name="connsiteX4" fmla="*/ 546111 w 2076602"/>
              <a:gd name="connsiteY4" fmla="*/ 5229921 h 5229921"/>
              <a:gd name="connsiteX0" fmla="*/ 495365 w 2076602"/>
              <a:gd name="connsiteY0" fmla="*/ 5217428 h 5217428"/>
              <a:gd name="connsiteX1" fmla="*/ 3 w 2076602"/>
              <a:gd name="connsiteY1" fmla="*/ 3305060 h 5217428"/>
              <a:gd name="connsiteX2" fmla="*/ 2071866 w 2076602"/>
              <a:gd name="connsiteY2" fmla="*/ 0 h 5217428"/>
              <a:gd name="connsiteX3" fmla="*/ 2076602 w 2076602"/>
              <a:gd name="connsiteY3" fmla="*/ 4502808 h 5217428"/>
              <a:gd name="connsiteX4" fmla="*/ 495365 w 2076602"/>
              <a:gd name="connsiteY4" fmla="*/ 5217428 h 5217428"/>
              <a:gd name="connsiteX0" fmla="*/ 495365 w 2083200"/>
              <a:gd name="connsiteY0" fmla="*/ 5195452 h 5195452"/>
              <a:gd name="connsiteX1" fmla="*/ 3 w 2083200"/>
              <a:gd name="connsiteY1" fmla="*/ 3283084 h 5195452"/>
              <a:gd name="connsiteX2" fmla="*/ 2083024 w 2083200"/>
              <a:gd name="connsiteY2" fmla="*/ 0 h 5195452"/>
              <a:gd name="connsiteX3" fmla="*/ 2076602 w 2083200"/>
              <a:gd name="connsiteY3" fmla="*/ 4480832 h 5195452"/>
              <a:gd name="connsiteX4" fmla="*/ 495365 w 2083200"/>
              <a:gd name="connsiteY4" fmla="*/ 5195452 h 5195452"/>
              <a:gd name="connsiteX0" fmla="*/ 495365 w 2090357"/>
              <a:gd name="connsiteY0" fmla="*/ 5195452 h 5195452"/>
              <a:gd name="connsiteX1" fmla="*/ 3 w 2090357"/>
              <a:gd name="connsiteY1" fmla="*/ 3283084 h 5195452"/>
              <a:gd name="connsiteX2" fmla="*/ 2083024 w 2090357"/>
              <a:gd name="connsiteY2" fmla="*/ 0 h 5195452"/>
              <a:gd name="connsiteX3" fmla="*/ 2090357 w 2090357"/>
              <a:gd name="connsiteY3" fmla="*/ 4720120 h 5195452"/>
              <a:gd name="connsiteX4" fmla="*/ 495365 w 2090357"/>
              <a:gd name="connsiteY4" fmla="*/ 5195452 h 5195452"/>
              <a:gd name="connsiteX0" fmla="*/ 495365 w 2090357"/>
              <a:gd name="connsiteY0" fmla="*/ 5249629 h 5249629"/>
              <a:gd name="connsiteX1" fmla="*/ 3 w 2090357"/>
              <a:gd name="connsiteY1" fmla="*/ 3337261 h 5249629"/>
              <a:gd name="connsiteX2" fmla="*/ 2078439 w 2090357"/>
              <a:gd name="connsiteY2" fmla="*/ 0 h 5249629"/>
              <a:gd name="connsiteX3" fmla="*/ 2090357 w 2090357"/>
              <a:gd name="connsiteY3" fmla="*/ 4774297 h 5249629"/>
              <a:gd name="connsiteX4" fmla="*/ 495365 w 2090357"/>
              <a:gd name="connsiteY4" fmla="*/ 5249629 h 5249629"/>
              <a:gd name="connsiteX0" fmla="*/ 495365 w 2090357"/>
              <a:gd name="connsiteY0" fmla="*/ 5222540 h 5222540"/>
              <a:gd name="connsiteX1" fmla="*/ 3 w 2090357"/>
              <a:gd name="connsiteY1" fmla="*/ 3310172 h 5222540"/>
              <a:gd name="connsiteX2" fmla="*/ 2087608 w 2090357"/>
              <a:gd name="connsiteY2" fmla="*/ 0 h 5222540"/>
              <a:gd name="connsiteX3" fmla="*/ 2090357 w 2090357"/>
              <a:gd name="connsiteY3" fmla="*/ 4747208 h 5222540"/>
              <a:gd name="connsiteX4" fmla="*/ 495365 w 2090357"/>
              <a:gd name="connsiteY4" fmla="*/ 5222540 h 5222540"/>
              <a:gd name="connsiteX0" fmla="*/ 495365 w 2090357"/>
              <a:gd name="connsiteY0" fmla="*/ 5238373 h 5238373"/>
              <a:gd name="connsiteX1" fmla="*/ 3 w 2090357"/>
              <a:gd name="connsiteY1" fmla="*/ 3326005 h 5238373"/>
              <a:gd name="connsiteX2" fmla="*/ 2084393 w 2090357"/>
              <a:gd name="connsiteY2" fmla="*/ 0 h 5238373"/>
              <a:gd name="connsiteX3" fmla="*/ 2090357 w 2090357"/>
              <a:gd name="connsiteY3" fmla="*/ 4763041 h 5238373"/>
              <a:gd name="connsiteX4" fmla="*/ 495365 w 2090357"/>
              <a:gd name="connsiteY4" fmla="*/ 5238373 h 5238373"/>
              <a:gd name="connsiteX0" fmla="*/ 495365 w 2090357"/>
              <a:gd name="connsiteY0" fmla="*/ 5219373 h 5219373"/>
              <a:gd name="connsiteX1" fmla="*/ 3 w 2090357"/>
              <a:gd name="connsiteY1" fmla="*/ 3307005 h 5219373"/>
              <a:gd name="connsiteX2" fmla="*/ 2087609 w 2090357"/>
              <a:gd name="connsiteY2" fmla="*/ 0 h 5219373"/>
              <a:gd name="connsiteX3" fmla="*/ 2090357 w 2090357"/>
              <a:gd name="connsiteY3" fmla="*/ 4744041 h 5219373"/>
              <a:gd name="connsiteX4" fmla="*/ 495365 w 2090357"/>
              <a:gd name="connsiteY4" fmla="*/ 5219373 h 5219373"/>
              <a:gd name="connsiteX0" fmla="*/ 495365 w 2100602"/>
              <a:gd name="connsiteY0" fmla="*/ 5244706 h 5244706"/>
              <a:gd name="connsiteX1" fmla="*/ 3 w 2100602"/>
              <a:gd name="connsiteY1" fmla="*/ 3332338 h 5244706"/>
              <a:gd name="connsiteX2" fmla="*/ 2100472 w 2100602"/>
              <a:gd name="connsiteY2" fmla="*/ 0 h 5244706"/>
              <a:gd name="connsiteX3" fmla="*/ 2090357 w 2100602"/>
              <a:gd name="connsiteY3" fmla="*/ 4769374 h 5244706"/>
              <a:gd name="connsiteX4" fmla="*/ 495365 w 2100602"/>
              <a:gd name="connsiteY4" fmla="*/ 5244706 h 5244706"/>
              <a:gd name="connsiteX0" fmla="*/ 495365 w 2090357"/>
              <a:gd name="connsiteY0" fmla="*/ 5232039 h 5232039"/>
              <a:gd name="connsiteX1" fmla="*/ 3 w 2090357"/>
              <a:gd name="connsiteY1" fmla="*/ 3319671 h 5232039"/>
              <a:gd name="connsiteX2" fmla="*/ 2084394 w 2090357"/>
              <a:gd name="connsiteY2" fmla="*/ 0 h 5232039"/>
              <a:gd name="connsiteX3" fmla="*/ 2090357 w 2090357"/>
              <a:gd name="connsiteY3" fmla="*/ 4756707 h 5232039"/>
              <a:gd name="connsiteX4" fmla="*/ 495365 w 2090357"/>
              <a:gd name="connsiteY4" fmla="*/ 5232039 h 523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0357" h="5232039">
                <a:moveTo>
                  <a:pt x="495365" y="5232039"/>
                </a:moveTo>
                <a:cubicBezTo>
                  <a:pt x="496944" y="4278274"/>
                  <a:pt x="-1576" y="4273436"/>
                  <a:pt x="3" y="3319671"/>
                </a:cubicBezTo>
                <a:lnTo>
                  <a:pt x="2084394" y="0"/>
                </a:lnTo>
                <a:cubicBezTo>
                  <a:pt x="2085973" y="1500936"/>
                  <a:pt x="2088778" y="3255771"/>
                  <a:pt x="2090357" y="4756707"/>
                </a:cubicBezTo>
                <a:lnTo>
                  <a:pt x="495365" y="5232039"/>
                </a:lnTo>
                <a:close/>
              </a:path>
            </a:pathLst>
          </a:custGeom>
          <a:solidFill>
            <a:schemeClr val="accent1">
              <a:alpha val="1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6EFB181-4986-6630-A48C-4CF7CF8352E3}"/>
              </a:ext>
            </a:extLst>
          </p:cNvPr>
          <p:cNvSpPr/>
          <p:nvPr/>
        </p:nvSpPr>
        <p:spPr>
          <a:xfrm>
            <a:off x="4325975" y="4331691"/>
            <a:ext cx="2000529" cy="2000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Non - Transactional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6285DC-6516-3402-A52D-9D4DF417CFC2}"/>
              </a:ext>
            </a:extLst>
          </p:cNvPr>
          <p:cNvSpPr/>
          <p:nvPr/>
        </p:nvSpPr>
        <p:spPr>
          <a:xfrm>
            <a:off x="5238157" y="64196"/>
            <a:ext cx="1715685" cy="1715685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>
                    <a:alpha val="0"/>
                  </a:schemeClr>
                </a:solidFill>
              </a:rPr>
              <a:t>Structural Graph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6087F3-FCA0-D791-31C9-4A7599D6D320}"/>
              </a:ext>
            </a:extLst>
          </p:cNvPr>
          <p:cNvCxnSpPr>
            <a:cxnSpLocks/>
            <a:stCxn id="14" idx="6"/>
            <a:endCxn id="16" idx="2"/>
          </p:cNvCxnSpPr>
          <p:nvPr/>
        </p:nvCxnSpPr>
        <p:spPr>
          <a:xfrm>
            <a:off x="6953842" y="922039"/>
            <a:ext cx="3522473" cy="428921"/>
          </a:xfrm>
          <a:prstGeom prst="straightConnector1">
            <a:avLst/>
          </a:prstGeom>
          <a:ln w="38100">
            <a:solidFill>
              <a:schemeClr val="accent1">
                <a:alpha val="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9C2BE2A-96B2-83D5-CA7F-283A5F54E455}"/>
              </a:ext>
            </a:extLst>
          </p:cNvPr>
          <p:cNvSpPr/>
          <p:nvPr/>
        </p:nvSpPr>
        <p:spPr>
          <a:xfrm>
            <a:off x="10476315" y="493117"/>
            <a:ext cx="1715685" cy="1715685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>
                    <a:alpha val="0"/>
                  </a:schemeClr>
                </a:solidFill>
              </a:rPr>
              <a:t>RO</a:t>
            </a:r>
            <a:br>
              <a:rPr lang="en-US" dirty="0">
                <a:solidFill>
                  <a:schemeClr val="lt1">
                    <a:alpha val="0"/>
                  </a:schemeClr>
                </a:solidFill>
              </a:rPr>
            </a:br>
            <a:r>
              <a:rPr lang="en-US" dirty="0">
                <a:solidFill>
                  <a:schemeClr val="lt1">
                    <a:alpha val="0"/>
                  </a:schemeClr>
                </a:solidFill>
              </a:rPr>
              <a:t>(Static)</a:t>
            </a:r>
            <a:br>
              <a:rPr lang="en-US" dirty="0">
                <a:solidFill>
                  <a:schemeClr val="lt1">
                    <a:alpha val="0"/>
                  </a:schemeClr>
                </a:solidFill>
              </a:rPr>
            </a:br>
            <a:r>
              <a:rPr lang="en-US" dirty="0">
                <a:solidFill>
                  <a:schemeClr val="lt1">
                    <a:alpha val="0"/>
                  </a:schemeClr>
                </a:solidFill>
              </a:rPr>
              <a:t>Static Graph</a:t>
            </a:r>
          </a:p>
        </p:txBody>
      </p:sp>
    </p:spTree>
    <p:extLst>
      <p:ext uri="{BB962C8B-B14F-4D97-AF65-F5344CB8AC3E}">
        <p14:creationId xmlns:p14="http://schemas.microsoft.com/office/powerpoint/2010/main" val="36766462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9655624C-4083-F542-D13F-E642CC5883F8}"/>
              </a:ext>
            </a:extLst>
          </p:cNvPr>
          <p:cNvSpPr/>
          <p:nvPr/>
        </p:nvSpPr>
        <p:spPr>
          <a:xfrm>
            <a:off x="273136" y="493117"/>
            <a:ext cx="1717199" cy="17171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Read-Write (Dynamic)</a:t>
            </a:r>
            <a:br>
              <a:rPr lang="en-US" dirty="0"/>
            </a:br>
            <a:r>
              <a:rPr lang="en-US" dirty="0"/>
              <a:t>Structural Graph</a:t>
            </a:r>
          </a:p>
        </p:txBody>
      </p:sp>
      <p:pic>
        <p:nvPicPr>
          <p:cNvPr id="5" name="Picture 4" descr="A diagram of graphs and text&#10;&#10;Description automatically generated with medium confidence">
            <a:extLst>
              <a:ext uri="{FF2B5EF4-FFF2-40B4-BE49-F238E27FC236}">
                <a16:creationId xmlns:a16="http://schemas.microsoft.com/office/drawing/2014/main" id="{7E845FBF-F39F-DD9A-7E1A-014ADE3BA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74" y="2428406"/>
            <a:ext cx="3817373" cy="442959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EC6285DC-6516-3402-A52D-9D4DF417CFC2}"/>
              </a:ext>
            </a:extLst>
          </p:cNvPr>
          <p:cNvSpPr/>
          <p:nvPr/>
        </p:nvSpPr>
        <p:spPr>
          <a:xfrm>
            <a:off x="5238157" y="64196"/>
            <a:ext cx="1715685" cy="171568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Structural Graph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6087F3-FCA0-D791-31C9-4A7599D6D320}"/>
              </a:ext>
            </a:extLst>
          </p:cNvPr>
          <p:cNvCxnSpPr>
            <a:cxnSpLocks/>
            <a:stCxn id="14" idx="6"/>
            <a:endCxn id="16" idx="2"/>
          </p:cNvCxnSpPr>
          <p:nvPr/>
        </p:nvCxnSpPr>
        <p:spPr>
          <a:xfrm>
            <a:off x="6953842" y="922039"/>
            <a:ext cx="3522473" cy="42892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6C1628-812F-DC66-531E-2777F3B0547C}"/>
              </a:ext>
            </a:extLst>
          </p:cNvPr>
          <p:cNvCxnSpPr>
            <a:stCxn id="14" idx="2"/>
            <a:endCxn id="6" idx="6"/>
          </p:cNvCxnSpPr>
          <p:nvPr/>
        </p:nvCxnSpPr>
        <p:spPr>
          <a:xfrm flipH="1">
            <a:off x="1990335" y="922039"/>
            <a:ext cx="3247822" cy="4296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2C948DA-0F7F-5AD1-0EDF-7531BE2CD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766" y="2057597"/>
            <a:ext cx="3232905" cy="4920324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79C2BE2A-96B2-83D5-CA7F-283A5F54E455}"/>
              </a:ext>
            </a:extLst>
          </p:cNvPr>
          <p:cNvSpPr/>
          <p:nvPr/>
        </p:nvSpPr>
        <p:spPr>
          <a:xfrm>
            <a:off x="10476315" y="493117"/>
            <a:ext cx="1715685" cy="171568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</a:t>
            </a:r>
            <a:br>
              <a:rPr lang="en-US" dirty="0"/>
            </a:br>
            <a:r>
              <a:rPr lang="en-US" dirty="0"/>
              <a:t>(Static)</a:t>
            </a:r>
            <a:br>
              <a:rPr lang="en-US" dirty="0"/>
            </a:br>
            <a:r>
              <a:rPr lang="en-US" dirty="0"/>
              <a:t>Static Graph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D83BF8-15D6-F5ED-FCD9-4CEA443DA815}"/>
              </a:ext>
            </a:extLst>
          </p:cNvPr>
          <p:cNvSpPr txBox="1"/>
          <p:nvPr/>
        </p:nvSpPr>
        <p:spPr>
          <a:xfrm>
            <a:off x="4868671" y="5288936"/>
            <a:ext cx="3108253" cy="923330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Common in-memory data-structures used</a:t>
            </a:r>
          </a:p>
          <a:p>
            <a:pPr algn="ctr"/>
            <a:r>
              <a:rPr lang="en-US" dirty="0"/>
              <a:t>to store the graph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0C10F0-B2A2-E01F-9B24-8406DB9063EE}"/>
              </a:ext>
            </a:extLst>
          </p:cNvPr>
          <p:cNvSpPr/>
          <p:nvPr/>
        </p:nvSpPr>
        <p:spPr>
          <a:xfrm>
            <a:off x="0" y="4643202"/>
            <a:ext cx="3926447" cy="1742608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4AAD30-8CE8-49E7-A676-7E7451C1CC82}"/>
              </a:ext>
            </a:extLst>
          </p:cNvPr>
          <p:cNvSpPr/>
          <p:nvPr/>
        </p:nvSpPr>
        <p:spPr>
          <a:xfrm>
            <a:off x="8919148" y="4643202"/>
            <a:ext cx="2714742" cy="2214798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43304FC2-61F5-0928-CE68-222D7ED40274}"/>
              </a:ext>
            </a:extLst>
          </p:cNvPr>
          <p:cNvSpPr/>
          <p:nvPr/>
        </p:nvSpPr>
        <p:spPr>
          <a:xfrm>
            <a:off x="7970665" y="4645843"/>
            <a:ext cx="949290" cy="2214158"/>
          </a:xfrm>
          <a:custGeom>
            <a:avLst/>
            <a:gdLst>
              <a:gd name="connsiteX0" fmla="*/ 0 w 1554127"/>
              <a:gd name="connsiteY0" fmla="*/ 1334125 h 1334125"/>
              <a:gd name="connsiteX1" fmla="*/ 333531 w 1554127"/>
              <a:gd name="connsiteY1" fmla="*/ 0 h 1334125"/>
              <a:gd name="connsiteX2" fmla="*/ 1220596 w 1554127"/>
              <a:gd name="connsiteY2" fmla="*/ 0 h 1334125"/>
              <a:gd name="connsiteX3" fmla="*/ 1554127 w 1554127"/>
              <a:gd name="connsiteY3" fmla="*/ 1334125 h 1334125"/>
              <a:gd name="connsiteX4" fmla="*/ 0 w 1554127"/>
              <a:gd name="connsiteY4" fmla="*/ 1334125 h 1334125"/>
              <a:gd name="connsiteX0" fmla="*/ 0 w 1554127"/>
              <a:gd name="connsiteY0" fmla="*/ 1334125 h 1334125"/>
              <a:gd name="connsiteX1" fmla="*/ 278265 w 1554127"/>
              <a:gd name="connsiteY1" fmla="*/ 5024 h 1334125"/>
              <a:gd name="connsiteX2" fmla="*/ 1220596 w 1554127"/>
              <a:gd name="connsiteY2" fmla="*/ 0 h 1334125"/>
              <a:gd name="connsiteX3" fmla="*/ 1554127 w 1554127"/>
              <a:gd name="connsiteY3" fmla="*/ 1334125 h 1334125"/>
              <a:gd name="connsiteX4" fmla="*/ 0 w 1554127"/>
              <a:gd name="connsiteY4" fmla="*/ 1334125 h 1334125"/>
              <a:gd name="connsiteX0" fmla="*/ 0 w 1282821"/>
              <a:gd name="connsiteY0" fmla="*/ 922143 h 1334125"/>
              <a:gd name="connsiteX1" fmla="*/ 6959 w 1282821"/>
              <a:gd name="connsiteY1" fmla="*/ 5024 h 1334125"/>
              <a:gd name="connsiteX2" fmla="*/ 949290 w 1282821"/>
              <a:gd name="connsiteY2" fmla="*/ 0 h 1334125"/>
              <a:gd name="connsiteX3" fmla="*/ 1282821 w 1282821"/>
              <a:gd name="connsiteY3" fmla="*/ 1334125 h 1334125"/>
              <a:gd name="connsiteX4" fmla="*/ 0 w 1282821"/>
              <a:gd name="connsiteY4" fmla="*/ 922143 h 1334125"/>
              <a:gd name="connsiteX0" fmla="*/ 0 w 1282821"/>
              <a:gd name="connsiteY0" fmla="*/ 1565237 h 1977219"/>
              <a:gd name="connsiteX1" fmla="*/ 6959 w 1282821"/>
              <a:gd name="connsiteY1" fmla="*/ 648118 h 1977219"/>
              <a:gd name="connsiteX2" fmla="*/ 949290 w 1282821"/>
              <a:gd name="connsiteY2" fmla="*/ 0 h 1977219"/>
              <a:gd name="connsiteX3" fmla="*/ 1282821 w 1282821"/>
              <a:gd name="connsiteY3" fmla="*/ 1977219 h 1977219"/>
              <a:gd name="connsiteX4" fmla="*/ 0 w 1282821"/>
              <a:gd name="connsiteY4" fmla="*/ 1565237 h 1977219"/>
              <a:gd name="connsiteX0" fmla="*/ 0 w 949290"/>
              <a:gd name="connsiteY0" fmla="*/ 1565237 h 2198283"/>
              <a:gd name="connsiteX1" fmla="*/ 6959 w 949290"/>
              <a:gd name="connsiteY1" fmla="*/ 648118 h 2198283"/>
              <a:gd name="connsiteX2" fmla="*/ 949290 w 949290"/>
              <a:gd name="connsiteY2" fmla="*/ 0 h 2198283"/>
              <a:gd name="connsiteX3" fmla="*/ 941177 w 949290"/>
              <a:gd name="connsiteY3" fmla="*/ 2198283 h 2198283"/>
              <a:gd name="connsiteX4" fmla="*/ 0 w 949290"/>
              <a:gd name="connsiteY4" fmla="*/ 1565237 h 2198283"/>
              <a:gd name="connsiteX0" fmla="*/ 0 w 949290"/>
              <a:gd name="connsiteY0" fmla="*/ 1565237 h 2214158"/>
              <a:gd name="connsiteX1" fmla="*/ 6959 w 949290"/>
              <a:gd name="connsiteY1" fmla="*/ 648118 h 2214158"/>
              <a:gd name="connsiteX2" fmla="*/ 949290 w 949290"/>
              <a:gd name="connsiteY2" fmla="*/ 0 h 2214158"/>
              <a:gd name="connsiteX3" fmla="*/ 947527 w 949290"/>
              <a:gd name="connsiteY3" fmla="*/ 2214158 h 2214158"/>
              <a:gd name="connsiteX4" fmla="*/ 0 w 949290"/>
              <a:gd name="connsiteY4" fmla="*/ 1565237 h 221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9290" h="2214158">
                <a:moveTo>
                  <a:pt x="0" y="1565237"/>
                </a:moveTo>
                <a:cubicBezTo>
                  <a:pt x="2320" y="1259531"/>
                  <a:pt x="4639" y="953824"/>
                  <a:pt x="6959" y="648118"/>
                </a:cubicBezTo>
                <a:lnTo>
                  <a:pt x="949290" y="0"/>
                </a:lnTo>
                <a:cubicBezTo>
                  <a:pt x="946586" y="732761"/>
                  <a:pt x="950231" y="1481397"/>
                  <a:pt x="947527" y="2214158"/>
                </a:cubicBezTo>
                <a:lnTo>
                  <a:pt x="0" y="1565237"/>
                </a:lnTo>
                <a:close/>
              </a:path>
            </a:pathLst>
          </a:custGeom>
          <a:solidFill>
            <a:schemeClr val="accent1">
              <a:alpha val="1196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E33519CC-E502-89FF-ECF7-36B0FADC7E7A}"/>
              </a:ext>
            </a:extLst>
          </p:cNvPr>
          <p:cNvSpPr/>
          <p:nvPr/>
        </p:nvSpPr>
        <p:spPr>
          <a:xfrm>
            <a:off x="3923469" y="4650454"/>
            <a:ext cx="948389" cy="1744882"/>
          </a:xfrm>
          <a:custGeom>
            <a:avLst/>
            <a:gdLst>
              <a:gd name="connsiteX0" fmla="*/ 0 w 797597"/>
              <a:gd name="connsiteY0" fmla="*/ 1037877 h 1037877"/>
              <a:gd name="connsiteX1" fmla="*/ 199399 w 797597"/>
              <a:gd name="connsiteY1" fmla="*/ 0 h 1037877"/>
              <a:gd name="connsiteX2" fmla="*/ 598198 w 797597"/>
              <a:gd name="connsiteY2" fmla="*/ 0 h 1037877"/>
              <a:gd name="connsiteX3" fmla="*/ 797597 w 797597"/>
              <a:gd name="connsiteY3" fmla="*/ 1037877 h 1037877"/>
              <a:gd name="connsiteX4" fmla="*/ 0 w 797597"/>
              <a:gd name="connsiteY4" fmla="*/ 1037877 h 1037877"/>
              <a:gd name="connsiteX0" fmla="*/ 7509 w 805106"/>
              <a:gd name="connsiteY0" fmla="*/ 1735357 h 1735357"/>
              <a:gd name="connsiteX1" fmla="*/ 0 w 805106"/>
              <a:gd name="connsiteY1" fmla="*/ 0 h 1735357"/>
              <a:gd name="connsiteX2" fmla="*/ 605707 w 805106"/>
              <a:gd name="connsiteY2" fmla="*/ 697480 h 1735357"/>
              <a:gd name="connsiteX3" fmla="*/ 805106 w 805106"/>
              <a:gd name="connsiteY3" fmla="*/ 1735357 h 1735357"/>
              <a:gd name="connsiteX4" fmla="*/ 7509 w 805106"/>
              <a:gd name="connsiteY4" fmla="*/ 1735357 h 1735357"/>
              <a:gd name="connsiteX0" fmla="*/ 7509 w 945269"/>
              <a:gd name="connsiteY0" fmla="*/ 1735357 h 1735357"/>
              <a:gd name="connsiteX1" fmla="*/ 0 w 945269"/>
              <a:gd name="connsiteY1" fmla="*/ 0 h 1735357"/>
              <a:gd name="connsiteX2" fmla="*/ 605707 w 945269"/>
              <a:gd name="connsiteY2" fmla="*/ 697480 h 1735357"/>
              <a:gd name="connsiteX3" fmla="*/ 945269 w 945269"/>
              <a:gd name="connsiteY3" fmla="*/ 1565158 h 1735357"/>
              <a:gd name="connsiteX4" fmla="*/ 7509 w 945269"/>
              <a:gd name="connsiteY4" fmla="*/ 1735357 h 1735357"/>
              <a:gd name="connsiteX0" fmla="*/ 7509 w 946104"/>
              <a:gd name="connsiteY0" fmla="*/ 1735357 h 1735357"/>
              <a:gd name="connsiteX1" fmla="*/ 0 w 946104"/>
              <a:gd name="connsiteY1" fmla="*/ 0 h 1735357"/>
              <a:gd name="connsiteX2" fmla="*/ 946104 w 946104"/>
              <a:gd name="connsiteY2" fmla="*/ 637410 h 1735357"/>
              <a:gd name="connsiteX3" fmla="*/ 945269 w 946104"/>
              <a:gd name="connsiteY3" fmla="*/ 1565158 h 1735357"/>
              <a:gd name="connsiteX4" fmla="*/ 7509 w 946104"/>
              <a:gd name="connsiteY4" fmla="*/ 1735357 h 1735357"/>
              <a:gd name="connsiteX0" fmla="*/ 4334 w 946104"/>
              <a:gd name="connsiteY0" fmla="*/ 1738532 h 1738532"/>
              <a:gd name="connsiteX1" fmla="*/ 0 w 946104"/>
              <a:gd name="connsiteY1" fmla="*/ 0 h 1738532"/>
              <a:gd name="connsiteX2" fmla="*/ 946104 w 946104"/>
              <a:gd name="connsiteY2" fmla="*/ 637410 h 1738532"/>
              <a:gd name="connsiteX3" fmla="*/ 945269 w 946104"/>
              <a:gd name="connsiteY3" fmla="*/ 1565158 h 1738532"/>
              <a:gd name="connsiteX4" fmla="*/ 4334 w 946104"/>
              <a:gd name="connsiteY4" fmla="*/ 1738532 h 1738532"/>
              <a:gd name="connsiteX0" fmla="*/ 269 w 948389"/>
              <a:gd name="connsiteY0" fmla="*/ 1744882 h 1744882"/>
              <a:gd name="connsiteX1" fmla="*/ 2285 w 948389"/>
              <a:gd name="connsiteY1" fmla="*/ 0 h 1744882"/>
              <a:gd name="connsiteX2" fmla="*/ 948389 w 948389"/>
              <a:gd name="connsiteY2" fmla="*/ 637410 h 1744882"/>
              <a:gd name="connsiteX3" fmla="*/ 947554 w 948389"/>
              <a:gd name="connsiteY3" fmla="*/ 1565158 h 1744882"/>
              <a:gd name="connsiteX4" fmla="*/ 269 w 948389"/>
              <a:gd name="connsiteY4" fmla="*/ 1744882 h 1744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8389" h="1744882">
                <a:moveTo>
                  <a:pt x="269" y="1744882"/>
                </a:moveTo>
                <a:cubicBezTo>
                  <a:pt x="-1176" y="1165371"/>
                  <a:pt x="3730" y="579511"/>
                  <a:pt x="2285" y="0"/>
                </a:cubicBezTo>
                <a:lnTo>
                  <a:pt x="948389" y="637410"/>
                </a:lnTo>
                <a:cubicBezTo>
                  <a:pt x="948111" y="946659"/>
                  <a:pt x="947832" y="1255909"/>
                  <a:pt x="947554" y="1565158"/>
                </a:cubicBezTo>
                <a:lnTo>
                  <a:pt x="269" y="1744882"/>
                </a:lnTo>
                <a:close/>
              </a:path>
            </a:pathLst>
          </a:cu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8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FF0E6BDD-85E4-4B3E-EF91-ED548BB49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56350"/>
            <a:ext cx="5638800" cy="4191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A6A6D4B-3377-BFD8-C57E-DB0D14424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0"/>
            <a:ext cx="3835400" cy="3873500"/>
          </a:xfrm>
          <a:prstGeom prst="rect">
            <a:avLst/>
          </a:prstGeom>
        </p:spPr>
      </p:pic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659D7E8-2129-8734-4D76-2D462C688A15}"/>
              </a:ext>
            </a:extLst>
          </p:cNvPr>
          <p:cNvGrpSpPr/>
          <p:nvPr/>
        </p:nvGrpSpPr>
        <p:grpSpPr>
          <a:xfrm>
            <a:off x="825100" y="4887740"/>
            <a:ext cx="3594100" cy="1193800"/>
            <a:chOff x="1193800" y="4914900"/>
            <a:chExt cx="3594100" cy="11938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A59D55D-9E39-AD81-24EA-6B5C08FEC192}"/>
                </a:ext>
              </a:extLst>
            </p:cNvPr>
            <p:cNvSpPr/>
            <p:nvPr/>
          </p:nvSpPr>
          <p:spPr>
            <a:xfrm>
              <a:off x="1955800" y="4914900"/>
              <a:ext cx="355600" cy="355600"/>
            </a:xfrm>
            <a:prstGeom prst="rect">
              <a:avLst/>
            </a:prstGeom>
            <a:solidFill>
              <a:srgbClr val="DCEF9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9F6ED7E-7B1D-9970-D16D-226B34DAB128}"/>
                </a:ext>
              </a:extLst>
            </p:cNvPr>
            <p:cNvSpPr/>
            <p:nvPr/>
          </p:nvSpPr>
          <p:spPr>
            <a:xfrm>
              <a:off x="2324100" y="4914900"/>
              <a:ext cx="355600" cy="355600"/>
            </a:xfrm>
            <a:prstGeom prst="rect">
              <a:avLst/>
            </a:prstGeom>
            <a:solidFill>
              <a:srgbClr val="9ADC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B61B6A1-4204-D20B-D454-1CDD3ED2C3EB}"/>
                </a:ext>
              </a:extLst>
            </p:cNvPr>
            <p:cNvSpPr/>
            <p:nvPr/>
          </p:nvSpPr>
          <p:spPr>
            <a:xfrm>
              <a:off x="2692400" y="4914900"/>
              <a:ext cx="355600" cy="355600"/>
            </a:xfrm>
            <a:prstGeom prst="rect">
              <a:avLst/>
            </a:prstGeom>
            <a:solidFill>
              <a:srgbClr val="EF9A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7537F1E-75E2-EEE1-CD59-3890A50A71BE}"/>
                </a:ext>
              </a:extLst>
            </p:cNvPr>
            <p:cNvSpPr/>
            <p:nvPr/>
          </p:nvSpPr>
          <p:spPr>
            <a:xfrm>
              <a:off x="3048000" y="4914900"/>
              <a:ext cx="355600" cy="355600"/>
            </a:xfrm>
            <a:prstGeom prst="rect">
              <a:avLst/>
            </a:prstGeom>
            <a:solidFill>
              <a:srgbClr val="FDDA0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0169B84-AF48-5BCC-9695-F0612656125F}"/>
                </a:ext>
              </a:extLst>
            </p:cNvPr>
            <p:cNvSpPr/>
            <p:nvPr/>
          </p:nvSpPr>
          <p:spPr>
            <a:xfrm>
              <a:off x="1193800" y="5753100"/>
              <a:ext cx="355600" cy="355600"/>
            </a:xfrm>
            <a:prstGeom prst="rect">
              <a:avLst/>
            </a:prstGeom>
            <a:solidFill>
              <a:srgbClr val="BACB8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45E8314-5B52-6F02-2070-977E2FD2C058}"/>
                </a:ext>
              </a:extLst>
            </p:cNvPr>
            <p:cNvSpPr/>
            <p:nvPr/>
          </p:nvSpPr>
          <p:spPr>
            <a:xfrm>
              <a:off x="1562100" y="5753100"/>
              <a:ext cx="355600" cy="355600"/>
            </a:xfrm>
            <a:prstGeom prst="rect">
              <a:avLst/>
            </a:prstGeom>
            <a:solidFill>
              <a:srgbClr val="BACB8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7AEF970-E6AC-C103-84B9-BB186C4E8235}"/>
                </a:ext>
              </a:extLst>
            </p:cNvPr>
            <p:cNvSpPr/>
            <p:nvPr/>
          </p:nvSpPr>
          <p:spPr>
            <a:xfrm>
              <a:off x="1930400" y="5753100"/>
              <a:ext cx="355600" cy="355600"/>
            </a:xfrm>
            <a:prstGeom prst="rect">
              <a:avLst/>
            </a:prstGeom>
            <a:solidFill>
              <a:srgbClr val="85B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0777ACE-D898-2500-9130-415958C42CEF}"/>
                </a:ext>
              </a:extLst>
            </p:cNvPr>
            <p:cNvSpPr/>
            <p:nvPr/>
          </p:nvSpPr>
          <p:spPr>
            <a:xfrm>
              <a:off x="2286000" y="5753100"/>
              <a:ext cx="355600" cy="355600"/>
            </a:xfrm>
            <a:prstGeom prst="rect">
              <a:avLst/>
            </a:prstGeom>
            <a:solidFill>
              <a:srgbClr val="85B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70C183C-52B3-E616-C4D5-67CF3C41A53F}"/>
                </a:ext>
              </a:extLst>
            </p:cNvPr>
            <p:cNvSpPr/>
            <p:nvPr/>
          </p:nvSpPr>
          <p:spPr>
            <a:xfrm>
              <a:off x="2641600" y="5753100"/>
              <a:ext cx="355600" cy="355600"/>
            </a:xfrm>
            <a:prstGeom prst="rect">
              <a:avLst/>
            </a:prstGeom>
            <a:solidFill>
              <a:srgbClr val="85B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438F241-8C40-F291-BE79-38E4EF06A2A4}"/>
                </a:ext>
              </a:extLst>
            </p:cNvPr>
            <p:cNvSpPr/>
            <p:nvPr/>
          </p:nvSpPr>
          <p:spPr>
            <a:xfrm>
              <a:off x="2984500" y="5753100"/>
              <a:ext cx="355600" cy="355600"/>
            </a:xfrm>
            <a:prstGeom prst="rect">
              <a:avLst/>
            </a:prstGeom>
            <a:solidFill>
              <a:srgbClr val="85B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E2DF24A-B5A0-E245-15A3-EFCC8EAF66DF}"/>
                </a:ext>
              </a:extLst>
            </p:cNvPr>
            <p:cNvSpPr/>
            <p:nvPr/>
          </p:nvSpPr>
          <p:spPr>
            <a:xfrm>
              <a:off x="3352800" y="5753100"/>
              <a:ext cx="355600" cy="355600"/>
            </a:xfrm>
            <a:prstGeom prst="rect">
              <a:avLst/>
            </a:prstGeom>
            <a:solidFill>
              <a:srgbClr val="DB8EC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C6390B5-A6B1-CD59-5C73-C95EB3D1CECA}"/>
                </a:ext>
              </a:extLst>
            </p:cNvPr>
            <p:cNvSpPr/>
            <p:nvPr/>
          </p:nvSpPr>
          <p:spPr>
            <a:xfrm>
              <a:off x="3721100" y="5753100"/>
              <a:ext cx="355600" cy="355600"/>
            </a:xfrm>
            <a:prstGeom prst="rect">
              <a:avLst/>
            </a:prstGeom>
            <a:solidFill>
              <a:srgbClr val="DB8EC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5AD393C-891B-2079-56D2-56069822C2D9}"/>
                </a:ext>
              </a:extLst>
            </p:cNvPr>
            <p:cNvSpPr/>
            <p:nvPr/>
          </p:nvSpPr>
          <p:spPr>
            <a:xfrm>
              <a:off x="4076700" y="5753100"/>
              <a:ext cx="355600" cy="355600"/>
            </a:xfrm>
            <a:prstGeom prst="rect">
              <a:avLst/>
            </a:prstGeom>
            <a:solidFill>
              <a:srgbClr val="DB8EC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AF59AB1-2F71-FBBB-6402-3B5CCA115D1F}"/>
                </a:ext>
              </a:extLst>
            </p:cNvPr>
            <p:cNvSpPr/>
            <p:nvPr/>
          </p:nvSpPr>
          <p:spPr>
            <a:xfrm>
              <a:off x="4432300" y="5753100"/>
              <a:ext cx="355600" cy="355600"/>
            </a:xfrm>
            <a:prstGeom prst="rect">
              <a:avLst/>
            </a:prstGeom>
            <a:solidFill>
              <a:srgbClr val="EBCA0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E3FC3FF-6488-7235-0BFE-264092F2DBDA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 flipH="1">
              <a:off x="1193800" y="5270500"/>
              <a:ext cx="939800" cy="482600"/>
            </a:xfrm>
            <a:prstGeom prst="line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6C6426B-AACC-CA5C-D6C3-8936C06B74CB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flipH="1">
              <a:off x="1930400" y="5270500"/>
              <a:ext cx="571500" cy="482600"/>
            </a:xfrm>
            <a:prstGeom prst="line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3123EAB-0455-A406-A53F-1B43DDF1DA7A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2870200" y="5270500"/>
              <a:ext cx="482600" cy="482600"/>
            </a:xfrm>
            <a:prstGeom prst="line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7D0B634-1C77-7F42-D4A8-FD8A4EEAE9AB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>
              <a:off x="3225800" y="5270500"/>
              <a:ext cx="1206500" cy="482600"/>
            </a:xfrm>
            <a:prstGeom prst="line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1925E68C-0F1E-2E3F-861E-D7B5FCB3B793}"/>
              </a:ext>
            </a:extLst>
          </p:cNvPr>
          <p:cNvSpPr txBox="1"/>
          <p:nvPr/>
        </p:nvSpPr>
        <p:spPr>
          <a:xfrm>
            <a:off x="1746935" y="6194808"/>
            <a:ext cx="112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CSR - like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92E18B7-3323-B5FE-8A9E-736B8DB777D3}"/>
              </a:ext>
            </a:extLst>
          </p:cNvPr>
          <p:cNvGrpSpPr/>
          <p:nvPr/>
        </p:nvGrpSpPr>
        <p:grpSpPr>
          <a:xfrm>
            <a:off x="5193506" y="4654248"/>
            <a:ext cx="2184399" cy="1661209"/>
            <a:chOff x="5511801" y="5040441"/>
            <a:chExt cx="2184399" cy="1661209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260ABFA-29E4-F95F-66DD-6CC3B780E19E}"/>
                </a:ext>
              </a:extLst>
            </p:cNvPr>
            <p:cNvGrpSpPr/>
            <p:nvPr/>
          </p:nvGrpSpPr>
          <p:grpSpPr>
            <a:xfrm rot="16200000">
              <a:off x="4965701" y="5586541"/>
              <a:ext cx="1447800" cy="355600"/>
              <a:chOff x="5575300" y="4737100"/>
              <a:chExt cx="1447800" cy="355600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4772887-EC48-43D4-C374-F66A65E26C52}"/>
                  </a:ext>
                </a:extLst>
              </p:cNvPr>
              <p:cNvSpPr/>
              <p:nvPr/>
            </p:nvSpPr>
            <p:spPr>
              <a:xfrm>
                <a:off x="5575300" y="4737100"/>
                <a:ext cx="355600" cy="355600"/>
              </a:xfrm>
              <a:prstGeom prst="rect">
                <a:avLst/>
              </a:prstGeom>
              <a:solidFill>
                <a:srgbClr val="DCEF9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9D3A335-CF1F-E299-5925-201CBA3FF31E}"/>
                  </a:ext>
                </a:extLst>
              </p:cNvPr>
              <p:cNvSpPr/>
              <p:nvPr/>
            </p:nvSpPr>
            <p:spPr>
              <a:xfrm>
                <a:off x="5943600" y="4737100"/>
                <a:ext cx="355600" cy="355600"/>
              </a:xfrm>
              <a:prstGeom prst="rect">
                <a:avLst/>
              </a:prstGeom>
              <a:solidFill>
                <a:srgbClr val="9ADCE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76E1F356-BC84-D443-FE84-7B785AE86AD7}"/>
                  </a:ext>
                </a:extLst>
              </p:cNvPr>
              <p:cNvSpPr/>
              <p:nvPr/>
            </p:nvSpPr>
            <p:spPr>
              <a:xfrm>
                <a:off x="6311900" y="4737100"/>
                <a:ext cx="355600" cy="355600"/>
              </a:xfrm>
              <a:prstGeom prst="rect">
                <a:avLst/>
              </a:prstGeom>
              <a:solidFill>
                <a:srgbClr val="EF9AD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36F8D6C-C1F3-CBC5-3EE5-A8DFA76175AB}"/>
                  </a:ext>
                </a:extLst>
              </p:cNvPr>
              <p:cNvSpPr/>
              <p:nvPr/>
            </p:nvSpPr>
            <p:spPr>
              <a:xfrm>
                <a:off x="6667500" y="4737100"/>
                <a:ext cx="355600" cy="355600"/>
              </a:xfrm>
              <a:prstGeom prst="rect">
                <a:avLst/>
              </a:prstGeom>
              <a:solidFill>
                <a:srgbClr val="FDDA0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FF485201-38EA-1452-3268-AAAE37DE8AC7}"/>
                </a:ext>
              </a:extLst>
            </p:cNvPr>
            <p:cNvGrpSpPr/>
            <p:nvPr/>
          </p:nvGrpSpPr>
          <p:grpSpPr>
            <a:xfrm>
              <a:off x="6286500" y="6346050"/>
              <a:ext cx="723900" cy="355600"/>
              <a:chOff x="6286500" y="6346050"/>
              <a:chExt cx="723900" cy="355600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242D3B7C-B722-D6C4-AD16-49F4D66D66D6}"/>
                  </a:ext>
                </a:extLst>
              </p:cNvPr>
              <p:cNvSpPr/>
              <p:nvPr/>
            </p:nvSpPr>
            <p:spPr>
              <a:xfrm>
                <a:off x="6286500" y="6346050"/>
                <a:ext cx="355600" cy="355600"/>
              </a:xfrm>
              <a:prstGeom prst="rect">
                <a:avLst/>
              </a:prstGeom>
              <a:solidFill>
                <a:srgbClr val="BACB8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459301A-6DF9-B92C-3A2A-F9D8FB6E6B76}"/>
                  </a:ext>
                </a:extLst>
              </p:cNvPr>
              <p:cNvSpPr/>
              <p:nvPr/>
            </p:nvSpPr>
            <p:spPr>
              <a:xfrm>
                <a:off x="6654800" y="6346050"/>
                <a:ext cx="355600" cy="355600"/>
              </a:xfrm>
              <a:prstGeom prst="rect">
                <a:avLst/>
              </a:prstGeom>
              <a:solidFill>
                <a:srgbClr val="BACB8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B34D1B69-16C0-1C43-3442-4626625E6A8F}"/>
                </a:ext>
              </a:extLst>
            </p:cNvPr>
            <p:cNvGrpSpPr/>
            <p:nvPr/>
          </p:nvGrpSpPr>
          <p:grpSpPr>
            <a:xfrm>
              <a:off x="6286500" y="5917168"/>
              <a:ext cx="1409700" cy="355600"/>
              <a:chOff x="6299200" y="5753100"/>
              <a:chExt cx="1409700" cy="355600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2724B613-5248-B2C1-6739-6238B61FDCD2}"/>
                  </a:ext>
                </a:extLst>
              </p:cNvPr>
              <p:cNvSpPr/>
              <p:nvPr/>
            </p:nvSpPr>
            <p:spPr>
              <a:xfrm>
                <a:off x="6299200" y="5753100"/>
                <a:ext cx="355600" cy="355600"/>
              </a:xfrm>
              <a:prstGeom prst="rect">
                <a:avLst/>
              </a:prstGeom>
              <a:solidFill>
                <a:srgbClr val="85BFD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28C5180-A18E-D3E9-6693-44E2BD360A77}"/>
                  </a:ext>
                </a:extLst>
              </p:cNvPr>
              <p:cNvSpPr/>
              <p:nvPr/>
            </p:nvSpPr>
            <p:spPr>
              <a:xfrm>
                <a:off x="6654800" y="5753100"/>
                <a:ext cx="355600" cy="355600"/>
              </a:xfrm>
              <a:prstGeom prst="rect">
                <a:avLst/>
              </a:prstGeom>
              <a:solidFill>
                <a:srgbClr val="85BFD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E08B51E-CE73-7D98-0512-7C7ED96F232E}"/>
                  </a:ext>
                </a:extLst>
              </p:cNvPr>
              <p:cNvSpPr/>
              <p:nvPr/>
            </p:nvSpPr>
            <p:spPr>
              <a:xfrm>
                <a:off x="7010400" y="5753100"/>
                <a:ext cx="355600" cy="355600"/>
              </a:xfrm>
              <a:prstGeom prst="rect">
                <a:avLst/>
              </a:prstGeom>
              <a:solidFill>
                <a:srgbClr val="85BFD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74593EB-8533-9E2D-0C5F-42C508ABE476}"/>
                  </a:ext>
                </a:extLst>
              </p:cNvPr>
              <p:cNvSpPr/>
              <p:nvPr/>
            </p:nvSpPr>
            <p:spPr>
              <a:xfrm>
                <a:off x="7353300" y="5753100"/>
                <a:ext cx="355600" cy="355600"/>
              </a:xfrm>
              <a:prstGeom prst="rect">
                <a:avLst/>
              </a:prstGeom>
              <a:solidFill>
                <a:srgbClr val="85BFD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F8CD310E-0D54-EEC6-203D-547CA08406EB}"/>
                </a:ext>
              </a:extLst>
            </p:cNvPr>
            <p:cNvGrpSpPr/>
            <p:nvPr/>
          </p:nvGrpSpPr>
          <p:grpSpPr>
            <a:xfrm>
              <a:off x="6286500" y="5488286"/>
              <a:ext cx="1079500" cy="355600"/>
              <a:chOff x="7696200" y="5232400"/>
              <a:chExt cx="1079500" cy="355600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219EFD11-7757-4EA8-3774-D3F42EF42356}"/>
                  </a:ext>
                </a:extLst>
              </p:cNvPr>
              <p:cNvSpPr/>
              <p:nvPr/>
            </p:nvSpPr>
            <p:spPr>
              <a:xfrm>
                <a:off x="7696200" y="5232400"/>
                <a:ext cx="355600" cy="355600"/>
              </a:xfrm>
              <a:prstGeom prst="rect">
                <a:avLst/>
              </a:prstGeom>
              <a:solidFill>
                <a:srgbClr val="DB8EC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56AD786C-0F21-046C-C733-1DC14EA46CB4}"/>
                  </a:ext>
                </a:extLst>
              </p:cNvPr>
              <p:cNvSpPr/>
              <p:nvPr/>
            </p:nvSpPr>
            <p:spPr>
              <a:xfrm>
                <a:off x="8064500" y="5232400"/>
                <a:ext cx="355600" cy="355600"/>
              </a:xfrm>
              <a:prstGeom prst="rect">
                <a:avLst/>
              </a:prstGeom>
              <a:solidFill>
                <a:srgbClr val="DB8EC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775E93B1-459C-D626-51D6-F98FBF2A650C}"/>
                  </a:ext>
                </a:extLst>
              </p:cNvPr>
              <p:cNvSpPr/>
              <p:nvPr/>
            </p:nvSpPr>
            <p:spPr>
              <a:xfrm>
                <a:off x="8420100" y="5232400"/>
                <a:ext cx="355600" cy="355600"/>
              </a:xfrm>
              <a:prstGeom prst="rect">
                <a:avLst/>
              </a:prstGeom>
              <a:solidFill>
                <a:srgbClr val="DB8EC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0186286-59EE-C755-FA72-8BA96746FCB2}"/>
                </a:ext>
              </a:extLst>
            </p:cNvPr>
            <p:cNvSpPr/>
            <p:nvPr/>
          </p:nvSpPr>
          <p:spPr>
            <a:xfrm>
              <a:off x="6299200" y="5040441"/>
              <a:ext cx="355600" cy="355600"/>
            </a:xfrm>
            <a:prstGeom prst="rect">
              <a:avLst/>
            </a:prstGeom>
            <a:solidFill>
              <a:srgbClr val="EBCA0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669ADE8-82A9-D3D0-B6C7-7ED7D99FC2CC}"/>
                </a:ext>
              </a:extLst>
            </p:cNvPr>
            <p:cNvCxnSpPr>
              <a:stCxn id="86" idx="2"/>
              <a:endCxn id="96" idx="1"/>
            </p:cNvCxnSpPr>
            <p:nvPr/>
          </p:nvCxnSpPr>
          <p:spPr>
            <a:xfrm>
              <a:off x="5867401" y="5218241"/>
              <a:ext cx="4317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Elbow Connector 113">
              <a:extLst>
                <a:ext uri="{FF2B5EF4-FFF2-40B4-BE49-F238E27FC236}">
                  <a16:creationId xmlns:a16="http://schemas.microsoft.com/office/drawing/2014/main" id="{FB4B55E2-4B53-3606-57BE-1E5B2BA7B231}"/>
                </a:ext>
              </a:extLst>
            </p:cNvPr>
            <p:cNvCxnSpPr>
              <a:stCxn id="83" idx="2"/>
              <a:endCxn id="87" idx="1"/>
            </p:cNvCxnSpPr>
            <p:nvPr/>
          </p:nvCxnSpPr>
          <p:spPr>
            <a:xfrm>
              <a:off x="5867401" y="6310441"/>
              <a:ext cx="419099" cy="21340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Elbow Connector 115">
              <a:extLst>
                <a:ext uri="{FF2B5EF4-FFF2-40B4-BE49-F238E27FC236}">
                  <a16:creationId xmlns:a16="http://schemas.microsoft.com/office/drawing/2014/main" id="{17CC75EB-0648-5504-9FAE-FAA32929A4C2}"/>
                </a:ext>
              </a:extLst>
            </p:cNvPr>
            <p:cNvCxnSpPr>
              <a:stCxn id="84" idx="2"/>
              <a:endCxn id="89" idx="1"/>
            </p:cNvCxnSpPr>
            <p:nvPr/>
          </p:nvCxnSpPr>
          <p:spPr>
            <a:xfrm>
              <a:off x="5867401" y="5942141"/>
              <a:ext cx="419099" cy="152827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Elbow Connector 117">
              <a:extLst>
                <a:ext uri="{FF2B5EF4-FFF2-40B4-BE49-F238E27FC236}">
                  <a16:creationId xmlns:a16="http://schemas.microsoft.com/office/drawing/2014/main" id="{FD4D86B6-E04B-4A6F-54D3-17E514B367C9}"/>
                </a:ext>
              </a:extLst>
            </p:cNvPr>
            <p:cNvCxnSpPr>
              <a:stCxn id="85" idx="2"/>
              <a:endCxn id="93" idx="1"/>
            </p:cNvCxnSpPr>
            <p:nvPr/>
          </p:nvCxnSpPr>
          <p:spPr>
            <a:xfrm>
              <a:off x="5867401" y="5573841"/>
              <a:ext cx="419099" cy="9224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1169DB5-F63D-2804-F1FE-B6E362D1B295}"/>
              </a:ext>
            </a:extLst>
          </p:cNvPr>
          <p:cNvSpPr txBox="1"/>
          <p:nvPr/>
        </p:nvSpPr>
        <p:spPr>
          <a:xfrm>
            <a:off x="5355745" y="6440483"/>
            <a:ext cx="2140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Adjacency List - like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947C19C-8DA3-3178-106C-5A54D7D14E85}"/>
              </a:ext>
            </a:extLst>
          </p:cNvPr>
          <p:cNvGrpSpPr/>
          <p:nvPr/>
        </p:nvGrpSpPr>
        <p:grpSpPr>
          <a:xfrm>
            <a:off x="7898604" y="4671840"/>
            <a:ext cx="3944151" cy="1625600"/>
            <a:chOff x="8120849" y="4681195"/>
            <a:chExt cx="3944151" cy="1625600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1548A0D-5B29-6964-CFD7-BF3BF55D211B}"/>
                </a:ext>
              </a:extLst>
            </p:cNvPr>
            <p:cNvSpPr>
              <a:spLocks/>
            </p:cNvSpPr>
            <p:nvPr/>
          </p:nvSpPr>
          <p:spPr>
            <a:xfrm>
              <a:off x="9042399" y="5221389"/>
              <a:ext cx="712800" cy="356400"/>
            </a:xfrm>
            <a:prstGeom prst="rect">
              <a:avLst/>
            </a:prstGeom>
            <a:solidFill>
              <a:srgbClr val="AAD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60D0041-49D6-AD8F-A48D-6A15FE9C1412}"/>
                </a:ext>
              </a:extLst>
            </p:cNvPr>
            <p:cNvSpPr/>
            <p:nvPr/>
          </p:nvSpPr>
          <p:spPr>
            <a:xfrm>
              <a:off x="10731500" y="5197217"/>
              <a:ext cx="712800" cy="355600"/>
            </a:xfrm>
            <a:prstGeom prst="rect">
              <a:avLst/>
            </a:prstGeom>
            <a:solidFill>
              <a:srgbClr val="E3AC6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E585C303-EC03-DE69-AEEE-7CE795C071D9}"/>
                </a:ext>
              </a:extLst>
            </p:cNvPr>
            <p:cNvSpPr/>
            <p:nvPr/>
          </p:nvSpPr>
          <p:spPr>
            <a:xfrm>
              <a:off x="10083800" y="4681195"/>
              <a:ext cx="712800" cy="355600"/>
            </a:xfrm>
            <a:prstGeom prst="rect">
              <a:avLst/>
            </a:prstGeom>
            <a:solidFill>
              <a:srgbClr val="C7C09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989963A-9144-2E8D-625E-0FD51192FAC2}"/>
                </a:ext>
              </a:extLst>
            </p:cNvPr>
            <p:cNvSpPr/>
            <p:nvPr/>
          </p:nvSpPr>
          <p:spPr>
            <a:xfrm>
              <a:off x="10629900" y="5951195"/>
              <a:ext cx="355600" cy="355600"/>
            </a:xfrm>
            <a:prstGeom prst="rect">
              <a:avLst/>
            </a:prstGeom>
            <a:solidFill>
              <a:srgbClr val="DB8EC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183BDF2-1070-030C-EDDC-64492850141A}"/>
                </a:ext>
              </a:extLst>
            </p:cNvPr>
            <p:cNvSpPr/>
            <p:nvPr/>
          </p:nvSpPr>
          <p:spPr>
            <a:xfrm>
              <a:off x="10998200" y="5951195"/>
              <a:ext cx="355600" cy="355600"/>
            </a:xfrm>
            <a:prstGeom prst="rect">
              <a:avLst/>
            </a:prstGeom>
            <a:solidFill>
              <a:srgbClr val="DB8EC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A3551449-3901-E5C8-EFEA-EAE15E198320}"/>
                </a:ext>
              </a:extLst>
            </p:cNvPr>
            <p:cNvSpPr/>
            <p:nvPr/>
          </p:nvSpPr>
          <p:spPr>
            <a:xfrm>
              <a:off x="11353800" y="5951195"/>
              <a:ext cx="355600" cy="355600"/>
            </a:xfrm>
            <a:prstGeom prst="rect">
              <a:avLst/>
            </a:prstGeom>
            <a:solidFill>
              <a:srgbClr val="DB8EC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C8FD168-46FA-3535-D7A9-214A5F7E69F5}"/>
                </a:ext>
              </a:extLst>
            </p:cNvPr>
            <p:cNvSpPr/>
            <p:nvPr/>
          </p:nvSpPr>
          <p:spPr>
            <a:xfrm>
              <a:off x="11709400" y="5951195"/>
              <a:ext cx="355600" cy="355600"/>
            </a:xfrm>
            <a:prstGeom prst="rect">
              <a:avLst/>
            </a:prstGeom>
            <a:solidFill>
              <a:srgbClr val="EBCA0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085C708-D249-5F94-5D03-0307F678C64C}"/>
                </a:ext>
              </a:extLst>
            </p:cNvPr>
            <p:cNvSpPr/>
            <p:nvPr/>
          </p:nvSpPr>
          <p:spPr>
            <a:xfrm>
              <a:off x="8127999" y="5938922"/>
              <a:ext cx="355600" cy="355600"/>
            </a:xfrm>
            <a:prstGeom prst="rect">
              <a:avLst/>
            </a:prstGeom>
            <a:solidFill>
              <a:srgbClr val="BACB8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83D09D4-01E5-7489-0751-3BF11F113590}"/>
                </a:ext>
              </a:extLst>
            </p:cNvPr>
            <p:cNvSpPr/>
            <p:nvPr/>
          </p:nvSpPr>
          <p:spPr>
            <a:xfrm>
              <a:off x="8496299" y="5938922"/>
              <a:ext cx="355600" cy="355600"/>
            </a:xfrm>
            <a:prstGeom prst="rect">
              <a:avLst/>
            </a:prstGeom>
            <a:solidFill>
              <a:srgbClr val="BACB8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F39DB6A-E81E-D5D0-3797-5C76A80A14EF}"/>
                </a:ext>
              </a:extLst>
            </p:cNvPr>
            <p:cNvSpPr/>
            <p:nvPr/>
          </p:nvSpPr>
          <p:spPr>
            <a:xfrm>
              <a:off x="8864599" y="5938922"/>
              <a:ext cx="355600" cy="355600"/>
            </a:xfrm>
            <a:prstGeom prst="rect">
              <a:avLst/>
            </a:prstGeom>
            <a:solidFill>
              <a:srgbClr val="85B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6C92227-3839-5B97-1F25-EF6AC62C0A24}"/>
                </a:ext>
              </a:extLst>
            </p:cNvPr>
            <p:cNvSpPr/>
            <p:nvPr/>
          </p:nvSpPr>
          <p:spPr>
            <a:xfrm>
              <a:off x="9220199" y="5938922"/>
              <a:ext cx="355600" cy="355600"/>
            </a:xfrm>
            <a:prstGeom prst="rect">
              <a:avLst/>
            </a:prstGeom>
            <a:solidFill>
              <a:srgbClr val="85B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293B3C7-4295-FB40-B291-42FA48D07F49}"/>
                </a:ext>
              </a:extLst>
            </p:cNvPr>
            <p:cNvSpPr/>
            <p:nvPr/>
          </p:nvSpPr>
          <p:spPr>
            <a:xfrm>
              <a:off x="9575799" y="5938922"/>
              <a:ext cx="355600" cy="355600"/>
            </a:xfrm>
            <a:prstGeom prst="rect">
              <a:avLst/>
            </a:prstGeom>
            <a:solidFill>
              <a:srgbClr val="85B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9C4EE40-1CFC-B5AC-3FC8-8D5444913E54}"/>
                </a:ext>
              </a:extLst>
            </p:cNvPr>
            <p:cNvSpPr/>
            <p:nvPr/>
          </p:nvSpPr>
          <p:spPr>
            <a:xfrm>
              <a:off x="9918699" y="5938922"/>
              <a:ext cx="355600" cy="355600"/>
            </a:xfrm>
            <a:prstGeom prst="rect">
              <a:avLst/>
            </a:prstGeom>
            <a:solidFill>
              <a:srgbClr val="85B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117EF4D1-30E4-18F4-D7F7-98F77F1E540F}"/>
                </a:ext>
              </a:extLst>
            </p:cNvPr>
            <p:cNvCxnSpPr>
              <a:stCxn id="123" idx="1"/>
            </p:cNvCxnSpPr>
            <p:nvPr/>
          </p:nvCxnSpPr>
          <p:spPr>
            <a:xfrm flipH="1">
              <a:off x="8120849" y="5399589"/>
              <a:ext cx="921550" cy="5516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F0CB45DC-4DF6-FEAB-6CB4-E26D5222C95E}"/>
                </a:ext>
              </a:extLst>
            </p:cNvPr>
            <p:cNvCxnSpPr>
              <a:stCxn id="123" idx="3"/>
            </p:cNvCxnSpPr>
            <p:nvPr/>
          </p:nvCxnSpPr>
          <p:spPr>
            <a:xfrm>
              <a:off x="9755199" y="5399589"/>
              <a:ext cx="519100" cy="5393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753CF742-9B26-7E85-EB32-37E737EC9B62}"/>
                </a:ext>
              </a:extLst>
            </p:cNvPr>
            <p:cNvCxnSpPr>
              <a:stCxn id="124" idx="1"/>
            </p:cNvCxnSpPr>
            <p:nvPr/>
          </p:nvCxnSpPr>
          <p:spPr>
            <a:xfrm flipH="1">
              <a:off x="10629900" y="5375017"/>
              <a:ext cx="101600" cy="6117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D7CE3F0C-4316-5787-8186-D62663939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2700" y="5375017"/>
              <a:ext cx="622300" cy="576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77E03200-3944-C3B9-0E12-904FE0BBC4EE}"/>
                </a:ext>
              </a:extLst>
            </p:cNvPr>
            <p:cNvCxnSpPr>
              <a:stCxn id="126" idx="1"/>
              <a:endCxn id="123" idx="0"/>
            </p:cNvCxnSpPr>
            <p:nvPr/>
          </p:nvCxnSpPr>
          <p:spPr>
            <a:xfrm flipH="1">
              <a:off x="9398799" y="4858995"/>
              <a:ext cx="685001" cy="3623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3214DC05-28AE-8A6E-733A-05F8988EF257}"/>
                </a:ext>
              </a:extLst>
            </p:cNvPr>
            <p:cNvCxnSpPr>
              <a:cxnSpLocks/>
            </p:cNvCxnSpPr>
            <p:nvPr/>
          </p:nvCxnSpPr>
          <p:spPr>
            <a:xfrm>
              <a:off x="10795000" y="4858994"/>
              <a:ext cx="292100" cy="3556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96502E99-DD3D-79F6-1C91-4C4ECC2F6537}"/>
              </a:ext>
            </a:extLst>
          </p:cNvPr>
          <p:cNvSpPr txBox="1"/>
          <p:nvPr/>
        </p:nvSpPr>
        <p:spPr>
          <a:xfrm>
            <a:off x="9220199" y="6440483"/>
            <a:ext cx="1447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Tree– Based </a:t>
            </a:r>
          </a:p>
        </p:txBody>
      </p:sp>
    </p:spTree>
    <p:extLst>
      <p:ext uri="{BB962C8B-B14F-4D97-AF65-F5344CB8AC3E}">
        <p14:creationId xmlns:p14="http://schemas.microsoft.com/office/powerpoint/2010/main" val="2134712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D206EB-3CC3-D49D-A5E6-1B09790B3B82}"/>
              </a:ext>
            </a:extLst>
          </p:cNvPr>
          <p:cNvSpPr txBox="1"/>
          <p:nvPr/>
        </p:nvSpPr>
        <p:spPr>
          <a:xfrm>
            <a:off x="1702965" y="956345"/>
            <a:ext cx="58135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Rotate the two gradient images, aligning the in-memory systems and then talk about the representations, and how they are same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Transient Attributes vs Properties in a LPG – you never want to return transient </a:t>
            </a:r>
            <a:r>
              <a:rPr lang="en-US" dirty="0" err="1"/>
              <a:t>attrs</a:t>
            </a:r>
            <a:r>
              <a:rPr lang="en-US" dirty="0"/>
              <a:t> or query them.</a:t>
            </a:r>
          </a:p>
          <a:p>
            <a:r>
              <a:rPr lang="en-US" dirty="0"/>
              <a:t>When the algo finishes, persist them as </a:t>
            </a:r>
            <a:r>
              <a:rPr lang="en-US"/>
              <a:t>actual 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93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3385</TotalTime>
  <Words>391</Words>
  <Application>Microsoft Macintosh PowerPoint</Application>
  <PresentationFormat>Widescreen</PresentationFormat>
  <Paragraphs>72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Design Space for GPS</vt:lpstr>
      <vt:lpstr>PowerPoint Presentation</vt:lpstr>
      <vt:lpstr>Static GPS Classification</vt:lpstr>
      <vt:lpstr>In-memory/external System Continuum for Static GPS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6</cp:revision>
  <dcterms:created xsi:type="dcterms:W3CDTF">2024-06-19T23:08:29Z</dcterms:created>
  <dcterms:modified xsi:type="dcterms:W3CDTF">2024-06-22T23:29:20Z</dcterms:modified>
</cp:coreProperties>
</file>