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64" r:id="rId3"/>
    <p:sldId id="285" r:id="rId4"/>
    <p:sldId id="265" r:id="rId5"/>
    <p:sldId id="268" r:id="rId6"/>
    <p:sldId id="269" r:id="rId7"/>
    <p:sldId id="270" r:id="rId8"/>
    <p:sldId id="272" r:id="rId9"/>
    <p:sldId id="279" r:id="rId10"/>
    <p:sldId id="284" r:id="rId11"/>
    <p:sldId id="294" r:id="rId12"/>
    <p:sldId id="281" r:id="rId13"/>
    <p:sldId id="273" r:id="rId14"/>
    <p:sldId id="274" r:id="rId15"/>
    <p:sldId id="286" r:id="rId16"/>
    <p:sldId id="266" r:id="rId17"/>
    <p:sldId id="267" r:id="rId18"/>
    <p:sldId id="275" r:id="rId19"/>
    <p:sldId id="287" r:id="rId20"/>
    <p:sldId id="291" r:id="rId21"/>
    <p:sldId id="292" r:id="rId22"/>
    <p:sldId id="293" r:id="rId23"/>
    <p:sldId id="276" r:id="rId24"/>
    <p:sldId id="277" r:id="rId25"/>
    <p:sldId id="278" r:id="rId26"/>
    <p:sldId id="290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A0E86A7-7AF9-524F-87D2-D8E1696903DC}">
          <p14:sldIdLst>
            <p14:sldId id="256"/>
            <p14:sldId id="264"/>
            <p14:sldId id="285"/>
            <p14:sldId id="265"/>
            <p14:sldId id="268"/>
            <p14:sldId id="269"/>
            <p14:sldId id="270"/>
            <p14:sldId id="272"/>
            <p14:sldId id="279"/>
            <p14:sldId id="284"/>
            <p14:sldId id="294"/>
            <p14:sldId id="281"/>
            <p14:sldId id="273"/>
            <p14:sldId id="274"/>
            <p14:sldId id="286"/>
            <p14:sldId id="266"/>
            <p14:sldId id="267"/>
          </p14:sldIdLst>
        </p14:section>
        <p14:section name="Section B: What you need to know" id="{9B0E91EB-951F-CB4A-89F9-031EF09BD6DC}">
          <p14:sldIdLst>
            <p14:sldId id="275"/>
            <p14:sldId id="287"/>
            <p14:sldId id="291"/>
            <p14:sldId id="292"/>
            <p14:sldId id="293"/>
            <p14:sldId id="276"/>
            <p14:sldId id="277"/>
            <p14:sldId id="278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D1F6"/>
    <a:srgbClr val="009FD7"/>
    <a:srgbClr val="0564B8"/>
    <a:srgbClr val="FDC70C"/>
    <a:srgbClr val="FFF33B"/>
    <a:srgbClr val="F3903F"/>
    <a:srgbClr val="ED683C"/>
    <a:srgbClr val="E93E3A"/>
    <a:srgbClr val="FF001D"/>
    <a:srgbClr val="D74B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8"/>
    <p:restoredTop sz="89214"/>
  </p:normalViewPr>
  <p:slideViewPr>
    <p:cSldViewPr snapToGrid="0">
      <p:cViewPr varScale="1">
        <p:scale>
          <a:sx n="153" d="100"/>
          <a:sy n="153" d="100"/>
        </p:scale>
        <p:origin x="176" y="28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9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7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22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19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44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75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49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73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62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78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87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9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Space for GPS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Section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3472962" y="316522"/>
            <a:ext cx="1969477" cy="95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708136" y="641814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659424" y="1890345"/>
            <a:ext cx="112883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3668862" y="1890346"/>
            <a:ext cx="1577676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6716817" y="1890346"/>
            <a:ext cx="941283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23842" y="1274884"/>
            <a:ext cx="3233859" cy="615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4457700" y="1274884"/>
            <a:ext cx="1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457701" y="1274884"/>
            <a:ext cx="2729758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430824" y="2589334"/>
            <a:ext cx="2268415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6127311" y="2587097"/>
            <a:ext cx="2585865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3668862" y="2587097"/>
            <a:ext cx="1717137" cy="73866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28" name="Google Shape;60;p14">
            <a:extLst>
              <a:ext uri="{FF2B5EF4-FFF2-40B4-BE49-F238E27FC236}">
                <a16:creationId xmlns:a16="http://schemas.microsoft.com/office/drawing/2014/main" id="{8F83FE0E-452E-F3D6-6B51-3758C7692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81" y="223003"/>
            <a:ext cx="273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</a:rPr>
              <a:t>Space of Graph Processing System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8D610D-6FAB-24D6-86FB-155D688CD912}"/>
              </a:ext>
            </a:extLst>
          </p:cNvPr>
          <p:cNvSpPr txBox="1"/>
          <p:nvPr/>
        </p:nvSpPr>
        <p:spPr>
          <a:xfrm>
            <a:off x="1831506" y="4145622"/>
            <a:ext cx="5480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RDF graphs exist, I don’t know anything about them</a:t>
            </a:r>
          </a:p>
        </p:txBody>
      </p:sp>
    </p:spTree>
    <p:extLst>
      <p:ext uri="{BB962C8B-B14F-4D97-AF65-F5344CB8AC3E}">
        <p14:creationId xmlns:p14="http://schemas.microsoft.com/office/powerpoint/2010/main" val="368888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3472962" y="316522"/>
            <a:ext cx="1969477" cy="95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708136" y="641814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659424" y="1890345"/>
            <a:ext cx="112883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3668862" y="1890346"/>
            <a:ext cx="1577676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6716817" y="1890346"/>
            <a:ext cx="941283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23842" y="1274884"/>
            <a:ext cx="3233859" cy="615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4457700" y="1274884"/>
            <a:ext cx="1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457701" y="1274884"/>
            <a:ext cx="2729758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430824" y="2589334"/>
            <a:ext cx="2268415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6127311" y="2587097"/>
            <a:ext cx="2585865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3668862" y="2587097"/>
            <a:ext cx="1717137" cy="73866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7E03F-8570-DFA1-E45B-D0AC663DD3AA}"/>
              </a:ext>
            </a:extLst>
          </p:cNvPr>
          <p:cNvSpPr txBox="1"/>
          <p:nvPr/>
        </p:nvSpPr>
        <p:spPr>
          <a:xfrm>
            <a:off x="430824" y="3868616"/>
            <a:ext cx="5803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combinations do not make sense: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Structural + static + Point Queries</a:t>
            </a:r>
          </a:p>
          <a:p>
            <a:endParaRPr lang="en-US" sz="2000" dirty="0"/>
          </a:p>
        </p:txBody>
      </p:sp>
      <p:sp>
        <p:nvSpPr>
          <p:cNvPr id="12" name="Google Shape;60;p14">
            <a:extLst>
              <a:ext uri="{FF2B5EF4-FFF2-40B4-BE49-F238E27FC236}">
                <a16:creationId xmlns:a16="http://schemas.microsoft.com/office/drawing/2014/main" id="{413AF965-6D7F-FCDA-36B7-4B4D1042D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81" y="223003"/>
            <a:ext cx="273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</a:rPr>
              <a:t>Space of Graph Processing System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1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3472962" y="316522"/>
            <a:ext cx="1969477" cy="95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708136" y="641814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659424" y="1890345"/>
            <a:ext cx="112883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3668862" y="1890346"/>
            <a:ext cx="1577676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6716817" y="1890346"/>
            <a:ext cx="941283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23842" y="1274884"/>
            <a:ext cx="3233859" cy="615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4457700" y="1274884"/>
            <a:ext cx="1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457701" y="1274884"/>
            <a:ext cx="2729758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430824" y="2589334"/>
            <a:ext cx="2268415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6127311" y="2587097"/>
            <a:ext cx="2585865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3668862" y="2587097"/>
            <a:ext cx="1717137" cy="73866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3975059-D484-8F92-3073-3E4187BC0285}"/>
              </a:ext>
            </a:extLst>
          </p:cNvPr>
          <p:cNvSpPr/>
          <p:nvPr/>
        </p:nvSpPr>
        <p:spPr>
          <a:xfrm>
            <a:off x="220133" y="2438400"/>
            <a:ext cx="8288867" cy="668867"/>
          </a:xfrm>
          <a:custGeom>
            <a:avLst/>
            <a:gdLst>
              <a:gd name="connsiteX0" fmla="*/ 101600 w 8288867"/>
              <a:gd name="connsiteY0" fmla="*/ 0 h 668867"/>
              <a:gd name="connsiteX1" fmla="*/ 76200 w 8288867"/>
              <a:gd name="connsiteY1" fmla="*/ 59267 h 668867"/>
              <a:gd name="connsiteX2" fmla="*/ 50800 w 8288867"/>
              <a:gd name="connsiteY2" fmla="*/ 135467 h 668867"/>
              <a:gd name="connsiteX3" fmla="*/ 8467 w 8288867"/>
              <a:gd name="connsiteY3" fmla="*/ 237067 h 668867"/>
              <a:gd name="connsiteX4" fmla="*/ 0 w 8288867"/>
              <a:gd name="connsiteY4" fmla="*/ 296333 h 668867"/>
              <a:gd name="connsiteX5" fmla="*/ 16934 w 8288867"/>
              <a:gd name="connsiteY5" fmla="*/ 397933 h 668867"/>
              <a:gd name="connsiteX6" fmla="*/ 33867 w 8288867"/>
              <a:gd name="connsiteY6" fmla="*/ 423333 h 668867"/>
              <a:gd name="connsiteX7" fmla="*/ 50800 w 8288867"/>
              <a:gd name="connsiteY7" fmla="*/ 440267 h 668867"/>
              <a:gd name="connsiteX8" fmla="*/ 76200 w 8288867"/>
              <a:gd name="connsiteY8" fmla="*/ 448733 h 668867"/>
              <a:gd name="connsiteX9" fmla="*/ 93134 w 8288867"/>
              <a:gd name="connsiteY9" fmla="*/ 465667 h 668867"/>
              <a:gd name="connsiteX10" fmla="*/ 160867 w 8288867"/>
              <a:gd name="connsiteY10" fmla="*/ 482600 h 668867"/>
              <a:gd name="connsiteX11" fmla="*/ 203200 w 8288867"/>
              <a:gd name="connsiteY11" fmla="*/ 499533 h 668867"/>
              <a:gd name="connsiteX12" fmla="*/ 237067 w 8288867"/>
              <a:gd name="connsiteY12" fmla="*/ 508000 h 668867"/>
              <a:gd name="connsiteX13" fmla="*/ 313267 w 8288867"/>
              <a:gd name="connsiteY13" fmla="*/ 524933 h 668867"/>
              <a:gd name="connsiteX14" fmla="*/ 338667 w 8288867"/>
              <a:gd name="connsiteY14" fmla="*/ 533400 h 668867"/>
              <a:gd name="connsiteX15" fmla="*/ 389467 w 8288867"/>
              <a:gd name="connsiteY15" fmla="*/ 541867 h 668867"/>
              <a:gd name="connsiteX16" fmla="*/ 423334 w 8288867"/>
              <a:gd name="connsiteY16" fmla="*/ 550333 h 668867"/>
              <a:gd name="connsiteX17" fmla="*/ 711200 w 8288867"/>
              <a:gd name="connsiteY17" fmla="*/ 541867 h 668867"/>
              <a:gd name="connsiteX18" fmla="*/ 762000 w 8288867"/>
              <a:gd name="connsiteY18" fmla="*/ 533400 h 668867"/>
              <a:gd name="connsiteX19" fmla="*/ 956734 w 8288867"/>
              <a:gd name="connsiteY19" fmla="*/ 516467 h 668867"/>
              <a:gd name="connsiteX20" fmla="*/ 999067 w 8288867"/>
              <a:gd name="connsiteY20" fmla="*/ 508000 h 668867"/>
              <a:gd name="connsiteX21" fmla="*/ 1363134 w 8288867"/>
              <a:gd name="connsiteY21" fmla="*/ 491067 h 668867"/>
              <a:gd name="connsiteX22" fmla="*/ 1405467 w 8288867"/>
              <a:gd name="connsiteY22" fmla="*/ 482600 h 668867"/>
              <a:gd name="connsiteX23" fmla="*/ 1845734 w 8288867"/>
              <a:gd name="connsiteY23" fmla="*/ 465667 h 668867"/>
              <a:gd name="connsiteX24" fmla="*/ 2091267 w 8288867"/>
              <a:gd name="connsiteY24" fmla="*/ 457200 h 668867"/>
              <a:gd name="connsiteX25" fmla="*/ 2912534 w 8288867"/>
              <a:gd name="connsiteY25" fmla="*/ 474133 h 668867"/>
              <a:gd name="connsiteX26" fmla="*/ 2980267 w 8288867"/>
              <a:gd name="connsiteY26" fmla="*/ 482600 h 668867"/>
              <a:gd name="connsiteX27" fmla="*/ 3081867 w 8288867"/>
              <a:gd name="connsiteY27" fmla="*/ 491067 h 668867"/>
              <a:gd name="connsiteX28" fmla="*/ 3589867 w 8288867"/>
              <a:gd name="connsiteY28" fmla="*/ 508000 h 668867"/>
              <a:gd name="connsiteX29" fmla="*/ 4385734 w 8288867"/>
              <a:gd name="connsiteY29" fmla="*/ 499533 h 668867"/>
              <a:gd name="connsiteX30" fmla="*/ 4487334 w 8288867"/>
              <a:gd name="connsiteY30" fmla="*/ 491067 h 668867"/>
              <a:gd name="connsiteX31" fmla="*/ 5139267 w 8288867"/>
              <a:gd name="connsiteY31" fmla="*/ 482600 h 668867"/>
              <a:gd name="connsiteX32" fmla="*/ 5317067 w 8288867"/>
              <a:gd name="connsiteY32" fmla="*/ 465667 h 668867"/>
              <a:gd name="connsiteX33" fmla="*/ 5664200 w 8288867"/>
              <a:gd name="connsiteY33" fmla="*/ 482600 h 668867"/>
              <a:gd name="connsiteX34" fmla="*/ 5799667 w 8288867"/>
              <a:gd name="connsiteY34" fmla="*/ 491067 h 668867"/>
              <a:gd name="connsiteX35" fmla="*/ 5867400 w 8288867"/>
              <a:gd name="connsiteY35" fmla="*/ 499533 h 668867"/>
              <a:gd name="connsiteX36" fmla="*/ 5977467 w 8288867"/>
              <a:gd name="connsiteY36" fmla="*/ 516467 h 668867"/>
              <a:gd name="connsiteX37" fmla="*/ 6011334 w 8288867"/>
              <a:gd name="connsiteY37" fmla="*/ 524933 h 668867"/>
              <a:gd name="connsiteX38" fmla="*/ 6062134 w 8288867"/>
              <a:gd name="connsiteY38" fmla="*/ 541867 h 668867"/>
              <a:gd name="connsiteX39" fmla="*/ 6155267 w 8288867"/>
              <a:gd name="connsiteY39" fmla="*/ 567267 h 668867"/>
              <a:gd name="connsiteX40" fmla="*/ 6239934 w 8288867"/>
              <a:gd name="connsiteY40" fmla="*/ 592667 h 668867"/>
              <a:gd name="connsiteX41" fmla="*/ 6265334 w 8288867"/>
              <a:gd name="connsiteY41" fmla="*/ 601133 h 668867"/>
              <a:gd name="connsiteX42" fmla="*/ 6341534 w 8288867"/>
              <a:gd name="connsiteY42" fmla="*/ 609600 h 668867"/>
              <a:gd name="connsiteX43" fmla="*/ 6375400 w 8288867"/>
              <a:gd name="connsiteY43" fmla="*/ 618067 h 668867"/>
              <a:gd name="connsiteX44" fmla="*/ 6434667 w 8288867"/>
              <a:gd name="connsiteY44" fmla="*/ 635000 h 668867"/>
              <a:gd name="connsiteX45" fmla="*/ 6493934 w 8288867"/>
              <a:gd name="connsiteY45" fmla="*/ 643467 h 668867"/>
              <a:gd name="connsiteX46" fmla="*/ 6527800 w 8288867"/>
              <a:gd name="connsiteY46" fmla="*/ 651933 h 668867"/>
              <a:gd name="connsiteX47" fmla="*/ 6747934 w 8288867"/>
              <a:gd name="connsiteY47" fmla="*/ 668867 h 668867"/>
              <a:gd name="connsiteX48" fmla="*/ 7027334 w 8288867"/>
              <a:gd name="connsiteY48" fmla="*/ 660400 h 668867"/>
              <a:gd name="connsiteX49" fmla="*/ 7222067 w 8288867"/>
              <a:gd name="connsiteY49" fmla="*/ 643467 h 668867"/>
              <a:gd name="connsiteX50" fmla="*/ 7289800 w 8288867"/>
              <a:gd name="connsiteY50" fmla="*/ 635000 h 668867"/>
              <a:gd name="connsiteX51" fmla="*/ 7594600 w 8288867"/>
              <a:gd name="connsiteY51" fmla="*/ 618067 h 668867"/>
              <a:gd name="connsiteX52" fmla="*/ 7763934 w 8288867"/>
              <a:gd name="connsiteY52" fmla="*/ 601133 h 668867"/>
              <a:gd name="connsiteX53" fmla="*/ 7814734 w 8288867"/>
              <a:gd name="connsiteY53" fmla="*/ 592667 h 668867"/>
              <a:gd name="connsiteX54" fmla="*/ 7907867 w 8288867"/>
              <a:gd name="connsiteY54" fmla="*/ 584200 h 668867"/>
              <a:gd name="connsiteX55" fmla="*/ 7958667 w 8288867"/>
              <a:gd name="connsiteY55" fmla="*/ 567267 h 668867"/>
              <a:gd name="connsiteX56" fmla="*/ 7992534 w 8288867"/>
              <a:gd name="connsiteY56" fmla="*/ 558800 h 668867"/>
              <a:gd name="connsiteX57" fmla="*/ 8094134 w 8288867"/>
              <a:gd name="connsiteY57" fmla="*/ 524933 h 668867"/>
              <a:gd name="connsiteX58" fmla="*/ 8144934 w 8288867"/>
              <a:gd name="connsiteY58" fmla="*/ 508000 h 668867"/>
              <a:gd name="connsiteX59" fmla="*/ 8170334 w 8288867"/>
              <a:gd name="connsiteY59" fmla="*/ 491067 h 668867"/>
              <a:gd name="connsiteX60" fmla="*/ 8195734 w 8288867"/>
              <a:gd name="connsiteY60" fmla="*/ 482600 h 668867"/>
              <a:gd name="connsiteX61" fmla="*/ 8246534 w 8288867"/>
              <a:gd name="connsiteY61" fmla="*/ 448733 h 668867"/>
              <a:gd name="connsiteX62" fmla="*/ 8271934 w 8288867"/>
              <a:gd name="connsiteY62" fmla="*/ 397933 h 668867"/>
              <a:gd name="connsiteX63" fmla="*/ 8288867 w 8288867"/>
              <a:gd name="connsiteY63" fmla="*/ 330200 h 668867"/>
              <a:gd name="connsiteX64" fmla="*/ 8280400 w 8288867"/>
              <a:gd name="connsiteY64" fmla="*/ 211667 h 668867"/>
              <a:gd name="connsiteX65" fmla="*/ 8271934 w 8288867"/>
              <a:gd name="connsiteY65" fmla="*/ 186267 h 668867"/>
              <a:gd name="connsiteX66" fmla="*/ 8204200 w 8288867"/>
              <a:gd name="connsiteY66" fmla="*/ 127000 h 668867"/>
              <a:gd name="connsiteX67" fmla="*/ 8153400 w 8288867"/>
              <a:gd name="connsiteY67" fmla="*/ 93133 h 668867"/>
              <a:gd name="connsiteX68" fmla="*/ 8128000 w 8288867"/>
              <a:gd name="connsiteY68" fmla="*/ 67733 h 668867"/>
              <a:gd name="connsiteX69" fmla="*/ 8009467 w 8288867"/>
              <a:gd name="connsiteY69" fmla="*/ 33867 h 668867"/>
              <a:gd name="connsiteX70" fmla="*/ 7975600 w 8288867"/>
              <a:gd name="connsiteY70" fmla="*/ 25400 h 668867"/>
              <a:gd name="connsiteX71" fmla="*/ 7941734 w 8288867"/>
              <a:gd name="connsiteY71" fmla="*/ 16933 h 668867"/>
              <a:gd name="connsiteX72" fmla="*/ 7848600 w 8288867"/>
              <a:gd name="connsiteY72" fmla="*/ 8467 h 668867"/>
              <a:gd name="connsiteX73" fmla="*/ 7467600 w 8288867"/>
              <a:gd name="connsiteY73" fmla="*/ 16933 h 668867"/>
              <a:gd name="connsiteX74" fmla="*/ 7382934 w 8288867"/>
              <a:gd name="connsiteY74" fmla="*/ 25400 h 668867"/>
              <a:gd name="connsiteX75" fmla="*/ 6747934 w 8288867"/>
              <a:gd name="connsiteY75" fmla="*/ 33867 h 668867"/>
              <a:gd name="connsiteX76" fmla="*/ 6654800 w 8288867"/>
              <a:gd name="connsiteY76" fmla="*/ 42333 h 668867"/>
              <a:gd name="connsiteX77" fmla="*/ 6612467 w 8288867"/>
              <a:gd name="connsiteY77" fmla="*/ 50800 h 668867"/>
              <a:gd name="connsiteX78" fmla="*/ 6129867 w 8288867"/>
              <a:gd name="connsiteY78" fmla="*/ 59267 h 668867"/>
              <a:gd name="connsiteX79" fmla="*/ 5190067 w 8288867"/>
              <a:gd name="connsiteY79" fmla="*/ 59267 h 668867"/>
              <a:gd name="connsiteX80" fmla="*/ 4648200 w 8288867"/>
              <a:gd name="connsiteY80" fmla="*/ 50800 h 668867"/>
              <a:gd name="connsiteX81" fmla="*/ 4301067 w 8288867"/>
              <a:gd name="connsiteY81" fmla="*/ 33867 h 668867"/>
              <a:gd name="connsiteX82" fmla="*/ 4241800 w 8288867"/>
              <a:gd name="connsiteY82" fmla="*/ 25400 h 668867"/>
              <a:gd name="connsiteX83" fmla="*/ 3615267 w 8288867"/>
              <a:gd name="connsiteY83" fmla="*/ 42333 h 668867"/>
              <a:gd name="connsiteX84" fmla="*/ 3344334 w 8288867"/>
              <a:gd name="connsiteY84" fmla="*/ 59267 h 668867"/>
              <a:gd name="connsiteX85" fmla="*/ 2633134 w 8288867"/>
              <a:gd name="connsiteY85" fmla="*/ 67733 h 668867"/>
              <a:gd name="connsiteX86" fmla="*/ 2006600 w 8288867"/>
              <a:gd name="connsiteY86" fmla="*/ 67733 h 668867"/>
              <a:gd name="connsiteX87" fmla="*/ 1913467 w 8288867"/>
              <a:gd name="connsiteY87" fmla="*/ 59267 h 668867"/>
              <a:gd name="connsiteX88" fmla="*/ 1464734 w 8288867"/>
              <a:gd name="connsiteY88" fmla="*/ 42333 h 668867"/>
              <a:gd name="connsiteX89" fmla="*/ 1143000 w 8288867"/>
              <a:gd name="connsiteY89" fmla="*/ 25400 h 668867"/>
              <a:gd name="connsiteX90" fmla="*/ 829734 w 8288867"/>
              <a:gd name="connsiteY90" fmla="*/ 16933 h 668867"/>
              <a:gd name="connsiteX91" fmla="*/ 592667 w 8288867"/>
              <a:gd name="connsiteY91" fmla="*/ 8467 h 668867"/>
              <a:gd name="connsiteX92" fmla="*/ 42334 w 8288867"/>
              <a:gd name="connsiteY92" fmla="*/ 16933 h 66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8288867" h="668867">
                <a:moveTo>
                  <a:pt x="101600" y="0"/>
                </a:moveTo>
                <a:cubicBezTo>
                  <a:pt x="93133" y="19756"/>
                  <a:pt x="83545" y="39068"/>
                  <a:pt x="76200" y="59267"/>
                </a:cubicBezTo>
                <a:cubicBezTo>
                  <a:pt x="47303" y="138736"/>
                  <a:pt x="93928" y="42023"/>
                  <a:pt x="50800" y="135467"/>
                </a:cubicBezTo>
                <a:cubicBezTo>
                  <a:pt x="24018" y="193494"/>
                  <a:pt x="17392" y="187983"/>
                  <a:pt x="8467" y="237067"/>
                </a:cubicBezTo>
                <a:cubicBezTo>
                  <a:pt x="4897" y="256701"/>
                  <a:pt x="2822" y="276578"/>
                  <a:pt x="0" y="296333"/>
                </a:cubicBezTo>
                <a:cubicBezTo>
                  <a:pt x="2683" y="320481"/>
                  <a:pt x="2749" y="369563"/>
                  <a:pt x="16934" y="397933"/>
                </a:cubicBezTo>
                <a:cubicBezTo>
                  <a:pt x="21485" y="407034"/>
                  <a:pt x="27510" y="415387"/>
                  <a:pt x="33867" y="423333"/>
                </a:cubicBezTo>
                <a:cubicBezTo>
                  <a:pt x="38854" y="429566"/>
                  <a:pt x="43955" y="436160"/>
                  <a:pt x="50800" y="440267"/>
                </a:cubicBezTo>
                <a:cubicBezTo>
                  <a:pt x="58453" y="444859"/>
                  <a:pt x="67733" y="445911"/>
                  <a:pt x="76200" y="448733"/>
                </a:cubicBezTo>
                <a:cubicBezTo>
                  <a:pt x="81845" y="454378"/>
                  <a:pt x="86289" y="461560"/>
                  <a:pt x="93134" y="465667"/>
                </a:cubicBezTo>
                <a:cubicBezTo>
                  <a:pt x="108030" y="474604"/>
                  <a:pt x="148734" y="478960"/>
                  <a:pt x="160867" y="482600"/>
                </a:cubicBezTo>
                <a:cubicBezTo>
                  <a:pt x="175424" y="486967"/>
                  <a:pt x="188782" y="494727"/>
                  <a:pt x="203200" y="499533"/>
                </a:cubicBezTo>
                <a:cubicBezTo>
                  <a:pt x="214239" y="503213"/>
                  <a:pt x="225878" y="504803"/>
                  <a:pt x="237067" y="508000"/>
                </a:cubicBezTo>
                <a:cubicBezTo>
                  <a:pt x="295425" y="524674"/>
                  <a:pt x="221594" y="509655"/>
                  <a:pt x="313267" y="524933"/>
                </a:cubicBezTo>
                <a:cubicBezTo>
                  <a:pt x="321734" y="527755"/>
                  <a:pt x="329955" y="531464"/>
                  <a:pt x="338667" y="533400"/>
                </a:cubicBezTo>
                <a:cubicBezTo>
                  <a:pt x="355425" y="537124"/>
                  <a:pt x="372633" y="538500"/>
                  <a:pt x="389467" y="541867"/>
                </a:cubicBezTo>
                <a:cubicBezTo>
                  <a:pt x="400877" y="544149"/>
                  <a:pt x="412045" y="547511"/>
                  <a:pt x="423334" y="550333"/>
                </a:cubicBezTo>
                <a:cubicBezTo>
                  <a:pt x="519289" y="547511"/>
                  <a:pt x="615323" y="546661"/>
                  <a:pt x="711200" y="541867"/>
                </a:cubicBezTo>
                <a:cubicBezTo>
                  <a:pt x="728346" y="541010"/>
                  <a:pt x="744924" y="535166"/>
                  <a:pt x="762000" y="533400"/>
                </a:cubicBezTo>
                <a:cubicBezTo>
                  <a:pt x="826810" y="526695"/>
                  <a:pt x="956734" y="516467"/>
                  <a:pt x="956734" y="516467"/>
                </a:cubicBezTo>
                <a:cubicBezTo>
                  <a:pt x="970845" y="513645"/>
                  <a:pt x="984821" y="510035"/>
                  <a:pt x="999067" y="508000"/>
                </a:cubicBezTo>
                <a:cubicBezTo>
                  <a:pt x="1122655" y="490344"/>
                  <a:pt x="1230105" y="494979"/>
                  <a:pt x="1363134" y="491067"/>
                </a:cubicBezTo>
                <a:cubicBezTo>
                  <a:pt x="1377245" y="488245"/>
                  <a:pt x="1391188" y="484385"/>
                  <a:pt x="1405467" y="482600"/>
                </a:cubicBezTo>
                <a:cubicBezTo>
                  <a:pt x="1544612" y="465206"/>
                  <a:pt x="1724598" y="469128"/>
                  <a:pt x="1845734" y="465667"/>
                </a:cubicBezTo>
                <a:lnTo>
                  <a:pt x="2091267" y="457200"/>
                </a:lnTo>
                <a:lnTo>
                  <a:pt x="2912534" y="474133"/>
                </a:lnTo>
                <a:cubicBezTo>
                  <a:pt x="2935271" y="475007"/>
                  <a:pt x="2957627" y="480336"/>
                  <a:pt x="2980267" y="482600"/>
                </a:cubicBezTo>
                <a:cubicBezTo>
                  <a:pt x="3014082" y="485982"/>
                  <a:pt x="3047953" y="488879"/>
                  <a:pt x="3081867" y="491067"/>
                </a:cubicBezTo>
                <a:cubicBezTo>
                  <a:pt x="3276415" y="503618"/>
                  <a:pt x="3365603" y="502530"/>
                  <a:pt x="3589867" y="508000"/>
                </a:cubicBezTo>
                <a:lnTo>
                  <a:pt x="4385734" y="499533"/>
                </a:lnTo>
                <a:cubicBezTo>
                  <a:pt x="4419712" y="498892"/>
                  <a:pt x="4453359" y="491830"/>
                  <a:pt x="4487334" y="491067"/>
                </a:cubicBezTo>
                <a:lnTo>
                  <a:pt x="5139267" y="482600"/>
                </a:lnTo>
                <a:cubicBezTo>
                  <a:pt x="5208593" y="471045"/>
                  <a:pt x="5230583" y="465667"/>
                  <a:pt x="5317067" y="465667"/>
                </a:cubicBezTo>
                <a:cubicBezTo>
                  <a:pt x="5463035" y="465667"/>
                  <a:pt x="5533098" y="473860"/>
                  <a:pt x="5664200" y="482600"/>
                </a:cubicBezTo>
                <a:cubicBezTo>
                  <a:pt x="5709344" y="485610"/>
                  <a:pt x="5754579" y="487310"/>
                  <a:pt x="5799667" y="491067"/>
                </a:cubicBezTo>
                <a:cubicBezTo>
                  <a:pt x="5822342" y="492957"/>
                  <a:pt x="5844846" y="496526"/>
                  <a:pt x="5867400" y="499533"/>
                </a:cubicBezTo>
                <a:cubicBezTo>
                  <a:pt x="5891802" y="502787"/>
                  <a:pt x="5951593" y="511292"/>
                  <a:pt x="5977467" y="516467"/>
                </a:cubicBezTo>
                <a:cubicBezTo>
                  <a:pt x="5988877" y="518749"/>
                  <a:pt x="6000188" y="521589"/>
                  <a:pt x="6011334" y="524933"/>
                </a:cubicBezTo>
                <a:cubicBezTo>
                  <a:pt x="6028431" y="530062"/>
                  <a:pt x="6044631" y="538367"/>
                  <a:pt x="6062134" y="541867"/>
                </a:cubicBezTo>
                <a:cubicBezTo>
                  <a:pt x="6121975" y="553834"/>
                  <a:pt x="6090809" y="545781"/>
                  <a:pt x="6155267" y="567267"/>
                </a:cubicBezTo>
                <a:cubicBezTo>
                  <a:pt x="6212744" y="586426"/>
                  <a:pt x="6143112" y="563621"/>
                  <a:pt x="6239934" y="592667"/>
                </a:cubicBezTo>
                <a:cubicBezTo>
                  <a:pt x="6248482" y="595231"/>
                  <a:pt x="6256531" y="599666"/>
                  <a:pt x="6265334" y="601133"/>
                </a:cubicBezTo>
                <a:cubicBezTo>
                  <a:pt x="6290543" y="605334"/>
                  <a:pt x="6316134" y="606778"/>
                  <a:pt x="6341534" y="609600"/>
                </a:cubicBezTo>
                <a:cubicBezTo>
                  <a:pt x="6352823" y="612422"/>
                  <a:pt x="6364174" y="615005"/>
                  <a:pt x="6375400" y="618067"/>
                </a:cubicBezTo>
                <a:cubicBezTo>
                  <a:pt x="6395222" y="623473"/>
                  <a:pt x="6414577" y="630695"/>
                  <a:pt x="6434667" y="635000"/>
                </a:cubicBezTo>
                <a:cubicBezTo>
                  <a:pt x="6454180" y="639181"/>
                  <a:pt x="6474300" y="639897"/>
                  <a:pt x="6493934" y="643467"/>
                </a:cubicBezTo>
                <a:cubicBezTo>
                  <a:pt x="6505382" y="645548"/>
                  <a:pt x="6516322" y="650020"/>
                  <a:pt x="6527800" y="651933"/>
                </a:cubicBezTo>
                <a:cubicBezTo>
                  <a:pt x="6601692" y="664248"/>
                  <a:pt x="6671933" y="664645"/>
                  <a:pt x="6747934" y="668867"/>
                </a:cubicBezTo>
                <a:lnTo>
                  <a:pt x="7027334" y="660400"/>
                </a:lnTo>
                <a:cubicBezTo>
                  <a:pt x="7100365" y="657292"/>
                  <a:pt x="7152301" y="651675"/>
                  <a:pt x="7222067" y="643467"/>
                </a:cubicBezTo>
                <a:cubicBezTo>
                  <a:pt x="7244665" y="640809"/>
                  <a:pt x="7267140" y="637060"/>
                  <a:pt x="7289800" y="635000"/>
                </a:cubicBezTo>
                <a:cubicBezTo>
                  <a:pt x="7392967" y="625621"/>
                  <a:pt x="7490147" y="622815"/>
                  <a:pt x="7594600" y="618067"/>
                </a:cubicBezTo>
                <a:cubicBezTo>
                  <a:pt x="7709661" y="598889"/>
                  <a:pt x="7570155" y="620510"/>
                  <a:pt x="7763934" y="601133"/>
                </a:cubicBezTo>
                <a:cubicBezTo>
                  <a:pt x="7781016" y="599425"/>
                  <a:pt x="7797685" y="594673"/>
                  <a:pt x="7814734" y="592667"/>
                </a:cubicBezTo>
                <a:cubicBezTo>
                  <a:pt x="7845693" y="589025"/>
                  <a:pt x="7876823" y="587022"/>
                  <a:pt x="7907867" y="584200"/>
                </a:cubicBezTo>
                <a:cubicBezTo>
                  <a:pt x="7924800" y="578556"/>
                  <a:pt x="7941570" y="572396"/>
                  <a:pt x="7958667" y="567267"/>
                </a:cubicBezTo>
                <a:cubicBezTo>
                  <a:pt x="7969813" y="563923"/>
                  <a:pt x="7981388" y="562144"/>
                  <a:pt x="7992534" y="558800"/>
                </a:cubicBezTo>
                <a:cubicBezTo>
                  <a:pt x="7992574" y="558788"/>
                  <a:pt x="8094095" y="524946"/>
                  <a:pt x="8094134" y="524933"/>
                </a:cubicBezTo>
                <a:cubicBezTo>
                  <a:pt x="8094139" y="524931"/>
                  <a:pt x="8144930" y="508003"/>
                  <a:pt x="8144934" y="508000"/>
                </a:cubicBezTo>
                <a:cubicBezTo>
                  <a:pt x="8153401" y="502356"/>
                  <a:pt x="8161233" y="495618"/>
                  <a:pt x="8170334" y="491067"/>
                </a:cubicBezTo>
                <a:cubicBezTo>
                  <a:pt x="8178316" y="487076"/>
                  <a:pt x="8187932" y="486934"/>
                  <a:pt x="8195734" y="482600"/>
                </a:cubicBezTo>
                <a:cubicBezTo>
                  <a:pt x="8213524" y="472716"/>
                  <a:pt x="8246534" y="448733"/>
                  <a:pt x="8246534" y="448733"/>
                </a:cubicBezTo>
                <a:cubicBezTo>
                  <a:pt x="8264317" y="422057"/>
                  <a:pt x="8263845" y="427592"/>
                  <a:pt x="8271934" y="397933"/>
                </a:cubicBezTo>
                <a:cubicBezTo>
                  <a:pt x="8278057" y="375481"/>
                  <a:pt x="8288867" y="330200"/>
                  <a:pt x="8288867" y="330200"/>
                </a:cubicBezTo>
                <a:cubicBezTo>
                  <a:pt x="8286045" y="290689"/>
                  <a:pt x="8285028" y="251007"/>
                  <a:pt x="8280400" y="211667"/>
                </a:cubicBezTo>
                <a:cubicBezTo>
                  <a:pt x="8279357" y="202804"/>
                  <a:pt x="8277289" y="193407"/>
                  <a:pt x="8271934" y="186267"/>
                </a:cubicBezTo>
                <a:cubicBezTo>
                  <a:pt x="8227964" y="127640"/>
                  <a:pt x="8243370" y="159642"/>
                  <a:pt x="8204200" y="127000"/>
                </a:cubicBezTo>
                <a:cubicBezTo>
                  <a:pt x="8161918" y="91765"/>
                  <a:pt x="8198038" y="108013"/>
                  <a:pt x="8153400" y="93133"/>
                </a:cubicBezTo>
                <a:cubicBezTo>
                  <a:pt x="8144933" y="84666"/>
                  <a:pt x="8138467" y="73548"/>
                  <a:pt x="8128000" y="67733"/>
                </a:cubicBezTo>
                <a:cubicBezTo>
                  <a:pt x="8108125" y="56691"/>
                  <a:pt x="8025409" y="37853"/>
                  <a:pt x="8009467" y="33867"/>
                </a:cubicBezTo>
                <a:lnTo>
                  <a:pt x="7975600" y="25400"/>
                </a:lnTo>
                <a:cubicBezTo>
                  <a:pt x="7964311" y="22578"/>
                  <a:pt x="7953322" y="17986"/>
                  <a:pt x="7941734" y="16933"/>
                </a:cubicBezTo>
                <a:lnTo>
                  <a:pt x="7848600" y="8467"/>
                </a:lnTo>
                <a:lnTo>
                  <a:pt x="7467600" y="16933"/>
                </a:lnTo>
                <a:cubicBezTo>
                  <a:pt x="7439256" y="17964"/>
                  <a:pt x="7411289" y="24733"/>
                  <a:pt x="7382934" y="25400"/>
                </a:cubicBezTo>
                <a:cubicBezTo>
                  <a:pt x="7171307" y="30380"/>
                  <a:pt x="6959601" y="31045"/>
                  <a:pt x="6747934" y="33867"/>
                </a:cubicBezTo>
                <a:cubicBezTo>
                  <a:pt x="6716889" y="36689"/>
                  <a:pt x="6685732" y="38467"/>
                  <a:pt x="6654800" y="42333"/>
                </a:cubicBezTo>
                <a:cubicBezTo>
                  <a:pt x="6640521" y="44118"/>
                  <a:pt x="6626850" y="50336"/>
                  <a:pt x="6612467" y="50800"/>
                </a:cubicBezTo>
                <a:cubicBezTo>
                  <a:pt x="6451659" y="55988"/>
                  <a:pt x="6290734" y="56445"/>
                  <a:pt x="6129867" y="59267"/>
                </a:cubicBezTo>
                <a:cubicBezTo>
                  <a:pt x="5720116" y="82029"/>
                  <a:pt x="6003954" y="69635"/>
                  <a:pt x="5190067" y="59267"/>
                </a:cubicBezTo>
                <a:lnTo>
                  <a:pt x="4648200" y="50800"/>
                </a:lnTo>
                <a:cubicBezTo>
                  <a:pt x="4520113" y="46225"/>
                  <a:pt x="4422145" y="45975"/>
                  <a:pt x="4301067" y="33867"/>
                </a:cubicBezTo>
                <a:cubicBezTo>
                  <a:pt x="4281210" y="31881"/>
                  <a:pt x="4261556" y="28222"/>
                  <a:pt x="4241800" y="25400"/>
                </a:cubicBezTo>
                <a:lnTo>
                  <a:pt x="3615267" y="42333"/>
                </a:lnTo>
                <a:cubicBezTo>
                  <a:pt x="3448030" y="50491"/>
                  <a:pt x="3547246" y="55327"/>
                  <a:pt x="3344334" y="59267"/>
                </a:cubicBezTo>
                <a:lnTo>
                  <a:pt x="2633134" y="67733"/>
                </a:lnTo>
                <a:cubicBezTo>
                  <a:pt x="2368181" y="89813"/>
                  <a:pt x="2508644" y="81487"/>
                  <a:pt x="2006600" y="67733"/>
                </a:cubicBezTo>
                <a:cubicBezTo>
                  <a:pt x="1975439" y="66879"/>
                  <a:pt x="1944575" y="61274"/>
                  <a:pt x="1913467" y="59267"/>
                </a:cubicBezTo>
                <a:cubicBezTo>
                  <a:pt x="1762387" y="49520"/>
                  <a:pt x="1617102" y="46950"/>
                  <a:pt x="1464734" y="42333"/>
                </a:cubicBezTo>
                <a:cubicBezTo>
                  <a:pt x="1335330" y="34246"/>
                  <a:pt x="1280919" y="30075"/>
                  <a:pt x="1143000" y="25400"/>
                </a:cubicBezTo>
                <a:lnTo>
                  <a:pt x="829734" y="16933"/>
                </a:lnTo>
                <a:lnTo>
                  <a:pt x="592667" y="8467"/>
                </a:lnTo>
                <a:lnTo>
                  <a:pt x="42334" y="16933"/>
                </a:lnTo>
              </a:path>
            </a:pathLst>
          </a:custGeom>
          <a:solidFill>
            <a:schemeClr val="accent1">
              <a:lumMod val="20000"/>
              <a:lumOff val="8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C451B-2333-33A3-EED0-A1B600291D25}"/>
              </a:ext>
            </a:extLst>
          </p:cNvPr>
          <p:cNvSpPr txBox="1"/>
          <p:nvPr/>
        </p:nvSpPr>
        <p:spPr>
          <a:xfrm>
            <a:off x="548640" y="3917482"/>
            <a:ext cx="7582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Classification basis</a:t>
            </a:r>
            <a:r>
              <a:rPr lang="en-US" dirty="0"/>
              <a:t>: Programming Model, Computation Model, Data Location, Data Layout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379D3-8E9B-B57E-D084-E04B0F311023}"/>
              </a:ext>
            </a:extLst>
          </p:cNvPr>
          <p:cNvSpPr txBox="1"/>
          <p:nvPr/>
        </p:nvSpPr>
        <p:spPr>
          <a:xfrm>
            <a:off x="550499" y="214811"/>
            <a:ext cx="224300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Static Graph Processing Systems</a:t>
            </a:r>
          </a:p>
        </p:txBody>
      </p:sp>
    </p:spTree>
    <p:extLst>
      <p:ext uri="{BB962C8B-B14F-4D97-AF65-F5344CB8AC3E}">
        <p14:creationId xmlns:p14="http://schemas.microsoft.com/office/powerpoint/2010/main" val="113568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1047F-E16D-A047-C825-117D086FC313}"/>
              </a:ext>
            </a:extLst>
          </p:cNvPr>
          <p:cNvGrpSpPr/>
          <p:nvPr/>
        </p:nvGrpSpPr>
        <p:grpSpPr>
          <a:xfrm>
            <a:off x="220133" y="214811"/>
            <a:ext cx="8748503" cy="3541838"/>
            <a:chOff x="220133" y="297695"/>
            <a:chExt cx="8493043" cy="345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341A21-906B-D546-7B5A-40038D45ED96}"/>
                </a:ext>
              </a:extLst>
            </p:cNvPr>
            <p:cNvSpPr/>
            <p:nvPr/>
          </p:nvSpPr>
          <p:spPr>
            <a:xfrm>
              <a:off x="3472962" y="316522"/>
              <a:ext cx="1969477" cy="958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56559-4ECD-2AF5-0877-8EE301164A04}"/>
                </a:ext>
              </a:extLst>
            </p:cNvPr>
            <p:cNvSpPr txBox="1"/>
            <p:nvPr/>
          </p:nvSpPr>
          <p:spPr>
            <a:xfrm>
              <a:off x="3708136" y="641814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GPS Taxonomy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FF5E44-7EE9-6F5B-5647-1F54AF4B0081}"/>
                </a:ext>
              </a:extLst>
            </p:cNvPr>
            <p:cNvSpPr txBox="1"/>
            <p:nvPr/>
          </p:nvSpPr>
          <p:spPr>
            <a:xfrm>
              <a:off x="659424" y="1890345"/>
              <a:ext cx="1128835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93F84-BEDF-CAD7-E9E3-45F55076B7AD}"/>
                </a:ext>
              </a:extLst>
            </p:cNvPr>
            <p:cNvSpPr txBox="1"/>
            <p:nvPr/>
          </p:nvSpPr>
          <p:spPr>
            <a:xfrm>
              <a:off x="3668862" y="1890346"/>
              <a:ext cx="1577676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Dynamism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2754E1-095E-AD1C-52CD-C89EB4AF8512}"/>
                </a:ext>
              </a:extLst>
            </p:cNvPr>
            <p:cNvSpPr txBox="1"/>
            <p:nvPr/>
          </p:nvSpPr>
          <p:spPr>
            <a:xfrm>
              <a:off x="6716817" y="1890346"/>
              <a:ext cx="941283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Workload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8DC91C-302C-605A-4D95-25230C80D2BA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1223842" y="1274884"/>
              <a:ext cx="3233859" cy="61546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DE0B26-330D-336B-40D1-46571261669F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457700" y="1274884"/>
              <a:ext cx="1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C81CD6-FBEA-63C5-E281-1037E9AA349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>
            <a:xfrm>
              <a:off x="4457701" y="1274884"/>
              <a:ext cx="2729758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A1B085-4EDC-60DD-160D-8AC53C5BB65F}"/>
                </a:ext>
              </a:extLst>
            </p:cNvPr>
            <p:cNvSpPr txBox="1"/>
            <p:nvPr/>
          </p:nvSpPr>
          <p:spPr>
            <a:xfrm>
              <a:off x="430824" y="2589334"/>
              <a:ext cx="2268415" cy="954107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Structural Graphs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Labeled Property Graph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E0FD58-9DE0-92FC-38F4-4BCDF9BD5007}"/>
                </a:ext>
              </a:extLst>
            </p:cNvPr>
            <p:cNvSpPr txBox="1"/>
            <p:nvPr/>
          </p:nvSpPr>
          <p:spPr>
            <a:xfrm>
              <a:off x="6127311" y="2587097"/>
              <a:ext cx="2585865" cy="1169551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Whole-Graph Analytics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Traversals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Local Queries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Neighborhood Queries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739675-501E-1248-CFF8-A7D406A09D16}"/>
                </a:ext>
              </a:extLst>
            </p:cNvPr>
            <p:cNvSpPr txBox="1"/>
            <p:nvPr/>
          </p:nvSpPr>
          <p:spPr>
            <a:xfrm>
              <a:off x="3668862" y="2587097"/>
              <a:ext cx="1717137" cy="738664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Static Graph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Dynamic Graph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3975059-D484-8F92-3073-3E4187BC0285}"/>
                </a:ext>
              </a:extLst>
            </p:cNvPr>
            <p:cNvSpPr/>
            <p:nvPr/>
          </p:nvSpPr>
          <p:spPr>
            <a:xfrm>
              <a:off x="220133" y="2438400"/>
              <a:ext cx="8288867" cy="668867"/>
            </a:xfrm>
            <a:custGeom>
              <a:avLst/>
              <a:gdLst>
                <a:gd name="connsiteX0" fmla="*/ 101600 w 8288867"/>
                <a:gd name="connsiteY0" fmla="*/ 0 h 668867"/>
                <a:gd name="connsiteX1" fmla="*/ 76200 w 8288867"/>
                <a:gd name="connsiteY1" fmla="*/ 59267 h 668867"/>
                <a:gd name="connsiteX2" fmla="*/ 50800 w 8288867"/>
                <a:gd name="connsiteY2" fmla="*/ 135467 h 668867"/>
                <a:gd name="connsiteX3" fmla="*/ 8467 w 8288867"/>
                <a:gd name="connsiteY3" fmla="*/ 237067 h 668867"/>
                <a:gd name="connsiteX4" fmla="*/ 0 w 8288867"/>
                <a:gd name="connsiteY4" fmla="*/ 296333 h 668867"/>
                <a:gd name="connsiteX5" fmla="*/ 16934 w 8288867"/>
                <a:gd name="connsiteY5" fmla="*/ 397933 h 668867"/>
                <a:gd name="connsiteX6" fmla="*/ 33867 w 8288867"/>
                <a:gd name="connsiteY6" fmla="*/ 423333 h 668867"/>
                <a:gd name="connsiteX7" fmla="*/ 50800 w 8288867"/>
                <a:gd name="connsiteY7" fmla="*/ 440267 h 668867"/>
                <a:gd name="connsiteX8" fmla="*/ 76200 w 8288867"/>
                <a:gd name="connsiteY8" fmla="*/ 448733 h 668867"/>
                <a:gd name="connsiteX9" fmla="*/ 93134 w 8288867"/>
                <a:gd name="connsiteY9" fmla="*/ 465667 h 668867"/>
                <a:gd name="connsiteX10" fmla="*/ 160867 w 8288867"/>
                <a:gd name="connsiteY10" fmla="*/ 482600 h 668867"/>
                <a:gd name="connsiteX11" fmla="*/ 203200 w 8288867"/>
                <a:gd name="connsiteY11" fmla="*/ 499533 h 668867"/>
                <a:gd name="connsiteX12" fmla="*/ 237067 w 8288867"/>
                <a:gd name="connsiteY12" fmla="*/ 508000 h 668867"/>
                <a:gd name="connsiteX13" fmla="*/ 313267 w 8288867"/>
                <a:gd name="connsiteY13" fmla="*/ 524933 h 668867"/>
                <a:gd name="connsiteX14" fmla="*/ 338667 w 8288867"/>
                <a:gd name="connsiteY14" fmla="*/ 533400 h 668867"/>
                <a:gd name="connsiteX15" fmla="*/ 389467 w 8288867"/>
                <a:gd name="connsiteY15" fmla="*/ 541867 h 668867"/>
                <a:gd name="connsiteX16" fmla="*/ 423334 w 8288867"/>
                <a:gd name="connsiteY16" fmla="*/ 550333 h 668867"/>
                <a:gd name="connsiteX17" fmla="*/ 711200 w 8288867"/>
                <a:gd name="connsiteY17" fmla="*/ 541867 h 668867"/>
                <a:gd name="connsiteX18" fmla="*/ 762000 w 8288867"/>
                <a:gd name="connsiteY18" fmla="*/ 533400 h 668867"/>
                <a:gd name="connsiteX19" fmla="*/ 956734 w 8288867"/>
                <a:gd name="connsiteY19" fmla="*/ 516467 h 668867"/>
                <a:gd name="connsiteX20" fmla="*/ 999067 w 8288867"/>
                <a:gd name="connsiteY20" fmla="*/ 508000 h 668867"/>
                <a:gd name="connsiteX21" fmla="*/ 1363134 w 8288867"/>
                <a:gd name="connsiteY21" fmla="*/ 491067 h 668867"/>
                <a:gd name="connsiteX22" fmla="*/ 1405467 w 8288867"/>
                <a:gd name="connsiteY22" fmla="*/ 482600 h 668867"/>
                <a:gd name="connsiteX23" fmla="*/ 1845734 w 8288867"/>
                <a:gd name="connsiteY23" fmla="*/ 465667 h 668867"/>
                <a:gd name="connsiteX24" fmla="*/ 2091267 w 8288867"/>
                <a:gd name="connsiteY24" fmla="*/ 457200 h 668867"/>
                <a:gd name="connsiteX25" fmla="*/ 2912534 w 8288867"/>
                <a:gd name="connsiteY25" fmla="*/ 474133 h 668867"/>
                <a:gd name="connsiteX26" fmla="*/ 2980267 w 8288867"/>
                <a:gd name="connsiteY26" fmla="*/ 482600 h 668867"/>
                <a:gd name="connsiteX27" fmla="*/ 3081867 w 8288867"/>
                <a:gd name="connsiteY27" fmla="*/ 491067 h 668867"/>
                <a:gd name="connsiteX28" fmla="*/ 3589867 w 8288867"/>
                <a:gd name="connsiteY28" fmla="*/ 508000 h 668867"/>
                <a:gd name="connsiteX29" fmla="*/ 4385734 w 8288867"/>
                <a:gd name="connsiteY29" fmla="*/ 499533 h 668867"/>
                <a:gd name="connsiteX30" fmla="*/ 4487334 w 8288867"/>
                <a:gd name="connsiteY30" fmla="*/ 491067 h 668867"/>
                <a:gd name="connsiteX31" fmla="*/ 5139267 w 8288867"/>
                <a:gd name="connsiteY31" fmla="*/ 482600 h 668867"/>
                <a:gd name="connsiteX32" fmla="*/ 5317067 w 8288867"/>
                <a:gd name="connsiteY32" fmla="*/ 465667 h 668867"/>
                <a:gd name="connsiteX33" fmla="*/ 5664200 w 8288867"/>
                <a:gd name="connsiteY33" fmla="*/ 482600 h 668867"/>
                <a:gd name="connsiteX34" fmla="*/ 5799667 w 8288867"/>
                <a:gd name="connsiteY34" fmla="*/ 491067 h 668867"/>
                <a:gd name="connsiteX35" fmla="*/ 5867400 w 8288867"/>
                <a:gd name="connsiteY35" fmla="*/ 499533 h 668867"/>
                <a:gd name="connsiteX36" fmla="*/ 5977467 w 8288867"/>
                <a:gd name="connsiteY36" fmla="*/ 516467 h 668867"/>
                <a:gd name="connsiteX37" fmla="*/ 6011334 w 8288867"/>
                <a:gd name="connsiteY37" fmla="*/ 524933 h 668867"/>
                <a:gd name="connsiteX38" fmla="*/ 6062134 w 8288867"/>
                <a:gd name="connsiteY38" fmla="*/ 541867 h 668867"/>
                <a:gd name="connsiteX39" fmla="*/ 6155267 w 8288867"/>
                <a:gd name="connsiteY39" fmla="*/ 567267 h 668867"/>
                <a:gd name="connsiteX40" fmla="*/ 6239934 w 8288867"/>
                <a:gd name="connsiteY40" fmla="*/ 592667 h 668867"/>
                <a:gd name="connsiteX41" fmla="*/ 6265334 w 8288867"/>
                <a:gd name="connsiteY41" fmla="*/ 601133 h 668867"/>
                <a:gd name="connsiteX42" fmla="*/ 6341534 w 8288867"/>
                <a:gd name="connsiteY42" fmla="*/ 609600 h 668867"/>
                <a:gd name="connsiteX43" fmla="*/ 6375400 w 8288867"/>
                <a:gd name="connsiteY43" fmla="*/ 618067 h 668867"/>
                <a:gd name="connsiteX44" fmla="*/ 6434667 w 8288867"/>
                <a:gd name="connsiteY44" fmla="*/ 635000 h 668867"/>
                <a:gd name="connsiteX45" fmla="*/ 6493934 w 8288867"/>
                <a:gd name="connsiteY45" fmla="*/ 643467 h 668867"/>
                <a:gd name="connsiteX46" fmla="*/ 6527800 w 8288867"/>
                <a:gd name="connsiteY46" fmla="*/ 651933 h 668867"/>
                <a:gd name="connsiteX47" fmla="*/ 6747934 w 8288867"/>
                <a:gd name="connsiteY47" fmla="*/ 668867 h 668867"/>
                <a:gd name="connsiteX48" fmla="*/ 7027334 w 8288867"/>
                <a:gd name="connsiteY48" fmla="*/ 660400 h 668867"/>
                <a:gd name="connsiteX49" fmla="*/ 7222067 w 8288867"/>
                <a:gd name="connsiteY49" fmla="*/ 643467 h 668867"/>
                <a:gd name="connsiteX50" fmla="*/ 7289800 w 8288867"/>
                <a:gd name="connsiteY50" fmla="*/ 635000 h 668867"/>
                <a:gd name="connsiteX51" fmla="*/ 7594600 w 8288867"/>
                <a:gd name="connsiteY51" fmla="*/ 618067 h 668867"/>
                <a:gd name="connsiteX52" fmla="*/ 7763934 w 8288867"/>
                <a:gd name="connsiteY52" fmla="*/ 601133 h 668867"/>
                <a:gd name="connsiteX53" fmla="*/ 7814734 w 8288867"/>
                <a:gd name="connsiteY53" fmla="*/ 592667 h 668867"/>
                <a:gd name="connsiteX54" fmla="*/ 7907867 w 8288867"/>
                <a:gd name="connsiteY54" fmla="*/ 584200 h 668867"/>
                <a:gd name="connsiteX55" fmla="*/ 7958667 w 8288867"/>
                <a:gd name="connsiteY55" fmla="*/ 567267 h 668867"/>
                <a:gd name="connsiteX56" fmla="*/ 7992534 w 8288867"/>
                <a:gd name="connsiteY56" fmla="*/ 558800 h 668867"/>
                <a:gd name="connsiteX57" fmla="*/ 8094134 w 8288867"/>
                <a:gd name="connsiteY57" fmla="*/ 524933 h 668867"/>
                <a:gd name="connsiteX58" fmla="*/ 8144934 w 8288867"/>
                <a:gd name="connsiteY58" fmla="*/ 508000 h 668867"/>
                <a:gd name="connsiteX59" fmla="*/ 8170334 w 8288867"/>
                <a:gd name="connsiteY59" fmla="*/ 491067 h 668867"/>
                <a:gd name="connsiteX60" fmla="*/ 8195734 w 8288867"/>
                <a:gd name="connsiteY60" fmla="*/ 482600 h 668867"/>
                <a:gd name="connsiteX61" fmla="*/ 8246534 w 8288867"/>
                <a:gd name="connsiteY61" fmla="*/ 448733 h 668867"/>
                <a:gd name="connsiteX62" fmla="*/ 8271934 w 8288867"/>
                <a:gd name="connsiteY62" fmla="*/ 397933 h 668867"/>
                <a:gd name="connsiteX63" fmla="*/ 8288867 w 8288867"/>
                <a:gd name="connsiteY63" fmla="*/ 330200 h 668867"/>
                <a:gd name="connsiteX64" fmla="*/ 8280400 w 8288867"/>
                <a:gd name="connsiteY64" fmla="*/ 211667 h 668867"/>
                <a:gd name="connsiteX65" fmla="*/ 8271934 w 8288867"/>
                <a:gd name="connsiteY65" fmla="*/ 186267 h 668867"/>
                <a:gd name="connsiteX66" fmla="*/ 8204200 w 8288867"/>
                <a:gd name="connsiteY66" fmla="*/ 127000 h 668867"/>
                <a:gd name="connsiteX67" fmla="*/ 8153400 w 8288867"/>
                <a:gd name="connsiteY67" fmla="*/ 93133 h 668867"/>
                <a:gd name="connsiteX68" fmla="*/ 8128000 w 8288867"/>
                <a:gd name="connsiteY68" fmla="*/ 67733 h 668867"/>
                <a:gd name="connsiteX69" fmla="*/ 8009467 w 8288867"/>
                <a:gd name="connsiteY69" fmla="*/ 33867 h 668867"/>
                <a:gd name="connsiteX70" fmla="*/ 7975600 w 8288867"/>
                <a:gd name="connsiteY70" fmla="*/ 25400 h 668867"/>
                <a:gd name="connsiteX71" fmla="*/ 7941734 w 8288867"/>
                <a:gd name="connsiteY71" fmla="*/ 16933 h 668867"/>
                <a:gd name="connsiteX72" fmla="*/ 7848600 w 8288867"/>
                <a:gd name="connsiteY72" fmla="*/ 8467 h 668867"/>
                <a:gd name="connsiteX73" fmla="*/ 7467600 w 8288867"/>
                <a:gd name="connsiteY73" fmla="*/ 16933 h 668867"/>
                <a:gd name="connsiteX74" fmla="*/ 7382934 w 8288867"/>
                <a:gd name="connsiteY74" fmla="*/ 25400 h 668867"/>
                <a:gd name="connsiteX75" fmla="*/ 6747934 w 8288867"/>
                <a:gd name="connsiteY75" fmla="*/ 33867 h 668867"/>
                <a:gd name="connsiteX76" fmla="*/ 6654800 w 8288867"/>
                <a:gd name="connsiteY76" fmla="*/ 42333 h 668867"/>
                <a:gd name="connsiteX77" fmla="*/ 6612467 w 8288867"/>
                <a:gd name="connsiteY77" fmla="*/ 50800 h 668867"/>
                <a:gd name="connsiteX78" fmla="*/ 6129867 w 8288867"/>
                <a:gd name="connsiteY78" fmla="*/ 59267 h 668867"/>
                <a:gd name="connsiteX79" fmla="*/ 5190067 w 8288867"/>
                <a:gd name="connsiteY79" fmla="*/ 59267 h 668867"/>
                <a:gd name="connsiteX80" fmla="*/ 4648200 w 8288867"/>
                <a:gd name="connsiteY80" fmla="*/ 50800 h 668867"/>
                <a:gd name="connsiteX81" fmla="*/ 4301067 w 8288867"/>
                <a:gd name="connsiteY81" fmla="*/ 33867 h 668867"/>
                <a:gd name="connsiteX82" fmla="*/ 4241800 w 8288867"/>
                <a:gd name="connsiteY82" fmla="*/ 25400 h 668867"/>
                <a:gd name="connsiteX83" fmla="*/ 3615267 w 8288867"/>
                <a:gd name="connsiteY83" fmla="*/ 42333 h 668867"/>
                <a:gd name="connsiteX84" fmla="*/ 3344334 w 8288867"/>
                <a:gd name="connsiteY84" fmla="*/ 59267 h 668867"/>
                <a:gd name="connsiteX85" fmla="*/ 2633134 w 8288867"/>
                <a:gd name="connsiteY85" fmla="*/ 67733 h 668867"/>
                <a:gd name="connsiteX86" fmla="*/ 2006600 w 8288867"/>
                <a:gd name="connsiteY86" fmla="*/ 67733 h 668867"/>
                <a:gd name="connsiteX87" fmla="*/ 1913467 w 8288867"/>
                <a:gd name="connsiteY87" fmla="*/ 59267 h 668867"/>
                <a:gd name="connsiteX88" fmla="*/ 1464734 w 8288867"/>
                <a:gd name="connsiteY88" fmla="*/ 42333 h 668867"/>
                <a:gd name="connsiteX89" fmla="*/ 1143000 w 8288867"/>
                <a:gd name="connsiteY89" fmla="*/ 25400 h 668867"/>
                <a:gd name="connsiteX90" fmla="*/ 829734 w 8288867"/>
                <a:gd name="connsiteY90" fmla="*/ 16933 h 668867"/>
                <a:gd name="connsiteX91" fmla="*/ 592667 w 8288867"/>
                <a:gd name="connsiteY91" fmla="*/ 8467 h 668867"/>
                <a:gd name="connsiteX92" fmla="*/ 42334 w 8288867"/>
                <a:gd name="connsiteY92" fmla="*/ 16933 h 6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288867" h="668867">
                  <a:moveTo>
                    <a:pt x="101600" y="0"/>
                  </a:moveTo>
                  <a:cubicBezTo>
                    <a:pt x="93133" y="19756"/>
                    <a:pt x="83545" y="39068"/>
                    <a:pt x="76200" y="59267"/>
                  </a:cubicBezTo>
                  <a:cubicBezTo>
                    <a:pt x="47303" y="138736"/>
                    <a:pt x="93928" y="42023"/>
                    <a:pt x="50800" y="135467"/>
                  </a:cubicBezTo>
                  <a:cubicBezTo>
                    <a:pt x="24018" y="193494"/>
                    <a:pt x="17392" y="187983"/>
                    <a:pt x="8467" y="237067"/>
                  </a:cubicBezTo>
                  <a:cubicBezTo>
                    <a:pt x="4897" y="256701"/>
                    <a:pt x="2822" y="276578"/>
                    <a:pt x="0" y="296333"/>
                  </a:cubicBezTo>
                  <a:cubicBezTo>
                    <a:pt x="2683" y="320481"/>
                    <a:pt x="2749" y="369563"/>
                    <a:pt x="16934" y="397933"/>
                  </a:cubicBezTo>
                  <a:cubicBezTo>
                    <a:pt x="21485" y="407034"/>
                    <a:pt x="27510" y="415387"/>
                    <a:pt x="33867" y="423333"/>
                  </a:cubicBezTo>
                  <a:cubicBezTo>
                    <a:pt x="38854" y="429566"/>
                    <a:pt x="43955" y="436160"/>
                    <a:pt x="50800" y="440267"/>
                  </a:cubicBezTo>
                  <a:cubicBezTo>
                    <a:pt x="58453" y="444859"/>
                    <a:pt x="67733" y="445911"/>
                    <a:pt x="76200" y="448733"/>
                  </a:cubicBezTo>
                  <a:cubicBezTo>
                    <a:pt x="81845" y="454378"/>
                    <a:pt x="86289" y="461560"/>
                    <a:pt x="93134" y="465667"/>
                  </a:cubicBezTo>
                  <a:cubicBezTo>
                    <a:pt x="108030" y="474604"/>
                    <a:pt x="148734" y="478960"/>
                    <a:pt x="160867" y="482600"/>
                  </a:cubicBezTo>
                  <a:cubicBezTo>
                    <a:pt x="175424" y="486967"/>
                    <a:pt x="188782" y="494727"/>
                    <a:pt x="203200" y="499533"/>
                  </a:cubicBezTo>
                  <a:cubicBezTo>
                    <a:pt x="214239" y="503213"/>
                    <a:pt x="225878" y="504803"/>
                    <a:pt x="237067" y="508000"/>
                  </a:cubicBezTo>
                  <a:cubicBezTo>
                    <a:pt x="295425" y="524674"/>
                    <a:pt x="221594" y="509655"/>
                    <a:pt x="313267" y="524933"/>
                  </a:cubicBezTo>
                  <a:cubicBezTo>
                    <a:pt x="321734" y="527755"/>
                    <a:pt x="329955" y="531464"/>
                    <a:pt x="338667" y="533400"/>
                  </a:cubicBezTo>
                  <a:cubicBezTo>
                    <a:pt x="355425" y="537124"/>
                    <a:pt x="372633" y="538500"/>
                    <a:pt x="389467" y="541867"/>
                  </a:cubicBezTo>
                  <a:cubicBezTo>
                    <a:pt x="400877" y="544149"/>
                    <a:pt x="412045" y="547511"/>
                    <a:pt x="423334" y="550333"/>
                  </a:cubicBezTo>
                  <a:cubicBezTo>
                    <a:pt x="519289" y="547511"/>
                    <a:pt x="615323" y="546661"/>
                    <a:pt x="711200" y="541867"/>
                  </a:cubicBezTo>
                  <a:cubicBezTo>
                    <a:pt x="728346" y="541010"/>
                    <a:pt x="744924" y="535166"/>
                    <a:pt x="762000" y="533400"/>
                  </a:cubicBezTo>
                  <a:cubicBezTo>
                    <a:pt x="826810" y="526695"/>
                    <a:pt x="956734" y="516467"/>
                    <a:pt x="956734" y="516467"/>
                  </a:cubicBezTo>
                  <a:cubicBezTo>
                    <a:pt x="970845" y="513645"/>
                    <a:pt x="984821" y="510035"/>
                    <a:pt x="999067" y="508000"/>
                  </a:cubicBezTo>
                  <a:cubicBezTo>
                    <a:pt x="1122655" y="490344"/>
                    <a:pt x="1230105" y="494979"/>
                    <a:pt x="1363134" y="491067"/>
                  </a:cubicBezTo>
                  <a:cubicBezTo>
                    <a:pt x="1377245" y="488245"/>
                    <a:pt x="1391188" y="484385"/>
                    <a:pt x="1405467" y="482600"/>
                  </a:cubicBezTo>
                  <a:cubicBezTo>
                    <a:pt x="1544612" y="465206"/>
                    <a:pt x="1724598" y="469128"/>
                    <a:pt x="1845734" y="465667"/>
                  </a:cubicBezTo>
                  <a:lnTo>
                    <a:pt x="2091267" y="457200"/>
                  </a:lnTo>
                  <a:lnTo>
                    <a:pt x="2912534" y="474133"/>
                  </a:lnTo>
                  <a:cubicBezTo>
                    <a:pt x="2935271" y="475007"/>
                    <a:pt x="2957627" y="480336"/>
                    <a:pt x="2980267" y="482600"/>
                  </a:cubicBezTo>
                  <a:cubicBezTo>
                    <a:pt x="3014082" y="485982"/>
                    <a:pt x="3047953" y="488879"/>
                    <a:pt x="3081867" y="491067"/>
                  </a:cubicBezTo>
                  <a:cubicBezTo>
                    <a:pt x="3276415" y="503618"/>
                    <a:pt x="3365603" y="502530"/>
                    <a:pt x="3589867" y="508000"/>
                  </a:cubicBezTo>
                  <a:lnTo>
                    <a:pt x="4385734" y="499533"/>
                  </a:lnTo>
                  <a:cubicBezTo>
                    <a:pt x="4419712" y="498892"/>
                    <a:pt x="4453359" y="491830"/>
                    <a:pt x="4487334" y="491067"/>
                  </a:cubicBezTo>
                  <a:lnTo>
                    <a:pt x="5139267" y="482600"/>
                  </a:lnTo>
                  <a:cubicBezTo>
                    <a:pt x="5208593" y="471045"/>
                    <a:pt x="5230583" y="465667"/>
                    <a:pt x="5317067" y="465667"/>
                  </a:cubicBezTo>
                  <a:cubicBezTo>
                    <a:pt x="5463035" y="465667"/>
                    <a:pt x="5533098" y="473860"/>
                    <a:pt x="5664200" y="482600"/>
                  </a:cubicBezTo>
                  <a:cubicBezTo>
                    <a:pt x="5709344" y="485610"/>
                    <a:pt x="5754579" y="487310"/>
                    <a:pt x="5799667" y="491067"/>
                  </a:cubicBezTo>
                  <a:cubicBezTo>
                    <a:pt x="5822342" y="492957"/>
                    <a:pt x="5844846" y="496526"/>
                    <a:pt x="5867400" y="499533"/>
                  </a:cubicBezTo>
                  <a:cubicBezTo>
                    <a:pt x="5891802" y="502787"/>
                    <a:pt x="5951593" y="511292"/>
                    <a:pt x="5977467" y="516467"/>
                  </a:cubicBezTo>
                  <a:cubicBezTo>
                    <a:pt x="5988877" y="518749"/>
                    <a:pt x="6000188" y="521589"/>
                    <a:pt x="6011334" y="524933"/>
                  </a:cubicBezTo>
                  <a:cubicBezTo>
                    <a:pt x="6028431" y="530062"/>
                    <a:pt x="6044631" y="538367"/>
                    <a:pt x="6062134" y="541867"/>
                  </a:cubicBezTo>
                  <a:cubicBezTo>
                    <a:pt x="6121975" y="553834"/>
                    <a:pt x="6090809" y="545781"/>
                    <a:pt x="6155267" y="567267"/>
                  </a:cubicBezTo>
                  <a:cubicBezTo>
                    <a:pt x="6212744" y="586426"/>
                    <a:pt x="6143112" y="563621"/>
                    <a:pt x="6239934" y="592667"/>
                  </a:cubicBezTo>
                  <a:cubicBezTo>
                    <a:pt x="6248482" y="595231"/>
                    <a:pt x="6256531" y="599666"/>
                    <a:pt x="6265334" y="601133"/>
                  </a:cubicBezTo>
                  <a:cubicBezTo>
                    <a:pt x="6290543" y="605334"/>
                    <a:pt x="6316134" y="606778"/>
                    <a:pt x="6341534" y="609600"/>
                  </a:cubicBezTo>
                  <a:cubicBezTo>
                    <a:pt x="6352823" y="612422"/>
                    <a:pt x="6364174" y="615005"/>
                    <a:pt x="6375400" y="618067"/>
                  </a:cubicBezTo>
                  <a:cubicBezTo>
                    <a:pt x="6395222" y="623473"/>
                    <a:pt x="6414577" y="630695"/>
                    <a:pt x="6434667" y="635000"/>
                  </a:cubicBezTo>
                  <a:cubicBezTo>
                    <a:pt x="6454180" y="639181"/>
                    <a:pt x="6474300" y="639897"/>
                    <a:pt x="6493934" y="643467"/>
                  </a:cubicBezTo>
                  <a:cubicBezTo>
                    <a:pt x="6505382" y="645548"/>
                    <a:pt x="6516322" y="650020"/>
                    <a:pt x="6527800" y="651933"/>
                  </a:cubicBezTo>
                  <a:cubicBezTo>
                    <a:pt x="6601692" y="664248"/>
                    <a:pt x="6671933" y="664645"/>
                    <a:pt x="6747934" y="668867"/>
                  </a:cubicBezTo>
                  <a:lnTo>
                    <a:pt x="7027334" y="660400"/>
                  </a:lnTo>
                  <a:cubicBezTo>
                    <a:pt x="7100365" y="657292"/>
                    <a:pt x="7152301" y="651675"/>
                    <a:pt x="7222067" y="643467"/>
                  </a:cubicBezTo>
                  <a:cubicBezTo>
                    <a:pt x="7244665" y="640809"/>
                    <a:pt x="7267140" y="637060"/>
                    <a:pt x="7289800" y="635000"/>
                  </a:cubicBezTo>
                  <a:cubicBezTo>
                    <a:pt x="7392967" y="625621"/>
                    <a:pt x="7490147" y="622815"/>
                    <a:pt x="7594600" y="618067"/>
                  </a:cubicBezTo>
                  <a:cubicBezTo>
                    <a:pt x="7709661" y="598889"/>
                    <a:pt x="7570155" y="620510"/>
                    <a:pt x="7763934" y="601133"/>
                  </a:cubicBezTo>
                  <a:cubicBezTo>
                    <a:pt x="7781016" y="599425"/>
                    <a:pt x="7797685" y="594673"/>
                    <a:pt x="7814734" y="592667"/>
                  </a:cubicBezTo>
                  <a:cubicBezTo>
                    <a:pt x="7845693" y="589025"/>
                    <a:pt x="7876823" y="587022"/>
                    <a:pt x="7907867" y="584200"/>
                  </a:cubicBezTo>
                  <a:cubicBezTo>
                    <a:pt x="7924800" y="578556"/>
                    <a:pt x="7941570" y="572396"/>
                    <a:pt x="7958667" y="567267"/>
                  </a:cubicBezTo>
                  <a:cubicBezTo>
                    <a:pt x="7969813" y="563923"/>
                    <a:pt x="7981388" y="562144"/>
                    <a:pt x="7992534" y="558800"/>
                  </a:cubicBezTo>
                  <a:cubicBezTo>
                    <a:pt x="7992574" y="558788"/>
                    <a:pt x="8094095" y="524946"/>
                    <a:pt x="8094134" y="524933"/>
                  </a:cubicBezTo>
                  <a:cubicBezTo>
                    <a:pt x="8094139" y="524931"/>
                    <a:pt x="8144930" y="508003"/>
                    <a:pt x="8144934" y="508000"/>
                  </a:cubicBezTo>
                  <a:cubicBezTo>
                    <a:pt x="8153401" y="502356"/>
                    <a:pt x="8161233" y="495618"/>
                    <a:pt x="8170334" y="491067"/>
                  </a:cubicBezTo>
                  <a:cubicBezTo>
                    <a:pt x="8178316" y="487076"/>
                    <a:pt x="8187932" y="486934"/>
                    <a:pt x="8195734" y="482600"/>
                  </a:cubicBezTo>
                  <a:cubicBezTo>
                    <a:pt x="8213524" y="472716"/>
                    <a:pt x="8246534" y="448733"/>
                    <a:pt x="8246534" y="448733"/>
                  </a:cubicBezTo>
                  <a:cubicBezTo>
                    <a:pt x="8264317" y="422057"/>
                    <a:pt x="8263845" y="427592"/>
                    <a:pt x="8271934" y="397933"/>
                  </a:cubicBezTo>
                  <a:cubicBezTo>
                    <a:pt x="8278057" y="375481"/>
                    <a:pt x="8288867" y="330200"/>
                    <a:pt x="8288867" y="330200"/>
                  </a:cubicBezTo>
                  <a:cubicBezTo>
                    <a:pt x="8286045" y="290689"/>
                    <a:pt x="8285028" y="251007"/>
                    <a:pt x="8280400" y="211667"/>
                  </a:cubicBezTo>
                  <a:cubicBezTo>
                    <a:pt x="8279357" y="202804"/>
                    <a:pt x="8277289" y="193407"/>
                    <a:pt x="8271934" y="186267"/>
                  </a:cubicBezTo>
                  <a:cubicBezTo>
                    <a:pt x="8227964" y="127640"/>
                    <a:pt x="8243370" y="159642"/>
                    <a:pt x="8204200" y="127000"/>
                  </a:cubicBezTo>
                  <a:cubicBezTo>
                    <a:pt x="8161918" y="91765"/>
                    <a:pt x="8198038" y="108013"/>
                    <a:pt x="8153400" y="93133"/>
                  </a:cubicBezTo>
                  <a:cubicBezTo>
                    <a:pt x="8144933" y="84666"/>
                    <a:pt x="8138467" y="73548"/>
                    <a:pt x="8128000" y="67733"/>
                  </a:cubicBezTo>
                  <a:cubicBezTo>
                    <a:pt x="8108125" y="56691"/>
                    <a:pt x="8025409" y="37853"/>
                    <a:pt x="8009467" y="33867"/>
                  </a:cubicBezTo>
                  <a:lnTo>
                    <a:pt x="7975600" y="25400"/>
                  </a:lnTo>
                  <a:cubicBezTo>
                    <a:pt x="7964311" y="22578"/>
                    <a:pt x="7953322" y="17986"/>
                    <a:pt x="7941734" y="16933"/>
                  </a:cubicBezTo>
                  <a:lnTo>
                    <a:pt x="7848600" y="8467"/>
                  </a:lnTo>
                  <a:lnTo>
                    <a:pt x="7467600" y="16933"/>
                  </a:lnTo>
                  <a:cubicBezTo>
                    <a:pt x="7439256" y="17964"/>
                    <a:pt x="7411289" y="24733"/>
                    <a:pt x="7382934" y="25400"/>
                  </a:cubicBezTo>
                  <a:cubicBezTo>
                    <a:pt x="7171307" y="30380"/>
                    <a:pt x="6959601" y="31045"/>
                    <a:pt x="6747934" y="33867"/>
                  </a:cubicBezTo>
                  <a:cubicBezTo>
                    <a:pt x="6716889" y="36689"/>
                    <a:pt x="6685732" y="38467"/>
                    <a:pt x="6654800" y="42333"/>
                  </a:cubicBezTo>
                  <a:cubicBezTo>
                    <a:pt x="6640521" y="44118"/>
                    <a:pt x="6626850" y="50336"/>
                    <a:pt x="6612467" y="50800"/>
                  </a:cubicBezTo>
                  <a:cubicBezTo>
                    <a:pt x="6451659" y="55988"/>
                    <a:pt x="6290734" y="56445"/>
                    <a:pt x="6129867" y="59267"/>
                  </a:cubicBezTo>
                  <a:cubicBezTo>
                    <a:pt x="5720116" y="82029"/>
                    <a:pt x="6003954" y="69635"/>
                    <a:pt x="5190067" y="59267"/>
                  </a:cubicBezTo>
                  <a:lnTo>
                    <a:pt x="4648200" y="50800"/>
                  </a:lnTo>
                  <a:cubicBezTo>
                    <a:pt x="4520113" y="46225"/>
                    <a:pt x="4422145" y="45975"/>
                    <a:pt x="4301067" y="33867"/>
                  </a:cubicBezTo>
                  <a:cubicBezTo>
                    <a:pt x="4281210" y="31881"/>
                    <a:pt x="4261556" y="28222"/>
                    <a:pt x="4241800" y="25400"/>
                  </a:cubicBezTo>
                  <a:lnTo>
                    <a:pt x="3615267" y="42333"/>
                  </a:lnTo>
                  <a:cubicBezTo>
                    <a:pt x="3448030" y="50491"/>
                    <a:pt x="3547246" y="55327"/>
                    <a:pt x="3344334" y="59267"/>
                  </a:cubicBezTo>
                  <a:lnTo>
                    <a:pt x="2633134" y="67733"/>
                  </a:lnTo>
                  <a:cubicBezTo>
                    <a:pt x="2368181" y="89813"/>
                    <a:pt x="2508644" y="81487"/>
                    <a:pt x="2006600" y="67733"/>
                  </a:cubicBezTo>
                  <a:cubicBezTo>
                    <a:pt x="1975439" y="66879"/>
                    <a:pt x="1944575" y="61274"/>
                    <a:pt x="1913467" y="59267"/>
                  </a:cubicBezTo>
                  <a:cubicBezTo>
                    <a:pt x="1762387" y="49520"/>
                    <a:pt x="1617102" y="46950"/>
                    <a:pt x="1464734" y="42333"/>
                  </a:cubicBezTo>
                  <a:cubicBezTo>
                    <a:pt x="1335330" y="34246"/>
                    <a:pt x="1280919" y="30075"/>
                    <a:pt x="1143000" y="25400"/>
                  </a:cubicBezTo>
                  <a:lnTo>
                    <a:pt x="829734" y="16933"/>
                  </a:lnTo>
                  <a:lnTo>
                    <a:pt x="592667" y="8467"/>
                  </a:lnTo>
                  <a:lnTo>
                    <a:pt x="42334" y="16933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F64617-905F-3091-ABE3-93823BB338FC}"/>
                </a:ext>
              </a:extLst>
            </p:cNvPr>
            <p:cNvSpPr txBox="1"/>
            <p:nvPr/>
          </p:nvSpPr>
          <p:spPr>
            <a:xfrm>
              <a:off x="540852" y="297695"/>
              <a:ext cx="2177507" cy="1217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chemeClr val="accent1"/>
                  </a:solidFill>
                </a:rPr>
                <a:t>Static Graph Processing Systems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B152C6-CEF4-7399-A3BF-981C05AA1C15}"/>
              </a:ext>
            </a:extLst>
          </p:cNvPr>
          <p:cNvSpPr txBox="1"/>
          <p:nvPr/>
        </p:nvSpPr>
        <p:spPr>
          <a:xfrm>
            <a:off x="0" y="3692883"/>
            <a:ext cx="896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Computation Model 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b="1" dirty="0"/>
              <a:t>BSP</a:t>
            </a:r>
            <a:r>
              <a:rPr lang="en-US" sz="1800" dirty="0"/>
              <a:t>: compute – shuffle barrier – </a:t>
            </a:r>
            <a:r>
              <a:rPr lang="en-US" sz="1800" b="1" dirty="0"/>
              <a:t>push result </a:t>
            </a:r>
          </a:p>
          <a:p>
            <a:pPr marL="285750" indent="-285750">
              <a:buFontTx/>
              <a:buChar char="-"/>
            </a:pPr>
            <a:r>
              <a:rPr lang="en-US" sz="1800" b="1" dirty="0"/>
              <a:t>Async</a:t>
            </a:r>
            <a:r>
              <a:rPr lang="en-US" sz="1800" dirty="0"/>
              <a:t> : no communication barrier, always use most recent values</a:t>
            </a:r>
          </a:p>
          <a:p>
            <a:pPr marL="285750" indent="-285750">
              <a:buFontTx/>
              <a:buChar char="-"/>
            </a:pPr>
            <a:r>
              <a:rPr lang="en-US" sz="1800" b="1" dirty="0"/>
              <a:t>GAS</a:t>
            </a:r>
            <a:r>
              <a:rPr lang="en-US" sz="1800" dirty="0"/>
              <a:t>: </a:t>
            </a:r>
            <a:r>
              <a:rPr lang="en-US" sz="1800" b="1" dirty="0"/>
              <a:t>Pull state</a:t>
            </a:r>
            <a:r>
              <a:rPr lang="en-US" sz="1800" dirty="0"/>
              <a:t>, compute, update state. Updates separated from scheduling</a:t>
            </a:r>
          </a:p>
        </p:txBody>
      </p:sp>
    </p:spTree>
    <p:extLst>
      <p:ext uri="{BB962C8B-B14F-4D97-AF65-F5344CB8AC3E}">
        <p14:creationId xmlns:p14="http://schemas.microsoft.com/office/powerpoint/2010/main" val="82370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1047F-E16D-A047-C825-117D086FC313}"/>
              </a:ext>
            </a:extLst>
          </p:cNvPr>
          <p:cNvGrpSpPr/>
          <p:nvPr/>
        </p:nvGrpSpPr>
        <p:grpSpPr>
          <a:xfrm>
            <a:off x="220133" y="214811"/>
            <a:ext cx="8748503" cy="3541838"/>
            <a:chOff x="220133" y="297695"/>
            <a:chExt cx="8493043" cy="345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341A21-906B-D546-7B5A-40038D45ED96}"/>
                </a:ext>
              </a:extLst>
            </p:cNvPr>
            <p:cNvSpPr/>
            <p:nvPr/>
          </p:nvSpPr>
          <p:spPr>
            <a:xfrm>
              <a:off x="3472962" y="316522"/>
              <a:ext cx="1969477" cy="958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56559-4ECD-2AF5-0877-8EE301164A04}"/>
                </a:ext>
              </a:extLst>
            </p:cNvPr>
            <p:cNvSpPr txBox="1"/>
            <p:nvPr/>
          </p:nvSpPr>
          <p:spPr>
            <a:xfrm>
              <a:off x="3708136" y="641814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GPS Taxonomy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FF5E44-7EE9-6F5B-5647-1F54AF4B0081}"/>
                </a:ext>
              </a:extLst>
            </p:cNvPr>
            <p:cNvSpPr txBox="1"/>
            <p:nvPr/>
          </p:nvSpPr>
          <p:spPr>
            <a:xfrm>
              <a:off x="659424" y="1890345"/>
              <a:ext cx="1128835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93F84-BEDF-CAD7-E9E3-45F55076B7AD}"/>
                </a:ext>
              </a:extLst>
            </p:cNvPr>
            <p:cNvSpPr txBox="1"/>
            <p:nvPr/>
          </p:nvSpPr>
          <p:spPr>
            <a:xfrm>
              <a:off x="3668862" y="1890346"/>
              <a:ext cx="1577676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Dynamism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2754E1-095E-AD1C-52CD-C89EB4AF8512}"/>
                </a:ext>
              </a:extLst>
            </p:cNvPr>
            <p:cNvSpPr txBox="1"/>
            <p:nvPr/>
          </p:nvSpPr>
          <p:spPr>
            <a:xfrm>
              <a:off x="6716817" y="1890346"/>
              <a:ext cx="941283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Workload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8DC91C-302C-605A-4D95-25230C80D2BA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1223842" y="1274884"/>
              <a:ext cx="3233859" cy="61546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DE0B26-330D-336B-40D1-46571261669F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457700" y="1274884"/>
              <a:ext cx="1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C81CD6-FBEA-63C5-E281-1037E9AA349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>
            <a:xfrm>
              <a:off x="4457701" y="1274884"/>
              <a:ext cx="2729758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A1B085-4EDC-60DD-160D-8AC53C5BB65F}"/>
                </a:ext>
              </a:extLst>
            </p:cNvPr>
            <p:cNvSpPr txBox="1"/>
            <p:nvPr/>
          </p:nvSpPr>
          <p:spPr>
            <a:xfrm>
              <a:off x="430824" y="2589334"/>
              <a:ext cx="2268415" cy="954107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Structural Graphs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Labeled Property Graph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E0FD58-9DE0-92FC-38F4-4BCDF9BD5007}"/>
                </a:ext>
              </a:extLst>
            </p:cNvPr>
            <p:cNvSpPr txBox="1"/>
            <p:nvPr/>
          </p:nvSpPr>
          <p:spPr>
            <a:xfrm>
              <a:off x="6127311" y="2587097"/>
              <a:ext cx="2585865" cy="1169551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Whole-Graph Analytics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Traversals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Local Queries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Neighborhood Queries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739675-501E-1248-CFF8-A7D406A09D16}"/>
                </a:ext>
              </a:extLst>
            </p:cNvPr>
            <p:cNvSpPr txBox="1"/>
            <p:nvPr/>
          </p:nvSpPr>
          <p:spPr>
            <a:xfrm>
              <a:off x="3668862" y="2587097"/>
              <a:ext cx="1717137" cy="738664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Static Graph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Dynamic Graph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3975059-D484-8F92-3073-3E4187BC0285}"/>
                </a:ext>
              </a:extLst>
            </p:cNvPr>
            <p:cNvSpPr/>
            <p:nvPr/>
          </p:nvSpPr>
          <p:spPr>
            <a:xfrm>
              <a:off x="220133" y="2438400"/>
              <a:ext cx="8288867" cy="668867"/>
            </a:xfrm>
            <a:custGeom>
              <a:avLst/>
              <a:gdLst>
                <a:gd name="connsiteX0" fmla="*/ 101600 w 8288867"/>
                <a:gd name="connsiteY0" fmla="*/ 0 h 668867"/>
                <a:gd name="connsiteX1" fmla="*/ 76200 w 8288867"/>
                <a:gd name="connsiteY1" fmla="*/ 59267 h 668867"/>
                <a:gd name="connsiteX2" fmla="*/ 50800 w 8288867"/>
                <a:gd name="connsiteY2" fmla="*/ 135467 h 668867"/>
                <a:gd name="connsiteX3" fmla="*/ 8467 w 8288867"/>
                <a:gd name="connsiteY3" fmla="*/ 237067 h 668867"/>
                <a:gd name="connsiteX4" fmla="*/ 0 w 8288867"/>
                <a:gd name="connsiteY4" fmla="*/ 296333 h 668867"/>
                <a:gd name="connsiteX5" fmla="*/ 16934 w 8288867"/>
                <a:gd name="connsiteY5" fmla="*/ 397933 h 668867"/>
                <a:gd name="connsiteX6" fmla="*/ 33867 w 8288867"/>
                <a:gd name="connsiteY6" fmla="*/ 423333 h 668867"/>
                <a:gd name="connsiteX7" fmla="*/ 50800 w 8288867"/>
                <a:gd name="connsiteY7" fmla="*/ 440267 h 668867"/>
                <a:gd name="connsiteX8" fmla="*/ 76200 w 8288867"/>
                <a:gd name="connsiteY8" fmla="*/ 448733 h 668867"/>
                <a:gd name="connsiteX9" fmla="*/ 93134 w 8288867"/>
                <a:gd name="connsiteY9" fmla="*/ 465667 h 668867"/>
                <a:gd name="connsiteX10" fmla="*/ 160867 w 8288867"/>
                <a:gd name="connsiteY10" fmla="*/ 482600 h 668867"/>
                <a:gd name="connsiteX11" fmla="*/ 203200 w 8288867"/>
                <a:gd name="connsiteY11" fmla="*/ 499533 h 668867"/>
                <a:gd name="connsiteX12" fmla="*/ 237067 w 8288867"/>
                <a:gd name="connsiteY12" fmla="*/ 508000 h 668867"/>
                <a:gd name="connsiteX13" fmla="*/ 313267 w 8288867"/>
                <a:gd name="connsiteY13" fmla="*/ 524933 h 668867"/>
                <a:gd name="connsiteX14" fmla="*/ 338667 w 8288867"/>
                <a:gd name="connsiteY14" fmla="*/ 533400 h 668867"/>
                <a:gd name="connsiteX15" fmla="*/ 389467 w 8288867"/>
                <a:gd name="connsiteY15" fmla="*/ 541867 h 668867"/>
                <a:gd name="connsiteX16" fmla="*/ 423334 w 8288867"/>
                <a:gd name="connsiteY16" fmla="*/ 550333 h 668867"/>
                <a:gd name="connsiteX17" fmla="*/ 711200 w 8288867"/>
                <a:gd name="connsiteY17" fmla="*/ 541867 h 668867"/>
                <a:gd name="connsiteX18" fmla="*/ 762000 w 8288867"/>
                <a:gd name="connsiteY18" fmla="*/ 533400 h 668867"/>
                <a:gd name="connsiteX19" fmla="*/ 956734 w 8288867"/>
                <a:gd name="connsiteY19" fmla="*/ 516467 h 668867"/>
                <a:gd name="connsiteX20" fmla="*/ 999067 w 8288867"/>
                <a:gd name="connsiteY20" fmla="*/ 508000 h 668867"/>
                <a:gd name="connsiteX21" fmla="*/ 1363134 w 8288867"/>
                <a:gd name="connsiteY21" fmla="*/ 491067 h 668867"/>
                <a:gd name="connsiteX22" fmla="*/ 1405467 w 8288867"/>
                <a:gd name="connsiteY22" fmla="*/ 482600 h 668867"/>
                <a:gd name="connsiteX23" fmla="*/ 1845734 w 8288867"/>
                <a:gd name="connsiteY23" fmla="*/ 465667 h 668867"/>
                <a:gd name="connsiteX24" fmla="*/ 2091267 w 8288867"/>
                <a:gd name="connsiteY24" fmla="*/ 457200 h 668867"/>
                <a:gd name="connsiteX25" fmla="*/ 2912534 w 8288867"/>
                <a:gd name="connsiteY25" fmla="*/ 474133 h 668867"/>
                <a:gd name="connsiteX26" fmla="*/ 2980267 w 8288867"/>
                <a:gd name="connsiteY26" fmla="*/ 482600 h 668867"/>
                <a:gd name="connsiteX27" fmla="*/ 3081867 w 8288867"/>
                <a:gd name="connsiteY27" fmla="*/ 491067 h 668867"/>
                <a:gd name="connsiteX28" fmla="*/ 3589867 w 8288867"/>
                <a:gd name="connsiteY28" fmla="*/ 508000 h 668867"/>
                <a:gd name="connsiteX29" fmla="*/ 4385734 w 8288867"/>
                <a:gd name="connsiteY29" fmla="*/ 499533 h 668867"/>
                <a:gd name="connsiteX30" fmla="*/ 4487334 w 8288867"/>
                <a:gd name="connsiteY30" fmla="*/ 491067 h 668867"/>
                <a:gd name="connsiteX31" fmla="*/ 5139267 w 8288867"/>
                <a:gd name="connsiteY31" fmla="*/ 482600 h 668867"/>
                <a:gd name="connsiteX32" fmla="*/ 5317067 w 8288867"/>
                <a:gd name="connsiteY32" fmla="*/ 465667 h 668867"/>
                <a:gd name="connsiteX33" fmla="*/ 5664200 w 8288867"/>
                <a:gd name="connsiteY33" fmla="*/ 482600 h 668867"/>
                <a:gd name="connsiteX34" fmla="*/ 5799667 w 8288867"/>
                <a:gd name="connsiteY34" fmla="*/ 491067 h 668867"/>
                <a:gd name="connsiteX35" fmla="*/ 5867400 w 8288867"/>
                <a:gd name="connsiteY35" fmla="*/ 499533 h 668867"/>
                <a:gd name="connsiteX36" fmla="*/ 5977467 w 8288867"/>
                <a:gd name="connsiteY36" fmla="*/ 516467 h 668867"/>
                <a:gd name="connsiteX37" fmla="*/ 6011334 w 8288867"/>
                <a:gd name="connsiteY37" fmla="*/ 524933 h 668867"/>
                <a:gd name="connsiteX38" fmla="*/ 6062134 w 8288867"/>
                <a:gd name="connsiteY38" fmla="*/ 541867 h 668867"/>
                <a:gd name="connsiteX39" fmla="*/ 6155267 w 8288867"/>
                <a:gd name="connsiteY39" fmla="*/ 567267 h 668867"/>
                <a:gd name="connsiteX40" fmla="*/ 6239934 w 8288867"/>
                <a:gd name="connsiteY40" fmla="*/ 592667 h 668867"/>
                <a:gd name="connsiteX41" fmla="*/ 6265334 w 8288867"/>
                <a:gd name="connsiteY41" fmla="*/ 601133 h 668867"/>
                <a:gd name="connsiteX42" fmla="*/ 6341534 w 8288867"/>
                <a:gd name="connsiteY42" fmla="*/ 609600 h 668867"/>
                <a:gd name="connsiteX43" fmla="*/ 6375400 w 8288867"/>
                <a:gd name="connsiteY43" fmla="*/ 618067 h 668867"/>
                <a:gd name="connsiteX44" fmla="*/ 6434667 w 8288867"/>
                <a:gd name="connsiteY44" fmla="*/ 635000 h 668867"/>
                <a:gd name="connsiteX45" fmla="*/ 6493934 w 8288867"/>
                <a:gd name="connsiteY45" fmla="*/ 643467 h 668867"/>
                <a:gd name="connsiteX46" fmla="*/ 6527800 w 8288867"/>
                <a:gd name="connsiteY46" fmla="*/ 651933 h 668867"/>
                <a:gd name="connsiteX47" fmla="*/ 6747934 w 8288867"/>
                <a:gd name="connsiteY47" fmla="*/ 668867 h 668867"/>
                <a:gd name="connsiteX48" fmla="*/ 7027334 w 8288867"/>
                <a:gd name="connsiteY48" fmla="*/ 660400 h 668867"/>
                <a:gd name="connsiteX49" fmla="*/ 7222067 w 8288867"/>
                <a:gd name="connsiteY49" fmla="*/ 643467 h 668867"/>
                <a:gd name="connsiteX50" fmla="*/ 7289800 w 8288867"/>
                <a:gd name="connsiteY50" fmla="*/ 635000 h 668867"/>
                <a:gd name="connsiteX51" fmla="*/ 7594600 w 8288867"/>
                <a:gd name="connsiteY51" fmla="*/ 618067 h 668867"/>
                <a:gd name="connsiteX52" fmla="*/ 7763934 w 8288867"/>
                <a:gd name="connsiteY52" fmla="*/ 601133 h 668867"/>
                <a:gd name="connsiteX53" fmla="*/ 7814734 w 8288867"/>
                <a:gd name="connsiteY53" fmla="*/ 592667 h 668867"/>
                <a:gd name="connsiteX54" fmla="*/ 7907867 w 8288867"/>
                <a:gd name="connsiteY54" fmla="*/ 584200 h 668867"/>
                <a:gd name="connsiteX55" fmla="*/ 7958667 w 8288867"/>
                <a:gd name="connsiteY55" fmla="*/ 567267 h 668867"/>
                <a:gd name="connsiteX56" fmla="*/ 7992534 w 8288867"/>
                <a:gd name="connsiteY56" fmla="*/ 558800 h 668867"/>
                <a:gd name="connsiteX57" fmla="*/ 8094134 w 8288867"/>
                <a:gd name="connsiteY57" fmla="*/ 524933 h 668867"/>
                <a:gd name="connsiteX58" fmla="*/ 8144934 w 8288867"/>
                <a:gd name="connsiteY58" fmla="*/ 508000 h 668867"/>
                <a:gd name="connsiteX59" fmla="*/ 8170334 w 8288867"/>
                <a:gd name="connsiteY59" fmla="*/ 491067 h 668867"/>
                <a:gd name="connsiteX60" fmla="*/ 8195734 w 8288867"/>
                <a:gd name="connsiteY60" fmla="*/ 482600 h 668867"/>
                <a:gd name="connsiteX61" fmla="*/ 8246534 w 8288867"/>
                <a:gd name="connsiteY61" fmla="*/ 448733 h 668867"/>
                <a:gd name="connsiteX62" fmla="*/ 8271934 w 8288867"/>
                <a:gd name="connsiteY62" fmla="*/ 397933 h 668867"/>
                <a:gd name="connsiteX63" fmla="*/ 8288867 w 8288867"/>
                <a:gd name="connsiteY63" fmla="*/ 330200 h 668867"/>
                <a:gd name="connsiteX64" fmla="*/ 8280400 w 8288867"/>
                <a:gd name="connsiteY64" fmla="*/ 211667 h 668867"/>
                <a:gd name="connsiteX65" fmla="*/ 8271934 w 8288867"/>
                <a:gd name="connsiteY65" fmla="*/ 186267 h 668867"/>
                <a:gd name="connsiteX66" fmla="*/ 8204200 w 8288867"/>
                <a:gd name="connsiteY66" fmla="*/ 127000 h 668867"/>
                <a:gd name="connsiteX67" fmla="*/ 8153400 w 8288867"/>
                <a:gd name="connsiteY67" fmla="*/ 93133 h 668867"/>
                <a:gd name="connsiteX68" fmla="*/ 8128000 w 8288867"/>
                <a:gd name="connsiteY68" fmla="*/ 67733 h 668867"/>
                <a:gd name="connsiteX69" fmla="*/ 8009467 w 8288867"/>
                <a:gd name="connsiteY69" fmla="*/ 33867 h 668867"/>
                <a:gd name="connsiteX70" fmla="*/ 7975600 w 8288867"/>
                <a:gd name="connsiteY70" fmla="*/ 25400 h 668867"/>
                <a:gd name="connsiteX71" fmla="*/ 7941734 w 8288867"/>
                <a:gd name="connsiteY71" fmla="*/ 16933 h 668867"/>
                <a:gd name="connsiteX72" fmla="*/ 7848600 w 8288867"/>
                <a:gd name="connsiteY72" fmla="*/ 8467 h 668867"/>
                <a:gd name="connsiteX73" fmla="*/ 7467600 w 8288867"/>
                <a:gd name="connsiteY73" fmla="*/ 16933 h 668867"/>
                <a:gd name="connsiteX74" fmla="*/ 7382934 w 8288867"/>
                <a:gd name="connsiteY74" fmla="*/ 25400 h 668867"/>
                <a:gd name="connsiteX75" fmla="*/ 6747934 w 8288867"/>
                <a:gd name="connsiteY75" fmla="*/ 33867 h 668867"/>
                <a:gd name="connsiteX76" fmla="*/ 6654800 w 8288867"/>
                <a:gd name="connsiteY76" fmla="*/ 42333 h 668867"/>
                <a:gd name="connsiteX77" fmla="*/ 6612467 w 8288867"/>
                <a:gd name="connsiteY77" fmla="*/ 50800 h 668867"/>
                <a:gd name="connsiteX78" fmla="*/ 6129867 w 8288867"/>
                <a:gd name="connsiteY78" fmla="*/ 59267 h 668867"/>
                <a:gd name="connsiteX79" fmla="*/ 5190067 w 8288867"/>
                <a:gd name="connsiteY79" fmla="*/ 59267 h 668867"/>
                <a:gd name="connsiteX80" fmla="*/ 4648200 w 8288867"/>
                <a:gd name="connsiteY80" fmla="*/ 50800 h 668867"/>
                <a:gd name="connsiteX81" fmla="*/ 4301067 w 8288867"/>
                <a:gd name="connsiteY81" fmla="*/ 33867 h 668867"/>
                <a:gd name="connsiteX82" fmla="*/ 4241800 w 8288867"/>
                <a:gd name="connsiteY82" fmla="*/ 25400 h 668867"/>
                <a:gd name="connsiteX83" fmla="*/ 3615267 w 8288867"/>
                <a:gd name="connsiteY83" fmla="*/ 42333 h 668867"/>
                <a:gd name="connsiteX84" fmla="*/ 3344334 w 8288867"/>
                <a:gd name="connsiteY84" fmla="*/ 59267 h 668867"/>
                <a:gd name="connsiteX85" fmla="*/ 2633134 w 8288867"/>
                <a:gd name="connsiteY85" fmla="*/ 67733 h 668867"/>
                <a:gd name="connsiteX86" fmla="*/ 2006600 w 8288867"/>
                <a:gd name="connsiteY86" fmla="*/ 67733 h 668867"/>
                <a:gd name="connsiteX87" fmla="*/ 1913467 w 8288867"/>
                <a:gd name="connsiteY87" fmla="*/ 59267 h 668867"/>
                <a:gd name="connsiteX88" fmla="*/ 1464734 w 8288867"/>
                <a:gd name="connsiteY88" fmla="*/ 42333 h 668867"/>
                <a:gd name="connsiteX89" fmla="*/ 1143000 w 8288867"/>
                <a:gd name="connsiteY89" fmla="*/ 25400 h 668867"/>
                <a:gd name="connsiteX90" fmla="*/ 829734 w 8288867"/>
                <a:gd name="connsiteY90" fmla="*/ 16933 h 668867"/>
                <a:gd name="connsiteX91" fmla="*/ 592667 w 8288867"/>
                <a:gd name="connsiteY91" fmla="*/ 8467 h 668867"/>
                <a:gd name="connsiteX92" fmla="*/ 42334 w 8288867"/>
                <a:gd name="connsiteY92" fmla="*/ 16933 h 6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288867" h="668867">
                  <a:moveTo>
                    <a:pt x="101600" y="0"/>
                  </a:moveTo>
                  <a:cubicBezTo>
                    <a:pt x="93133" y="19756"/>
                    <a:pt x="83545" y="39068"/>
                    <a:pt x="76200" y="59267"/>
                  </a:cubicBezTo>
                  <a:cubicBezTo>
                    <a:pt x="47303" y="138736"/>
                    <a:pt x="93928" y="42023"/>
                    <a:pt x="50800" y="135467"/>
                  </a:cubicBezTo>
                  <a:cubicBezTo>
                    <a:pt x="24018" y="193494"/>
                    <a:pt x="17392" y="187983"/>
                    <a:pt x="8467" y="237067"/>
                  </a:cubicBezTo>
                  <a:cubicBezTo>
                    <a:pt x="4897" y="256701"/>
                    <a:pt x="2822" y="276578"/>
                    <a:pt x="0" y="296333"/>
                  </a:cubicBezTo>
                  <a:cubicBezTo>
                    <a:pt x="2683" y="320481"/>
                    <a:pt x="2749" y="369563"/>
                    <a:pt x="16934" y="397933"/>
                  </a:cubicBezTo>
                  <a:cubicBezTo>
                    <a:pt x="21485" y="407034"/>
                    <a:pt x="27510" y="415387"/>
                    <a:pt x="33867" y="423333"/>
                  </a:cubicBezTo>
                  <a:cubicBezTo>
                    <a:pt x="38854" y="429566"/>
                    <a:pt x="43955" y="436160"/>
                    <a:pt x="50800" y="440267"/>
                  </a:cubicBezTo>
                  <a:cubicBezTo>
                    <a:pt x="58453" y="444859"/>
                    <a:pt x="67733" y="445911"/>
                    <a:pt x="76200" y="448733"/>
                  </a:cubicBezTo>
                  <a:cubicBezTo>
                    <a:pt x="81845" y="454378"/>
                    <a:pt x="86289" y="461560"/>
                    <a:pt x="93134" y="465667"/>
                  </a:cubicBezTo>
                  <a:cubicBezTo>
                    <a:pt x="108030" y="474604"/>
                    <a:pt x="148734" y="478960"/>
                    <a:pt x="160867" y="482600"/>
                  </a:cubicBezTo>
                  <a:cubicBezTo>
                    <a:pt x="175424" y="486967"/>
                    <a:pt x="188782" y="494727"/>
                    <a:pt x="203200" y="499533"/>
                  </a:cubicBezTo>
                  <a:cubicBezTo>
                    <a:pt x="214239" y="503213"/>
                    <a:pt x="225878" y="504803"/>
                    <a:pt x="237067" y="508000"/>
                  </a:cubicBezTo>
                  <a:cubicBezTo>
                    <a:pt x="295425" y="524674"/>
                    <a:pt x="221594" y="509655"/>
                    <a:pt x="313267" y="524933"/>
                  </a:cubicBezTo>
                  <a:cubicBezTo>
                    <a:pt x="321734" y="527755"/>
                    <a:pt x="329955" y="531464"/>
                    <a:pt x="338667" y="533400"/>
                  </a:cubicBezTo>
                  <a:cubicBezTo>
                    <a:pt x="355425" y="537124"/>
                    <a:pt x="372633" y="538500"/>
                    <a:pt x="389467" y="541867"/>
                  </a:cubicBezTo>
                  <a:cubicBezTo>
                    <a:pt x="400877" y="544149"/>
                    <a:pt x="412045" y="547511"/>
                    <a:pt x="423334" y="550333"/>
                  </a:cubicBezTo>
                  <a:cubicBezTo>
                    <a:pt x="519289" y="547511"/>
                    <a:pt x="615323" y="546661"/>
                    <a:pt x="711200" y="541867"/>
                  </a:cubicBezTo>
                  <a:cubicBezTo>
                    <a:pt x="728346" y="541010"/>
                    <a:pt x="744924" y="535166"/>
                    <a:pt x="762000" y="533400"/>
                  </a:cubicBezTo>
                  <a:cubicBezTo>
                    <a:pt x="826810" y="526695"/>
                    <a:pt x="956734" y="516467"/>
                    <a:pt x="956734" y="516467"/>
                  </a:cubicBezTo>
                  <a:cubicBezTo>
                    <a:pt x="970845" y="513645"/>
                    <a:pt x="984821" y="510035"/>
                    <a:pt x="999067" y="508000"/>
                  </a:cubicBezTo>
                  <a:cubicBezTo>
                    <a:pt x="1122655" y="490344"/>
                    <a:pt x="1230105" y="494979"/>
                    <a:pt x="1363134" y="491067"/>
                  </a:cubicBezTo>
                  <a:cubicBezTo>
                    <a:pt x="1377245" y="488245"/>
                    <a:pt x="1391188" y="484385"/>
                    <a:pt x="1405467" y="482600"/>
                  </a:cubicBezTo>
                  <a:cubicBezTo>
                    <a:pt x="1544612" y="465206"/>
                    <a:pt x="1724598" y="469128"/>
                    <a:pt x="1845734" y="465667"/>
                  </a:cubicBezTo>
                  <a:lnTo>
                    <a:pt x="2091267" y="457200"/>
                  </a:lnTo>
                  <a:lnTo>
                    <a:pt x="2912534" y="474133"/>
                  </a:lnTo>
                  <a:cubicBezTo>
                    <a:pt x="2935271" y="475007"/>
                    <a:pt x="2957627" y="480336"/>
                    <a:pt x="2980267" y="482600"/>
                  </a:cubicBezTo>
                  <a:cubicBezTo>
                    <a:pt x="3014082" y="485982"/>
                    <a:pt x="3047953" y="488879"/>
                    <a:pt x="3081867" y="491067"/>
                  </a:cubicBezTo>
                  <a:cubicBezTo>
                    <a:pt x="3276415" y="503618"/>
                    <a:pt x="3365603" y="502530"/>
                    <a:pt x="3589867" y="508000"/>
                  </a:cubicBezTo>
                  <a:lnTo>
                    <a:pt x="4385734" y="499533"/>
                  </a:lnTo>
                  <a:cubicBezTo>
                    <a:pt x="4419712" y="498892"/>
                    <a:pt x="4453359" y="491830"/>
                    <a:pt x="4487334" y="491067"/>
                  </a:cubicBezTo>
                  <a:lnTo>
                    <a:pt x="5139267" y="482600"/>
                  </a:lnTo>
                  <a:cubicBezTo>
                    <a:pt x="5208593" y="471045"/>
                    <a:pt x="5230583" y="465667"/>
                    <a:pt x="5317067" y="465667"/>
                  </a:cubicBezTo>
                  <a:cubicBezTo>
                    <a:pt x="5463035" y="465667"/>
                    <a:pt x="5533098" y="473860"/>
                    <a:pt x="5664200" y="482600"/>
                  </a:cubicBezTo>
                  <a:cubicBezTo>
                    <a:pt x="5709344" y="485610"/>
                    <a:pt x="5754579" y="487310"/>
                    <a:pt x="5799667" y="491067"/>
                  </a:cubicBezTo>
                  <a:cubicBezTo>
                    <a:pt x="5822342" y="492957"/>
                    <a:pt x="5844846" y="496526"/>
                    <a:pt x="5867400" y="499533"/>
                  </a:cubicBezTo>
                  <a:cubicBezTo>
                    <a:pt x="5891802" y="502787"/>
                    <a:pt x="5951593" y="511292"/>
                    <a:pt x="5977467" y="516467"/>
                  </a:cubicBezTo>
                  <a:cubicBezTo>
                    <a:pt x="5988877" y="518749"/>
                    <a:pt x="6000188" y="521589"/>
                    <a:pt x="6011334" y="524933"/>
                  </a:cubicBezTo>
                  <a:cubicBezTo>
                    <a:pt x="6028431" y="530062"/>
                    <a:pt x="6044631" y="538367"/>
                    <a:pt x="6062134" y="541867"/>
                  </a:cubicBezTo>
                  <a:cubicBezTo>
                    <a:pt x="6121975" y="553834"/>
                    <a:pt x="6090809" y="545781"/>
                    <a:pt x="6155267" y="567267"/>
                  </a:cubicBezTo>
                  <a:cubicBezTo>
                    <a:pt x="6212744" y="586426"/>
                    <a:pt x="6143112" y="563621"/>
                    <a:pt x="6239934" y="592667"/>
                  </a:cubicBezTo>
                  <a:cubicBezTo>
                    <a:pt x="6248482" y="595231"/>
                    <a:pt x="6256531" y="599666"/>
                    <a:pt x="6265334" y="601133"/>
                  </a:cubicBezTo>
                  <a:cubicBezTo>
                    <a:pt x="6290543" y="605334"/>
                    <a:pt x="6316134" y="606778"/>
                    <a:pt x="6341534" y="609600"/>
                  </a:cubicBezTo>
                  <a:cubicBezTo>
                    <a:pt x="6352823" y="612422"/>
                    <a:pt x="6364174" y="615005"/>
                    <a:pt x="6375400" y="618067"/>
                  </a:cubicBezTo>
                  <a:cubicBezTo>
                    <a:pt x="6395222" y="623473"/>
                    <a:pt x="6414577" y="630695"/>
                    <a:pt x="6434667" y="635000"/>
                  </a:cubicBezTo>
                  <a:cubicBezTo>
                    <a:pt x="6454180" y="639181"/>
                    <a:pt x="6474300" y="639897"/>
                    <a:pt x="6493934" y="643467"/>
                  </a:cubicBezTo>
                  <a:cubicBezTo>
                    <a:pt x="6505382" y="645548"/>
                    <a:pt x="6516322" y="650020"/>
                    <a:pt x="6527800" y="651933"/>
                  </a:cubicBezTo>
                  <a:cubicBezTo>
                    <a:pt x="6601692" y="664248"/>
                    <a:pt x="6671933" y="664645"/>
                    <a:pt x="6747934" y="668867"/>
                  </a:cubicBezTo>
                  <a:lnTo>
                    <a:pt x="7027334" y="660400"/>
                  </a:lnTo>
                  <a:cubicBezTo>
                    <a:pt x="7100365" y="657292"/>
                    <a:pt x="7152301" y="651675"/>
                    <a:pt x="7222067" y="643467"/>
                  </a:cubicBezTo>
                  <a:cubicBezTo>
                    <a:pt x="7244665" y="640809"/>
                    <a:pt x="7267140" y="637060"/>
                    <a:pt x="7289800" y="635000"/>
                  </a:cubicBezTo>
                  <a:cubicBezTo>
                    <a:pt x="7392967" y="625621"/>
                    <a:pt x="7490147" y="622815"/>
                    <a:pt x="7594600" y="618067"/>
                  </a:cubicBezTo>
                  <a:cubicBezTo>
                    <a:pt x="7709661" y="598889"/>
                    <a:pt x="7570155" y="620510"/>
                    <a:pt x="7763934" y="601133"/>
                  </a:cubicBezTo>
                  <a:cubicBezTo>
                    <a:pt x="7781016" y="599425"/>
                    <a:pt x="7797685" y="594673"/>
                    <a:pt x="7814734" y="592667"/>
                  </a:cubicBezTo>
                  <a:cubicBezTo>
                    <a:pt x="7845693" y="589025"/>
                    <a:pt x="7876823" y="587022"/>
                    <a:pt x="7907867" y="584200"/>
                  </a:cubicBezTo>
                  <a:cubicBezTo>
                    <a:pt x="7924800" y="578556"/>
                    <a:pt x="7941570" y="572396"/>
                    <a:pt x="7958667" y="567267"/>
                  </a:cubicBezTo>
                  <a:cubicBezTo>
                    <a:pt x="7969813" y="563923"/>
                    <a:pt x="7981388" y="562144"/>
                    <a:pt x="7992534" y="558800"/>
                  </a:cubicBezTo>
                  <a:cubicBezTo>
                    <a:pt x="7992574" y="558788"/>
                    <a:pt x="8094095" y="524946"/>
                    <a:pt x="8094134" y="524933"/>
                  </a:cubicBezTo>
                  <a:cubicBezTo>
                    <a:pt x="8094139" y="524931"/>
                    <a:pt x="8144930" y="508003"/>
                    <a:pt x="8144934" y="508000"/>
                  </a:cubicBezTo>
                  <a:cubicBezTo>
                    <a:pt x="8153401" y="502356"/>
                    <a:pt x="8161233" y="495618"/>
                    <a:pt x="8170334" y="491067"/>
                  </a:cubicBezTo>
                  <a:cubicBezTo>
                    <a:pt x="8178316" y="487076"/>
                    <a:pt x="8187932" y="486934"/>
                    <a:pt x="8195734" y="482600"/>
                  </a:cubicBezTo>
                  <a:cubicBezTo>
                    <a:pt x="8213524" y="472716"/>
                    <a:pt x="8246534" y="448733"/>
                    <a:pt x="8246534" y="448733"/>
                  </a:cubicBezTo>
                  <a:cubicBezTo>
                    <a:pt x="8264317" y="422057"/>
                    <a:pt x="8263845" y="427592"/>
                    <a:pt x="8271934" y="397933"/>
                  </a:cubicBezTo>
                  <a:cubicBezTo>
                    <a:pt x="8278057" y="375481"/>
                    <a:pt x="8288867" y="330200"/>
                    <a:pt x="8288867" y="330200"/>
                  </a:cubicBezTo>
                  <a:cubicBezTo>
                    <a:pt x="8286045" y="290689"/>
                    <a:pt x="8285028" y="251007"/>
                    <a:pt x="8280400" y="211667"/>
                  </a:cubicBezTo>
                  <a:cubicBezTo>
                    <a:pt x="8279357" y="202804"/>
                    <a:pt x="8277289" y="193407"/>
                    <a:pt x="8271934" y="186267"/>
                  </a:cubicBezTo>
                  <a:cubicBezTo>
                    <a:pt x="8227964" y="127640"/>
                    <a:pt x="8243370" y="159642"/>
                    <a:pt x="8204200" y="127000"/>
                  </a:cubicBezTo>
                  <a:cubicBezTo>
                    <a:pt x="8161918" y="91765"/>
                    <a:pt x="8198038" y="108013"/>
                    <a:pt x="8153400" y="93133"/>
                  </a:cubicBezTo>
                  <a:cubicBezTo>
                    <a:pt x="8144933" y="84666"/>
                    <a:pt x="8138467" y="73548"/>
                    <a:pt x="8128000" y="67733"/>
                  </a:cubicBezTo>
                  <a:cubicBezTo>
                    <a:pt x="8108125" y="56691"/>
                    <a:pt x="8025409" y="37853"/>
                    <a:pt x="8009467" y="33867"/>
                  </a:cubicBezTo>
                  <a:lnTo>
                    <a:pt x="7975600" y="25400"/>
                  </a:lnTo>
                  <a:cubicBezTo>
                    <a:pt x="7964311" y="22578"/>
                    <a:pt x="7953322" y="17986"/>
                    <a:pt x="7941734" y="16933"/>
                  </a:cubicBezTo>
                  <a:lnTo>
                    <a:pt x="7848600" y="8467"/>
                  </a:lnTo>
                  <a:lnTo>
                    <a:pt x="7467600" y="16933"/>
                  </a:lnTo>
                  <a:cubicBezTo>
                    <a:pt x="7439256" y="17964"/>
                    <a:pt x="7411289" y="24733"/>
                    <a:pt x="7382934" y="25400"/>
                  </a:cubicBezTo>
                  <a:cubicBezTo>
                    <a:pt x="7171307" y="30380"/>
                    <a:pt x="6959601" y="31045"/>
                    <a:pt x="6747934" y="33867"/>
                  </a:cubicBezTo>
                  <a:cubicBezTo>
                    <a:pt x="6716889" y="36689"/>
                    <a:pt x="6685732" y="38467"/>
                    <a:pt x="6654800" y="42333"/>
                  </a:cubicBezTo>
                  <a:cubicBezTo>
                    <a:pt x="6640521" y="44118"/>
                    <a:pt x="6626850" y="50336"/>
                    <a:pt x="6612467" y="50800"/>
                  </a:cubicBezTo>
                  <a:cubicBezTo>
                    <a:pt x="6451659" y="55988"/>
                    <a:pt x="6290734" y="56445"/>
                    <a:pt x="6129867" y="59267"/>
                  </a:cubicBezTo>
                  <a:cubicBezTo>
                    <a:pt x="5720116" y="82029"/>
                    <a:pt x="6003954" y="69635"/>
                    <a:pt x="5190067" y="59267"/>
                  </a:cubicBezTo>
                  <a:lnTo>
                    <a:pt x="4648200" y="50800"/>
                  </a:lnTo>
                  <a:cubicBezTo>
                    <a:pt x="4520113" y="46225"/>
                    <a:pt x="4422145" y="45975"/>
                    <a:pt x="4301067" y="33867"/>
                  </a:cubicBezTo>
                  <a:cubicBezTo>
                    <a:pt x="4281210" y="31881"/>
                    <a:pt x="4261556" y="28222"/>
                    <a:pt x="4241800" y="25400"/>
                  </a:cubicBezTo>
                  <a:lnTo>
                    <a:pt x="3615267" y="42333"/>
                  </a:lnTo>
                  <a:cubicBezTo>
                    <a:pt x="3448030" y="50491"/>
                    <a:pt x="3547246" y="55327"/>
                    <a:pt x="3344334" y="59267"/>
                  </a:cubicBezTo>
                  <a:lnTo>
                    <a:pt x="2633134" y="67733"/>
                  </a:lnTo>
                  <a:cubicBezTo>
                    <a:pt x="2368181" y="89813"/>
                    <a:pt x="2508644" y="81487"/>
                    <a:pt x="2006600" y="67733"/>
                  </a:cubicBezTo>
                  <a:cubicBezTo>
                    <a:pt x="1975439" y="66879"/>
                    <a:pt x="1944575" y="61274"/>
                    <a:pt x="1913467" y="59267"/>
                  </a:cubicBezTo>
                  <a:cubicBezTo>
                    <a:pt x="1762387" y="49520"/>
                    <a:pt x="1617102" y="46950"/>
                    <a:pt x="1464734" y="42333"/>
                  </a:cubicBezTo>
                  <a:cubicBezTo>
                    <a:pt x="1335330" y="34246"/>
                    <a:pt x="1280919" y="30075"/>
                    <a:pt x="1143000" y="25400"/>
                  </a:cubicBezTo>
                  <a:lnTo>
                    <a:pt x="829734" y="16933"/>
                  </a:lnTo>
                  <a:lnTo>
                    <a:pt x="592667" y="8467"/>
                  </a:lnTo>
                  <a:lnTo>
                    <a:pt x="42334" y="16933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F64617-905F-3091-ABE3-93823BB338FC}"/>
                </a:ext>
              </a:extLst>
            </p:cNvPr>
            <p:cNvSpPr txBox="1"/>
            <p:nvPr/>
          </p:nvSpPr>
          <p:spPr>
            <a:xfrm>
              <a:off x="540852" y="297695"/>
              <a:ext cx="2177507" cy="1217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chemeClr val="accent1"/>
                  </a:solidFill>
                </a:rPr>
                <a:t>Static Graph Processing Systems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B152C6-CEF4-7399-A3BF-981C05AA1C15}"/>
              </a:ext>
            </a:extLst>
          </p:cNvPr>
          <p:cNvSpPr txBox="1"/>
          <p:nvPr/>
        </p:nvSpPr>
        <p:spPr>
          <a:xfrm>
            <a:off x="0" y="3692883"/>
            <a:ext cx="896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Programming Model (Vertex Centric) 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computation defined in terms of vertex programs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Depends on self state + neighborhood state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Needs: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compute(),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get_value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update_value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1754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1047F-E16D-A047-C825-117D086FC313}"/>
              </a:ext>
            </a:extLst>
          </p:cNvPr>
          <p:cNvGrpSpPr/>
          <p:nvPr/>
        </p:nvGrpSpPr>
        <p:grpSpPr>
          <a:xfrm>
            <a:off x="220133" y="214811"/>
            <a:ext cx="8748503" cy="3541838"/>
            <a:chOff x="220133" y="297695"/>
            <a:chExt cx="8493043" cy="345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341A21-906B-D546-7B5A-40038D45ED96}"/>
                </a:ext>
              </a:extLst>
            </p:cNvPr>
            <p:cNvSpPr/>
            <p:nvPr/>
          </p:nvSpPr>
          <p:spPr>
            <a:xfrm>
              <a:off x="3472962" y="316522"/>
              <a:ext cx="1969477" cy="958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56559-4ECD-2AF5-0877-8EE301164A04}"/>
                </a:ext>
              </a:extLst>
            </p:cNvPr>
            <p:cNvSpPr txBox="1"/>
            <p:nvPr/>
          </p:nvSpPr>
          <p:spPr>
            <a:xfrm>
              <a:off x="3708136" y="641814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GPS Taxonomy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FF5E44-7EE9-6F5B-5647-1F54AF4B0081}"/>
                </a:ext>
              </a:extLst>
            </p:cNvPr>
            <p:cNvSpPr txBox="1"/>
            <p:nvPr/>
          </p:nvSpPr>
          <p:spPr>
            <a:xfrm>
              <a:off x="659424" y="1890345"/>
              <a:ext cx="1128835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93F84-BEDF-CAD7-E9E3-45F55076B7AD}"/>
                </a:ext>
              </a:extLst>
            </p:cNvPr>
            <p:cNvSpPr txBox="1"/>
            <p:nvPr/>
          </p:nvSpPr>
          <p:spPr>
            <a:xfrm>
              <a:off x="3668862" y="1890346"/>
              <a:ext cx="1577676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Dynamism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2754E1-095E-AD1C-52CD-C89EB4AF8512}"/>
                </a:ext>
              </a:extLst>
            </p:cNvPr>
            <p:cNvSpPr txBox="1"/>
            <p:nvPr/>
          </p:nvSpPr>
          <p:spPr>
            <a:xfrm>
              <a:off x="6716817" y="1890346"/>
              <a:ext cx="941283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Workload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8DC91C-302C-605A-4D95-25230C80D2BA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1223842" y="1274884"/>
              <a:ext cx="3233859" cy="61546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DE0B26-330D-336B-40D1-46571261669F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457700" y="1274884"/>
              <a:ext cx="1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C81CD6-FBEA-63C5-E281-1037E9AA349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>
            <a:xfrm>
              <a:off x="4457701" y="1274884"/>
              <a:ext cx="2729758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A1B085-4EDC-60DD-160D-8AC53C5BB65F}"/>
                </a:ext>
              </a:extLst>
            </p:cNvPr>
            <p:cNvSpPr txBox="1"/>
            <p:nvPr/>
          </p:nvSpPr>
          <p:spPr>
            <a:xfrm>
              <a:off x="430824" y="2589334"/>
              <a:ext cx="2268415" cy="954107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Structural Graphs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Labeled Property Graph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E0FD58-9DE0-92FC-38F4-4BCDF9BD5007}"/>
                </a:ext>
              </a:extLst>
            </p:cNvPr>
            <p:cNvSpPr txBox="1"/>
            <p:nvPr/>
          </p:nvSpPr>
          <p:spPr>
            <a:xfrm>
              <a:off x="6127311" y="2587097"/>
              <a:ext cx="2585865" cy="1169551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Whole-Graph Analytics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Traversals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Local Queries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Neighborhood Queries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739675-501E-1248-CFF8-A7D406A09D16}"/>
                </a:ext>
              </a:extLst>
            </p:cNvPr>
            <p:cNvSpPr txBox="1"/>
            <p:nvPr/>
          </p:nvSpPr>
          <p:spPr>
            <a:xfrm>
              <a:off x="3668862" y="2587097"/>
              <a:ext cx="1717137" cy="738664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Static Graph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Dynamic Graph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3975059-D484-8F92-3073-3E4187BC0285}"/>
                </a:ext>
              </a:extLst>
            </p:cNvPr>
            <p:cNvSpPr/>
            <p:nvPr/>
          </p:nvSpPr>
          <p:spPr>
            <a:xfrm>
              <a:off x="220133" y="2438400"/>
              <a:ext cx="8288867" cy="668867"/>
            </a:xfrm>
            <a:custGeom>
              <a:avLst/>
              <a:gdLst>
                <a:gd name="connsiteX0" fmla="*/ 101600 w 8288867"/>
                <a:gd name="connsiteY0" fmla="*/ 0 h 668867"/>
                <a:gd name="connsiteX1" fmla="*/ 76200 w 8288867"/>
                <a:gd name="connsiteY1" fmla="*/ 59267 h 668867"/>
                <a:gd name="connsiteX2" fmla="*/ 50800 w 8288867"/>
                <a:gd name="connsiteY2" fmla="*/ 135467 h 668867"/>
                <a:gd name="connsiteX3" fmla="*/ 8467 w 8288867"/>
                <a:gd name="connsiteY3" fmla="*/ 237067 h 668867"/>
                <a:gd name="connsiteX4" fmla="*/ 0 w 8288867"/>
                <a:gd name="connsiteY4" fmla="*/ 296333 h 668867"/>
                <a:gd name="connsiteX5" fmla="*/ 16934 w 8288867"/>
                <a:gd name="connsiteY5" fmla="*/ 397933 h 668867"/>
                <a:gd name="connsiteX6" fmla="*/ 33867 w 8288867"/>
                <a:gd name="connsiteY6" fmla="*/ 423333 h 668867"/>
                <a:gd name="connsiteX7" fmla="*/ 50800 w 8288867"/>
                <a:gd name="connsiteY7" fmla="*/ 440267 h 668867"/>
                <a:gd name="connsiteX8" fmla="*/ 76200 w 8288867"/>
                <a:gd name="connsiteY8" fmla="*/ 448733 h 668867"/>
                <a:gd name="connsiteX9" fmla="*/ 93134 w 8288867"/>
                <a:gd name="connsiteY9" fmla="*/ 465667 h 668867"/>
                <a:gd name="connsiteX10" fmla="*/ 160867 w 8288867"/>
                <a:gd name="connsiteY10" fmla="*/ 482600 h 668867"/>
                <a:gd name="connsiteX11" fmla="*/ 203200 w 8288867"/>
                <a:gd name="connsiteY11" fmla="*/ 499533 h 668867"/>
                <a:gd name="connsiteX12" fmla="*/ 237067 w 8288867"/>
                <a:gd name="connsiteY12" fmla="*/ 508000 h 668867"/>
                <a:gd name="connsiteX13" fmla="*/ 313267 w 8288867"/>
                <a:gd name="connsiteY13" fmla="*/ 524933 h 668867"/>
                <a:gd name="connsiteX14" fmla="*/ 338667 w 8288867"/>
                <a:gd name="connsiteY14" fmla="*/ 533400 h 668867"/>
                <a:gd name="connsiteX15" fmla="*/ 389467 w 8288867"/>
                <a:gd name="connsiteY15" fmla="*/ 541867 h 668867"/>
                <a:gd name="connsiteX16" fmla="*/ 423334 w 8288867"/>
                <a:gd name="connsiteY16" fmla="*/ 550333 h 668867"/>
                <a:gd name="connsiteX17" fmla="*/ 711200 w 8288867"/>
                <a:gd name="connsiteY17" fmla="*/ 541867 h 668867"/>
                <a:gd name="connsiteX18" fmla="*/ 762000 w 8288867"/>
                <a:gd name="connsiteY18" fmla="*/ 533400 h 668867"/>
                <a:gd name="connsiteX19" fmla="*/ 956734 w 8288867"/>
                <a:gd name="connsiteY19" fmla="*/ 516467 h 668867"/>
                <a:gd name="connsiteX20" fmla="*/ 999067 w 8288867"/>
                <a:gd name="connsiteY20" fmla="*/ 508000 h 668867"/>
                <a:gd name="connsiteX21" fmla="*/ 1363134 w 8288867"/>
                <a:gd name="connsiteY21" fmla="*/ 491067 h 668867"/>
                <a:gd name="connsiteX22" fmla="*/ 1405467 w 8288867"/>
                <a:gd name="connsiteY22" fmla="*/ 482600 h 668867"/>
                <a:gd name="connsiteX23" fmla="*/ 1845734 w 8288867"/>
                <a:gd name="connsiteY23" fmla="*/ 465667 h 668867"/>
                <a:gd name="connsiteX24" fmla="*/ 2091267 w 8288867"/>
                <a:gd name="connsiteY24" fmla="*/ 457200 h 668867"/>
                <a:gd name="connsiteX25" fmla="*/ 2912534 w 8288867"/>
                <a:gd name="connsiteY25" fmla="*/ 474133 h 668867"/>
                <a:gd name="connsiteX26" fmla="*/ 2980267 w 8288867"/>
                <a:gd name="connsiteY26" fmla="*/ 482600 h 668867"/>
                <a:gd name="connsiteX27" fmla="*/ 3081867 w 8288867"/>
                <a:gd name="connsiteY27" fmla="*/ 491067 h 668867"/>
                <a:gd name="connsiteX28" fmla="*/ 3589867 w 8288867"/>
                <a:gd name="connsiteY28" fmla="*/ 508000 h 668867"/>
                <a:gd name="connsiteX29" fmla="*/ 4385734 w 8288867"/>
                <a:gd name="connsiteY29" fmla="*/ 499533 h 668867"/>
                <a:gd name="connsiteX30" fmla="*/ 4487334 w 8288867"/>
                <a:gd name="connsiteY30" fmla="*/ 491067 h 668867"/>
                <a:gd name="connsiteX31" fmla="*/ 5139267 w 8288867"/>
                <a:gd name="connsiteY31" fmla="*/ 482600 h 668867"/>
                <a:gd name="connsiteX32" fmla="*/ 5317067 w 8288867"/>
                <a:gd name="connsiteY32" fmla="*/ 465667 h 668867"/>
                <a:gd name="connsiteX33" fmla="*/ 5664200 w 8288867"/>
                <a:gd name="connsiteY33" fmla="*/ 482600 h 668867"/>
                <a:gd name="connsiteX34" fmla="*/ 5799667 w 8288867"/>
                <a:gd name="connsiteY34" fmla="*/ 491067 h 668867"/>
                <a:gd name="connsiteX35" fmla="*/ 5867400 w 8288867"/>
                <a:gd name="connsiteY35" fmla="*/ 499533 h 668867"/>
                <a:gd name="connsiteX36" fmla="*/ 5977467 w 8288867"/>
                <a:gd name="connsiteY36" fmla="*/ 516467 h 668867"/>
                <a:gd name="connsiteX37" fmla="*/ 6011334 w 8288867"/>
                <a:gd name="connsiteY37" fmla="*/ 524933 h 668867"/>
                <a:gd name="connsiteX38" fmla="*/ 6062134 w 8288867"/>
                <a:gd name="connsiteY38" fmla="*/ 541867 h 668867"/>
                <a:gd name="connsiteX39" fmla="*/ 6155267 w 8288867"/>
                <a:gd name="connsiteY39" fmla="*/ 567267 h 668867"/>
                <a:gd name="connsiteX40" fmla="*/ 6239934 w 8288867"/>
                <a:gd name="connsiteY40" fmla="*/ 592667 h 668867"/>
                <a:gd name="connsiteX41" fmla="*/ 6265334 w 8288867"/>
                <a:gd name="connsiteY41" fmla="*/ 601133 h 668867"/>
                <a:gd name="connsiteX42" fmla="*/ 6341534 w 8288867"/>
                <a:gd name="connsiteY42" fmla="*/ 609600 h 668867"/>
                <a:gd name="connsiteX43" fmla="*/ 6375400 w 8288867"/>
                <a:gd name="connsiteY43" fmla="*/ 618067 h 668867"/>
                <a:gd name="connsiteX44" fmla="*/ 6434667 w 8288867"/>
                <a:gd name="connsiteY44" fmla="*/ 635000 h 668867"/>
                <a:gd name="connsiteX45" fmla="*/ 6493934 w 8288867"/>
                <a:gd name="connsiteY45" fmla="*/ 643467 h 668867"/>
                <a:gd name="connsiteX46" fmla="*/ 6527800 w 8288867"/>
                <a:gd name="connsiteY46" fmla="*/ 651933 h 668867"/>
                <a:gd name="connsiteX47" fmla="*/ 6747934 w 8288867"/>
                <a:gd name="connsiteY47" fmla="*/ 668867 h 668867"/>
                <a:gd name="connsiteX48" fmla="*/ 7027334 w 8288867"/>
                <a:gd name="connsiteY48" fmla="*/ 660400 h 668867"/>
                <a:gd name="connsiteX49" fmla="*/ 7222067 w 8288867"/>
                <a:gd name="connsiteY49" fmla="*/ 643467 h 668867"/>
                <a:gd name="connsiteX50" fmla="*/ 7289800 w 8288867"/>
                <a:gd name="connsiteY50" fmla="*/ 635000 h 668867"/>
                <a:gd name="connsiteX51" fmla="*/ 7594600 w 8288867"/>
                <a:gd name="connsiteY51" fmla="*/ 618067 h 668867"/>
                <a:gd name="connsiteX52" fmla="*/ 7763934 w 8288867"/>
                <a:gd name="connsiteY52" fmla="*/ 601133 h 668867"/>
                <a:gd name="connsiteX53" fmla="*/ 7814734 w 8288867"/>
                <a:gd name="connsiteY53" fmla="*/ 592667 h 668867"/>
                <a:gd name="connsiteX54" fmla="*/ 7907867 w 8288867"/>
                <a:gd name="connsiteY54" fmla="*/ 584200 h 668867"/>
                <a:gd name="connsiteX55" fmla="*/ 7958667 w 8288867"/>
                <a:gd name="connsiteY55" fmla="*/ 567267 h 668867"/>
                <a:gd name="connsiteX56" fmla="*/ 7992534 w 8288867"/>
                <a:gd name="connsiteY56" fmla="*/ 558800 h 668867"/>
                <a:gd name="connsiteX57" fmla="*/ 8094134 w 8288867"/>
                <a:gd name="connsiteY57" fmla="*/ 524933 h 668867"/>
                <a:gd name="connsiteX58" fmla="*/ 8144934 w 8288867"/>
                <a:gd name="connsiteY58" fmla="*/ 508000 h 668867"/>
                <a:gd name="connsiteX59" fmla="*/ 8170334 w 8288867"/>
                <a:gd name="connsiteY59" fmla="*/ 491067 h 668867"/>
                <a:gd name="connsiteX60" fmla="*/ 8195734 w 8288867"/>
                <a:gd name="connsiteY60" fmla="*/ 482600 h 668867"/>
                <a:gd name="connsiteX61" fmla="*/ 8246534 w 8288867"/>
                <a:gd name="connsiteY61" fmla="*/ 448733 h 668867"/>
                <a:gd name="connsiteX62" fmla="*/ 8271934 w 8288867"/>
                <a:gd name="connsiteY62" fmla="*/ 397933 h 668867"/>
                <a:gd name="connsiteX63" fmla="*/ 8288867 w 8288867"/>
                <a:gd name="connsiteY63" fmla="*/ 330200 h 668867"/>
                <a:gd name="connsiteX64" fmla="*/ 8280400 w 8288867"/>
                <a:gd name="connsiteY64" fmla="*/ 211667 h 668867"/>
                <a:gd name="connsiteX65" fmla="*/ 8271934 w 8288867"/>
                <a:gd name="connsiteY65" fmla="*/ 186267 h 668867"/>
                <a:gd name="connsiteX66" fmla="*/ 8204200 w 8288867"/>
                <a:gd name="connsiteY66" fmla="*/ 127000 h 668867"/>
                <a:gd name="connsiteX67" fmla="*/ 8153400 w 8288867"/>
                <a:gd name="connsiteY67" fmla="*/ 93133 h 668867"/>
                <a:gd name="connsiteX68" fmla="*/ 8128000 w 8288867"/>
                <a:gd name="connsiteY68" fmla="*/ 67733 h 668867"/>
                <a:gd name="connsiteX69" fmla="*/ 8009467 w 8288867"/>
                <a:gd name="connsiteY69" fmla="*/ 33867 h 668867"/>
                <a:gd name="connsiteX70" fmla="*/ 7975600 w 8288867"/>
                <a:gd name="connsiteY70" fmla="*/ 25400 h 668867"/>
                <a:gd name="connsiteX71" fmla="*/ 7941734 w 8288867"/>
                <a:gd name="connsiteY71" fmla="*/ 16933 h 668867"/>
                <a:gd name="connsiteX72" fmla="*/ 7848600 w 8288867"/>
                <a:gd name="connsiteY72" fmla="*/ 8467 h 668867"/>
                <a:gd name="connsiteX73" fmla="*/ 7467600 w 8288867"/>
                <a:gd name="connsiteY73" fmla="*/ 16933 h 668867"/>
                <a:gd name="connsiteX74" fmla="*/ 7382934 w 8288867"/>
                <a:gd name="connsiteY74" fmla="*/ 25400 h 668867"/>
                <a:gd name="connsiteX75" fmla="*/ 6747934 w 8288867"/>
                <a:gd name="connsiteY75" fmla="*/ 33867 h 668867"/>
                <a:gd name="connsiteX76" fmla="*/ 6654800 w 8288867"/>
                <a:gd name="connsiteY76" fmla="*/ 42333 h 668867"/>
                <a:gd name="connsiteX77" fmla="*/ 6612467 w 8288867"/>
                <a:gd name="connsiteY77" fmla="*/ 50800 h 668867"/>
                <a:gd name="connsiteX78" fmla="*/ 6129867 w 8288867"/>
                <a:gd name="connsiteY78" fmla="*/ 59267 h 668867"/>
                <a:gd name="connsiteX79" fmla="*/ 5190067 w 8288867"/>
                <a:gd name="connsiteY79" fmla="*/ 59267 h 668867"/>
                <a:gd name="connsiteX80" fmla="*/ 4648200 w 8288867"/>
                <a:gd name="connsiteY80" fmla="*/ 50800 h 668867"/>
                <a:gd name="connsiteX81" fmla="*/ 4301067 w 8288867"/>
                <a:gd name="connsiteY81" fmla="*/ 33867 h 668867"/>
                <a:gd name="connsiteX82" fmla="*/ 4241800 w 8288867"/>
                <a:gd name="connsiteY82" fmla="*/ 25400 h 668867"/>
                <a:gd name="connsiteX83" fmla="*/ 3615267 w 8288867"/>
                <a:gd name="connsiteY83" fmla="*/ 42333 h 668867"/>
                <a:gd name="connsiteX84" fmla="*/ 3344334 w 8288867"/>
                <a:gd name="connsiteY84" fmla="*/ 59267 h 668867"/>
                <a:gd name="connsiteX85" fmla="*/ 2633134 w 8288867"/>
                <a:gd name="connsiteY85" fmla="*/ 67733 h 668867"/>
                <a:gd name="connsiteX86" fmla="*/ 2006600 w 8288867"/>
                <a:gd name="connsiteY86" fmla="*/ 67733 h 668867"/>
                <a:gd name="connsiteX87" fmla="*/ 1913467 w 8288867"/>
                <a:gd name="connsiteY87" fmla="*/ 59267 h 668867"/>
                <a:gd name="connsiteX88" fmla="*/ 1464734 w 8288867"/>
                <a:gd name="connsiteY88" fmla="*/ 42333 h 668867"/>
                <a:gd name="connsiteX89" fmla="*/ 1143000 w 8288867"/>
                <a:gd name="connsiteY89" fmla="*/ 25400 h 668867"/>
                <a:gd name="connsiteX90" fmla="*/ 829734 w 8288867"/>
                <a:gd name="connsiteY90" fmla="*/ 16933 h 668867"/>
                <a:gd name="connsiteX91" fmla="*/ 592667 w 8288867"/>
                <a:gd name="connsiteY91" fmla="*/ 8467 h 668867"/>
                <a:gd name="connsiteX92" fmla="*/ 42334 w 8288867"/>
                <a:gd name="connsiteY92" fmla="*/ 16933 h 6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288867" h="668867">
                  <a:moveTo>
                    <a:pt x="101600" y="0"/>
                  </a:moveTo>
                  <a:cubicBezTo>
                    <a:pt x="93133" y="19756"/>
                    <a:pt x="83545" y="39068"/>
                    <a:pt x="76200" y="59267"/>
                  </a:cubicBezTo>
                  <a:cubicBezTo>
                    <a:pt x="47303" y="138736"/>
                    <a:pt x="93928" y="42023"/>
                    <a:pt x="50800" y="135467"/>
                  </a:cubicBezTo>
                  <a:cubicBezTo>
                    <a:pt x="24018" y="193494"/>
                    <a:pt x="17392" y="187983"/>
                    <a:pt x="8467" y="237067"/>
                  </a:cubicBezTo>
                  <a:cubicBezTo>
                    <a:pt x="4897" y="256701"/>
                    <a:pt x="2822" y="276578"/>
                    <a:pt x="0" y="296333"/>
                  </a:cubicBezTo>
                  <a:cubicBezTo>
                    <a:pt x="2683" y="320481"/>
                    <a:pt x="2749" y="369563"/>
                    <a:pt x="16934" y="397933"/>
                  </a:cubicBezTo>
                  <a:cubicBezTo>
                    <a:pt x="21485" y="407034"/>
                    <a:pt x="27510" y="415387"/>
                    <a:pt x="33867" y="423333"/>
                  </a:cubicBezTo>
                  <a:cubicBezTo>
                    <a:pt x="38854" y="429566"/>
                    <a:pt x="43955" y="436160"/>
                    <a:pt x="50800" y="440267"/>
                  </a:cubicBezTo>
                  <a:cubicBezTo>
                    <a:pt x="58453" y="444859"/>
                    <a:pt x="67733" y="445911"/>
                    <a:pt x="76200" y="448733"/>
                  </a:cubicBezTo>
                  <a:cubicBezTo>
                    <a:pt x="81845" y="454378"/>
                    <a:pt x="86289" y="461560"/>
                    <a:pt x="93134" y="465667"/>
                  </a:cubicBezTo>
                  <a:cubicBezTo>
                    <a:pt x="108030" y="474604"/>
                    <a:pt x="148734" y="478960"/>
                    <a:pt x="160867" y="482600"/>
                  </a:cubicBezTo>
                  <a:cubicBezTo>
                    <a:pt x="175424" y="486967"/>
                    <a:pt x="188782" y="494727"/>
                    <a:pt x="203200" y="499533"/>
                  </a:cubicBezTo>
                  <a:cubicBezTo>
                    <a:pt x="214239" y="503213"/>
                    <a:pt x="225878" y="504803"/>
                    <a:pt x="237067" y="508000"/>
                  </a:cubicBezTo>
                  <a:cubicBezTo>
                    <a:pt x="295425" y="524674"/>
                    <a:pt x="221594" y="509655"/>
                    <a:pt x="313267" y="524933"/>
                  </a:cubicBezTo>
                  <a:cubicBezTo>
                    <a:pt x="321734" y="527755"/>
                    <a:pt x="329955" y="531464"/>
                    <a:pt x="338667" y="533400"/>
                  </a:cubicBezTo>
                  <a:cubicBezTo>
                    <a:pt x="355425" y="537124"/>
                    <a:pt x="372633" y="538500"/>
                    <a:pt x="389467" y="541867"/>
                  </a:cubicBezTo>
                  <a:cubicBezTo>
                    <a:pt x="400877" y="544149"/>
                    <a:pt x="412045" y="547511"/>
                    <a:pt x="423334" y="550333"/>
                  </a:cubicBezTo>
                  <a:cubicBezTo>
                    <a:pt x="519289" y="547511"/>
                    <a:pt x="615323" y="546661"/>
                    <a:pt x="711200" y="541867"/>
                  </a:cubicBezTo>
                  <a:cubicBezTo>
                    <a:pt x="728346" y="541010"/>
                    <a:pt x="744924" y="535166"/>
                    <a:pt x="762000" y="533400"/>
                  </a:cubicBezTo>
                  <a:cubicBezTo>
                    <a:pt x="826810" y="526695"/>
                    <a:pt x="956734" y="516467"/>
                    <a:pt x="956734" y="516467"/>
                  </a:cubicBezTo>
                  <a:cubicBezTo>
                    <a:pt x="970845" y="513645"/>
                    <a:pt x="984821" y="510035"/>
                    <a:pt x="999067" y="508000"/>
                  </a:cubicBezTo>
                  <a:cubicBezTo>
                    <a:pt x="1122655" y="490344"/>
                    <a:pt x="1230105" y="494979"/>
                    <a:pt x="1363134" y="491067"/>
                  </a:cubicBezTo>
                  <a:cubicBezTo>
                    <a:pt x="1377245" y="488245"/>
                    <a:pt x="1391188" y="484385"/>
                    <a:pt x="1405467" y="482600"/>
                  </a:cubicBezTo>
                  <a:cubicBezTo>
                    <a:pt x="1544612" y="465206"/>
                    <a:pt x="1724598" y="469128"/>
                    <a:pt x="1845734" y="465667"/>
                  </a:cubicBezTo>
                  <a:lnTo>
                    <a:pt x="2091267" y="457200"/>
                  </a:lnTo>
                  <a:lnTo>
                    <a:pt x="2912534" y="474133"/>
                  </a:lnTo>
                  <a:cubicBezTo>
                    <a:pt x="2935271" y="475007"/>
                    <a:pt x="2957627" y="480336"/>
                    <a:pt x="2980267" y="482600"/>
                  </a:cubicBezTo>
                  <a:cubicBezTo>
                    <a:pt x="3014082" y="485982"/>
                    <a:pt x="3047953" y="488879"/>
                    <a:pt x="3081867" y="491067"/>
                  </a:cubicBezTo>
                  <a:cubicBezTo>
                    <a:pt x="3276415" y="503618"/>
                    <a:pt x="3365603" y="502530"/>
                    <a:pt x="3589867" y="508000"/>
                  </a:cubicBezTo>
                  <a:lnTo>
                    <a:pt x="4385734" y="499533"/>
                  </a:lnTo>
                  <a:cubicBezTo>
                    <a:pt x="4419712" y="498892"/>
                    <a:pt x="4453359" y="491830"/>
                    <a:pt x="4487334" y="491067"/>
                  </a:cubicBezTo>
                  <a:lnTo>
                    <a:pt x="5139267" y="482600"/>
                  </a:lnTo>
                  <a:cubicBezTo>
                    <a:pt x="5208593" y="471045"/>
                    <a:pt x="5230583" y="465667"/>
                    <a:pt x="5317067" y="465667"/>
                  </a:cubicBezTo>
                  <a:cubicBezTo>
                    <a:pt x="5463035" y="465667"/>
                    <a:pt x="5533098" y="473860"/>
                    <a:pt x="5664200" y="482600"/>
                  </a:cubicBezTo>
                  <a:cubicBezTo>
                    <a:pt x="5709344" y="485610"/>
                    <a:pt x="5754579" y="487310"/>
                    <a:pt x="5799667" y="491067"/>
                  </a:cubicBezTo>
                  <a:cubicBezTo>
                    <a:pt x="5822342" y="492957"/>
                    <a:pt x="5844846" y="496526"/>
                    <a:pt x="5867400" y="499533"/>
                  </a:cubicBezTo>
                  <a:cubicBezTo>
                    <a:pt x="5891802" y="502787"/>
                    <a:pt x="5951593" y="511292"/>
                    <a:pt x="5977467" y="516467"/>
                  </a:cubicBezTo>
                  <a:cubicBezTo>
                    <a:pt x="5988877" y="518749"/>
                    <a:pt x="6000188" y="521589"/>
                    <a:pt x="6011334" y="524933"/>
                  </a:cubicBezTo>
                  <a:cubicBezTo>
                    <a:pt x="6028431" y="530062"/>
                    <a:pt x="6044631" y="538367"/>
                    <a:pt x="6062134" y="541867"/>
                  </a:cubicBezTo>
                  <a:cubicBezTo>
                    <a:pt x="6121975" y="553834"/>
                    <a:pt x="6090809" y="545781"/>
                    <a:pt x="6155267" y="567267"/>
                  </a:cubicBezTo>
                  <a:cubicBezTo>
                    <a:pt x="6212744" y="586426"/>
                    <a:pt x="6143112" y="563621"/>
                    <a:pt x="6239934" y="592667"/>
                  </a:cubicBezTo>
                  <a:cubicBezTo>
                    <a:pt x="6248482" y="595231"/>
                    <a:pt x="6256531" y="599666"/>
                    <a:pt x="6265334" y="601133"/>
                  </a:cubicBezTo>
                  <a:cubicBezTo>
                    <a:pt x="6290543" y="605334"/>
                    <a:pt x="6316134" y="606778"/>
                    <a:pt x="6341534" y="609600"/>
                  </a:cubicBezTo>
                  <a:cubicBezTo>
                    <a:pt x="6352823" y="612422"/>
                    <a:pt x="6364174" y="615005"/>
                    <a:pt x="6375400" y="618067"/>
                  </a:cubicBezTo>
                  <a:cubicBezTo>
                    <a:pt x="6395222" y="623473"/>
                    <a:pt x="6414577" y="630695"/>
                    <a:pt x="6434667" y="635000"/>
                  </a:cubicBezTo>
                  <a:cubicBezTo>
                    <a:pt x="6454180" y="639181"/>
                    <a:pt x="6474300" y="639897"/>
                    <a:pt x="6493934" y="643467"/>
                  </a:cubicBezTo>
                  <a:cubicBezTo>
                    <a:pt x="6505382" y="645548"/>
                    <a:pt x="6516322" y="650020"/>
                    <a:pt x="6527800" y="651933"/>
                  </a:cubicBezTo>
                  <a:cubicBezTo>
                    <a:pt x="6601692" y="664248"/>
                    <a:pt x="6671933" y="664645"/>
                    <a:pt x="6747934" y="668867"/>
                  </a:cubicBezTo>
                  <a:lnTo>
                    <a:pt x="7027334" y="660400"/>
                  </a:lnTo>
                  <a:cubicBezTo>
                    <a:pt x="7100365" y="657292"/>
                    <a:pt x="7152301" y="651675"/>
                    <a:pt x="7222067" y="643467"/>
                  </a:cubicBezTo>
                  <a:cubicBezTo>
                    <a:pt x="7244665" y="640809"/>
                    <a:pt x="7267140" y="637060"/>
                    <a:pt x="7289800" y="635000"/>
                  </a:cubicBezTo>
                  <a:cubicBezTo>
                    <a:pt x="7392967" y="625621"/>
                    <a:pt x="7490147" y="622815"/>
                    <a:pt x="7594600" y="618067"/>
                  </a:cubicBezTo>
                  <a:cubicBezTo>
                    <a:pt x="7709661" y="598889"/>
                    <a:pt x="7570155" y="620510"/>
                    <a:pt x="7763934" y="601133"/>
                  </a:cubicBezTo>
                  <a:cubicBezTo>
                    <a:pt x="7781016" y="599425"/>
                    <a:pt x="7797685" y="594673"/>
                    <a:pt x="7814734" y="592667"/>
                  </a:cubicBezTo>
                  <a:cubicBezTo>
                    <a:pt x="7845693" y="589025"/>
                    <a:pt x="7876823" y="587022"/>
                    <a:pt x="7907867" y="584200"/>
                  </a:cubicBezTo>
                  <a:cubicBezTo>
                    <a:pt x="7924800" y="578556"/>
                    <a:pt x="7941570" y="572396"/>
                    <a:pt x="7958667" y="567267"/>
                  </a:cubicBezTo>
                  <a:cubicBezTo>
                    <a:pt x="7969813" y="563923"/>
                    <a:pt x="7981388" y="562144"/>
                    <a:pt x="7992534" y="558800"/>
                  </a:cubicBezTo>
                  <a:cubicBezTo>
                    <a:pt x="7992574" y="558788"/>
                    <a:pt x="8094095" y="524946"/>
                    <a:pt x="8094134" y="524933"/>
                  </a:cubicBezTo>
                  <a:cubicBezTo>
                    <a:pt x="8094139" y="524931"/>
                    <a:pt x="8144930" y="508003"/>
                    <a:pt x="8144934" y="508000"/>
                  </a:cubicBezTo>
                  <a:cubicBezTo>
                    <a:pt x="8153401" y="502356"/>
                    <a:pt x="8161233" y="495618"/>
                    <a:pt x="8170334" y="491067"/>
                  </a:cubicBezTo>
                  <a:cubicBezTo>
                    <a:pt x="8178316" y="487076"/>
                    <a:pt x="8187932" y="486934"/>
                    <a:pt x="8195734" y="482600"/>
                  </a:cubicBezTo>
                  <a:cubicBezTo>
                    <a:pt x="8213524" y="472716"/>
                    <a:pt x="8246534" y="448733"/>
                    <a:pt x="8246534" y="448733"/>
                  </a:cubicBezTo>
                  <a:cubicBezTo>
                    <a:pt x="8264317" y="422057"/>
                    <a:pt x="8263845" y="427592"/>
                    <a:pt x="8271934" y="397933"/>
                  </a:cubicBezTo>
                  <a:cubicBezTo>
                    <a:pt x="8278057" y="375481"/>
                    <a:pt x="8288867" y="330200"/>
                    <a:pt x="8288867" y="330200"/>
                  </a:cubicBezTo>
                  <a:cubicBezTo>
                    <a:pt x="8286045" y="290689"/>
                    <a:pt x="8285028" y="251007"/>
                    <a:pt x="8280400" y="211667"/>
                  </a:cubicBezTo>
                  <a:cubicBezTo>
                    <a:pt x="8279357" y="202804"/>
                    <a:pt x="8277289" y="193407"/>
                    <a:pt x="8271934" y="186267"/>
                  </a:cubicBezTo>
                  <a:cubicBezTo>
                    <a:pt x="8227964" y="127640"/>
                    <a:pt x="8243370" y="159642"/>
                    <a:pt x="8204200" y="127000"/>
                  </a:cubicBezTo>
                  <a:cubicBezTo>
                    <a:pt x="8161918" y="91765"/>
                    <a:pt x="8198038" y="108013"/>
                    <a:pt x="8153400" y="93133"/>
                  </a:cubicBezTo>
                  <a:cubicBezTo>
                    <a:pt x="8144933" y="84666"/>
                    <a:pt x="8138467" y="73548"/>
                    <a:pt x="8128000" y="67733"/>
                  </a:cubicBezTo>
                  <a:cubicBezTo>
                    <a:pt x="8108125" y="56691"/>
                    <a:pt x="8025409" y="37853"/>
                    <a:pt x="8009467" y="33867"/>
                  </a:cubicBezTo>
                  <a:lnTo>
                    <a:pt x="7975600" y="25400"/>
                  </a:lnTo>
                  <a:cubicBezTo>
                    <a:pt x="7964311" y="22578"/>
                    <a:pt x="7953322" y="17986"/>
                    <a:pt x="7941734" y="16933"/>
                  </a:cubicBezTo>
                  <a:lnTo>
                    <a:pt x="7848600" y="8467"/>
                  </a:lnTo>
                  <a:lnTo>
                    <a:pt x="7467600" y="16933"/>
                  </a:lnTo>
                  <a:cubicBezTo>
                    <a:pt x="7439256" y="17964"/>
                    <a:pt x="7411289" y="24733"/>
                    <a:pt x="7382934" y="25400"/>
                  </a:cubicBezTo>
                  <a:cubicBezTo>
                    <a:pt x="7171307" y="30380"/>
                    <a:pt x="6959601" y="31045"/>
                    <a:pt x="6747934" y="33867"/>
                  </a:cubicBezTo>
                  <a:cubicBezTo>
                    <a:pt x="6716889" y="36689"/>
                    <a:pt x="6685732" y="38467"/>
                    <a:pt x="6654800" y="42333"/>
                  </a:cubicBezTo>
                  <a:cubicBezTo>
                    <a:pt x="6640521" y="44118"/>
                    <a:pt x="6626850" y="50336"/>
                    <a:pt x="6612467" y="50800"/>
                  </a:cubicBezTo>
                  <a:cubicBezTo>
                    <a:pt x="6451659" y="55988"/>
                    <a:pt x="6290734" y="56445"/>
                    <a:pt x="6129867" y="59267"/>
                  </a:cubicBezTo>
                  <a:cubicBezTo>
                    <a:pt x="5720116" y="82029"/>
                    <a:pt x="6003954" y="69635"/>
                    <a:pt x="5190067" y="59267"/>
                  </a:cubicBezTo>
                  <a:lnTo>
                    <a:pt x="4648200" y="50800"/>
                  </a:lnTo>
                  <a:cubicBezTo>
                    <a:pt x="4520113" y="46225"/>
                    <a:pt x="4422145" y="45975"/>
                    <a:pt x="4301067" y="33867"/>
                  </a:cubicBezTo>
                  <a:cubicBezTo>
                    <a:pt x="4281210" y="31881"/>
                    <a:pt x="4261556" y="28222"/>
                    <a:pt x="4241800" y="25400"/>
                  </a:cubicBezTo>
                  <a:lnTo>
                    <a:pt x="3615267" y="42333"/>
                  </a:lnTo>
                  <a:cubicBezTo>
                    <a:pt x="3448030" y="50491"/>
                    <a:pt x="3547246" y="55327"/>
                    <a:pt x="3344334" y="59267"/>
                  </a:cubicBezTo>
                  <a:lnTo>
                    <a:pt x="2633134" y="67733"/>
                  </a:lnTo>
                  <a:cubicBezTo>
                    <a:pt x="2368181" y="89813"/>
                    <a:pt x="2508644" y="81487"/>
                    <a:pt x="2006600" y="67733"/>
                  </a:cubicBezTo>
                  <a:cubicBezTo>
                    <a:pt x="1975439" y="66879"/>
                    <a:pt x="1944575" y="61274"/>
                    <a:pt x="1913467" y="59267"/>
                  </a:cubicBezTo>
                  <a:cubicBezTo>
                    <a:pt x="1762387" y="49520"/>
                    <a:pt x="1617102" y="46950"/>
                    <a:pt x="1464734" y="42333"/>
                  </a:cubicBezTo>
                  <a:cubicBezTo>
                    <a:pt x="1335330" y="34246"/>
                    <a:pt x="1280919" y="30075"/>
                    <a:pt x="1143000" y="25400"/>
                  </a:cubicBezTo>
                  <a:lnTo>
                    <a:pt x="829734" y="16933"/>
                  </a:lnTo>
                  <a:lnTo>
                    <a:pt x="592667" y="8467"/>
                  </a:lnTo>
                  <a:lnTo>
                    <a:pt x="42334" y="16933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F64617-905F-3091-ABE3-93823BB338FC}"/>
                </a:ext>
              </a:extLst>
            </p:cNvPr>
            <p:cNvSpPr txBox="1"/>
            <p:nvPr/>
          </p:nvSpPr>
          <p:spPr>
            <a:xfrm>
              <a:off x="540852" y="297695"/>
              <a:ext cx="2177507" cy="1217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chemeClr val="accent1"/>
                  </a:solidFill>
                </a:rPr>
                <a:t>Static Graph Processing Systems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B152C6-CEF4-7399-A3BF-981C05AA1C15}"/>
              </a:ext>
            </a:extLst>
          </p:cNvPr>
          <p:cNvSpPr txBox="1"/>
          <p:nvPr/>
        </p:nvSpPr>
        <p:spPr>
          <a:xfrm>
            <a:off x="0" y="3692883"/>
            <a:ext cx="896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Programming Model (Edge Centric) 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computation defined in terms of edge programs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Edge Scatter sends update over e; Edge Gather applies update to </a:t>
            </a:r>
            <a:r>
              <a:rPr lang="en-US" sz="1800" dirty="0" err="1"/>
              <a:t>e.dest</a:t>
            </a:r>
            <a:endParaRPr lang="en-US" sz="1800" dirty="0"/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Needs: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edge_scatter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(e),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edge_gather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</p:spTree>
    <p:extLst>
      <p:ext uri="{BB962C8B-B14F-4D97-AF65-F5344CB8AC3E}">
        <p14:creationId xmlns:p14="http://schemas.microsoft.com/office/powerpoint/2010/main" val="145280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1047F-E16D-A047-C825-117D086FC313}"/>
              </a:ext>
            </a:extLst>
          </p:cNvPr>
          <p:cNvGrpSpPr/>
          <p:nvPr/>
        </p:nvGrpSpPr>
        <p:grpSpPr>
          <a:xfrm>
            <a:off x="220133" y="214811"/>
            <a:ext cx="8748503" cy="3541838"/>
            <a:chOff x="220133" y="297695"/>
            <a:chExt cx="8493043" cy="345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341A21-906B-D546-7B5A-40038D45ED96}"/>
                </a:ext>
              </a:extLst>
            </p:cNvPr>
            <p:cNvSpPr/>
            <p:nvPr/>
          </p:nvSpPr>
          <p:spPr>
            <a:xfrm>
              <a:off x="3472962" y="316522"/>
              <a:ext cx="1969477" cy="958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56559-4ECD-2AF5-0877-8EE301164A04}"/>
                </a:ext>
              </a:extLst>
            </p:cNvPr>
            <p:cNvSpPr txBox="1"/>
            <p:nvPr/>
          </p:nvSpPr>
          <p:spPr>
            <a:xfrm>
              <a:off x="3708136" y="641814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GPS Taxonomy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FF5E44-7EE9-6F5B-5647-1F54AF4B0081}"/>
                </a:ext>
              </a:extLst>
            </p:cNvPr>
            <p:cNvSpPr txBox="1"/>
            <p:nvPr/>
          </p:nvSpPr>
          <p:spPr>
            <a:xfrm>
              <a:off x="659424" y="1890345"/>
              <a:ext cx="1128835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93F84-BEDF-CAD7-E9E3-45F55076B7AD}"/>
                </a:ext>
              </a:extLst>
            </p:cNvPr>
            <p:cNvSpPr txBox="1"/>
            <p:nvPr/>
          </p:nvSpPr>
          <p:spPr>
            <a:xfrm>
              <a:off x="3668862" y="1890346"/>
              <a:ext cx="1577676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Dynamism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2754E1-095E-AD1C-52CD-C89EB4AF8512}"/>
                </a:ext>
              </a:extLst>
            </p:cNvPr>
            <p:cNvSpPr txBox="1"/>
            <p:nvPr/>
          </p:nvSpPr>
          <p:spPr>
            <a:xfrm>
              <a:off x="6716817" y="1890346"/>
              <a:ext cx="941283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Workload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8DC91C-302C-605A-4D95-25230C80D2BA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1223842" y="1274884"/>
              <a:ext cx="3233859" cy="61546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DE0B26-330D-336B-40D1-46571261669F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457700" y="1274884"/>
              <a:ext cx="1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C81CD6-FBEA-63C5-E281-1037E9AA349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>
            <a:xfrm>
              <a:off x="4457701" y="1274884"/>
              <a:ext cx="2729758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A1B085-4EDC-60DD-160D-8AC53C5BB65F}"/>
                </a:ext>
              </a:extLst>
            </p:cNvPr>
            <p:cNvSpPr txBox="1"/>
            <p:nvPr/>
          </p:nvSpPr>
          <p:spPr>
            <a:xfrm>
              <a:off x="430824" y="2589334"/>
              <a:ext cx="2268415" cy="954107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Structural Graphs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Labeled Property Graph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E0FD58-9DE0-92FC-38F4-4BCDF9BD5007}"/>
                </a:ext>
              </a:extLst>
            </p:cNvPr>
            <p:cNvSpPr txBox="1"/>
            <p:nvPr/>
          </p:nvSpPr>
          <p:spPr>
            <a:xfrm>
              <a:off x="6127311" y="2587097"/>
              <a:ext cx="2585865" cy="1169551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Whole-Graph Analytics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Traversals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Local Queries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Neighborhood Queries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739675-501E-1248-CFF8-A7D406A09D16}"/>
                </a:ext>
              </a:extLst>
            </p:cNvPr>
            <p:cNvSpPr txBox="1"/>
            <p:nvPr/>
          </p:nvSpPr>
          <p:spPr>
            <a:xfrm>
              <a:off x="3668862" y="2587097"/>
              <a:ext cx="1717137" cy="738664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Static Graph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Dynamic Graph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3975059-D484-8F92-3073-3E4187BC0285}"/>
                </a:ext>
              </a:extLst>
            </p:cNvPr>
            <p:cNvSpPr/>
            <p:nvPr/>
          </p:nvSpPr>
          <p:spPr>
            <a:xfrm>
              <a:off x="220133" y="2438400"/>
              <a:ext cx="8288867" cy="668867"/>
            </a:xfrm>
            <a:custGeom>
              <a:avLst/>
              <a:gdLst>
                <a:gd name="connsiteX0" fmla="*/ 101600 w 8288867"/>
                <a:gd name="connsiteY0" fmla="*/ 0 h 668867"/>
                <a:gd name="connsiteX1" fmla="*/ 76200 w 8288867"/>
                <a:gd name="connsiteY1" fmla="*/ 59267 h 668867"/>
                <a:gd name="connsiteX2" fmla="*/ 50800 w 8288867"/>
                <a:gd name="connsiteY2" fmla="*/ 135467 h 668867"/>
                <a:gd name="connsiteX3" fmla="*/ 8467 w 8288867"/>
                <a:gd name="connsiteY3" fmla="*/ 237067 h 668867"/>
                <a:gd name="connsiteX4" fmla="*/ 0 w 8288867"/>
                <a:gd name="connsiteY4" fmla="*/ 296333 h 668867"/>
                <a:gd name="connsiteX5" fmla="*/ 16934 w 8288867"/>
                <a:gd name="connsiteY5" fmla="*/ 397933 h 668867"/>
                <a:gd name="connsiteX6" fmla="*/ 33867 w 8288867"/>
                <a:gd name="connsiteY6" fmla="*/ 423333 h 668867"/>
                <a:gd name="connsiteX7" fmla="*/ 50800 w 8288867"/>
                <a:gd name="connsiteY7" fmla="*/ 440267 h 668867"/>
                <a:gd name="connsiteX8" fmla="*/ 76200 w 8288867"/>
                <a:gd name="connsiteY8" fmla="*/ 448733 h 668867"/>
                <a:gd name="connsiteX9" fmla="*/ 93134 w 8288867"/>
                <a:gd name="connsiteY9" fmla="*/ 465667 h 668867"/>
                <a:gd name="connsiteX10" fmla="*/ 160867 w 8288867"/>
                <a:gd name="connsiteY10" fmla="*/ 482600 h 668867"/>
                <a:gd name="connsiteX11" fmla="*/ 203200 w 8288867"/>
                <a:gd name="connsiteY11" fmla="*/ 499533 h 668867"/>
                <a:gd name="connsiteX12" fmla="*/ 237067 w 8288867"/>
                <a:gd name="connsiteY12" fmla="*/ 508000 h 668867"/>
                <a:gd name="connsiteX13" fmla="*/ 313267 w 8288867"/>
                <a:gd name="connsiteY13" fmla="*/ 524933 h 668867"/>
                <a:gd name="connsiteX14" fmla="*/ 338667 w 8288867"/>
                <a:gd name="connsiteY14" fmla="*/ 533400 h 668867"/>
                <a:gd name="connsiteX15" fmla="*/ 389467 w 8288867"/>
                <a:gd name="connsiteY15" fmla="*/ 541867 h 668867"/>
                <a:gd name="connsiteX16" fmla="*/ 423334 w 8288867"/>
                <a:gd name="connsiteY16" fmla="*/ 550333 h 668867"/>
                <a:gd name="connsiteX17" fmla="*/ 711200 w 8288867"/>
                <a:gd name="connsiteY17" fmla="*/ 541867 h 668867"/>
                <a:gd name="connsiteX18" fmla="*/ 762000 w 8288867"/>
                <a:gd name="connsiteY18" fmla="*/ 533400 h 668867"/>
                <a:gd name="connsiteX19" fmla="*/ 956734 w 8288867"/>
                <a:gd name="connsiteY19" fmla="*/ 516467 h 668867"/>
                <a:gd name="connsiteX20" fmla="*/ 999067 w 8288867"/>
                <a:gd name="connsiteY20" fmla="*/ 508000 h 668867"/>
                <a:gd name="connsiteX21" fmla="*/ 1363134 w 8288867"/>
                <a:gd name="connsiteY21" fmla="*/ 491067 h 668867"/>
                <a:gd name="connsiteX22" fmla="*/ 1405467 w 8288867"/>
                <a:gd name="connsiteY22" fmla="*/ 482600 h 668867"/>
                <a:gd name="connsiteX23" fmla="*/ 1845734 w 8288867"/>
                <a:gd name="connsiteY23" fmla="*/ 465667 h 668867"/>
                <a:gd name="connsiteX24" fmla="*/ 2091267 w 8288867"/>
                <a:gd name="connsiteY24" fmla="*/ 457200 h 668867"/>
                <a:gd name="connsiteX25" fmla="*/ 2912534 w 8288867"/>
                <a:gd name="connsiteY25" fmla="*/ 474133 h 668867"/>
                <a:gd name="connsiteX26" fmla="*/ 2980267 w 8288867"/>
                <a:gd name="connsiteY26" fmla="*/ 482600 h 668867"/>
                <a:gd name="connsiteX27" fmla="*/ 3081867 w 8288867"/>
                <a:gd name="connsiteY27" fmla="*/ 491067 h 668867"/>
                <a:gd name="connsiteX28" fmla="*/ 3589867 w 8288867"/>
                <a:gd name="connsiteY28" fmla="*/ 508000 h 668867"/>
                <a:gd name="connsiteX29" fmla="*/ 4385734 w 8288867"/>
                <a:gd name="connsiteY29" fmla="*/ 499533 h 668867"/>
                <a:gd name="connsiteX30" fmla="*/ 4487334 w 8288867"/>
                <a:gd name="connsiteY30" fmla="*/ 491067 h 668867"/>
                <a:gd name="connsiteX31" fmla="*/ 5139267 w 8288867"/>
                <a:gd name="connsiteY31" fmla="*/ 482600 h 668867"/>
                <a:gd name="connsiteX32" fmla="*/ 5317067 w 8288867"/>
                <a:gd name="connsiteY32" fmla="*/ 465667 h 668867"/>
                <a:gd name="connsiteX33" fmla="*/ 5664200 w 8288867"/>
                <a:gd name="connsiteY33" fmla="*/ 482600 h 668867"/>
                <a:gd name="connsiteX34" fmla="*/ 5799667 w 8288867"/>
                <a:gd name="connsiteY34" fmla="*/ 491067 h 668867"/>
                <a:gd name="connsiteX35" fmla="*/ 5867400 w 8288867"/>
                <a:gd name="connsiteY35" fmla="*/ 499533 h 668867"/>
                <a:gd name="connsiteX36" fmla="*/ 5977467 w 8288867"/>
                <a:gd name="connsiteY36" fmla="*/ 516467 h 668867"/>
                <a:gd name="connsiteX37" fmla="*/ 6011334 w 8288867"/>
                <a:gd name="connsiteY37" fmla="*/ 524933 h 668867"/>
                <a:gd name="connsiteX38" fmla="*/ 6062134 w 8288867"/>
                <a:gd name="connsiteY38" fmla="*/ 541867 h 668867"/>
                <a:gd name="connsiteX39" fmla="*/ 6155267 w 8288867"/>
                <a:gd name="connsiteY39" fmla="*/ 567267 h 668867"/>
                <a:gd name="connsiteX40" fmla="*/ 6239934 w 8288867"/>
                <a:gd name="connsiteY40" fmla="*/ 592667 h 668867"/>
                <a:gd name="connsiteX41" fmla="*/ 6265334 w 8288867"/>
                <a:gd name="connsiteY41" fmla="*/ 601133 h 668867"/>
                <a:gd name="connsiteX42" fmla="*/ 6341534 w 8288867"/>
                <a:gd name="connsiteY42" fmla="*/ 609600 h 668867"/>
                <a:gd name="connsiteX43" fmla="*/ 6375400 w 8288867"/>
                <a:gd name="connsiteY43" fmla="*/ 618067 h 668867"/>
                <a:gd name="connsiteX44" fmla="*/ 6434667 w 8288867"/>
                <a:gd name="connsiteY44" fmla="*/ 635000 h 668867"/>
                <a:gd name="connsiteX45" fmla="*/ 6493934 w 8288867"/>
                <a:gd name="connsiteY45" fmla="*/ 643467 h 668867"/>
                <a:gd name="connsiteX46" fmla="*/ 6527800 w 8288867"/>
                <a:gd name="connsiteY46" fmla="*/ 651933 h 668867"/>
                <a:gd name="connsiteX47" fmla="*/ 6747934 w 8288867"/>
                <a:gd name="connsiteY47" fmla="*/ 668867 h 668867"/>
                <a:gd name="connsiteX48" fmla="*/ 7027334 w 8288867"/>
                <a:gd name="connsiteY48" fmla="*/ 660400 h 668867"/>
                <a:gd name="connsiteX49" fmla="*/ 7222067 w 8288867"/>
                <a:gd name="connsiteY49" fmla="*/ 643467 h 668867"/>
                <a:gd name="connsiteX50" fmla="*/ 7289800 w 8288867"/>
                <a:gd name="connsiteY50" fmla="*/ 635000 h 668867"/>
                <a:gd name="connsiteX51" fmla="*/ 7594600 w 8288867"/>
                <a:gd name="connsiteY51" fmla="*/ 618067 h 668867"/>
                <a:gd name="connsiteX52" fmla="*/ 7763934 w 8288867"/>
                <a:gd name="connsiteY52" fmla="*/ 601133 h 668867"/>
                <a:gd name="connsiteX53" fmla="*/ 7814734 w 8288867"/>
                <a:gd name="connsiteY53" fmla="*/ 592667 h 668867"/>
                <a:gd name="connsiteX54" fmla="*/ 7907867 w 8288867"/>
                <a:gd name="connsiteY54" fmla="*/ 584200 h 668867"/>
                <a:gd name="connsiteX55" fmla="*/ 7958667 w 8288867"/>
                <a:gd name="connsiteY55" fmla="*/ 567267 h 668867"/>
                <a:gd name="connsiteX56" fmla="*/ 7992534 w 8288867"/>
                <a:gd name="connsiteY56" fmla="*/ 558800 h 668867"/>
                <a:gd name="connsiteX57" fmla="*/ 8094134 w 8288867"/>
                <a:gd name="connsiteY57" fmla="*/ 524933 h 668867"/>
                <a:gd name="connsiteX58" fmla="*/ 8144934 w 8288867"/>
                <a:gd name="connsiteY58" fmla="*/ 508000 h 668867"/>
                <a:gd name="connsiteX59" fmla="*/ 8170334 w 8288867"/>
                <a:gd name="connsiteY59" fmla="*/ 491067 h 668867"/>
                <a:gd name="connsiteX60" fmla="*/ 8195734 w 8288867"/>
                <a:gd name="connsiteY60" fmla="*/ 482600 h 668867"/>
                <a:gd name="connsiteX61" fmla="*/ 8246534 w 8288867"/>
                <a:gd name="connsiteY61" fmla="*/ 448733 h 668867"/>
                <a:gd name="connsiteX62" fmla="*/ 8271934 w 8288867"/>
                <a:gd name="connsiteY62" fmla="*/ 397933 h 668867"/>
                <a:gd name="connsiteX63" fmla="*/ 8288867 w 8288867"/>
                <a:gd name="connsiteY63" fmla="*/ 330200 h 668867"/>
                <a:gd name="connsiteX64" fmla="*/ 8280400 w 8288867"/>
                <a:gd name="connsiteY64" fmla="*/ 211667 h 668867"/>
                <a:gd name="connsiteX65" fmla="*/ 8271934 w 8288867"/>
                <a:gd name="connsiteY65" fmla="*/ 186267 h 668867"/>
                <a:gd name="connsiteX66" fmla="*/ 8204200 w 8288867"/>
                <a:gd name="connsiteY66" fmla="*/ 127000 h 668867"/>
                <a:gd name="connsiteX67" fmla="*/ 8153400 w 8288867"/>
                <a:gd name="connsiteY67" fmla="*/ 93133 h 668867"/>
                <a:gd name="connsiteX68" fmla="*/ 8128000 w 8288867"/>
                <a:gd name="connsiteY68" fmla="*/ 67733 h 668867"/>
                <a:gd name="connsiteX69" fmla="*/ 8009467 w 8288867"/>
                <a:gd name="connsiteY69" fmla="*/ 33867 h 668867"/>
                <a:gd name="connsiteX70" fmla="*/ 7975600 w 8288867"/>
                <a:gd name="connsiteY70" fmla="*/ 25400 h 668867"/>
                <a:gd name="connsiteX71" fmla="*/ 7941734 w 8288867"/>
                <a:gd name="connsiteY71" fmla="*/ 16933 h 668867"/>
                <a:gd name="connsiteX72" fmla="*/ 7848600 w 8288867"/>
                <a:gd name="connsiteY72" fmla="*/ 8467 h 668867"/>
                <a:gd name="connsiteX73" fmla="*/ 7467600 w 8288867"/>
                <a:gd name="connsiteY73" fmla="*/ 16933 h 668867"/>
                <a:gd name="connsiteX74" fmla="*/ 7382934 w 8288867"/>
                <a:gd name="connsiteY74" fmla="*/ 25400 h 668867"/>
                <a:gd name="connsiteX75" fmla="*/ 6747934 w 8288867"/>
                <a:gd name="connsiteY75" fmla="*/ 33867 h 668867"/>
                <a:gd name="connsiteX76" fmla="*/ 6654800 w 8288867"/>
                <a:gd name="connsiteY76" fmla="*/ 42333 h 668867"/>
                <a:gd name="connsiteX77" fmla="*/ 6612467 w 8288867"/>
                <a:gd name="connsiteY77" fmla="*/ 50800 h 668867"/>
                <a:gd name="connsiteX78" fmla="*/ 6129867 w 8288867"/>
                <a:gd name="connsiteY78" fmla="*/ 59267 h 668867"/>
                <a:gd name="connsiteX79" fmla="*/ 5190067 w 8288867"/>
                <a:gd name="connsiteY79" fmla="*/ 59267 h 668867"/>
                <a:gd name="connsiteX80" fmla="*/ 4648200 w 8288867"/>
                <a:gd name="connsiteY80" fmla="*/ 50800 h 668867"/>
                <a:gd name="connsiteX81" fmla="*/ 4301067 w 8288867"/>
                <a:gd name="connsiteY81" fmla="*/ 33867 h 668867"/>
                <a:gd name="connsiteX82" fmla="*/ 4241800 w 8288867"/>
                <a:gd name="connsiteY82" fmla="*/ 25400 h 668867"/>
                <a:gd name="connsiteX83" fmla="*/ 3615267 w 8288867"/>
                <a:gd name="connsiteY83" fmla="*/ 42333 h 668867"/>
                <a:gd name="connsiteX84" fmla="*/ 3344334 w 8288867"/>
                <a:gd name="connsiteY84" fmla="*/ 59267 h 668867"/>
                <a:gd name="connsiteX85" fmla="*/ 2633134 w 8288867"/>
                <a:gd name="connsiteY85" fmla="*/ 67733 h 668867"/>
                <a:gd name="connsiteX86" fmla="*/ 2006600 w 8288867"/>
                <a:gd name="connsiteY86" fmla="*/ 67733 h 668867"/>
                <a:gd name="connsiteX87" fmla="*/ 1913467 w 8288867"/>
                <a:gd name="connsiteY87" fmla="*/ 59267 h 668867"/>
                <a:gd name="connsiteX88" fmla="*/ 1464734 w 8288867"/>
                <a:gd name="connsiteY88" fmla="*/ 42333 h 668867"/>
                <a:gd name="connsiteX89" fmla="*/ 1143000 w 8288867"/>
                <a:gd name="connsiteY89" fmla="*/ 25400 h 668867"/>
                <a:gd name="connsiteX90" fmla="*/ 829734 w 8288867"/>
                <a:gd name="connsiteY90" fmla="*/ 16933 h 668867"/>
                <a:gd name="connsiteX91" fmla="*/ 592667 w 8288867"/>
                <a:gd name="connsiteY91" fmla="*/ 8467 h 668867"/>
                <a:gd name="connsiteX92" fmla="*/ 42334 w 8288867"/>
                <a:gd name="connsiteY92" fmla="*/ 16933 h 6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288867" h="668867">
                  <a:moveTo>
                    <a:pt x="101600" y="0"/>
                  </a:moveTo>
                  <a:cubicBezTo>
                    <a:pt x="93133" y="19756"/>
                    <a:pt x="83545" y="39068"/>
                    <a:pt x="76200" y="59267"/>
                  </a:cubicBezTo>
                  <a:cubicBezTo>
                    <a:pt x="47303" y="138736"/>
                    <a:pt x="93928" y="42023"/>
                    <a:pt x="50800" y="135467"/>
                  </a:cubicBezTo>
                  <a:cubicBezTo>
                    <a:pt x="24018" y="193494"/>
                    <a:pt x="17392" y="187983"/>
                    <a:pt x="8467" y="237067"/>
                  </a:cubicBezTo>
                  <a:cubicBezTo>
                    <a:pt x="4897" y="256701"/>
                    <a:pt x="2822" y="276578"/>
                    <a:pt x="0" y="296333"/>
                  </a:cubicBezTo>
                  <a:cubicBezTo>
                    <a:pt x="2683" y="320481"/>
                    <a:pt x="2749" y="369563"/>
                    <a:pt x="16934" y="397933"/>
                  </a:cubicBezTo>
                  <a:cubicBezTo>
                    <a:pt x="21485" y="407034"/>
                    <a:pt x="27510" y="415387"/>
                    <a:pt x="33867" y="423333"/>
                  </a:cubicBezTo>
                  <a:cubicBezTo>
                    <a:pt x="38854" y="429566"/>
                    <a:pt x="43955" y="436160"/>
                    <a:pt x="50800" y="440267"/>
                  </a:cubicBezTo>
                  <a:cubicBezTo>
                    <a:pt x="58453" y="444859"/>
                    <a:pt x="67733" y="445911"/>
                    <a:pt x="76200" y="448733"/>
                  </a:cubicBezTo>
                  <a:cubicBezTo>
                    <a:pt x="81845" y="454378"/>
                    <a:pt x="86289" y="461560"/>
                    <a:pt x="93134" y="465667"/>
                  </a:cubicBezTo>
                  <a:cubicBezTo>
                    <a:pt x="108030" y="474604"/>
                    <a:pt x="148734" y="478960"/>
                    <a:pt x="160867" y="482600"/>
                  </a:cubicBezTo>
                  <a:cubicBezTo>
                    <a:pt x="175424" y="486967"/>
                    <a:pt x="188782" y="494727"/>
                    <a:pt x="203200" y="499533"/>
                  </a:cubicBezTo>
                  <a:cubicBezTo>
                    <a:pt x="214239" y="503213"/>
                    <a:pt x="225878" y="504803"/>
                    <a:pt x="237067" y="508000"/>
                  </a:cubicBezTo>
                  <a:cubicBezTo>
                    <a:pt x="295425" y="524674"/>
                    <a:pt x="221594" y="509655"/>
                    <a:pt x="313267" y="524933"/>
                  </a:cubicBezTo>
                  <a:cubicBezTo>
                    <a:pt x="321734" y="527755"/>
                    <a:pt x="329955" y="531464"/>
                    <a:pt x="338667" y="533400"/>
                  </a:cubicBezTo>
                  <a:cubicBezTo>
                    <a:pt x="355425" y="537124"/>
                    <a:pt x="372633" y="538500"/>
                    <a:pt x="389467" y="541867"/>
                  </a:cubicBezTo>
                  <a:cubicBezTo>
                    <a:pt x="400877" y="544149"/>
                    <a:pt x="412045" y="547511"/>
                    <a:pt x="423334" y="550333"/>
                  </a:cubicBezTo>
                  <a:cubicBezTo>
                    <a:pt x="519289" y="547511"/>
                    <a:pt x="615323" y="546661"/>
                    <a:pt x="711200" y="541867"/>
                  </a:cubicBezTo>
                  <a:cubicBezTo>
                    <a:pt x="728346" y="541010"/>
                    <a:pt x="744924" y="535166"/>
                    <a:pt x="762000" y="533400"/>
                  </a:cubicBezTo>
                  <a:cubicBezTo>
                    <a:pt x="826810" y="526695"/>
                    <a:pt x="956734" y="516467"/>
                    <a:pt x="956734" y="516467"/>
                  </a:cubicBezTo>
                  <a:cubicBezTo>
                    <a:pt x="970845" y="513645"/>
                    <a:pt x="984821" y="510035"/>
                    <a:pt x="999067" y="508000"/>
                  </a:cubicBezTo>
                  <a:cubicBezTo>
                    <a:pt x="1122655" y="490344"/>
                    <a:pt x="1230105" y="494979"/>
                    <a:pt x="1363134" y="491067"/>
                  </a:cubicBezTo>
                  <a:cubicBezTo>
                    <a:pt x="1377245" y="488245"/>
                    <a:pt x="1391188" y="484385"/>
                    <a:pt x="1405467" y="482600"/>
                  </a:cubicBezTo>
                  <a:cubicBezTo>
                    <a:pt x="1544612" y="465206"/>
                    <a:pt x="1724598" y="469128"/>
                    <a:pt x="1845734" y="465667"/>
                  </a:cubicBezTo>
                  <a:lnTo>
                    <a:pt x="2091267" y="457200"/>
                  </a:lnTo>
                  <a:lnTo>
                    <a:pt x="2912534" y="474133"/>
                  </a:lnTo>
                  <a:cubicBezTo>
                    <a:pt x="2935271" y="475007"/>
                    <a:pt x="2957627" y="480336"/>
                    <a:pt x="2980267" y="482600"/>
                  </a:cubicBezTo>
                  <a:cubicBezTo>
                    <a:pt x="3014082" y="485982"/>
                    <a:pt x="3047953" y="488879"/>
                    <a:pt x="3081867" y="491067"/>
                  </a:cubicBezTo>
                  <a:cubicBezTo>
                    <a:pt x="3276415" y="503618"/>
                    <a:pt x="3365603" y="502530"/>
                    <a:pt x="3589867" y="508000"/>
                  </a:cubicBezTo>
                  <a:lnTo>
                    <a:pt x="4385734" y="499533"/>
                  </a:lnTo>
                  <a:cubicBezTo>
                    <a:pt x="4419712" y="498892"/>
                    <a:pt x="4453359" y="491830"/>
                    <a:pt x="4487334" y="491067"/>
                  </a:cubicBezTo>
                  <a:lnTo>
                    <a:pt x="5139267" y="482600"/>
                  </a:lnTo>
                  <a:cubicBezTo>
                    <a:pt x="5208593" y="471045"/>
                    <a:pt x="5230583" y="465667"/>
                    <a:pt x="5317067" y="465667"/>
                  </a:cubicBezTo>
                  <a:cubicBezTo>
                    <a:pt x="5463035" y="465667"/>
                    <a:pt x="5533098" y="473860"/>
                    <a:pt x="5664200" y="482600"/>
                  </a:cubicBezTo>
                  <a:cubicBezTo>
                    <a:pt x="5709344" y="485610"/>
                    <a:pt x="5754579" y="487310"/>
                    <a:pt x="5799667" y="491067"/>
                  </a:cubicBezTo>
                  <a:cubicBezTo>
                    <a:pt x="5822342" y="492957"/>
                    <a:pt x="5844846" y="496526"/>
                    <a:pt x="5867400" y="499533"/>
                  </a:cubicBezTo>
                  <a:cubicBezTo>
                    <a:pt x="5891802" y="502787"/>
                    <a:pt x="5951593" y="511292"/>
                    <a:pt x="5977467" y="516467"/>
                  </a:cubicBezTo>
                  <a:cubicBezTo>
                    <a:pt x="5988877" y="518749"/>
                    <a:pt x="6000188" y="521589"/>
                    <a:pt x="6011334" y="524933"/>
                  </a:cubicBezTo>
                  <a:cubicBezTo>
                    <a:pt x="6028431" y="530062"/>
                    <a:pt x="6044631" y="538367"/>
                    <a:pt x="6062134" y="541867"/>
                  </a:cubicBezTo>
                  <a:cubicBezTo>
                    <a:pt x="6121975" y="553834"/>
                    <a:pt x="6090809" y="545781"/>
                    <a:pt x="6155267" y="567267"/>
                  </a:cubicBezTo>
                  <a:cubicBezTo>
                    <a:pt x="6212744" y="586426"/>
                    <a:pt x="6143112" y="563621"/>
                    <a:pt x="6239934" y="592667"/>
                  </a:cubicBezTo>
                  <a:cubicBezTo>
                    <a:pt x="6248482" y="595231"/>
                    <a:pt x="6256531" y="599666"/>
                    <a:pt x="6265334" y="601133"/>
                  </a:cubicBezTo>
                  <a:cubicBezTo>
                    <a:pt x="6290543" y="605334"/>
                    <a:pt x="6316134" y="606778"/>
                    <a:pt x="6341534" y="609600"/>
                  </a:cubicBezTo>
                  <a:cubicBezTo>
                    <a:pt x="6352823" y="612422"/>
                    <a:pt x="6364174" y="615005"/>
                    <a:pt x="6375400" y="618067"/>
                  </a:cubicBezTo>
                  <a:cubicBezTo>
                    <a:pt x="6395222" y="623473"/>
                    <a:pt x="6414577" y="630695"/>
                    <a:pt x="6434667" y="635000"/>
                  </a:cubicBezTo>
                  <a:cubicBezTo>
                    <a:pt x="6454180" y="639181"/>
                    <a:pt x="6474300" y="639897"/>
                    <a:pt x="6493934" y="643467"/>
                  </a:cubicBezTo>
                  <a:cubicBezTo>
                    <a:pt x="6505382" y="645548"/>
                    <a:pt x="6516322" y="650020"/>
                    <a:pt x="6527800" y="651933"/>
                  </a:cubicBezTo>
                  <a:cubicBezTo>
                    <a:pt x="6601692" y="664248"/>
                    <a:pt x="6671933" y="664645"/>
                    <a:pt x="6747934" y="668867"/>
                  </a:cubicBezTo>
                  <a:lnTo>
                    <a:pt x="7027334" y="660400"/>
                  </a:lnTo>
                  <a:cubicBezTo>
                    <a:pt x="7100365" y="657292"/>
                    <a:pt x="7152301" y="651675"/>
                    <a:pt x="7222067" y="643467"/>
                  </a:cubicBezTo>
                  <a:cubicBezTo>
                    <a:pt x="7244665" y="640809"/>
                    <a:pt x="7267140" y="637060"/>
                    <a:pt x="7289800" y="635000"/>
                  </a:cubicBezTo>
                  <a:cubicBezTo>
                    <a:pt x="7392967" y="625621"/>
                    <a:pt x="7490147" y="622815"/>
                    <a:pt x="7594600" y="618067"/>
                  </a:cubicBezTo>
                  <a:cubicBezTo>
                    <a:pt x="7709661" y="598889"/>
                    <a:pt x="7570155" y="620510"/>
                    <a:pt x="7763934" y="601133"/>
                  </a:cubicBezTo>
                  <a:cubicBezTo>
                    <a:pt x="7781016" y="599425"/>
                    <a:pt x="7797685" y="594673"/>
                    <a:pt x="7814734" y="592667"/>
                  </a:cubicBezTo>
                  <a:cubicBezTo>
                    <a:pt x="7845693" y="589025"/>
                    <a:pt x="7876823" y="587022"/>
                    <a:pt x="7907867" y="584200"/>
                  </a:cubicBezTo>
                  <a:cubicBezTo>
                    <a:pt x="7924800" y="578556"/>
                    <a:pt x="7941570" y="572396"/>
                    <a:pt x="7958667" y="567267"/>
                  </a:cubicBezTo>
                  <a:cubicBezTo>
                    <a:pt x="7969813" y="563923"/>
                    <a:pt x="7981388" y="562144"/>
                    <a:pt x="7992534" y="558800"/>
                  </a:cubicBezTo>
                  <a:cubicBezTo>
                    <a:pt x="7992574" y="558788"/>
                    <a:pt x="8094095" y="524946"/>
                    <a:pt x="8094134" y="524933"/>
                  </a:cubicBezTo>
                  <a:cubicBezTo>
                    <a:pt x="8094139" y="524931"/>
                    <a:pt x="8144930" y="508003"/>
                    <a:pt x="8144934" y="508000"/>
                  </a:cubicBezTo>
                  <a:cubicBezTo>
                    <a:pt x="8153401" y="502356"/>
                    <a:pt x="8161233" y="495618"/>
                    <a:pt x="8170334" y="491067"/>
                  </a:cubicBezTo>
                  <a:cubicBezTo>
                    <a:pt x="8178316" y="487076"/>
                    <a:pt x="8187932" y="486934"/>
                    <a:pt x="8195734" y="482600"/>
                  </a:cubicBezTo>
                  <a:cubicBezTo>
                    <a:pt x="8213524" y="472716"/>
                    <a:pt x="8246534" y="448733"/>
                    <a:pt x="8246534" y="448733"/>
                  </a:cubicBezTo>
                  <a:cubicBezTo>
                    <a:pt x="8264317" y="422057"/>
                    <a:pt x="8263845" y="427592"/>
                    <a:pt x="8271934" y="397933"/>
                  </a:cubicBezTo>
                  <a:cubicBezTo>
                    <a:pt x="8278057" y="375481"/>
                    <a:pt x="8288867" y="330200"/>
                    <a:pt x="8288867" y="330200"/>
                  </a:cubicBezTo>
                  <a:cubicBezTo>
                    <a:pt x="8286045" y="290689"/>
                    <a:pt x="8285028" y="251007"/>
                    <a:pt x="8280400" y="211667"/>
                  </a:cubicBezTo>
                  <a:cubicBezTo>
                    <a:pt x="8279357" y="202804"/>
                    <a:pt x="8277289" y="193407"/>
                    <a:pt x="8271934" y="186267"/>
                  </a:cubicBezTo>
                  <a:cubicBezTo>
                    <a:pt x="8227964" y="127640"/>
                    <a:pt x="8243370" y="159642"/>
                    <a:pt x="8204200" y="127000"/>
                  </a:cubicBezTo>
                  <a:cubicBezTo>
                    <a:pt x="8161918" y="91765"/>
                    <a:pt x="8198038" y="108013"/>
                    <a:pt x="8153400" y="93133"/>
                  </a:cubicBezTo>
                  <a:cubicBezTo>
                    <a:pt x="8144933" y="84666"/>
                    <a:pt x="8138467" y="73548"/>
                    <a:pt x="8128000" y="67733"/>
                  </a:cubicBezTo>
                  <a:cubicBezTo>
                    <a:pt x="8108125" y="56691"/>
                    <a:pt x="8025409" y="37853"/>
                    <a:pt x="8009467" y="33867"/>
                  </a:cubicBezTo>
                  <a:lnTo>
                    <a:pt x="7975600" y="25400"/>
                  </a:lnTo>
                  <a:cubicBezTo>
                    <a:pt x="7964311" y="22578"/>
                    <a:pt x="7953322" y="17986"/>
                    <a:pt x="7941734" y="16933"/>
                  </a:cubicBezTo>
                  <a:lnTo>
                    <a:pt x="7848600" y="8467"/>
                  </a:lnTo>
                  <a:lnTo>
                    <a:pt x="7467600" y="16933"/>
                  </a:lnTo>
                  <a:cubicBezTo>
                    <a:pt x="7439256" y="17964"/>
                    <a:pt x="7411289" y="24733"/>
                    <a:pt x="7382934" y="25400"/>
                  </a:cubicBezTo>
                  <a:cubicBezTo>
                    <a:pt x="7171307" y="30380"/>
                    <a:pt x="6959601" y="31045"/>
                    <a:pt x="6747934" y="33867"/>
                  </a:cubicBezTo>
                  <a:cubicBezTo>
                    <a:pt x="6716889" y="36689"/>
                    <a:pt x="6685732" y="38467"/>
                    <a:pt x="6654800" y="42333"/>
                  </a:cubicBezTo>
                  <a:cubicBezTo>
                    <a:pt x="6640521" y="44118"/>
                    <a:pt x="6626850" y="50336"/>
                    <a:pt x="6612467" y="50800"/>
                  </a:cubicBezTo>
                  <a:cubicBezTo>
                    <a:pt x="6451659" y="55988"/>
                    <a:pt x="6290734" y="56445"/>
                    <a:pt x="6129867" y="59267"/>
                  </a:cubicBezTo>
                  <a:cubicBezTo>
                    <a:pt x="5720116" y="82029"/>
                    <a:pt x="6003954" y="69635"/>
                    <a:pt x="5190067" y="59267"/>
                  </a:cubicBezTo>
                  <a:lnTo>
                    <a:pt x="4648200" y="50800"/>
                  </a:lnTo>
                  <a:cubicBezTo>
                    <a:pt x="4520113" y="46225"/>
                    <a:pt x="4422145" y="45975"/>
                    <a:pt x="4301067" y="33867"/>
                  </a:cubicBezTo>
                  <a:cubicBezTo>
                    <a:pt x="4281210" y="31881"/>
                    <a:pt x="4261556" y="28222"/>
                    <a:pt x="4241800" y="25400"/>
                  </a:cubicBezTo>
                  <a:lnTo>
                    <a:pt x="3615267" y="42333"/>
                  </a:lnTo>
                  <a:cubicBezTo>
                    <a:pt x="3448030" y="50491"/>
                    <a:pt x="3547246" y="55327"/>
                    <a:pt x="3344334" y="59267"/>
                  </a:cubicBezTo>
                  <a:lnTo>
                    <a:pt x="2633134" y="67733"/>
                  </a:lnTo>
                  <a:cubicBezTo>
                    <a:pt x="2368181" y="89813"/>
                    <a:pt x="2508644" y="81487"/>
                    <a:pt x="2006600" y="67733"/>
                  </a:cubicBezTo>
                  <a:cubicBezTo>
                    <a:pt x="1975439" y="66879"/>
                    <a:pt x="1944575" y="61274"/>
                    <a:pt x="1913467" y="59267"/>
                  </a:cubicBezTo>
                  <a:cubicBezTo>
                    <a:pt x="1762387" y="49520"/>
                    <a:pt x="1617102" y="46950"/>
                    <a:pt x="1464734" y="42333"/>
                  </a:cubicBezTo>
                  <a:cubicBezTo>
                    <a:pt x="1335330" y="34246"/>
                    <a:pt x="1280919" y="30075"/>
                    <a:pt x="1143000" y="25400"/>
                  </a:cubicBezTo>
                  <a:lnTo>
                    <a:pt x="829734" y="16933"/>
                  </a:lnTo>
                  <a:lnTo>
                    <a:pt x="592667" y="8467"/>
                  </a:lnTo>
                  <a:lnTo>
                    <a:pt x="42334" y="16933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F64617-905F-3091-ABE3-93823BB338FC}"/>
                </a:ext>
              </a:extLst>
            </p:cNvPr>
            <p:cNvSpPr txBox="1"/>
            <p:nvPr/>
          </p:nvSpPr>
          <p:spPr>
            <a:xfrm>
              <a:off x="540852" y="297695"/>
              <a:ext cx="2177507" cy="1217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chemeClr val="accent1"/>
                  </a:solidFill>
                </a:rPr>
                <a:t>Static Graph Processing Systems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B152C6-CEF4-7399-A3BF-981C05AA1C15}"/>
              </a:ext>
            </a:extLst>
          </p:cNvPr>
          <p:cNvSpPr txBox="1"/>
          <p:nvPr/>
        </p:nvSpPr>
        <p:spPr>
          <a:xfrm>
            <a:off x="0" y="3692883"/>
            <a:ext cx="896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Programming Model (Partition Centric) 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computation defined in terms of partitions 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800" dirty="0"/>
              <a:t>Done to reduce cross-partition communication</a:t>
            </a:r>
          </a:p>
          <a:p>
            <a:pPr marL="285750" indent="-285750">
              <a:buFont typeface="System Font Regular"/>
              <a:buChar char="-"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06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3CC55B-A56F-8A85-8ED0-7E231D9061E2}"/>
              </a:ext>
            </a:extLst>
          </p:cNvPr>
          <p:cNvCxnSpPr>
            <a:cxnSpLocks/>
          </p:cNvCxnSpPr>
          <p:nvPr/>
        </p:nvCxnSpPr>
        <p:spPr>
          <a:xfrm flipH="1">
            <a:off x="279400" y="45493"/>
            <a:ext cx="4060588" cy="1639374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C0ED97-35BC-922A-688D-85449C0FD75C}"/>
              </a:ext>
            </a:extLst>
          </p:cNvPr>
          <p:cNvCxnSpPr/>
          <p:nvPr/>
        </p:nvCxnSpPr>
        <p:spPr>
          <a:xfrm flipV="1">
            <a:off x="3471081" y="45493"/>
            <a:ext cx="3270913" cy="1639374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3D9FCB-0FC7-2750-33EC-C9FBCBCCF8C9}"/>
              </a:ext>
            </a:extLst>
          </p:cNvPr>
          <p:cNvCxnSpPr/>
          <p:nvPr/>
        </p:nvCxnSpPr>
        <p:spPr>
          <a:xfrm>
            <a:off x="3471081" y="3458634"/>
            <a:ext cx="3270913" cy="1336279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8C3D2F-7133-4423-AAA4-D192CCA713B5}"/>
              </a:ext>
            </a:extLst>
          </p:cNvPr>
          <p:cNvCxnSpPr/>
          <p:nvPr/>
        </p:nvCxnSpPr>
        <p:spPr>
          <a:xfrm>
            <a:off x="279400" y="3458634"/>
            <a:ext cx="4060588" cy="1336279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9DC8E22-606A-6598-1B91-1F3F180A0C19}"/>
              </a:ext>
            </a:extLst>
          </p:cNvPr>
          <p:cNvSpPr txBox="1"/>
          <p:nvPr/>
        </p:nvSpPr>
        <p:spPr>
          <a:xfrm>
            <a:off x="89550" y="2310140"/>
            <a:ext cx="397048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Primary Classification: </a:t>
            </a:r>
          </a:p>
          <a:p>
            <a:pPr algn="ctr"/>
            <a:endParaRPr lang="en-US" sz="2500" dirty="0"/>
          </a:p>
          <a:p>
            <a:pPr algn="ctr"/>
            <a:r>
              <a:rPr lang="en-US" sz="2500" dirty="0"/>
              <a:t> Static/Dynamic </a:t>
            </a:r>
          </a:p>
          <a:p>
            <a:pPr algn="ctr"/>
            <a:r>
              <a:rPr lang="en-US" sz="2500" dirty="0"/>
              <a:t>and </a:t>
            </a:r>
          </a:p>
          <a:p>
            <a:pPr algn="ctr"/>
            <a:r>
              <a:rPr lang="en-US" sz="2500" dirty="0"/>
              <a:t>In-memory/Out-of-Core</a:t>
            </a:r>
          </a:p>
        </p:txBody>
      </p:sp>
      <p:pic>
        <p:nvPicPr>
          <p:cNvPr id="36" name="Picture 35" descr="A diagram of a graph&#10;&#10;Description automatically generated">
            <a:extLst>
              <a:ext uri="{FF2B5EF4-FFF2-40B4-BE49-F238E27FC236}">
                <a16:creationId xmlns:a16="http://schemas.microsoft.com/office/drawing/2014/main" id="{121F7983-C9B1-1C3F-BDCB-8D2006C31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981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7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A9BDA7A3-264A-30C2-E71A-F8F26CE6C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281" y="0"/>
            <a:ext cx="2702719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F60E306-6CD6-963D-0273-4300EF0C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992"/>
            <a:ext cx="5028396" cy="755700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Static GPS Classification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09134-B55B-79BC-1635-C0310D0BB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6608"/>
            <a:ext cx="4772364" cy="375390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500" dirty="0"/>
              <a:t>Computation Model:</a:t>
            </a:r>
          </a:p>
          <a:p>
            <a:pPr marL="800100" lvl="1" indent="-342900"/>
            <a:r>
              <a:rPr lang="en-US" sz="2500" dirty="0"/>
              <a:t>BSP</a:t>
            </a:r>
          </a:p>
          <a:p>
            <a:pPr marL="800100" lvl="1" indent="-342900"/>
            <a:r>
              <a:rPr lang="en-US" sz="2500" dirty="0" err="1"/>
              <a:t>Asych</a:t>
            </a:r>
            <a:endParaRPr lang="en-US" sz="2500" dirty="0"/>
          </a:p>
          <a:p>
            <a:pPr marL="800100" lvl="1" indent="-342900"/>
            <a:r>
              <a:rPr lang="en-US" sz="2500" dirty="0"/>
              <a:t>GAS</a:t>
            </a:r>
          </a:p>
          <a:p>
            <a:pPr marL="342900" indent="-342900"/>
            <a:r>
              <a:rPr lang="en-US" sz="2500" dirty="0"/>
              <a:t>Programming Model:</a:t>
            </a:r>
          </a:p>
          <a:p>
            <a:pPr marL="800100" lvl="1" indent="-342900"/>
            <a:r>
              <a:rPr lang="en-US" sz="2500" dirty="0"/>
              <a:t>Vertex-Centric</a:t>
            </a:r>
          </a:p>
          <a:p>
            <a:pPr marL="800100" lvl="1" indent="-342900"/>
            <a:r>
              <a:rPr lang="en-US" sz="2500" dirty="0"/>
              <a:t>Edge Centric</a:t>
            </a:r>
          </a:p>
          <a:p>
            <a:pPr marL="800100" lvl="1" indent="-342900"/>
            <a:r>
              <a:rPr lang="en-US" sz="2500" dirty="0"/>
              <a:t>Partition Centric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64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BCF6-A128-4913-137B-6FAAB936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F4-773E-3051-BC5E-D1CEF0E0A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5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EA2BF9E-96B3-65C0-9D36-33C8DC83FE8F}"/>
              </a:ext>
            </a:extLst>
          </p:cNvPr>
          <p:cNvCxnSpPr/>
          <p:nvPr/>
        </p:nvCxnSpPr>
        <p:spPr>
          <a:xfrm flipV="1">
            <a:off x="1207008" y="237744"/>
            <a:ext cx="0" cy="41788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7E2A5B-8333-0C63-74AC-CF6C418703B4}"/>
              </a:ext>
            </a:extLst>
          </p:cNvPr>
          <p:cNvCxnSpPr/>
          <p:nvPr/>
        </p:nvCxnSpPr>
        <p:spPr>
          <a:xfrm>
            <a:off x="1207008" y="4416552"/>
            <a:ext cx="769010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F40E56-5E30-6515-BF4B-D29BA0D42ABD}"/>
              </a:ext>
            </a:extLst>
          </p:cNvPr>
          <p:cNvSpPr txBox="1"/>
          <p:nvPr/>
        </p:nvSpPr>
        <p:spPr>
          <a:xfrm>
            <a:off x="1728216" y="4535424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Vertex-Centric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1D183-E344-A903-E0A3-055BD1757AD1}"/>
              </a:ext>
            </a:extLst>
          </p:cNvPr>
          <p:cNvSpPr txBox="1"/>
          <p:nvPr/>
        </p:nvSpPr>
        <p:spPr>
          <a:xfrm>
            <a:off x="4782312" y="4535424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Edge-Centric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B1F54-00E7-12CB-1217-83329DC270E7}"/>
              </a:ext>
            </a:extLst>
          </p:cNvPr>
          <p:cNvSpPr txBox="1"/>
          <p:nvPr/>
        </p:nvSpPr>
        <p:spPr>
          <a:xfrm>
            <a:off x="7716981" y="4535424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Path-Centric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BCE13F-9819-E02F-DA7C-9FEE0B241DBA}"/>
              </a:ext>
            </a:extLst>
          </p:cNvPr>
          <p:cNvCxnSpPr>
            <a:endCxn id="10" idx="0"/>
          </p:cNvCxnSpPr>
          <p:nvPr/>
        </p:nvCxnSpPr>
        <p:spPr>
          <a:xfrm>
            <a:off x="8307046" y="4416552"/>
            <a:ext cx="1" cy="118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90BB3C-3453-65FC-4D7C-10C60913504D}"/>
              </a:ext>
            </a:extLst>
          </p:cNvPr>
          <p:cNvCxnSpPr>
            <a:endCxn id="9" idx="0"/>
          </p:cNvCxnSpPr>
          <p:nvPr/>
        </p:nvCxnSpPr>
        <p:spPr>
          <a:xfrm>
            <a:off x="5397224" y="4416552"/>
            <a:ext cx="0" cy="118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DC0C54-0CD4-FCB8-2792-C395BBC21E02}"/>
              </a:ext>
            </a:extLst>
          </p:cNvPr>
          <p:cNvCxnSpPr>
            <a:endCxn id="8" idx="0"/>
          </p:cNvCxnSpPr>
          <p:nvPr/>
        </p:nvCxnSpPr>
        <p:spPr>
          <a:xfrm>
            <a:off x="2392821" y="4416552"/>
            <a:ext cx="0" cy="118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106BAC-BB61-EC28-D7E6-F7ABFA0D14A7}"/>
              </a:ext>
            </a:extLst>
          </p:cNvPr>
          <p:cNvSpPr txBox="1"/>
          <p:nvPr/>
        </p:nvSpPr>
        <p:spPr>
          <a:xfrm rot="19883660">
            <a:off x="287752" y="601784"/>
            <a:ext cx="8320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Gather- Apply- Scatter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8589E-E9A2-2A05-325A-0636ACDE576B}"/>
              </a:ext>
            </a:extLst>
          </p:cNvPr>
          <p:cNvSpPr txBox="1"/>
          <p:nvPr/>
        </p:nvSpPr>
        <p:spPr>
          <a:xfrm rot="19426850">
            <a:off x="-36500" y="2033335"/>
            <a:ext cx="1318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Asynchronous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DEA52-08DC-1FB0-7B9B-CFECA99BFC2C}"/>
              </a:ext>
            </a:extLst>
          </p:cNvPr>
          <p:cNvSpPr txBox="1"/>
          <p:nvPr/>
        </p:nvSpPr>
        <p:spPr>
          <a:xfrm rot="19163867">
            <a:off x="150925" y="3209361"/>
            <a:ext cx="1286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Bulk Synchronous Processing (BSP)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E93871-F1FB-05FA-DA68-B80D3C3C41CF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069064" y="771921"/>
            <a:ext cx="137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FAA3F2-3441-4FD2-76F6-B277A33FDFAE}"/>
              </a:ext>
            </a:extLst>
          </p:cNvPr>
          <p:cNvCxnSpPr/>
          <p:nvPr/>
        </p:nvCxnSpPr>
        <p:spPr>
          <a:xfrm>
            <a:off x="1138036" y="204395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3EE50F-A4CE-5085-99AA-04F5C7EB56CA}"/>
              </a:ext>
            </a:extLst>
          </p:cNvPr>
          <p:cNvCxnSpPr/>
          <p:nvPr/>
        </p:nvCxnSpPr>
        <p:spPr>
          <a:xfrm>
            <a:off x="1069064" y="2187223"/>
            <a:ext cx="137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B7C1B1-6B7F-F582-2581-7A7D93BEDF46}"/>
              </a:ext>
            </a:extLst>
          </p:cNvPr>
          <p:cNvCxnSpPr>
            <a:cxnSpLocks/>
          </p:cNvCxnSpPr>
          <p:nvPr/>
        </p:nvCxnSpPr>
        <p:spPr>
          <a:xfrm flipH="1">
            <a:off x="1060898" y="3898042"/>
            <a:ext cx="137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AF3C11-0493-C2F1-F4A6-E721B88CC0A0}"/>
              </a:ext>
            </a:extLst>
          </p:cNvPr>
          <p:cNvSpPr txBox="1"/>
          <p:nvPr/>
        </p:nvSpPr>
        <p:spPr>
          <a:xfrm>
            <a:off x="7142208" y="3484174"/>
            <a:ext cx="1871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Path- centric BSP</a:t>
            </a:r>
          </a:p>
          <a:p>
            <a:r>
              <a:rPr lang="en-US" dirty="0" err="1"/>
              <a:t>Blogel</a:t>
            </a:r>
            <a:r>
              <a:rPr lang="en-US" dirty="0"/>
              <a:t>, </a:t>
            </a:r>
            <a:r>
              <a:rPr lang="en-US" dirty="0" err="1"/>
              <a:t>PathGraph</a:t>
            </a:r>
            <a:r>
              <a:rPr lang="en-US" dirty="0"/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4C7846-77CC-84EE-994F-6E640238466C}"/>
              </a:ext>
            </a:extLst>
          </p:cNvPr>
          <p:cNvSpPr txBox="1"/>
          <p:nvPr/>
        </p:nvSpPr>
        <p:spPr>
          <a:xfrm>
            <a:off x="4572000" y="3447423"/>
            <a:ext cx="1871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Edge centric BSP</a:t>
            </a:r>
          </a:p>
          <a:p>
            <a:r>
              <a:rPr lang="en-US" dirty="0"/>
              <a:t>X- Stream, Chaos</a:t>
            </a:r>
          </a:p>
        </p:txBody>
      </p:sp>
      <p:sp>
        <p:nvSpPr>
          <p:cNvPr id="33" name="Multiply 32">
            <a:extLst>
              <a:ext uri="{FF2B5EF4-FFF2-40B4-BE49-F238E27FC236}">
                <a16:creationId xmlns:a16="http://schemas.microsoft.com/office/drawing/2014/main" id="{57FFFCA7-CED8-35A3-D040-4DF728AB56D7}"/>
              </a:ext>
            </a:extLst>
          </p:cNvPr>
          <p:cNvSpPr/>
          <p:nvPr/>
        </p:nvSpPr>
        <p:spPr>
          <a:xfrm>
            <a:off x="3667309" y="3446328"/>
            <a:ext cx="205945" cy="16475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84F87-BA96-9D15-18B3-C5A8C9D64536}"/>
              </a:ext>
            </a:extLst>
          </p:cNvPr>
          <p:cNvSpPr txBox="1"/>
          <p:nvPr/>
        </p:nvSpPr>
        <p:spPr>
          <a:xfrm>
            <a:off x="3257218" y="3677888"/>
            <a:ext cx="13516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VC/EC Hybrid</a:t>
            </a:r>
          </a:p>
          <a:p>
            <a:r>
              <a:rPr lang="en-US" b="1" dirty="0">
                <a:solidFill>
                  <a:srgbClr val="D74B76"/>
                </a:solidFill>
              </a:rPr>
              <a:t> BSP</a:t>
            </a:r>
            <a:br>
              <a:rPr lang="en-US" dirty="0"/>
            </a:br>
            <a:r>
              <a:rPr lang="en-US" dirty="0"/>
              <a:t>Mosaic (2017)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60C58-0729-AA29-56DB-750FA6A34BFE}"/>
              </a:ext>
            </a:extLst>
          </p:cNvPr>
          <p:cNvSpPr txBox="1"/>
          <p:nvPr/>
        </p:nvSpPr>
        <p:spPr>
          <a:xfrm>
            <a:off x="1478286" y="3431974"/>
            <a:ext cx="1871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Vertex centric BSP</a:t>
            </a:r>
          </a:p>
          <a:p>
            <a:r>
              <a:rPr lang="en-US" dirty="0">
                <a:solidFill>
                  <a:schemeClr val="tx1"/>
                </a:solidFill>
              </a:rPr>
              <a:t>Pregel, </a:t>
            </a:r>
            <a:r>
              <a:rPr lang="en-US" dirty="0" err="1">
                <a:solidFill>
                  <a:schemeClr val="tx1"/>
                </a:solidFill>
              </a:rPr>
              <a:t>Giraph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Ligra</a:t>
            </a:r>
            <a:r>
              <a:rPr lang="en-US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027730-D0A0-D143-C9D4-F746620E4106}"/>
              </a:ext>
            </a:extLst>
          </p:cNvPr>
          <p:cNvSpPr txBox="1"/>
          <p:nvPr/>
        </p:nvSpPr>
        <p:spPr>
          <a:xfrm>
            <a:off x="1391304" y="1783080"/>
            <a:ext cx="2746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Vertex centric Asynchronous</a:t>
            </a:r>
          </a:p>
          <a:p>
            <a:r>
              <a:rPr lang="en-US" dirty="0" err="1">
                <a:solidFill>
                  <a:schemeClr val="tx1"/>
                </a:solidFill>
              </a:rPr>
              <a:t>Griaph</a:t>
            </a:r>
            <a:r>
              <a:rPr lang="en-US" dirty="0">
                <a:solidFill>
                  <a:schemeClr val="tx1"/>
                </a:solidFill>
              </a:rPr>
              <a:t> Unchained,</a:t>
            </a:r>
          </a:p>
          <a:p>
            <a:r>
              <a:rPr lang="en-US" dirty="0">
                <a:solidFill>
                  <a:schemeClr val="tx1"/>
                </a:solidFill>
              </a:rPr>
              <a:t>GRACE, ASPIRE, </a:t>
            </a:r>
            <a:r>
              <a:rPr lang="en-US" dirty="0" err="1">
                <a:solidFill>
                  <a:schemeClr val="tx1"/>
                </a:solidFill>
              </a:rPr>
              <a:t>CoRAL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GraphChi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8CA8F41-BC15-019E-7F32-99D32688B845}"/>
              </a:ext>
            </a:extLst>
          </p:cNvPr>
          <p:cNvGrpSpPr/>
          <p:nvPr/>
        </p:nvGrpSpPr>
        <p:grpSpPr>
          <a:xfrm>
            <a:off x="1478286" y="2770101"/>
            <a:ext cx="2131472" cy="523220"/>
            <a:chOff x="1728216" y="2908753"/>
            <a:chExt cx="2131472" cy="523220"/>
          </a:xfrm>
        </p:grpSpPr>
        <p:sp>
          <p:nvSpPr>
            <p:cNvPr id="38" name="Multiply 37">
              <a:extLst>
                <a:ext uri="{FF2B5EF4-FFF2-40B4-BE49-F238E27FC236}">
                  <a16:creationId xmlns:a16="http://schemas.microsoft.com/office/drawing/2014/main" id="{94B55D1F-3E19-7C63-0D45-4278F5EDDA12}"/>
                </a:ext>
              </a:extLst>
            </p:cNvPr>
            <p:cNvSpPr/>
            <p:nvPr/>
          </p:nvSpPr>
          <p:spPr>
            <a:xfrm>
              <a:off x="1728216" y="3018552"/>
              <a:ext cx="205945" cy="164757"/>
            </a:xfrm>
            <a:prstGeom prst="mathMultiply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420FEAE-7704-5BED-33A0-7144DCA72C90}"/>
                </a:ext>
              </a:extLst>
            </p:cNvPr>
            <p:cNvSpPr txBox="1"/>
            <p:nvPr/>
          </p:nvSpPr>
          <p:spPr>
            <a:xfrm>
              <a:off x="1934161" y="2908753"/>
              <a:ext cx="19255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D74B76"/>
                  </a:solidFill>
                </a:rPr>
                <a:t>Synch/Async Hybrid</a:t>
              </a:r>
              <a:br>
                <a:rPr lang="en-US" dirty="0"/>
              </a:br>
              <a:r>
                <a:rPr lang="en-US" dirty="0" err="1"/>
                <a:t>GraphLab</a:t>
              </a:r>
              <a:r>
                <a:rPr lang="en-US" dirty="0"/>
                <a:t>, </a:t>
              </a:r>
              <a:r>
                <a:rPr lang="en-CA" b="0" i="0" dirty="0" err="1">
                  <a:solidFill>
                    <a:srgbClr val="333333"/>
                  </a:solidFill>
                  <a:effectLst/>
                  <a:highlight>
                    <a:srgbClr val="FAFAFA"/>
                  </a:highlight>
                  <a:latin typeface="Open Sans" panose="020B0606030504020204" pitchFamily="34" charset="0"/>
                </a:rPr>
                <a:t>Hsync</a:t>
              </a:r>
              <a:endParaRPr lang="en-US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2002666-3BF4-112D-A713-C245782029E5}"/>
              </a:ext>
            </a:extLst>
          </p:cNvPr>
          <p:cNvSpPr txBox="1"/>
          <p:nvPr/>
        </p:nvSpPr>
        <p:spPr>
          <a:xfrm>
            <a:off x="7230358" y="483380"/>
            <a:ext cx="18714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Partition-centric </a:t>
            </a:r>
            <a:br>
              <a:rPr lang="en-US" b="1" dirty="0">
                <a:solidFill>
                  <a:srgbClr val="D74B76"/>
                </a:solidFill>
              </a:rPr>
            </a:br>
            <a:r>
              <a:rPr lang="en-US" b="1" dirty="0">
                <a:solidFill>
                  <a:srgbClr val="D74B76"/>
                </a:solidFill>
              </a:rPr>
              <a:t>+ GAS</a:t>
            </a:r>
            <a:br>
              <a:rPr lang="en-US" dirty="0"/>
            </a:br>
            <a:r>
              <a:rPr lang="en-US" dirty="0"/>
              <a:t>PCPM (ATC’18)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823421-3464-A843-6CB6-A59348B113AB}"/>
              </a:ext>
            </a:extLst>
          </p:cNvPr>
          <p:cNvSpPr txBox="1"/>
          <p:nvPr/>
        </p:nvSpPr>
        <p:spPr>
          <a:xfrm>
            <a:off x="1457090" y="494062"/>
            <a:ext cx="1871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VC + GAS</a:t>
            </a:r>
          </a:p>
          <a:p>
            <a:r>
              <a:rPr lang="en-US" dirty="0" err="1">
                <a:solidFill>
                  <a:schemeClr val="tx1"/>
                </a:solidFill>
              </a:rPr>
              <a:t>GraphChi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GraphLab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PowerGraph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15B1F4-B674-F341-2D56-9C040BDF281D}"/>
              </a:ext>
            </a:extLst>
          </p:cNvPr>
          <p:cNvSpPr txBox="1"/>
          <p:nvPr/>
        </p:nvSpPr>
        <p:spPr>
          <a:xfrm>
            <a:off x="4782312" y="594360"/>
            <a:ext cx="1891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74B76"/>
                </a:solidFill>
              </a:rPr>
              <a:t>Edge-Centric + GAS</a:t>
            </a:r>
          </a:p>
          <a:p>
            <a:r>
              <a:rPr lang="en-US" dirty="0">
                <a:solidFill>
                  <a:schemeClr val="tx1"/>
                </a:solidFill>
              </a:rPr>
              <a:t>Zhou et al 2018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633E23-CA50-488E-7DF5-F003A68DB20B}"/>
              </a:ext>
            </a:extLst>
          </p:cNvPr>
          <p:cNvSpPr txBox="1"/>
          <p:nvPr/>
        </p:nvSpPr>
        <p:spPr>
          <a:xfrm>
            <a:off x="5397224" y="201937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A0E472-E3D7-8BFD-0E4A-587ABA774129}"/>
              </a:ext>
            </a:extLst>
          </p:cNvPr>
          <p:cNvSpPr txBox="1"/>
          <p:nvPr/>
        </p:nvSpPr>
        <p:spPr>
          <a:xfrm>
            <a:off x="7924677" y="201937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76629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1047F-E16D-A047-C825-117D086FC313}"/>
              </a:ext>
            </a:extLst>
          </p:cNvPr>
          <p:cNvGrpSpPr/>
          <p:nvPr/>
        </p:nvGrpSpPr>
        <p:grpSpPr>
          <a:xfrm>
            <a:off x="220133" y="214811"/>
            <a:ext cx="8748503" cy="3541838"/>
            <a:chOff x="220133" y="297695"/>
            <a:chExt cx="8493043" cy="345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341A21-906B-D546-7B5A-40038D45ED96}"/>
                </a:ext>
              </a:extLst>
            </p:cNvPr>
            <p:cNvSpPr/>
            <p:nvPr/>
          </p:nvSpPr>
          <p:spPr>
            <a:xfrm>
              <a:off x="3472962" y="316522"/>
              <a:ext cx="1969477" cy="958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56559-4ECD-2AF5-0877-8EE301164A04}"/>
                </a:ext>
              </a:extLst>
            </p:cNvPr>
            <p:cNvSpPr txBox="1"/>
            <p:nvPr/>
          </p:nvSpPr>
          <p:spPr>
            <a:xfrm>
              <a:off x="3708136" y="641814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GPS Taxonomy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FF5E44-7EE9-6F5B-5647-1F54AF4B0081}"/>
                </a:ext>
              </a:extLst>
            </p:cNvPr>
            <p:cNvSpPr txBox="1"/>
            <p:nvPr/>
          </p:nvSpPr>
          <p:spPr>
            <a:xfrm>
              <a:off x="659424" y="1890345"/>
              <a:ext cx="1128835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93F84-BEDF-CAD7-E9E3-45F55076B7AD}"/>
                </a:ext>
              </a:extLst>
            </p:cNvPr>
            <p:cNvSpPr txBox="1"/>
            <p:nvPr/>
          </p:nvSpPr>
          <p:spPr>
            <a:xfrm>
              <a:off x="3668862" y="1890346"/>
              <a:ext cx="1577676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 Dynamism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2754E1-095E-AD1C-52CD-C89EB4AF8512}"/>
                </a:ext>
              </a:extLst>
            </p:cNvPr>
            <p:cNvSpPr txBox="1"/>
            <p:nvPr/>
          </p:nvSpPr>
          <p:spPr>
            <a:xfrm>
              <a:off x="6716817" y="1890346"/>
              <a:ext cx="941283" cy="307777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Workload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8DC91C-302C-605A-4D95-25230C80D2BA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1223842" y="1274884"/>
              <a:ext cx="3233859" cy="61546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DE0B26-330D-336B-40D1-46571261669F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457700" y="1274884"/>
              <a:ext cx="1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C81CD6-FBEA-63C5-E281-1037E9AA349F}"/>
                </a:ext>
              </a:extLst>
            </p:cNvPr>
            <p:cNvCxnSpPr>
              <a:stCxn id="5" idx="2"/>
              <a:endCxn id="11" idx="0"/>
            </p:cNvCxnSpPr>
            <p:nvPr/>
          </p:nvCxnSpPr>
          <p:spPr>
            <a:xfrm>
              <a:off x="4457701" y="1274884"/>
              <a:ext cx="2729758" cy="6154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A1B085-4EDC-60DD-160D-8AC53C5BB65F}"/>
                </a:ext>
              </a:extLst>
            </p:cNvPr>
            <p:cNvSpPr txBox="1"/>
            <p:nvPr/>
          </p:nvSpPr>
          <p:spPr>
            <a:xfrm>
              <a:off x="430824" y="2589334"/>
              <a:ext cx="2268415" cy="954107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Structural Graphs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Labeled Property Graph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E0FD58-9DE0-92FC-38F4-4BCDF9BD5007}"/>
                </a:ext>
              </a:extLst>
            </p:cNvPr>
            <p:cNvSpPr txBox="1"/>
            <p:nvPr/>
          </p:nvSpPr>
          <p:spPr>
            <a:xfrm>
              <a:off x="6127311" y="2587097"/>
              <a:ext cx="2585865" cy="1169551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Whole-Graph Analytics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Traversals</a:t>
              </a:r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lvl="5" indent="-285750">
                <a:buFont typeface="Arial" panose="020B0604020202020204" pitchFamily="34" charset="0"/>
                <a:buChar char="•"/>
              </a:pPr>
              <a:r>
                <a:rPr lang="en-US" dirty="0"/>
                <a:t>Local Queries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Neighborhood Queries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739675-501E-1248-CFF8-A7D406A09D16}"/>
                </a:ext>
              </a:extLst>
            </p:cNvPr>
            <p:cNvSpPr txBox="1"/>
            <p:nvPr/>
          </p:nvSpPr>
          <p:spPr>
            <a:xfrm>
              <a:off x="3668862" y="2587097"/>
              <a:ext cx="1717137" cy="738664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Static Graph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Dynamic Graph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3975059-D484-8F92-3073-3E4187BC0285}"/>
                </a:ext>
              </a:extLst>
            </p:cNvPr>
            <p:cNvSpPr/>
            <p:nvPr/>
          </p:nvSpPr>
          <p:spPr>
            <a:xfrm>
              <a:off x="220133" y="2438400"/>
              <a:ext cx="8288867" cy="668867"/>
            </a:xfrm>
            <a:custGeom>
              <a:avLst/>
              <a:gdLst>
                <a:gd name="connsiteX0" fmla="*/ 101600 w 8288867"/>
                <a:gd name="connsiteY0" fmla="*/ 0 h 668867"/>
                <a:gd name="connsiteX1" fmla="*/ 76200 w 8288867"/>
                <a:gd name="connsiteY1" fmla="*/ 59267 h 668867"/>
                <a:gd name="connsiteX2" fmla="*/ 50800 w 8288867"/>
                <a:gd name="connsiteY2" fmla="*/ 135467 h 668867"/>
                <a:gd name="connsiteX3" fmla="*/ 8467 w 8288867"/>
                <a:gd name="connsiteY3" fmla="*/ 237067 h 668867"/>
                <a:gd name="connsiteX4" fmla="*/ 0 w 8288867"/>
                <a:gd name="connsiteY4" fmla="*/ 296333 h 668867"/>
                <a:gd name="connsiteX5" fmla="*/ 16934 w 8288867"/>
                <a:gd name="connsiteY5" fmla="*/ 397933 h 668867"/>
                <a:gd name="connsiteX6" fmla="*/ 33867 w 8288867"/>
                <a:gd name="connsiteY6" fmla="*/ 423333 h 668867"/>
                <a:gd name="connsiteX7" fmla="*/ 50800 w 8288867"/>
                <a:gd name="connsiteY7" fmla="*/ 440267 h 668867"/>
                <a:gd name="connsiteX8" fmla="*/ 76200 w 8288867"/>
                <a:gd name="connsiteY8" fmla="*/ 448733 h 668867"/>
                <a:gd name="connsiteX9" fmla="*/ 93134 w 8288867"/>
                <a:gd name="connsiteY9" fmla="*/ 465667 h 668867"/>
                <a:gd name="connsiteX10" fmla="*/ 160867 w 8288867"/>
                <a:gd name="connsiteY10" fmla="*/ 482600 h 668867"/>
                <a:gd name="connsiteX11" fmla="*/ 203200 w 8288867"/>
                <a:gd name="connsiteY11" fmla="*/ 499533 h 668867"/>
                <a:gd name="connsiteX12" fmla="*/ 237067 w 8288867"/>
                <a:gd name="connsiteY12" fmla="*/ 508000 h 668867"/>
                <a:gd name="connsiteX13" fmla="*/ 313267 w 8288867"/>
                <a:gd name="connsiteY13" fmla="*/ 524933 h 668867"/>
                <a:gd name="connsiteX14" fmla="*/ 338667 w 8288867"/>
                <a:gd name="connsiteY14" fmla="*/ 533400 h 668867"/>
                <a:gd name="connsiteX15" fmla="*/ 389467 w 8288867"/>
                <a:gd name="connsiteY15" fmla="*/ 541867 h 668867"/>
                <a:gd name="connsiteX16" fmla="*/ 423334 w 8288867"/>
                <a:gd name="connsiteY16" fmla="*/ 550333 h 668867"/>
                <a:gd name="connsiteX17" fmla="*/ 711200 w 8288867"/>
                <a:gd name="connsiteY17" fmla="*/ 541867 h 668867"/>
                <a:gd name="connsiteX18" fmla="*/ 762000 w 8288867"/>
                <a:gd name="connsiteY18" fmla="*/ 533400 h 668867"/>
                <a:gd name="connsiteX19" fmla="*/ 956734 w 8288867"/>
                <a:gd name="connsiteY19" fmla="*/ 516467 h 668867"/>
                <a:gd name="connsiteX20" fmla="*/ 999067 w 8288867"/>
                <a:gd name="connsiteY20" fmla="*/ 508000 h 668867"/>
                <a:gd name="connsiteX21" fmla="*/ 1363134 w 8288867"/>
                <a:gd name="connsiteY21" fmla="*/ 491067 h 668867"/>
                <a:gd name="connsiteX22" fmla="*/ 1405467 w 8288867"/>
                <a:gd name="connsiteY22" fmla="*/ 482600 h 668867"/>
                <a:gd name="connsiteX23" fmla="*/ 1845734 w 8288867"/>
                <a:gd name="connsiteY23" fmla="*/ 465667 h 668867"/>
                <a:gd name="connsiteX24" fmla="*/ 2091267 w 8288867"/>
                <a:gd name="connsiteY24" fmla="*/ 457200 h 668867"/>
                <a:gd name="connsiteX25" fmla="*/ 2912534 w 8288867"/>
                <a:gd name="connsiteY25" fmla="*/ 474133 h 668867"/>
                <a:gd name="connsiteX26" fmla="*/ 2980267 w 8288867"/>
                <a:gd name="connsiteY26" fmla="*/ 482600 h 668867"/>
                <a:gd name="connsiteX27" fmla="*/ 3081867 w 8288867"/>
                <a:gd name="connsiteY27" fmla="*/ 491067 h 668867"/>
                <a:gd name="connsiteX28" fmla="*/ 3589867 w 8288867"/>
                <a:gd name="connsiteY28" fmla="*/ 508000 h 668867"/>
                <a:gd name="connsiteX29" fmla="*/ 4385734 w 8288867"/>
                <a:gd name="connsiteY29" fmla="*/ 499533 h 668867"/>
                <a:gd name="connsiteX30" fmla="*/ 4487334 w 8288867"/>
                <a:gd name="connsiteY30" fmla="*/ 491067 h 668867"/>
                <a:gd name="connsiteX31" fmla="*/ 5139267 w 8288867"/>
                <a:gd name="connsiteY31" fmla="*/ 482600 h 668867"/>
                <a:gd name="connsiteX32" fmla="*/ 5317067 w 8288867"/>
                <a:gd name="connsiteY32" fmla="*/ 465667 h 668867"/>
                <a:gd name="connsiteX33" fmla="*/ 5664200 w 8288867"/>
                <a:gd name="connsiteY33" fmla="*/ 482600 h 668867"/>
                <a:gd name="connsiteX34" fmla="*/ 5799667 w 8288867"/>
                <a:gd name="connsiteY34" fmla="*/ 491067 h 668867"/>
                <a:gd name="connsiteX35" fmla="*/ 5867400 w 8288867"/>
                <a:gd name="connsiteY35" fmla="*/ 499533 h 668867"/>
                <a:gd name="connsiteX36" fmla="*/ 5977467 w 8288867"/>
                <a:gd name="connsiteY36" fmla="*/ 516467 h 668867"/>
                <a:gd name="connsiteX37" fmla="*/ 6011334 w 8288867"/>
                <a:gd name="connsiteY37" fmla="*/ 524933 h 668867"/>
                <a:gd name="connsiteX38" fmla="*/ 6062134 w 8288867"/>
                <a:gd name="connsiteY38" fmla="*/ 541867 h 668867"/>
                <a:gd name="connsiteX39" fmla="*/ 6155267 w 8288867"/>
                <a:gd name="connsiteY39" fmla="*/ 567267 h 668867"/>
                <a:gd name="connsiteX40" fmla="*/ 6239934 w 8288867"/>
                <a:gd name="connsiteY40" fmla="*/ 592667 h 668867"/>
                <a:gd name="connsiteX41" fmla="*/ 6265334 w 8288867"/>
                <a:gd name="connsiteY41" fmla="*/ 601133 h 668867"/>
                <a:gd name="connsiteX42" fmla="*/ 6341534 w 8288867"/>
                <a:gd name="connsiteY42" fmla="*/ 609600 h 668867"/>
                <a:gd name="connsiteX43" fmla="*/ 6375400 w 8288867"/>
                <a:gd name="connsiteY43" fmla="*/ 618067 h 668867"/>
                <a:gd name="connsiteX44" fmla="*/ 6434667 w 8288867"/>
                <a:gd name="connsiteY44" fmla="*/ 635000 h 668867"/>
                <a:gd name="connsiteX45" fmla="*/ 6493934 w 8288867"/>
                <a:gd name="connsiteY45" fmla="*/ 643467 h 668867"/>
                <a:gd name="connsiteX46" fmla="*/ 6527800 w 8288867"/>
                <a:gd name="connsiteY46" fmla="*/ 651933 h 668867"/>
                <a:gd name="connsiteX47" fmla="*/ 6747934 w 8288867"/>
                <a:gd name="connsiteY47" fmla="*/ 668867 h 668867"/>
                <a:gd name="connsiteX48" fmla="*/ 7027334 w 8288867"/>
                <a:gd name="connsiteY48" fmla="*/ 660400 h 668867"/>
                <a:gd name="connsiteX49" fmla="*/ 7222067 w 8288867"/>
                <a:gd name="connsiteY49" fmla="*/ 643467 h 668867"/>
                <a:gd name="connsiteX50" fmla="*/ 7289800 w 8288867"/>
                <a:gd name="connsiteY50" fmla="*/ 635000 h 668867"/>
                <a:gd name="connsiteX51" fmla="*/ 7594600 w 8288867"/>
                <a:gd name="connsiteY51" fmla="*/ 618067 h 668867"/>
                <a:gd name="connsiteX52" fmla="*/ 7763934 w 8288867"/>
                <a:gd name="connsiteY52" fmla="*/ 601133 h 668867"/>
                <a:gd name="connsiteX53" fmla="*/ 7814734 w 8288867"/>
                <a:gd name="connsiteY53" fmla="*/ 592667 h 668867"/>
                <a:gd name="connsiteX54" fmla="*/ 7907867 w 8288867"/>
                <a:gd name="connsiteY54" fmla="*/ 584200 h 668867"/>
                <a:gd name="connsiteX55" fmla="*/ 7958667 w 8288867"/>
                <a:gd name="connsiteY55" fmla="*/ 567267 h 668867"/>
                <a:gd name="connsiteX56" fmla="*/ 7992534 w 8288867"/>
                <a:gd name="connsiteY56" fmla="*/ 558800 h 668867"/>
                <a:gd name="connsiteX57" fmla="*/ 8094134 w 8288867"/>
                <a:gd name="connsiteY57" fmla="*/ 524933 h 668867"/>
                <a:gd name="connsiteX58" fmla="*/ 8144934 w 8288867"/>
                <a:gd name="connsiteY58" fmla="*/ 508000 h 668867"/>
                <a:gd name="connsiteX59" fmla="*/ 8170334 w 8288867"/>
                <a:gd name="connsiteY59" fmla="*/ 491067 h 668867"/>
                <a:gd name="connsiteX60" fmla="*/ 8195734 w 8288867"/>
                <a:gd name="connsiteY60" fmla="*/ 482600 h 668867"/>
                <a:gd name="connsiteX61" fmla="*/ 8246534 w 8288867"/>
                <a:gd name="connsiteY61" fmla="*/ 448733 h 668867"/>
                <a:gd name="connsiteX62" fmla="*/ 8271934 w 8288867"/>
                <a:gd name="connsiteY62" fmla="*/ 397933 h 668867"/>
                <a:gd name="connsiteX63" fmla="*/ 8288867 w 8288867"/>
                <a:gd name="connsiteY63" fmla="*/ 330200 h 668867"/>
                <a:gd name="connsiteX64" fmla="*/ 8280400 w 8288867"/>
                <a:gd name="connsiteY64" fmla="*/ 211667 h 668867"/>
                <a:gd name="connsiteX65" fmla="*/ 8271934 w 8288867"/>
                <a:gd name="connsiteY65" fmla="*/ 186267 h 668867"/>
                <a:gd name="connsiteX66" fmla="*/ 8204200 w 8288867"/>
                <a:gd name="connsiteY66" fmla="*/ 127000 h 668867"/>
                <a:gd name="connsiteX67" fmla="*/ 8153400 w 8288867"/>
                <a:gd name="connsiteY67" fmla="*/ 93133 h 668867"/>
                <a:gd name="connsiteX68" fmla="*/ 8128000 w 8288867"/>
                <a:gd name="connsiteY68" fmla="*/ 67733 h 668867"/>
                <a:gd name="connsiteX69" fmla="*/ 8009467 w 8288867"/>
                <a:gd name="connsiteY69" fmla="*/ 33867 h 668867"/>
                <a:gd name="connsiteX70" fmla="*/ 7975600 w 8288867"/>
                <a:gd name="connsiteY70" fmla="*/ 25400 h 668867"/>
                <a:gd name="connsiteX71" fmla="*/ 7941734 w 8288867"/>
                <a:gd name="connsiteY71" fmla="*/ 16933 h 668867"/>
                <a:gd name="connsiteX72" fmla="*/ 7848600 w 8288867"/>
                <a:gd name="connsiteY72" fmla="*/ 8467 h 668867"/>
                <a:gd name="connsiteX73" fmla="*/ 7467600 w 8288867"/>
                <a:gd name="connsiteY73" fmla="*/ 16933 h 668867"/>
                <a:gd name="connsiteX74" fmla="*/ 7382934 w 8288867"/>
                <a:gd name="connsiteY74" fmla="*/ 25400 h 668867"/>
                <a:gd name="connsiteX75" fmla="*/ 6747934 w 8288867"/>
                <a:gd name="connsiteY75" fmla="*/ 33867 h 668867"/>
                <a:gd name="connsiteX76" fmla="*/ 6654800 w 8288867"/>
                <a:gd name="connsiteY76" fmla="*/ 42333 h 668867"/>
                <a:gd name="connsiteX77" fmla="*/ 6612467 w 8288867"/>
                <a:gd name="connsiteY77" fmla="*/ 50800 h 668867"/>
                <a:gd name="connsiteX78" fmla="*/ 6129867 w 8288867"/>
                <a:gd name="connsiteY78" fmla="*/ 59267 h 668867"/>
                <a:gd name="connsiteX79" fmla="*/ 5190067 w 8288867"/>
                <a:gd name="connsiteY79" fmla="*/ 59267 h 668867"/>
                <a:gd name="connsiteX80" fmla="*/ 4648200 w 8288867"/>
                <a:gd name="connsiteY80" fmla="*/ 50800 h 668867"/>
                <a:gd name="connsiteX81" fmla="*/ 4301067 w 8288867"/>
                <a:gd name="connsiteY81" fmla="*/ 33867 h 668867"/>
                <a:gd name="connsiteX82" fmla="*/ 4241800 w 8288867"/>
                <a:gd name="connsiteY82" fmla="*/ 25400 h 668867"/>
                <a:gd name="connsiteX83" fmla="*/ 3615267 w 8288867"/>
                <a:gd name="connsiteY83" fmla="*/ 42333 h 668867"/>
                <a:gd name="connsiteX84" fmla="*/ 3344334 w 8288867"/>
                <a:gd name="connsiteY84" fmla="*/ 59267 h 668867"/>
                <a:gd name="connsiteX85" fmla="*/ 2633134 w 8288867"/>
                <a:gd name="connsiteY85" fmla="*/ 67733 h 668867"/>
                <a:gd name="connsiteX86" fmla="*/ 2006600 w 8288867"/>
                <a:gd name="connsiteY86" fmla="*/ 67733 h 668867"/>
                <a:gd name="connsiteX87" fmla="*/ 1913467 w 8288867"/>
                <a:gd name="connsiteY87" fmla="*/ 59267 h 668867"/>
                <a:gd name="connsiteX88" fmla="*/ 1464734 w 8288867"/>
                <a:gd name="connsiteY88" fmla="*/ 42333 h 668867"/>
                <a:gd name="connsiteX89" fmla="*/ 1143000 w 8288867"/>
                <a:gd name="connsiteY89" fmla="*/ 25400 h 668867"/>
                <a:gd name="connsiteX90" fmla="*/ 829734 w 8288867"/>
                <a:gd name="connsiteY90" fmla="*/ 16933 h 668867"/>
                <a:gd name="connsiteX91" fmla="*/ 592667 w 8288867"/>
                <a:gd name="connsiteY91" fmla="*/ 8467 h 668867"/>
                <a:gd name="connsiteX92" fmla="*/ 42334 w 8288867"/>
                <a:gd name="connsiteY92" fmla="*/ 16933 h 6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288867" h="668867">
                  <a:moveTo>
                    <a:pt x="101600" y="0"/>
                  </a:moveTo>
                  <a:cubicBezTo>
                    <a:pt x="93133" y="19756"/>
                    <a:pt x="83545" y="39068"/>
                    <a:pt x="76200" y="59267"/>
                  </a:cubicBezTo>
                  <a:cubicBezTo>
                    <a:pt x="47303" y="138736"/>
                    <a:pt x="93928" y="42023"/>
                    <a:pt x="50800" y="135467"/>
                  </a:cubicBezTo>
                  <a:cubicBezTo>
                    <a:pt x="24018" y="193494"/>
                    <a:pt x="17392" y="187983"/>
                    <a:pt x="8467" y="237067"/>
                  </a:cubicBezTo>
                  <a:cubicBezTo>
                    <a:pt x="4897" y="256701"/>
                    <a:pt x="2822" y="276578"/>
                    <a:pt x="0" y="296333"/>
                  </a:cubicBezTo>
                  <a:cubicBezTo>
                    <a:pt x="2683" y="320481"/>
                    <a:pt x="2749" y="369563"/>
                    <a:pt x="16934" y="397933"/>
                  </a:cubicBezTo>
                  <a:cubicBezTo>
                    <a:pt x="21485" y="407034"/>
                    <a:pt x="27510" y="415387"/>
                    <a:pt x="33867" y="423333"/>
                  </a:cubicBezTo>
                  <a:cubicBezTo>
                    <a:pt x="38854" y="429566"/>
                    <a:pt x="43955" y="436160"/>
                    <a:pt x="50800" y="440267"/>
                  </a:cubicBezTo>
                  <a:cubicBezTo>
                    <a:pt x="58453" y="444859"/>
                    <a:pt x="67733" y="445911"/>
                    <a:pt x="76200" y="448733"/>
                  </a:cubicBezTo>
                  <a:cubicBezTo>
                    <a:pt x="81845" y="454378"/>
                    <a:pt x="86289" y="461560"/>
                    <a:pt x="93134" y="465667"/>
                  </a:cubicBezTo>
                  <a:cubicBezTo>
                    <a:pt x="108030" y="474604"/>
                    <a:pt x="148734" y="478960"/>
                    <a:pt x="160867" y="482600"/>
                  </a:cubicBezTo>
                  <a:cubicBezTo>
                    <a:pt x="175424" y="486967"/>
                    <a:pt x="188782" y="494727"/>
                    <a:pt x="203200" y="499533"/>
                  </a:cubicBezTo>
                  <a:cubicBezTo>
                    <a:pt x="214239" y="503213"/>
                    <a:pt x="225878" y="504803"/>
                    <a:pt x="237067" y="508000"/>
                  </a:cubicBezTo>
                  <a:cubicBezTo>
                    <a:pt x="295425" y="524674"/>
                    <a:pt x="221594" y="509655"/>
                    <a:pt x="313267" y="524933"/>
                  </a:cubicBezTo>
                  <a:cubicBezTo>
                    <a:pt x="321734" y="527755"/>
                    <a:pt x="329955" y="531464"/>
                    <a:pt x="338667" y="533400"/>
                  </a:cubicBezTo>
                  <a:cubicBezTo>
                    <a:pt x="355425" y="537124"/>
                    <a:pt x="372633" y="538500"/>
                    <a:pt x="389467" y="541867"/>
                  </a:cubicBezTo>
                  <a:cubicBezTo>
                    <a:pt x="400877" y="544149"/>
                    <a:pt x="412045" y="547511"/>
                    <a:pt x="423334" y="550333"/>
                  </a:cubicBezTo>
                  <a:cubicBezTo>
                    <a:pt x="519289" y="547511"/>
                    <a:pt x="615323" y="546661"/>
                    <a:pt x="711200" y="541867"/>
                  </a:cubicBezTo>
                  <a:cubicBezTo>
                    <a:pt x="728346" y="541010"/>
                    <a:pt x="744924" y="535166"/>
                    <a:pt x="762000" y="533400"/>
                  </a:cubicBezTo>
                  <a:cubicBezTo>
                    <a:pt x="826810" y="526695"/>
                    <a:pt x="956734" y="516467"/>
                    <a:pt x="956734" y="516467"/>
                  </a:cubicBezTo>
                  <a:cubicBezTo>
                    <a:pt x="970845" y="513645"/>
                    <a:pt x="984821" y="510035"/>
                    <a:pt x="999067" y="508000"/>
                  </a:cubicBezTo>
                  <a:cubicBezTo>
                    <a:pt x="1122655" y="490344"/>
                    <a:pt x="1230105" y="494979"/>
                    <a:pt x="1363134" y="491067"/>
                  </a:cubicBezTo>
                  <a:cubicBezTo>
                    <a:pt x="1377245" y="488245"/>
                    <a:pt x="1391188" y="484385"/>
                    <a:pt x="1405467" y="482600"/>
                  </a:cubicBezTo>
                  <a:cubicBezTo>
                    <a:pt x="1544612" y="465206"/>
                    <a:pt x="1724598" y="469128"/>
                    <a:pt x="1845734" y="465667"/>
                  </a:cubicBezTo>
                  <a:lnTo>
                    <a:pt x="2091267" y="457200"/>
                  </a:lnTo>
                  <a:lnTo>
                    <a:pt x="2912534" y="474133"/>
                  </a:lnTo>
                  <a:cubicBezTo>
                    <a:pt x="2935271" y="475007"/>
                    <a:pt x="2957627" y="480336"/>
                    <a:pt x="2980267" y="482600"/>
                  </a:cubicBezTo>
                  <a:cubicBezTo>
                    <a:pt x="3014082" y="485982"/>
                    <a:pt x="3047953" y="488879"/>
                    <a:pt x="3081867" y="491067"/>
                  </a:cubicBezTo>
                  <a:cubicBezTo>
                    <a:pt x="3276415" y="503618"/>
                    <a:pt x="3365603" y="502530"/>
                    <a:pt x="3589867" y="508000"/>
                  </a:cubicBezTo>
                  <a:lnTo>
                    <a:pt x="4385734" y="499533"/>
                  </a:lnTo>
                  <a:cubicBezTo>
                    <a:pt x="4419712" y="498892"/>
                    <a:pt x="4453359" y="491830"/>
                    <a:pt x="4487334" y="491067"/>
                  </a:cubicBezTo>
                  <a:lnTo>
                    <a:pt x="5139267" y="482600"/>
                  </a:lnTo>
                  <a:cubicBezTo>
                    <a:pt x="5208593" y="471045"/>
                    <a:pt x="5230583" y="465667"/>
                    <a:pt x="5317067" y="465667"/>
                  </a:cubicBezTo>
                  <a:cubicBezTo>
                    <a:pt x="5463035" y="465667"/>
                    <a:pt x="5533098" y="473860"/>
                    <a:pt x="5664200" y="482600"/>
                  </a:cubicBezTo>
                  <a:cubicBezTo>
                    <a:pt x="5709344" y="485610"/>
                    <a:pt x="5754579" y="487310"/>
                    <a:pt x="5799667" y="491067"/>
                  </a:cubicBezTo>
                  <a:cubicBezTo>
                    <a:pt x="5822342" y="492957"/>
                    <a:pt x="5844846" y="496526"/>
                    <a:pt x="5867400" y="499533"/>
                  </a:cubicBezTo>
                  <a:cubicBezTo>
                    <a:pt x="5891802" y="502787"/>
                    <a:pt x="5951593" y="511292"/>
                    <a:pt x="5977467" y="516467"/>
                  </a:cubicBezTo>
                  <a:cubicBezTo>
                    <a:pt x="5988877" y="518749"/>
                    <a:pt x="6000188" y="521589"/>
                    <a:pt x="6011334" y="524933"/>
                  </a:cubicBezTo>
                  <a:cubicBezTo>
                    <a:pt x="6028431" y="530062"/>
                    <a:pt x="6044631" y="538367"/>
                    <a:pt x="6062134" y="541867"/>
                  </a:cubicBezTo>
                  <a:cubicBezTo>
                    <a:pt x="6121975" y="553834"/>
                    <a:pt x="6090809" y="545781"/>
                    <a:pt x="6155267" y="567267"/>
                  </a:cubicBezTo>
                  <a:cubicBezTo>
                    <a:pt x="6212744" y="586426"/>
                    <a:pt x="6143112" y="563621"/>
                    <a:pt x="6239934" y="592667"/>
                  </a:cubicBezTo>
                  <a:cubicBezTo>
                    <a:pt x="6248482" y="595231"/>
                    <a:pt x="6256531" y="599666"/>
                    <a:pt x="6265334" y="601133"/>
                  </a:cubicBezTo>
                  <a:cubicBezTo>
                    <a:pt x="6290543" y="605334"/>
                    <a:pt x="6316134" y="606778"/>
                    <a:pt x="6341534" y="609600"/>
                  </a:cubicBezTo>
                  <a:cubicBezTo>
                    <a:pt x="6352823" y="612422"/>
                    <a:pt x="6364174" y="615005"/>
                    <a:pt x="6375400" y="618067"/>
                  </a:cubicBezTo>
                  <a:cubicBezTo>
                    <a:pt x="6395222" y="623473"/>
                    <a:pt x="6414577" y="630695"/>
                    <a:pt x="6434667" y="635000"/>
                  </a:cubicBezTo>
                  <a:cubicBezTo>
                    <a:pt x="6454180" y="639181"/>
                    <a:pt x="6474300" y="639897"/>
                    <a:pt x="6493934" y="643467"/>
                  </a:cubicBezTo>
                  <a:cubicBezTo>
                    <a:pt x="6505382" y="645548"/>
                    <a:pt x="6516322" y="650020"/>
                    <a:pt x="6527800" y="651933"/>
                  </a:cubicBezTo>
                  <a:cubicBezTo>
                    <a:pt x="6601692" y="664248"/>
                    <a:pt x="6671933" y="664645"/>
                    <a:pt x="6747934" y="668867"/>
                  </a:cubicBezTo>
                  <a:lnTo>
                    <a:pt x="7027334" y="660400"/>
                  </a:lnTo>
                  <a:cubicBezTo>
                    <a:pt x="7100365" y="657292"/>
                    <a:pt x="7152301" y="651675"/>
                    <a:pt x="7222067" y="643467"/>
                  </a:cubicBezTo>
                  <a:cubicBezTo>
                    <a:pt x="7244665" y="640809"/>
                    <a:pt x="7267140" y="637060"/>
                    <a:pt x="7289800" y="635000"/>
                  </a:cubicBezTo>
                  <a:cubicBezTo>
                    <a:pt x="7392967" y="625621"/>
                    <a:pt x="7490147" y="622815"/>
                    <a:pt x="7594600" y="618067"/>
                  </a:cubicBezTo>
                  <a:cubicBezTo>
                    <a:pt x="7709661" y="598889"/>
                    <a:pt x="7570155" y="620510"/>
                    <a:pt x="7763934" y="601133"/>
                  </a:cubicBezTo>
                  <a:cubicBezTo>
                    <a:pt x="7781016" y="599425"/>
                    <a:pt x="7797685" y="594673"/>
                    <a:pt x="7814734" y="592667"/>
                  </a:cubicBezTo>
                  <a:cubicBezTo>
                    <a:pt x="7845693" y="589025"/>
                    <a:pt x="7876823" y="587022"/>
                    <a:pt x="7907867" y="584200"/>
                  </a:cubicBezTo>
                  <a:cubicBezTo>
                    <a:pt x="7924800" y="578556"/>
                    <a:pt x="7941570" y="572396"/>
                    <a:pt x="7958667" y="567267"/>
                  </a:cubicBezTo>
                  <a:cubicBezTo>
                    <a:pt x="7969813" y="563923"/>
                    <a:pt x="7981388" y="562144"/>
                    <a:pt x="7992534" y="558800"/>
                  </a:cubicBezTo>
                  <a:cubicBezTo>
                    <a:pt x="7992574" y="558788"/>
                    <a:pt x="8094095" y="524946"/>
                    <a:pt x="8094134" y="524933"/>
                  </a:cubicBezTo>
                  <a:cubicBezTo>
                    <a:pt x="8094139" y="524931"/>
                    <a:pt x="8144930" y="508003"/>
                    <a:pt x="8144934" y="508000"/>
                  </a:cubicBezTo>
                  <a:cubicBezTo>
                    <a:pt x="8153401" y="502356"/>
                    <a:pt x="8161233" y="495618"/>
                    <a:pt x="8170334" y="491067"/>
                  </a:cubicBezTo>
                  <a:cubicBezTo>
                    <a:pt x="8178316" y="487076"/>
                    <a:pt x="8187932" y="486934"/>
                    <a:pt x="8195734" y="482600"/>
                  </a:cubicBezTo>
                  <a:cubicBezTo>
                    <a:pt x="8213524" y="472716"/>
                    <a:pt x="8246534" y="448733"/>
                    <a:pt x="8246534" y="448733"/>
                  </a:cubicBezTo>
                  <a:cubicBezTo>
                    <a:pt x="8264317" y="422057"/>
                    <a:pt x="8263845" y="427592"/>
                    <a:pt x="8271934" y="397933"/>
                  </a:cubicBezTo>
                  <a:cubicBezTo>
                    <a:pt x="8278057" y="375481"/>
                    <a:pt x="8288867" y="330200"/>
                    <a:pt x="8288867" y="330200"/>
                  </a:cubicBezTo>
                  <a:cubicBezTo>
                    <a:pt x="8286045" y="290689"/>
                    <a:pt x="8285028" y="251007"/>
                    <a:pt x="8280400" y="211667"/>
                  </a:cubicBezTo>
                  <a:cubicBezTo>
                    <a:pt x="8279357" y="202804"/>
                    <a:pt x="8277289" y="193407"/>
                    <a:pt x="8271934" y="186267"/>
                  </a:cubicBezTo>
                  <a:cubicBezTo>
                    <a:pt x="8227964" y="127640"/>
                    <a:pt x="8243370" y="159642"/>
                    <a:pt x="8204200" y="127000"/>
                  </a:cubicBezTo>
                  <a:cubicBezTo>
                    <a:pt x="8161918" y="91765"/>
                    <a:pt x="8198038" y="108013"/>
                    <a:pt x="8153400" y="93133"/>
                  </a:cubicBezTo>
                  <a:cubicBezTo>
                    <a:pt x="8144933" y="84666"/>
                    <a:pt x="8138467" y="73548"/>
                    <a:pt x="8128000" y="67733"/>
                  </a:cubicBezTo>
                  <a:cubicBezTo>
                    <a:pt x="8108125" y="56691"/>
                    <a:pt x="8025409" y="37853"/>
                    <a:pt x="8009467" y="33867"/>
                  </a:cubicBezTo>
                  <a:lnTo>
                    <a:pt x="7975600" y="25400"/>
                  </a:lnTo>
                  <a:cubicBezTo>
                    <a:pt x="7964311" y="22578"/>
                    <a:pt x="7953322" y="17986"/>
                    <a:pt x="7941734" y="16933"/>
                  </a:cubicBezTo>
                  <a:lnTo>
                    <a:pt x="7848600" y="8467"/>
                  </a:lnTo>
                  <a:lnTo>
                    <a:pt x="7467600" y="16933"/>
                  </a:lnTo>
                  <a:cubicBezTo>
                    <a:pt x="7439256" y="17964"/>
                    <a:pt x="7411289" y="24733"/>
                    <a:pt x="7382934" y="25400"/>
                  </a:cubicBezTo>
                  <a:cubicBezTo>
                    <a:pt x="7171307" y="30380"/>
                    <a:pt x="6959601" y="31045"/>
                    <a:pt x="6747934" y="33867"/>
                  </a:cubicBezTo>
                  <a:cubicBezTo>
                    <a:pt x="6716889" y="36689"/>
                    <a:pt x="6685732" y="38467"/>
                    <a:pt x="6654800" y="42333"/>
                  </a:cubicBezTo>
                  <a:cubicBezTo>
                    <a:pt x="6640521" y="44118"/>
                    <a:pt x="6626850" y="50336"/>
                    <a:pt x="6612467" y="50800"/>
                  </a:cubicBezTo>
                  <a:cubicBezTo>
                    <a:pt x="6451659" y="55988"/>
                    <a:pt x="6290734" y="56445"/>
                    <a:pt x="6129867" y="59267"/>
                  </a:cubicBezTo>
                  <a:cubicBezTo>
                    <a:pt x="5720116" y="82029"/>
                    <a:pt x="6003954" y="69635"/>
                    <a:pt x="5190067" y="59267"/>
                  </a:cubicBezTo>
                  <a:lnTo>
                    <a:pt x="4648200" y="50800"/>
                  </a:lnTo>
                  <a:cubicBezTo>
                    <a:pt x="4520113" y="46225"/>
                    <a:pt x="4422145" y="45975"/>
                    <a:pt x="4301067" y="33867"/>
                  </a:cubicBezTo>
                  <a:cubicBezTo>
                    <a:pt x="4281210" y="31881"/>
                    <a:pt x="4261556" y="28222"/>
                    <a:pt x="4241800" y="25400"/>
                  </a:cubicBezTo>
                  <a:lnTo>
                    <a:pt x="3615267" y="42333"/>
                  </a:lnTo>
                  <a:cubicBezTo>
                    <a:pt x="3448030" y="50491"/>
                    <a:pt x="3547246" y="55327"/>
                    <a:pt x="3344334" y="59267"/>
                  </a:cubicBezTo>
                  <a:lnTo>
                    <a:pt x="2633134" y="67733"/>
                  </a:lnTo>
                  <a:cubicBezTo>
                    <a:pt x="2368181" y="89813"/>
                    <a:pt x="2508644" y="81487"/>
                    <a:pt x="2006600" y="67733"/>
                  </a:cubicBezTo>
                  <a:cubicBezTo>
                    <a:pt x="1975439" y="66879"/>
                    <a:pt x="1944575" y="61274"/>
                    <a:pt x="1913467" y="59267"/>
                  </a:cubicBezTo>
                  <a:cubicBezTo>
                    <a:pt x="1762387" y="49520"/>
                    <a:pt x="1617102" y="46950"/>
                    <a:pt x="1464734" y="42333"/>
                  </a:cubicBezTo>
                  <a:cubicBezTo>
                    <a:pt x="1335330" y="34246"/>
                    <a:pt x="1280919" y="30075"/>
                    <a:pt x="1143000" y="25400"/>
                  </a:cubicBezTo>
                  <a:lnTo>
                    <a:pt x="829734" y="16933"/>
                  </a:lnTo>
                  <a:lnTo>
                    <a:pt x="592667" y="8467"/>
                  </a:lnTo>
                  <a:lnTo>
                    <a:pt x="42334" y="16933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F64617-905F-3091-ABE3-93823BB338FC}"/>
                </a:ext>
              </a:extLst>
            </p:cNvPr>
            <p:cNvSpPr txBox="1"/>
            <p:nvPr/>
          </p:nvSpPr>
          <p:spPr>
            <a:xfrm>
              <a:off x="540852" y="297695"/>
              <a:ext cx="2177507" cy="1217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chemeClr val="accent1"/>
                  </a:solidFill>
                </a:rPr>
                <a:t>Static Graph Processing Systems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B152C6-CEF4-7399-A3BF-981C05AA1C15}"/>
              </a:ext>
            </a:extLst>
          </p:cNvPr>
          <p:cNvSpPr txBox="1"/>
          <p:nvPr/>
        </p:nvSpPr>
        <p:spPr>
          <a:xfrm>
            <a:off x="0" y="3692883"/>
            <a:ext cx="896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Data Location: In-Memory vs On-Disk vs Distributed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62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2881537" y="156300"/>
            <a:ext cx="1654450" cy="7632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079094" y="415370"/>
            <a:ext cx="1259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518037" y="1409727"/>
            <a:ext cx="1449659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2692526" y="1409727"/>
            <a:ext cx="167889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5606522" y="1409727"/>
            <a:ext cx="1164668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42867" y="919560"/>
            <a:ext cx="2465895" cy="4901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3531974" y="919560"/>
            <a:ext cx="176788" cy="4901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3708762" y="919560"/>
            <a:ext cx="2480094" cy="4901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342065" y="1739430"/>
            <a:ext cx="1905572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5102734" y="1739430"/>
            <a:ext cx="2172244" cy="1600438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2810736" y="1721735"/>
            <a:ext cx="1442473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64617-905F-3091-ABE3-93823BB338FC}"/>
              </a:ext>
            </a:extLst>
          </p:cNvPr>
          <p:cNvSpPr txBox="1"/>
          <p:nvPr/>
        </p:nvSpPr>
        <p:spPr>
          <a:xfrm>
            <a:off x="69174" y="73196"/>
            <a:ext cx="182920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Non-GDB data Layouts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6FEAB-6865-74FE-9C7D-F013728FC8CD}"/>
              </a:ext>
            </a:extLst>
          </p:cNvPr>
          <p:cNvSpPr/>
          <p:nvPr/>
        </p:nvSpPr>
        <p:spPr>
          <a:xfrm>
            <a:off x="2581154" y="2204908"/>
            <a:ext cx="5301205" cy="1773872"/>
          </a:xfrm>
          <a:prstGeom prst="rect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D48021-8BE7-1AFA-C479-0BC9B99EBC1A}"/>
              </a:ext>
            </a:extLst>
          </p:cNvPr>
          <p:cNvSpPr/>
          <p:nvPr/>
        </p:nvSpPr>
        <p:spPr>
          <a:xfrm>
            <a:off x="161487" y="1660000"/>
            <a:ext cx="7720872" cy="537598"/>
          </a:xfrm>
          <a:prstGeom prst="rect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55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139DB9-B6B0-D605-7327-5D1FD82C2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504" y="2723201"/>
            <a:ext cx="3461647" cy="75570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In-Memory</a:t>
            </a:r>
            <a:r>
              <a:rPr lang="en-US" sz="2000" dirty="0"/>
              <a:t>: CSR, Adjacency Lists, Tree-based data structures for updates, Edge Logs (</a:t>
            </a:r>
            <a:r>
              <a:rPr lang="en-US" sz="2000" dirty="0" err="1"/>
              <a:t>GraphOne</a:t>
            </a:r>
            <a:r>
              <a:rPr lang="en-US" sz="2000" dirty="0"/>
              <a:t> and </a:t>
            </a:r>
            <a:r>
              <a:rPr lang="en-US" sz="2000" dirty="0" err="1"/>
              <a:t>LiveGraph</a:t>
            </a:r>
            <a:r>
              <a:rPr lang="en-US" sz="2000" dirty="0"/>
              <a:t>)</a:t>
            </a:r>
          </a:p>
          <a:p>
            <a:pPr marL="152400" indent="0">
              <a:buNone/>
            </a:pPr>
            <a:endParaRPr lang="en-US" sz="2000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F0B5860-78FF-C997-B190-E188CDE5C647}"/>
              </a:ext>
            </a:extLst>
          </p:cNvPr>
          <p:cNvSpPr txBox="1">
            <a:spLocks/>
          </p:cNvSpPr>
          <p:nvPr/>
        </p:nvSpPr>
        <p:spPr>
          <a:xfrm>
            <a:off x="126504" y="1051912"/>
            <a:ext cx="3832037" cy="167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Courier New" panose="02070309020205020404" pitchFamily="49" charset="0"/>
              </a:rPr>
              <a:t>Out-of-core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: Data Layouts that provide sorted neighborhood access, LLAMA’s snapshots</a:t>
            </a:r>
            <a:endParaRPr lang="en-US" sz="2000" dirty="0"/>
          </a:p>
        </p:txBody>
      </p:sp>
      <p:pic>
        <p:nvPicPr>
          <p:cNvPr id="19" name="Picture 18" descr="A diagram of a graph&#10;&#10;Description automatically generated">
            <a:extLst>
              <a:ext uri="{FF2B5EF4-FFF2-40B4-BE49-F238E27FC236}">
                <a16:creationId xmlns:a16="http://schemas.microsoft.com/office/drawing/2014/main" id="{EC6073C1-18E7-AFD0-124D-A303DF61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56586" cy="5143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1D3D61-943D-7F65-4E86-7D973EBC9396}"/>
              </a:ext>
            </a:extLst>
          </p:cNvPr>
          <p:cNvSpPr txBox="1"/>
          <p:nvPr/>
        </p:nvSpPr>
        <p:spPr>
          <a:xfrm>
            <a:off x="594479" y="190174"/>
            <a:ext cx="25089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Non-GDB data Layouts</a:t>
            </a:r>
          </a:p>
        </p:txBody>
      </p:sp>
    </p:spTree>
    <p:extLst>
      <p:ext uri="{BB962C8B-B14F-4D97-AF65-F5344CB8AC3E}">
        <p14:creationId xmlns:p14="http://schemas.microsoft.com/office/powerpoint/2010/main" val="1515015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3472962" y="316522"/>
            <a:ext cx="1969477" cy="95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708136" y="641814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659424" y="1890345"/>
            <a:ext cx="112883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3668862" y="1890346"/>
            <a:ext cx="1577676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6716817" y="1890346"/>
            <a:ext cx="941283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23842" y="1274884"/>
            <a:ext cx="3233859" cy="615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4457700" y="1274884"/>
            <a:ext cx="1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457701" y="1274884"/>
            <a:ext cx="2729758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430824" y="2589334"/>
            <a:ext cx="2268415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6127311" y="2587097"/>
            <a:ext cx="2585865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3668862" y="2587097"/>
            <a:ext cx="1717137" cy="73866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64617-905F-3091-ABE3-93823BB338FC}"/>
              </a:ext>
            </a:extLst>
          </p:cNvPr>
          <p:cNvSpPr txBox="1"/>
          <p:nvPr/>
        </p:nvSpPr>
        <p:spPr>
          <a:xfrm>
            <a:off x="346507" y="316736"/>
            <a:ext cx="257279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Dynamic  Graph Processing Systems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FB559FD-2ED1-4FCC-302B-DEC5F3D8788D}"/>
              </a:ext>
            </a:extLst>
          </p:cNvPr>
          <p:cNvSpPr/>
          <p:nvPr/>
        </p:nvSpPr>
        <p:spPr>
          <a:xfrm>
            <a:off x="346509" y="2329314"/>
            <a:ext cx="8470232" cy="1194282"/>
          </a:xfrm>
          <a:custGeom>
            <a:avLst/>
            <a:gdLst>
              <a:gd name="connsiteX0" fmla="*/ 38502 w 8470232"/>
              <a:gd name="connsiteY0" fmla="*/ 173254 h 1194282"/>
              <a:gd name="connsiteX1" fmla="*/ 0 w 8470232"/>
              <a:gd name="connsiteY1" fmla="*/ 279132 h 1194282"/>
              <a:gd name="connsiteX2" fmla="*/ 19251 w 8470232"/>
              <a:gd name="connsiteY2" fmla="*/ 462012 h 1194282"/>
              <a:gd name="connsiteX3" fmla="*/ 57752 w 8470232"/>
              <a:gd name="connsiteY3" fmla="*/ 548640 h 1194282"/>
              <a:gd name="connsiteX4" fmla="*/ 144379 w 8470232"/>
              <a:gd name="connsiteY4" fmla="*/ 596766 h 1194282"/>
              <a:gd name="connsiteX5" fmla="*/ 182880 w 8470232"/>
              <a:gd name="connsiteY5" fmla="*/ 606391 h 1194282"/>
              <a:gd name="connsiteX6" fmla="*/ 240632 w 8470232"/>
              <a:gd name="connsiteY6" fmla="*/ 625642 h 1194282"/>
              <a:gd name="connsiteX7" fmla="*/ 269508 w 8470232"/>
              <a:gd name="connsiteY7" fmla="*/ 635267 h 1194282"/>
              <a:gd name="connsiteX8" fmla="*/ 308009 w 8470232"/>
              <a:gd name="connsiteY8" fmla="*/ 644892 h 1194282"/>
              <a:gd name="connsiteX9" fmla="*/ 404262 w 8470232"/>
              <a:gd name="connsiteY9" fmla="*/ 664143 h 1194282"/>
              <a:gd name="connsiteX10" fmla="*/ 943276 w 8470232"/>
              <a:gd name="connsiteY10" fmla="*/ 673768 h 1194282"/>
              <a:gd name="connsiteX11" fmla="*/ 1193533 w 8470232"/>
              <a:gd name="connsiteY11" fmla="*/ 664143 h 1194282"/>
              <a:gd name="connsiteX12" fmla="*/ 1289786 w 8470232"/>
              <a:gd name="connsiteY12" fmla="*/ 654518 h 1194282"/>
              <a:gd name="connsiteX13" fmla="*/ 1501542 w 8470232"/>
              <a:gd name="connsiteY13" fmla="*/ 635267 h 1194282"/>
              <a:gd name="connsiteX14" fmla="*/ 1540043 w 8470232"/>
              <a:gd name="connsiteY14" fmla="*/ 625642 h 1194282"/>
              <a:gd name="connsiteX15" fmla="*/ 1674796 w 8470232"/>
              <a:gd name="connsiteY15" fmla="*/ 606391 h 1194282"/>
              <a:gd name="connsiteX16" fmla="*/ 1742173 w 8470232"/>
              <a:gd name="connsiteY16" fmla="*/ 596766 h 1194282"/>
              <a:gd name="connsiteX17" fmla="*/ 1867302 w 8470232"/>
              <a:gd name="connsiteY17" fmla="*/ 577515 h 1194282"/>
              <a:gd name="connsiteX18" fmla="*/ 2011680 w 8470232"/>
              <a:gd name="connsiteY18" fmla="*/ 567890 h 1194282"/>
              <a:gd name="connsiteX19" fmla="*/ 2300438 w 8470232"/>
              <a:gd name="connsiteY19" fmla="*/ 577515 h 1194282"/>
              <a:gd name="connsiteX20" fmla="*/ 2348565 w 8470232"/>
              <a:gd name="connsiteY20" fmla="*/ 587141 h 1194282"/>
              <a:gd name="connsiteX21" fmla="*/ 2512194 w 8470232"/>
              <a:gd name="connsiteY21" fmla="*/ 596766 h 1194282"/>
              <a:gd name="connsiteX22" fmla="*/ 2598822 w 8470232"/>
              <a:gd name="connsiteY22" fmla="*/ 625642 h 1194282"/>
              <a:gd name="connsiteX23" fmla="*/ 2666198 w 8470232"/>
              <a:gd name="connsiteY23" fmla="*/ 673768 h 1194282"/>
              <a:gd name="connsiteX24" fmla="*/ 2743200 w 8470232"/>
              <a:gd name="connsiteY24" fmla="*/ 712269 h 1194282"/>
              <a:gd name="connsiteX25" fmla="*/ 2772076 w 8470232"/>
              <a:gd name="connsiteY25" fmla="*/ 741145 h 1194282"/>
              <a:gd name="connsiteX26" fmla="*/ 2829828 w 8470232"/>
              <a:gd name="connsiteY26" fmla="*/ 779646 h 1194282"/>
              <a:gd name="connsiteX27" fmla="*/ 2877954 w 8470232"/>
              <a:gd name="connsiteY27" fmla="*/ 847023 h 1194282"/>
              <a:gd name="connsiteX28" fmla="*/ 2926080 w 8470232"/>
              <a:gd name="connsiteY28" fmla="*/ 914400 h 1194282"/>
              <a:gd name="connsiteX29" fmla="*/ 2954956 w 8470232"/>
              <a:gd name="connsiteY29" fmla="*/ 933650 h 1194282"/>
              <a:gd name="connsiteX30" fmla="*/ 3022333 w 8470232"/>
              <a:gd name="connsiteY30" fmla="*/ 1020278 h 1194282"/>
              <a:gd name="connsiteX31" fmla="*/ 3041584 w 8470232"/>
              <a:gd name="connsiteY31" fmla="*/ 1049153 h 1194282"/>
              <a:gd name="connsiteX32" fmla="*/ 3108960 w 8470232"/>
              <a:gd name="connsiteY32" fmla="*/ 1087654 h 1194282"/>
              <a:gd name="connsiteX33" fmla="*/ 3176337 w 8470232"/>
              <a:gd name="connsiteY33" fmla="*/ 1126155 h 1194282"/>
              <a:gd name="connsiteX34" fmla="*/ 3205213 w 8470232"/>
              <a:gd name="connsiteY34" fmla="*/ 1135781 h 1194282"/>
              <a:gd name="connsiteX35" fmla="*/ 3243714 w 8470232"/>
              <a:gd name="connsiteY35" fmla="*/ 1155031 h 1194282"/>
              <a:gd name="connsiteX36" fmla="*/ 3744228 w 8470232"/>
              <a:gd name="connsiteY36" fmla="*/ 1183907 h 1194282"/>
              <a:gd name="connsiteX37" fmla="*/ 4158114 w 8470232"/>
              <a:gd name="connsiteY37" fmla="*/ 1183907 h 1194282"/>
              <a:gd name="connsiteX38" fmla="*/ 4206240 w 8470232"/>
              <a:gd name="connsiteY38" fmla="*/ 1174282 h 1194282"/>
              <a:gd name="connsiteX39" fmla="*/ 4302493 w 8470232"/>
              <a:gd name="connsiteY39" fmla="*/ 1145406 h 1194282"/>
              <a:gd name="connsiteX40" fmla="*/ 4331369 w 8470232"/>
              <a:gd name="connsiteY40" fmla="*/ 1135781 h 1194282"/>
              <a:gd name="connsiteX41" fmla="*/ 4360245 w 8470232"/>
              <a:gd name="connsiteY41" fmla="*/ 1126155 h 1194282"/>
              <a:gd name="connsiteX42" fmla="*/ 4398746 w 8470232"/>
              <a:gd name="connsiteY42" fmla="*/ 1116530 h 1194282"/>
              <a:gd name="connsiteX43" fmla="*/ 4456497 w 8470232"/>
              <a:gd name="connsiteY43" fmla="*/ 1097280 h 1194282"/>
              <a:gd name="connsiteX44" fmla="*/ 4485373 w 8470232"/>
              <a:gd name="connsiteY44" fmla="*/ 1087654 h 1194282"/>
              <a:gd name="connsiteX45" fmla="*/ 4543125 w 8470232"/>
              <a:gd name="connsiteY45" fmla="*/ 1078029 h 1194282"/>
              <a:gd name="connsiteX46" fmla="*/ 5072514 w 8470232"/>
              <a:gd name="connsiteY46" fmla="*/ 1087654 h 1194282"/>
              <a:gd name="connsiteX47" fmla="*/ 5149516 w 8470232"/>
              <a:gd name="connsiteY47" fmla="*/ 1097280 h 1194282"/>
              <a:gd name="connsiteX48" fmla="*/ 5207268 w 8470232"/>
              <a:gd name="connsiteY48" fmla="*/ 1116530 h 1194282"/>
              <a:gd name="connsiteX49" fmla="*/ 5236144 w 8470232"/>
              <a:gd name="connsiteY49" fmla="*/ 1126155 h 1194282"/>
              <a:gd name="connsiteX50" fmla="*/ 5265019 w 8470232"/>
              <a:gd name="connsiteY50" fmla="*/ 1135781 h 1194282"/>
              <a:gd name="connsiteX51" fmla="*/ 5293895 w 8470232"/>
              <a:gd name="connsiteY51" fmla="*/ 1155031 h 1194282"/>
              <a:gd name="connsiteX52" fmla="*/ 5322771 w 8470232"/>
              <a:gd name="connsiteY52" fmla="*/ 1164657 h 1194282"/>
              <a:gd name="connsiteX53" fmla="*/ 5438274 w 8470232"/>
              <a:gd name="connsiteY53" fmla="*/ 1183907 h 1194282"/>
              <a:gd name="connsiteX54" fmla="*/ 5486400 w 8470232"/>
              <a:gd name="connsiteY54" fmla="*/ 1174282 h 1194282"/>
              <a:gd name="connsiteX55" fmla="*/ 5534527 w 8470232"/>
              <a:gd name="connsiteY55" fmla="*/ 1116530 h 1194282"/>
              <a:gd name="connsiteX56" fmla="*/ 5563403 w 8470232"/>
              <a:gd name="connsiteY56" fmla="*/ 1087654 h 1194282"/>
              <a:gd name="connsiteX57" fmla="*/ 5621154 w 8470232"/>
              <a:gd name="connsiteY57" fmla="*/ 1049153 h 1194282"/>
              <a:gd name="connsiteX58" fmla="*/ 5650030 w 8470232"/>
              <a:gd name="connsiteY58" fmla="*/ 1029903 h 1194282"/>
              <a:gd name="connsiteX59" fmla="*/ 5669280 w 8470232"/>
              <a:gd name="connsiteY59" fmla="*/ 1001027 h 1194282"/>
              <a:gd name="connsiteX60" fmla="*/ 5755908 w 8470232"/>
              <a:gd name="connsiteY60" fmla="*/ 952901 h 1194282"/>
              <a:gd name="connsiteX61" fmla="*/ 5813659 w 8470232"/>
              <a:gd name="connsiteY61" fmla="*/ 914400 h 1194282"/>
              <a:gd name="connsiteX62" fmla="*/ 5871411 w 8470232"/>
              <a:gd name="connsiteY62" fmla="*/ 895149 h 1194282"/>
              <a:gd name="connsiteX63" fmla="*/ 6015790 w 8470232"/>
              <a:gd name="connsiteY63" fmla="*/ 875899 h 1194282"/>
              <a:gd name="connsiteX64" fmla="*/ 6083167 w 8470232"/>
              <a:gd name="connsiteY64" fmla="*/ 866273 h 1194282"/>
              <a:gd name="connsiteX65" fmla="*/ 6275672 w 8470232"/>
              <a:gd name="connsiteY65" fmla="*/ 847023 h 1194282"/>
              <a:gd name="connsiteX66" fmla="*/ 6574055 w 8470232"/>
              <a:gd name="connsiteY66" fmla="*/ 837398 h 1194282"/>
              <a:gd name="connsiteX67" fmla="*/ 7190072 w 8470232"/>
              <a:gd name="connsiteY67" fmla="*/ 818147 h 1194282"/>
              <a:gd name="connsiteX68" fmla="*/ 7603958 w 8470232"/>
              <a:gd name="connsiteY68" fmla="*/ 798897 h 1194282"/>
              <a:gd name="connsiteX69" fmla="*/ 7719462 w 8470232"/>
              <a:gd name="connsiteY69" fmla="*/ 789271 h 1194282"/>
              <a:gd name="connsiteX70" fmla="*/ 7796464 w 8470232"/>
              <a:gd name="connsiteY70" fmla="*/ 779646 h 1194282"/>
              <a:gd name="connsiteX71" fmla="*/ 7902342 w 8470232"/>
              <a:gd name="connsiteY71" fmla="*/ 770021 h 1194282"/>
              <a:gd name="connsiteX72" fmla="*/ 7931217 w 8470232"/>
              <a:gd name="connsiteY72" fmla="*/ 760395 h 1194282"/>
              <a:gd name="connsiteX73" fmla="*/ 8075596 w 8470232"/>
              <a:gd name="connsiteY73" fmla="*/ 741145 h 1194282"/>
              <a:gd name="connsiteX74" fmla="*/ 8133348 w 8470232"/>
              <a:gd name="connsiteY74" fmla="*/ 721894 h 1194282"/>
              <a:gd name="connsiteX75" fmla="*/ 8191099 w 8470232"/>
              <a:gd name="connsiteY75" fmla="*/ 693019 h 1194282"/>
              <a:gd name="connsiteX76" fmla="*/ 8219975 w 8470232"/>
              <a:gd name="connsiteY76" fmla="*/ 673768 h 1194282"/>
              <a:gd name="connsiteX77" fmla="*/ 8248851 w 8470232"/>
              <a:gd name="connsiteY77" fmla="*/ 664143 h 1194282"/>
              <a:gd name="connsiteX78" fmla="*/ 8277727 w 8470232"/>
              <a:gd name="connsiteY78" fmla="*/ 635267 h 1194282"/>
              <a:gd name="connsiteX79" fmla="*/ 8306603 w 8470232"/>
              <a:gd name="connsiteY79" fmla="*/ 616017 h 1194282"/>
              <a:gd name="connsiteX80" fmla="*/ 8325853 w 8470232"/>
              <a:gd name="connsiteY80" fmla="*/ 587141 h 1194282"/>
              <a:gd name="connsiteX81" fmla="*/ 8383605 w 8470232"/>
              <a:gd name="connsiteY81" fmla="*/ 539014 h 1194282"/>
              <a:gd name="connsiteX82" fmla="*/ 8422106 w 8470232"/>
              <a:gd name="connsiteY82" fmla="*/ 481263 h 1194282"/>
              <a:gd name="connsiteX83" fmla="*/ 8450982 w 8470232"/>
              <a:gd name="connsiteY83" fmla="*/ 404261 h 1194282"/>
              <a:gd name="connsiteX84" fmla="*/ 8470232 w 8470232"/>
              <a:gd name="connsiteY84" fmla="*/ 346509 h 1194282"/>
              <a:gd name="connsiteX85" fmla="*/ 8460607 w 8470232"/>
              <a:gd name="connsiteY85" fmla="*/ 163629 h 1194282"/>
              <a:gd name="connsiteX86" fmla="*/ 8450982 w 8470232"/>
              <a:gd name="connsiteY86" fmla="*/ 134753 h 1194282"/>
              <a:gd name="connsiteX87" fmla="*/ 8431731 w 8470232"/>
              <a:gd name="connsiteY87" fmla="*/ 105878 h 1194282"/>
              <a:gd name="connsiteX88" fmla="*/ 8373979 w 8470232"/>
              <a:gd name="connsiteY88" fmla="*/ 57751 h 1194282"/>
              <a:gd name="connsiteX89" fmla="*/ 8296977 w 8470232"/>
              <a:gd name="connsiteY89" fmla="*/ 19250 h 1194282"/>
              <a:gd name="connsiteX90" fmla="*/ 8239226 w 8470232"/>
              <a:gd name="connsiteY90" fmla="*/ 0 h 1194282"/>
              <a:gd name="connsiteX91" fmla="*/ 7883091 w 8470232"/>
              <a:gd name="connsiteY91" fmla="*/ 9625 h 1194282"/>
              <a:gd name="connsiteX92" fmla="*/ 7777213 w 8470232"/>
              <a:gd name="connsiteY92" fmla="*/ 19250 h 1194282"/>
              <a:gd name="connsiteX93" fmla="*/ 7594333 w 8470232"/>
              <a:gd name="connsiteY93" fmla="*/ 28875 h 1194282"/>
              <a:gd name="connsiteX94" fmla="*/ 7498080 w 8470232"/>
              <a:gd name="connsiteY94" fmla="*/ 38501 h 1194282"/>
              <a:gd name="connsiteX95" fmla="*/ 7382577 w 8470232"/>
              <a:gd name="connsiteY95" fmla="*/ 48126 h 1194282"/>
              <a:gd name="connsiteX96" fmla="*/ 7324826 w 8470232"/>
              <a:gd name="connsiteY96" fmla="*/ 57751 h 1194282"/>
              <a:gd name="connsiteX97" fmla="*/ 6525929 w 8470232"/>
              <a:gd name="connsiteY97" fmla="*/ 77002 h 1194282"/>
              <a:gd name="connsiteX98" fmla="*/ 6063916 w 8470232"/>
              <a:gd name="connsiteY98" fmla="*/ 96252 h 1194282"/>
              <a:gd name="connsiteX99" fmla="*/ 5929163 w 8470232"/>
              <a:gd name="connsiteY99" fmla="*/ 105878 h 1194282"/>
              <a:gd name="connsiteX100" fmla="*/ 5871411 w 8470232"/>
              <a:gd name="connsiteY100" fmla="*/ 125128 h 1194282"/>
              <a:gd name="connsiteX101" fmla="*/ 5842535 w 8470232"/>
              <a:gd name="connsiteY101" fmla="*/ 144379 h 1194282"/>
              <a:gd name="connsiteX102" fmla="*/ 5784784 w 8470232"/>
              <a:gd name="connsiteY102" fmla="*/ 163629 h 1194282"/>
              <a:gd name="connsiteX103" fmla="*/ 5755908 w 8470232"/>
              <a:gd name="connsiteY103" fmla="*/ 182880 h 1194282"/>
              <a:gd name="connsiteX104" fmla="*/ 5698156 w 8470232"/>
              <a:gd name="connsiteY104" fmla="*/ 202130 h 1194282"/>
              <a:gd name="connsiteX105" fmla="*/ 5669280 w 8470232"/>
              <a:gd name="connsiteY105" fmla="*/ 221381 h 1194282"/>
              <a:gd name="connsiteX106" fmla="*/ 5640405 w 8470232"/>
              <a:gd name="connsiteY106" fmla="*/ 231006 h 1194282"/>
              <a:gd name="connsiteX107" fmla="*/ 5582653 w 8470232"/>
              <a:gd name="connsiteY107" fmla="*/ 269507 h 1194282"/>
              <a:gd name="connsiteX108" fmla="*/ 5553777 w 8470232"/>
              <a:gd name="connsiteY108" fmla="*/ 288758 h 1194282"/>
              <a:gd name="connsiteX109" fmla="*/ 5524902 w 8470232"/>
              <a:gd name="connsiteY109" fmla="*/ 317633 h 1194282"/>
              <a:gd name="connsiteX110" fmla="*/ 5467150 w 8470232"/>
              <a:gd name="connsiteY110" fmla="*/ 356134 h 1194282"/>
              <a:gd name="connsiteX111" fmla="*/ 5399773 w 8470232"/>
              <a:gd name="connsiteY111" fmla="*/ 413886 h 1194282"/>
              <a:gd name="connsiteX112" fmla="*/ 5342022 w 8470232"/>
              <a:gd name="connsiteY112" fmla="*/ 452387 h 1194282"/>
              <a:gd name="connsiteX113" fmla="*/ 5313146 w 8470232"/>
              <a:gd name="connsiteY113" fmla="*/ 462012 h 1194282"/>
              <a:gd name="connsiteX114" fmla="*/ 5245769 w 8470232"/>
              <a:gd name="connsiteY114" fmla="*/ 500513 h 1194282"/>
              <a:gd name="connsiteX115" fmla="*/ 5216893 w 8470232"/>
              <a:gd name="connsiteY115" fmla="*/ 510139 h 1194282"/>
              <a:gd name="connsiteX116" fmla="*/ 5178392 w 8470232"/>
              <a:gd name="connsiteY116" fmla="*/ 529389 h 1194282"/>
              <a:gd name="connsiteX117" fmla="*/ 5091765 w 8470232"/>
              <a:gd name="connsiteY117" fmla="*/ 548640 h 1194282"/>
              <a:gd name="connsiteX118" fmla="*/ 5053264 w 8470232"/>
              <a:gd name="connsiteY118" fmla="*/ 567890 h 1194282"/>
              <a:gd name="connsiteX119" fmla="*/ 5014763 w 8470232"/>
              <a:gd name="connsiteY119" fmla="*/ 577515 h 1194282"/>
              <a:gd name="connsiteX120" fmla="*/ 4908885 w 8470232"/>
              <a:gd name="connsiteY120" fmla="*/ 606391 h 1194282"/>
              <a:gd name="connsiteX121" fmla="*/ 4870384 w 8470232"/>
              <a:gd name="connsiteY121" fmla="*/ 616017 h 1194282"/>
              <a:gd name="connsiteX122" fmla="*/ 4321744 w 8470232"/>
              <a:gd name="connsiteY122" fmla="*/ 635267 h 1194282"/>
              <a:gd name="connsiteX123" fmla="*/ 4206240 w 8470232"/>
              <a:gd name="connsiteY123" fmla="*/ 644892 h 1194282"/>
              <a:gd name="connsiteX124" fmla="*/ 3176337 w 8470232"/>
              <a:gd name="connsiteY124" fmla="*/ 644892 h 1194282"/>
              <a:gd name="connsiteX125" fmla="*/ 3128211 w 8470232"/>
              <a:gd name="connsiteY125" fmla="*/ 635267 h 1194282"/>
              <a:gd name="connsiteX126" fmla="*/ 3060834 w 8470232"/>
              <a:gd name="connsiteY126" fmla="*/ 625642 h 1194282"/>
              <a:gd name="connsiteX127" fmla="*/ 3022333 w 8470232"/>
              <a:gd name="connsiteY127" fmla="*/ 616017 h 1194282"/>
              <a:gd name="connsiteX128" fmla="*/ 2964582 w 8470232"/>
              <a:gd name="connsiteY128" fmla="*/ 606391 h 1194282"/>
              <a:gd name="connsiteX129" fmla="*/ 2887579 w 8470232"/>
              <a:gd name="connsiteY129" fmla="*/ 587141 h 1194282"/>
              <a:gd name="connsiteX130" fmla="*/ 2829828 w 8470232"/>
              <a:gd name="connsiteY130" fmla="*/ 577515 h 1194282"/>
              <a:gd name="connsiteX131" fmla="*/ 2723950 w 8470232"/>
              <a:gd name="connsiteY131" fmla="*/ 548640 h 1194282"/>
              <a:gd name="connsiteX132" fmla="*/ 2695074 w 8470232"/>
              <a:gd name="connsiteY132" fmla="*/ 539014 h 1194282"/>
              <a:gd name="connsiteX133" fmla="*/ 2666198 w 8470232"/>
              <a:gd name="connsiteY133" fmla="*/ 510139 h 1194282"/>
              <a:gd name="connsiteX134" fmla="*/ 2637323 w 8470232"/>
              <a:gd name="connsiteY134" fmla="*/ 490888 h 1194282"/>
              <a:gd name="connsiteX135" fmla="*/ 2618072 w 8470232"/>
              <a:gd name="connsiteY135" fmla="*/ 462012 h 1194282"/>
              <a:gd name="connsiteX136" fmla="*/ 2560320 w 8470232"/>
              <a:gd name="connsiteY136" fmla="*/ 423511 h 1194282"/>
              <a:gd name="connsiteX137" fmla="*/ 2502569 w 8470232"/>
              <a:gd name="connsiteY137" fmla="*/ 375385 h 1194282"/>
              <a:gd name="connsiteX138" fmla="*/ 2473693 w 8470232"/>
              <a:gd name="connsiteY138" fmla="*/ 365760 h 1194282"/>
              <a:gd name="connsiteX139" fmla="*/ 2425567 w 8470232"/>
              <a:gd name="connsiteY139" fmla="*/ 346509 h 1194282"/>
              <a:gd name="connsiteX140" fmla="*/ 2396691 w 8470232"/>
              <a:gd name="connsiteY140" fmla="*/ 327259 h 1194282"/>
              <a:gd name="connsiteX141" fmla="*/ 2310064 w 8470232"/>
              <a:gd name="connsiteY141" fmla="*/ 298383 h 1194282"/>
              <a:gd name="connsiteX142" fmla="*/ 2233062 w 8470232"/>
              <a:gd name="connsiteY142" fmla="*/ 269507 h 1194282"/>
              <a:gd name="connsiteX143" fmla="*/ 2204186 w 8470232"/>
              <a:gd name="connsiteY143" fmla="*/ 250257 h 1194282"/>
              <a:gd name="connsiteX144" fmla="*/ 2146434 w 8470232"/>
              <a:gd name="connsiteY144" fmla="*/ 231006 h 1194282"/>
              <a:gd name="connsiteX145" fmla="*/ 2107933 w 8470232"/>
              <a:gd name="connsiteY145" fmla="*/ 221381 h 1194282"/>
              <a:gd name="connsiteX146" fmla="*/ 2059807 w 8470232"/>
              <a:gd name="connsiteY146" fmla="*/ 211755 h 1194282"/>
              <a:gd name="connsiteX147" fmla="*/ 2030931 w 8470232"/>
              <a:gd name="connsiteY147" fmla="*/ 202130 h 1194282"/>
              <a:gd name="connsiteX148" fmla="*/ 1973179 w 8470232"/>
              <a:gd name="connsiteY148" fmla="*/ 192505 h 1194282"/>
              <a:gd name="connsiteX149" fmla="*/ 1867302 w 8470232"/>
              <a:gd name="connsiteY149" fmla="*/ 173254 h 1194282"/>
              <a:gd name="connsiteX150" fmla="*/ 1655546 w 8470232"/>
              <a:gd name="connsiteY150" fmla="*/ 144379 h 1194282"/>
              <a:gd name="connsiteX151" fmla="*/ 1617045 w 8470232"/>
              <a:gd name="connsiteY151" fmla="*/ 134753 h 1194282"/>
              <a:gd name="connsiteX152" fmla="*/ 1386038 w 8470232"/>
              <a:gd name="connsiteY152" fmla="*/ 105878 h 1194282"/>
              <a:gd name="connsiteX153" fmla="*/ 1309036 w 8470232"/>
              <a:gd name="connsiteY153" fmla="*/ 96252 h 1194282"/>
              <a:gd name="connsiteX154" fmla="*/ 1251285 w 8470232"/>
              <a:gd name="connsiteY154" fmla="*/ 86627 h 1194282"/>
              <a:gd name="connsiteX155" fmla="*/ 962527 w 8470232"/>
              <a:gd name="connsiteY155" fmla="*/ 77002 h 1194282"/>
              <a:gd name="connsiteX156" fmla="*/ 577516 w 8470232"/>
              <a:gd name="connsiteY156" fmla="*/ 86627 h 1194282"/>
              <a:gd name="connsiteX157" fmla="*/ 86628 w 8470232"/>
              <a:gd name="connsiteY157" fmla="*/ 105878 h 1194282"/>
              <a:gd name="connsiteX158" fmla="*/ 57752 w 8470232"/>
              <a:gd name="connsiteY158" fmla="*/ 125128 h 1194282"/>
              <a:gd name="connsiteX159" fmla="*/ 38502 w 8470232"/>
              <a:gd name="connsiteY159" fmla="*/ 173254 h 11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8470232" h="1194282">
                <a:moveTo>
                  <a:pt x="38502" y="173254"/>
                </a:moveTo>
                <a:cubicBezTo>
                  <a:pt x="28877" y="198921"/>
                  <a:pt x="0" y="253215"/>
                  <a:pt x="0" y="279132"/>
                </a:cubicBezTo>
                <a:cubicBezTo>
                  <a:pt x="0" y="349851"/>
                  <a:pt x="809" y="400540"/>
                  <a:pt x="19251" y="462012"/>
                </a:cubicBezTo>
                <a:cubicBezTo>
                  <a:pt x="25448" y="482668"/>
                  <a:pt x="36774" y="530284"/>
                  <a:pt x="57752" y="548640"/>
                </a:cubicBezTo>
                <a:cubicBezTo>
                  <a:pt x="91177" y="577887"/>
                  <a:pt x="107925" y="586351"/>
                  <a:pt x="144379" y="596766"/>
                </a:cubicBezTo>
                <a:cubicBezTo>
                  <a:pt x="157099" y="600400"/>
                  <a:pt x="170209" y="602590"/>
                  <a:pt x="182880" y="606391"/>
                </a:cubicBezTo>
                <a:cubicBezTo>
                  <a:pt x="202316" y="612222"/>
                  <a:pt x="221381" y="619225"/>
                  <a:pt x="240632" y="625642"/>
                </a:cubicBezTo>
                <a:cubicBezTo>
                  <a:pt x="250257" y="628850"/>
                  <a:pt x="259665" y="632806"/>
                  <a:pt x="269508" y="635267"/>
                </a:cubicBezTo>
                <a:cubicBezTo>
                  <a:pt x="282342" y="638475"/>
                  <a:pt x="295289" y="641258"/>
                  <a:pt x="308009" y="644892"/>
                </a:cubicBezTo>
                <a:cubicBezTo>
                  <a:pt x="352713" y="657665"/>
                  <a:pt x="339574" y="662089"/>
                  <a:pt x="404262" y="664143"/>
                </a:cubicBezTo>
                <a:cubicBezTo>
                  <a:pt x="583871" y="669845"/>
                  <a:pt x="763605" y="670560"/>
                  <a:pt x="943276" y="673768"/>
                </a:cubicBezTo>
                <a:lnTo>
                  <a:pt x="1193533" y="664143"/>
                </a:lnTo>
                <a:cubicBezTo>
                  <a:pt x="1225728" y="662354"/>
                  <a:pt x="1257653" y="657196"/>
                  <a:pt x="1289786" y="654518"/>
                </a:cubicBezTo>
                <a:cubicBezTo>
                  <a:pt x="1496207" y="637316"/>
                  <a:pt x="1353508" y="653771"/>
                  <a:pt x="1501542" y="635267"/>
                </a:cubicBezTo>
                <a:cubicBezTo>
                  <a:pt x="1514376" y="632059"/>
                  <a:pt x="1527071" y="628236"/>
                  <a:pt x="1540043" y="625642"/>
                </a:cubicBezTo>
                <a:cubicBezTo>
                  <a:pt x="1590755" y="615500"/>
                  <a:pt x="1621577" y="613487"/>
                  <a:pt x="1674796" y="606391"/>
                </a:cubicBezTo>
                <a:cubicBezTo>
                  <a:pt x="1697284" y="603393"/>
                  <a:pt x="1719795" y="600496"/>
                  <a:pt x="1742173" y="596766"/>
                </a:cubicBezTo>
                <a:cubicBezTo>
                  <a:pt x="1818250" y="584087"/>
                  <a:pt x="1769978" y="585978"/>
                  <a:pt x="1867302" y="577515"/>
                </a:cubicBezTo>
                <a:cubicBezTo>
                  <a:pt x="1915353" y="573337"/>
                  <a:pt x="1963554" y="571098"/>
                  <a:pt x="2011680" y="567890"/>
                </a:cubicBezTo>
                <a:cubicBezTo>
                  <a:pt x="2107933" y="571098"/>
                  <a:pt x="2204289" y="572021"/>
                  <a:pt x="2300438" y="577515"/>
                </a:cubicBezTo>
                <a:cubicBezTo>
                  <a:pt x="2316771" y="578448"/>
                  <a:pt x="2332272" y="585660"/>
                  <a:pt x="2348565" y="587141"/>
                </a:cubicBezTo>
                <a:cubicBezTo>
                  <a:pt x="2402978" y="592088"/>
                  <a:pt x="2457651" y="593558"/>
                  <a:pt x="2512194" y="596766"/>
                </a:cubicBezTo>
                <a:cubicBezTo>
                  <a:pt x="2543912" y="604695"/>
                  <a:pt x="2569165" y="609166"/>
                  <a:pt x="2598822" y="625642"/>
                </a:cubicBezTo>
                <a:cubicBezTo>
                  <a:pt x="2638061" y="647441"/>
                  <a:pt x="2630116" y="655727"/>
                  <a:pt x="2666198" y="673768"/>
                </a:cubicBezTo>
                <a:cubicBezTo>
                  <a:pt x="2710424" y="695881"/>
                  <a:pt x="2709752" y="684395"/>
                  <a:pt x="2743200" y="712269"/>
                </a:cubicBezTo>
                <a:cubicBezTo>
                  <a:pt x="2753657" y="720983"/>
                  <a:pt x="2761331" y="732788"/>
                  <a:pt x="2772076" y="741145"/>
                </a:cubicBezTo>
                <a:cubicBezTo>
                  <a:pt x="2790339" y="755349"/>
                  <a:pt x="2829828" y="779646"/>
                  <a:pt x="2829828" y="779646"/>
                </a:cubicBezTo>
                <a:cubicBezTo>
                  <a:pt x="2875182" y="847679"/>
                  <a:pt x="2818277" y="763477"/>
                  <a:pt x="2877954" y="847023"/>
                </a:cubicBezTo>
                <a:cubicBezTo>
                  <a:pt x="2891614" y="866147"/>
                  <a:pt x="2910357" y="898677"/>
                  <a:pt x="2926080" y="914400"/>
                </a:cubicBezTo>
                <a:cubicBezTo>
                  <a:pt x="2934260" y="922580"/>
                  <a:pt x="2945331" y="927233"/>
                  <a:pt x="2954956" y="933650"/>
                </a:cubicBezTo>
                <a:cubicBezTo>
                  <a:pt x="3052250" y="1079593"/>
                  <a:pt x="2946948" y="929819"/>
                  <a:pt x="3022333" y="1020278"/>
                </a:cubicBezTo>
                <a:cubicBezTo>
                  <a:pt x="3029739" y="1029165"/>
                  <a:pt x="3033404" y="1040973"/>
                  <a:pt x="3041584" y="1049153"/>
                </a:cubicBezTo>
                <a:cubicBezTo>
                  <a:pt x="3057222" y="1064791"/>
                  <a:pt x="3091339" y="1077585"/>
                  <a:pt x="3108960" y="1087654"/>
                </a:cubicBezTo>
                <a:cubicBezTo>
                  <a:pt x="3157301" y="1115277"/>
                  <a:pt x="3118154" y="1101219"/>
                  <a:pt x="3176337" y="1126155"/>
                </a:cubicBezTo>
                <a:cubicBezTo>
                  <a:pt x="3185663" y="1130152"/>
                  <a:pt x="3195887" y="1131784"/>
                  <a:pt x="3205213" y="1135781"/>
                </a:cubicBezTo>
                <a:cubicBezTo>
                  <a:pt x="3218401" y="1141433"/>
                  <a:pt x="3230102" y="1150494"/>
                  <a:pt x="3243714" y="1155031"/>
                </a:cubicBezTo>
                <a:cubicBezTo>
                  <a:pt x="3400299" y="1207226"/>
                  <a:pt x="3600662" y="1180644"/>
                  <a:pt x="3744228" y="1183907"/>
                </a:cubicBezTo>
                <a:cubicBezTo>
                  <a:pt x="3949046" y="1195955"/>
                  <a:pt x="3917658" y="1199420"/>
                  <a:pt x="4158114" y="1183907"/>
                </a:cubicBezTo>
                <a:cubicBezTo>
                  <a:pt x="4174440" y="1182854"/>
                  <a:pt x="4190270" y="1177831"/>
                  <a:pt x="4206240" y="1174282"/>
                </a:cubicBezTo>
                <a:cubicBezTo>
                  <a:pt x="4249888" y="1164583"/>
                  <a:pt x="4254494" y="1161406"/>
                  <a:pt x="4302493" y="1145406"/>
                </a:cubicBezTo>
                <a:lnTo>
                  <a:pt x="4331369" y="1135781"/>
                </a:lnTo>
                <a:cubicBezTo>
                  <a:pt x="4340994" y="1132572"/>
                  <a:pt x="4350402" y="1128616"/>
                  <a:pt x="4360245" y="1126155"/>
                </a:cubicBezTo>
                <a:cubicBezTo>
                  <a:pt x="4373079" y="1122947"/>
                  <a:pt x="4386075" y="1120331"/>
                  <a:pt x="4398746" y="1116530"/>
                </a:cubicBezTo>
                <a:cubicBezTo>
                  <a:pt x="4418182" y="1110699"/>
                  <a:pt x="4437247" y="1103697"/>
                  <a:pt x="4456497" y="1097280"/>
                </a:cubicBezTo>
                <a:cubicBezTo>
                  <a:pt x="4466122" y="1094071"/>
                  <a:pt x="4475365" y="1089322"/>
                  <a:pt x="4485373" y="1087654"/>
                </a:cubicBezTo>
                <a:lnTo>
                  <a:pt x="4543125" y="1078029"/>
                </a:lnTo>
                <a:lnTo>
                  <a:pt x="5072514" y="1087654"/>
                </a:lnTo>
                <a:cubicBezTo>
                  <a:pt x="5098368" y="1088475"/>
                  <a:pt x="5124223" y="1091860"/>
                  <a:pt x="5149516" y="1097280"/>
                </a:cubicBezTo>
                <a:cubicBezTo>
                  <a:pt x="5169357" y="1101532"/>
                  <a:pt x="5188017" y="1110113"/>
                  <a:pt x="5207268" y="1116530"/>
                </a:cubicBezTo>
                <a:lnTo>
                  <a:pt x="5236144" y="1126155"/>
                </a:lnTo>
                <a:cubicBezTo>
                  <a:pt x="5245769" y="1129363"/>
                  <a:pt x="5256577" y="1130153"/>
                  <a:pt x="5265019" y="1135781"/>
                </a:cubicBezTo>
                <a:cubicBezTo>
                  <a:pt x="5274644" y="1142198"/>
                  <a:pt x="5283548" y="1149858"/>
                  <a:pt x="5293895" y="1155031"/>
                </a:cubicBezTo>
                <a:cubicBezTo>
                  <a:pt x="5302970" y="1159568"/>
                  <a:pt x="5312928" y="1162196"/>
                  <a:pt x="5322771" y="1164657"/>
                </a:cubicBezTo>
                <a:cubicBezTo>
                  <a:pt x="5360299" y="1174039"/>
                  <a:pt x="5400249" y="1178475"/>
                  <a:pt x="5438274" y="1183907"/>
                </a:cubicBezTo>
                <a:cubicBezTo>
                  <a:pt x="5454316" y="1180699"/>
                  <a:pt x="5471767" y="1181598"/>
                  <a:pt x="5486400" y="1174282"/>
                </a:cubicBezTo>
                <a:cubicBezTo>
                  <a:pt x="5510503" y="1162231"/>
                  <a:pt x="5518734" y="1135482"/>
                  <a:pt x="5534527" y="1116530"/>
                </a:cubicBezTo>
                <a:cubicBezTo>
                  <a:pt x="5543241" y="1106073"/>
                  <a:pt x="5552658" y="1096011"/>
                  <a:pt x="5563403" y="1087654"/>
                </a:cubicBezTo>
                <a:cubicBezTo>
                  <a:pt x="5581665" y="1073450"/>
                  <a:pt x="5601904" y="1061987"/>
                  <a:pt x="5621154" y="1049153"/>
                </a:cubicBezTo>
                <a:lnTo>
                  <a:pt x="5650030" y="1029903"/>
                </a:lnTo>
                <a:cubicBezTo>
                  <a:pt x="5656447" y="1020278"/>
                  <a:pt x="5660574" y="1008645"/>
                  <a:pt x="5669280" y="1001027"/>
                </a:cubicBezTo>
                <a:cubicBezTo>
                  <a:pt x="5710014" y="965384"/>
                  <a:pt x="5716248" y="966121"/>
                  <a:pt x="5755908" y="952901"/>
                </a:cubicBezTo>
                <a:cubicBezTo>
                  <a:pt x="5775158" y="940067"/>
                  <a:pt x="5791710" y="921716"/>
                  <a:pt x="5813659" y="914400"/>
                </a:cubicBezTo>
                <a:cubicBezTo>
                  <a:pt x="5832910" y="907983"/>
                  <a:pt x="5851323" y="898019"/>
                  <a:pt x="5871411" y="895149"/>
                </a:cubicBezTo>
                <a:lnTo>
                  <a:pt x="6015790" y="875899"/>
                </a:lnTo>
                <a:lnTo>
                  <a:pt x="6083167" y="866273"/>
                </a:lnTo>
                <a:cubicBezTo>
                  <a:pt x="6147313" y="857720"/>
                  <a:pt x="6210851" y="850038"/>
                  <a:pt x="6275672" y="847023"/>
                </a:cubicBezTo>
                <a:cubicBezTo>
                  <a:pt x="6375077" y="842400"/>
                  <a:pt x="6474594" y="840606"/>
                  <a:pt x="6574055" y="837398"/>
                </a:cubicBezTo>
                <a:cubicBezTo>
                  <a:pt x="6932443" y="813504"/>
                  <a:pt x="6484019" y="841170"/>
                  <a:pt x="7190072" y="818147"/>
                </a:cubicBezTo>
                <a:cubicBezTo>
                  <a:pt x="7328110" y="813646"/>
                  <a:pt x="7466324" y="810367"/>
                  <a:pt x="7603958" y="798897"/>
                </a:cubicBezTo>
                <a:lnTo>
                  <a:pt x="7719462" y="789271"/>
                </a:lnTo>
                <a:cubicBezTo>
                  <a:pt x="7745201" y="786697"/>
                  <a:pt x="7770739" y="782354"/>
                  <a:pt x="7796464" y="779646"/>
                </a:cubicBezTo>
                <a:cubicBezTo>
                  <a:pt x="7831707" y="775936"/>
                  <a:pt x="7867049" y="773229"/>
                  <a:pt x="7902342" y="770021"/>
                </a:cubicBezTo>
                <a:cubicBezTo>
                  <a:pt x="7911967" y="766812"/>
                  <a:pt x="7921209" y="762063"/>
                  <a:pt x="7931217" y="760395"/>
                </a:cubicBezTo>
                <a:cubicBezTo>
                  <a:pt x="7979286" y="752383"/>
                  <a:pt x="8028116" y="753015"/>
                  <a:pt x="8075596" y="741145"/>
                </a:cubicBezTo>
                <a:cubicBezTo>
                  <a:pt x="8095282" y="736223"/>
                  <a:pt x="8116464" y="733150"/>
                  <a:pt x="8133348" y="721894"/>
                </a:cubicBezTo>
                <a:cubicBezTo>
                  <a:pt x="8170666" y="697016"/>
                  <a:pt x="8151250" y="706302"/>
                  <a:pt x="8191099" y="693019"/>
                </a:cubicBezTo>
                <a:cubicBezTo>
                  <a:pt x="8200724" y="686602"/>
                  <a:pt x="8209628" y="678941"/>
                  <a:pt x="8219975" y="673768"/>
                </a:cubicBezTo>
                <a:cubicBezTo>
                  <a:pt x="8229050" y="669231"/>
                  <a:pt x="8240409" y="669771"/>
                  <a:pt x="8248851" y="664143"/>
                </a:cubicBezTo>
                <a:cubicBezTo>
                  <a:pt x="8260177" y="656592"/>
                  <a:pt x="8267270" y="643981"/>
                  <a:pt x="8277727" y="635267"/>
                </a:cubicBezTo>
                <a:cubicBezTo>
                  <a:pt x="8286614" y="627861"/>
                  <a:pt x="8296978" y="622434"/>
                  <a:pt x="8306603" y="616017"/>
                </a:cubicBezTo>
                <a:cubicBezTo>
                  <a:pt x="8313020" y="606392"/>
                  <a:pt x="8317673" y="595321"/>
                  <a:pt x="8325853" y="587141"/>
                </a:cubicBezTo>
                <a:cubicBezTo>
                  <a:pt x="8381470" y="531523"/>
                  <a:pt x="8328411" y="609977"/>
                  <a:pt x="8383605" y="539014"/>
                </a:cubicBezTo>
                <a:cubicBezTo>
                  <a:pt x="8397809" y="520752"/>
                  <a:pt x="8422106" y="481263"/>
                  <a:pt x="8422106" y="481263"/>
                </a:cubicBezTo>
                <a:cubicBezTo>
                  <a:pt x="8442946" y="397902"/>
                  <a:pt x="8417425" y="488153"/>
                  <a:pt x="8450982" y="404261"/>
                </a:cubicBezTo>
                <a:cubicBezTo>
                  <a:pt x="8458518" y="385420"/>
                  <a:pt x="8470232" y="346509"/>
                  <a:pt x="8470232" y="346509"/>
                </a:cubicBezTo>
                <a:cubicBezTo>
                  <a:pt x="8467024" y="285549"/>
                  <a:pt x="8466134" y="224423"/>
                  <a:pt x="8460607" y="163629"/>
                </a:cubicBezTo>
                <a:cubicBezTo>
                  <a:pt x="8459688" y="153525"/>
                  <a:pt x="8455519" y="143828"/>
                  <a:pt x="8450982" y="134753"/>
                </a:cubicBezTo>
                <a:cubicBezTo>
                  <a:pt x="8445809" y="124406"/>
                  <a:pt x="8439137" y="114765"/>
                  <a:pt x="8431731" y="105878"/>
                </a:cubicBezTo>
                <a:cubicBezTo>
                  <a:pt x="8414758" y="85511"/>
                  <a:pt x="8397114" y="70370"/>
                  <a:pt x="8373979" y="57751"/>
                </a:cubicBezTo>
                <a:cubicBezTo>
                  <a:pt x="8348786" y="44009"/>
                  <a:pt x="8324201" y="28325"/>
                  <a:pt x="8296977" y="19250"/>
                </a:cubicBezTo>
                <a:lnTo>
                  <a:pt x="8239226" y="0"/>
                </a:lnTo>
                <a:lnTo>
                  <a:pt x="7883091" y="9625"/>
                </a:lnTo>
                <a:cubicBezTo>
                  <a:pt x="7847684" y="11100"/>
                  <a:pt x="7812573" y="16893"/>
                  <a:pt x="7777213" y="19250"/>
                </a:cubicBezTo>
                <a:cubicBezTo>
                  <a:pt x="7716304" y="23310"/>
                  <a:pt x="7655233" y="24675"/>
                  <a:pt x="7594333" y="28875"/>
                </a:cubicBezTo>
                <a:cubicBezTo>
                  <a:pt x="7562165" y="31094"/>
                  <a:pt x="7530192" y="35582"/>
                  <a:pt x="7498080" y="38501"/>
                </a:cubicBezTo>
                <a:lnTo>
                  <a:pt x="7382577" y="48126"/>
                </a:lnTo>
                <a:cubicBezTo>
                  <a:pt x="7363327" y="51334"/>
                  <a:pt x="7344331" y="57094"/>
                  <a:pt x="7324826" y="57751"/>
                </a:cubicBezTo>
                <a:lnTo>
                  <a:pt x="6525929" y="77002"/>
                </a:lnTo>
                <a:cubicBezTo>
                  <a:pt x="6240955" y="98922"/>
                  <a:pt x="6571076" y="75551"/>
                  <a:pt x="6063916" y="96252"/>
                </a:cubicBezTo>
                <a:cubicBezTo>
                  <a:pt x="6018921" y="98089"/>
                  <a:pt x="5974081" y="102669"/>
                  <a:pt x="5929163" y="105878"/>
                </a:cubicBezTo>
                <a:cubicBezTo>
                  <a:pt x="5909912" y="112295"/>
                  <a:pt x="5888295" y="113872"/>
                  <a:pt x="5871411" y="125128"/>
                </a:cubicBezTo>
                <a:cubicBezTo>
                  <a:pt x="5861786" y="131545"/>
                  <a:pt x="5853106" y="139681"/>
                  <a:pt x="5842535" y="144379"/>
                </a:cubicBezTo>
                <a:cubicBezTo>
                  <a:pt x="5823992" y="152620"/>
                  <a:pt x="5784784" y="163629"/>
                  <a:pt x="5784784" y="163629"/>
                </a:cubicBezTo>
                <a:cubicBezTo>
                  <a:pt x="5775159" y="170046"/>
                  <a:pt x="5766479" y="178182"/>
                  <a:pt x="5755908" y="182880"/>
                </a:cubicBezTo>
                <a:cubicBezTo>
                  <a:pt x="5737365" y="191121"/>
                  <a:pt x="5698156" y="202130"/>
                  <a:pt x="5698156" y="202130"/>
                </a:cubicBezTo>
                <a:cubicBezTo>
                  <a:pt x="5688531" y="208547"/>
                  <a:pt x="5679627" y="216207"/>
                  <a:pt x="5669280" y="221381"/>
                </a:cubicBezTo>
                <a:cubicBezTo>
                  <a:pt x="5660205" y="225918"/>
                  <a:pt x="5649274" y="226079"/>
                  <a:pt x="5640405" y="231006"/>
                </a:cubicBezTo>
                <a:cubicBezTo>
                  <a:pt x="5620180" y="242242"/>
                  <a:pt x="5601904" y="256673"/>
                  <a:pt x="5582653" y="269507"/>
                </a:cubicBezTo>
                <a:cubicBezTo>
                  <a:pt x="5573028" y="275924"/>
                  <a:pt x="5561957" y="280578"/>
                  <a:pt x="5553777" y="288758"/>
                </a:cubicBezTo>
                <a:cubicBezTo>
                  <a:pt x="5544152" y="298383"/>
                  <a:pt x="5535647" y="309276"/>
                  <a:pt x="5524902" y="317633"/>
                </a:cubicBezTo>
                <a:cubicBezTo>
                  <a:pt x="5506639" y="331837"/>
                  <a:pt x="5483510" y="339774"/>
                  <a:pt x="5467150" y="356134"/>
                </a:cubicBezTo>
                <a:cubicBezTo>
                  <a:pt x="5433916" y="389368"/>
                  <a:pt x="5440932" y="385075"/>
                  <a:pt x="5399773" y="413886"/>
                </a:cubicBezTo>
                <a:cubicBezTo>
                  <a:pt x="5380819" y="427154"/>
                  <a:pt x="5363971" y="445071"/>
                  <a:pt x="5342022" y="452387"/>
                </a:cubicBezTo>
                <a:lnTo>
                  <a:pt x="5313146" y="462012"/>
                </a:lnTo>
                <a:cubicBezTo>
                  <a:pt x="5284143" y="481347"/>
                  <a:pt x="5279966" y="485857"/>
                  <a:pt x="5245769" y="500513"/>
                </a:cubicBezTo>
                <a:cubicBezTo>
                  <a:pt x="5236443" y="504510"/>
                  <a:pt x="5226219" y="506142"/>
                  <a:pt x="5216893" y="510139"/>
                </a:cubicBezTo>
                <a:cubicBezTo>
                  <a:pt x="5203705" y="515791"/>
                  <a:pt x="5192004" y="524852"/>
                  <a:pt x="5178392" y="529389"/>
                </a:cubicBezTo>
                <a:cubicBezTo>
                  <a:pt x="5123482" y="547692"/>
                  <a:pt x="5141134" y="530126"/>
                  <a:pt x="5091765" y="548640"/>
                </a:cubicBezTo>
                <a:cubicBezTo>
                  <a:pt x="5078330" y="553678"/>
                  <a:pt x="5066699" y="562852"/>
                  <a:pt x="5053264" y="567890"/>
                </a:cubicBezTo>
                <a:cubicBezTo>
                  <a:pt x="5040878" y="572535"/>
                  <a:pt x="5027434" y="573714"/>
                  <a:pt x="5014763" y="577515"/>
                </a:cubicBezTo>
                <a:cubicBezTo>
                  <a:pt x="4885962" y="616156"/>
                  <a:pt x="5021677" y="581325"/>
                  <a:pt x="4908885" y="606391"/>
                </a:cubicBezTo>
                <a:cubicBezTo>
                  <a:pt x="4895971" y="609261"/>
                  <a:pt x="4883522" y="614471"/>
                  <a:pt x="4870384" y="616017"/>
                </a:cubicBezTo>
                <a:cubicBezTo>
                  <a:pt x="4718563" y="633879"/>
                  <a:pt x="4401935" y="633445"/>
                  <a:pt x="4321744" y="635267"/>
                </a:cubicBezTo>
                <a:cubicBezTo>
                  <a:pt x="4283243" y="638475"/>
                  <a:pt x="4244857" y="643722"/>
                  <a:pt x="4206240" y="644892"/>
                </a:cubicBezTo>
                <a:cubicBezTo>
                  <a:pt x="3681734" y="660786"/>
                  <a:pt x="3697484" y="654726"/>
                  <a:pt x="3176337" y="644892"/>
                </a:cubicBezTo>
                <a:cubicBezTo>
                  <a:pt x="3160295" y="641684"/>
                  <a:pt x="3144348" y="637956"/>
                  <a:pt x="3128211" y="635267"/>
                </a:cubicBezTo>
                <a:cubicBezTo>
                  <a:pt x="3105833" y="631537"/>
                  <a:pt x="3083155" y="629700"/>
                  <a:pt x="3060834" y="625642"/>
                </a:cubicBezTo>
                <a:cubicBezTo>
                  <a:pt x="3047819" y="623276"/>
                  <a:pt x="3035305" y="618611"/>
                  <a:pt x="3022333" y="616017"/>
                </a:cubicBezTo>
                <a:cubicBezTo>
                  <a:pt x="3003196" y="612189"/>
                  <a:pt x="2983665" y="610480"/>
                  <a:pt x="2964582" y="606391"/>
                </a:cubicBezTo>
                <a:cubicBezTo>
                  <a:pt x="2938712" y="600847"/>
                  <a:pt x="2913677" y="591491"/>
                  <a:pt x="2887579" y="587141"/>
                </a:cubicBezTo>
                <a:lnTo>
                  <a:pt x="2829828" y="577515"/>
                </a:lnTo>
                <a:cubicBezTo>
                  <a:pt x="2769967" y="566631"/>
                  <a:pt x="2787097" y="569689"/>
                  <a:pt x="2723950" y="548640"/>
                </a:cubicBezTo>
                <a:lnTo>
                  <a:pt x="2695074" y="539014"/>
                </a:lnTo>
                <a:cubicBezTo>
                  <a:pt x="2685449" y="529389"/>
                  <a:pt x="2676655" y="518853"/>
                  <a:pt x="2666198" y="510139"/>
                </a:cubicBezTo>
                <a:cubicBezTo>
                  <a:pt x="2657311" y="502733"/>
                  <a:pt x="2645503" y="499068"/>
                  <a:pt x="2637323" y="490888"/>
                </a:cubicBezTo>
                <a:cubicBezTo>
                  <a:pt x="2629143" y="482708"/>
                  <a:pt x="2626778" y="469630"/>
                  <a:pt x="2618072" y="462012"/>
                </a:cubicBezTo>
                <a:cubicBezTo>
                  <a:pt x="2600660" y="446777"/>
                  <a:pt x="2576680" y="439871"/>
                  <a:pt x="2560320" y="423511"/>
                </a:cubicBezTo>
                <a:cubicBezTo>
                  <a:pt x="2539032" y="402222"/>
                  <a:pt x="2529372" y="388786"/>
                  <a:pt x="2502569" y="375385"/>
                </a:cubicBezTo>
                <a:cubicBezTo>
                  <a:pt x="2493494" y="370848"/>
                  <a:pt x="2483193" y="369323"/>
                  <a:pt x="2473693" y="365760"/>
                </a:cubicBezTo>
                <a:cubicBezTo>
                  <a:pt x="2457515" y="359693"/>
                  <a:pt x="2441021" y="354236"/>
                  <a:pt x="2425567" y="346509"/>
                </a:cubicBezTo>
                <a:cubicBezTo>
                  <a:pt x="2415220" y="341336"/>
                  <a:pt x="2407369" y="331708"/>
                  <a:pt x="2396691" y="327259"/>
                </a:cubicBezTo>
                <a:cubicBezTo>
                  <a:pt x="2368595" y="315552"/>
                  <a:pt x="2310064" y="298383"/>
                  <a:pt x="2310064" y="298383"/>
                </a:cubicBezTo>
                <a:cubicBezTo>
                  <a:pt x="2242347" y="253238"/>
                  <a:pt x="2328210" y="305186"/>
                  <a:pt x="2233062" y="269507"/>
                </a:cubicBezTo>
                <a:cubicBezTo>
                  <a:pt x="2222230" y="265445"/>
                  <a:pt x="2214757" y="254955"/>
                  <a:pt x="2204186" y="250257"/>
                </a:cubicBezTo>
                <a:cubicBezTo>
                  <a:pt x="2185643" y="242016"/>
                  <a:pt x="2166120" y="235927"/>
                  <a:pt x="2146434" y="231006"/>
                </a:cubicBezTo>
                <a:cubicBezTo>
                  <a:pt x="2133600" y="227798"/>
                  <a:pt x="2120847" y="224251"/>
                  <a:pt x="2107933" y="221381"/>
                </a:cubicBezTo>
                <a:cubicBezTo>
                  <a:pt x="2091963" y="217832"/>
                  <a:pt x="2075678" y="215723"/>
                  <a:pt x="2059807" y="211755"/>
                </a:cubicBezTo>
                <a:cubicBezTo>
                  <a:pt x="2049964" y="209294"/>
                  <a:pt x="2040835" y="204331"/>
                  <a:pt x="2030931" y="202130"/>
                </a:cubicBezTo>
                <a:cubicBezTo>
                  <a:pt x="2011880" y="197896"/>
                  <a:pt x="1992380" y="195996"/>
                  <a:pt x="1973179" y="192505"/>
                </a:cubicBezTo>
                <a:cubicBezTo>
                  <a:pt x="1899946" y="179190"/>
                  <a:pt x="1948312" y="185406"/>
                  <a:pt x="1867302" y="173254"/>
                </a:cubicBezTo>
                <a:cubicBezTo>
                  <a:pt x="1752786" y="156076"/>
                  <a:pt x="1751436" y="156365"/>
                  <a:pt x="1655546" y="144379"/>
                </a:cubicBezTo>
                <a:cubicBezTo>
                  <a:pt x="1642712" y="141170"/>
                  <a:pt x="1630017" y="137347"/>
                  <a:pt x="1617045" y="134753"/>
                </a:cubicBezTo>
                <a:cubicBezTo>
                  <a:pt x="1541143" y="119572"/>
                  <a:pt x="1462078" y="115384"/>
                  <a:pt x="1386038" y="105878"/>
                </a:cubicBezTo>
                <a:lnTo>
                  <a:pt x="1309036" y="96252"/>
                </a:lnTo>
                <a:cubicBezTo>
                  <a:pt x="1289716" y="93492"/>
                  <a:pt x="1270771" y="87710"/>
                  <a:pt x="1251285" y="86627"/>
                </a:cubicBezTo>
                <a:cubicBezTo>
                  <a:pt x="1155127" y="81285"/>
                  <a:pt x="1058780" y="80210"/>
                  <a:pt x="962527" y="77002"/>
                </a:cubicBezTo>
                <a:lnTo>
                  <a:pt x="577516" y="86627"/>
                </a:lnTo>
                <a:cubicBezTo>
                  <a:pt x="344480" y="93381"/>
                  <a:pt x="302808" y="96051"/>
                  <a:pt x="86628" y="105878"/>
                </a:cubicBezTo>
                <a:cubicBezTo>
                  <a:pt x="77003" y="112295"/>
                  <a:pt x="64979" y="116095"/>
                  <a:pt x="57752" y="125128"/>
                </a:cubicBezTo>
                <a:cubicBezTo>
                  <a:pt x="51414" y="133051"/>
                  <a:pt x="48127" y="147587"/>
                  <a:pt x="38502" y="17325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1848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CE7BA-4532-BFAD-DCEB-EFB0FF126A34}"/>
              </a:ext>
            </a:extLst>
          </p:cNvPr>
          <p:cNvSpPr txBox="1"/>
          <p:nvPr/>
        </p:nvSpPr>
        <p:spPr>
          <a:xfrm>
            <a:off x="430824" y="3781379"/>
            <a:ext cx="82823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Classification basis: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location (mem/disk),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D74B76"/>
                </a:solidFill>
              </a:rPr>
              <a:t>Concurrent R/W and Transactional support</a:t>
            </a:r>
            <a:r>
              <a:rPr lang="en-US" b="1" dirty="0"/>
              <a:t>,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Architecture of </a:t>
            </a:r>
            <a:r>
              <a:rPr lang="en-US" b="1" dirty="0">
                <a:solidFill>
                  <a:srgbClr val="D74B76"/>
                </a:solidFill>
              </a:rPr>
              <a:t>incremental computation </a:t>
            </a:r>
            <a:r>
              <a:rPr lang="en-US" dirty="0">
                <a:solidFill>
                  <a:srgbClr val="D74B76"/>
                </a:solidFill>
              </a:rPr>
              <a:t>(refinement or </a:t>
            </a:r>
            <a:r>
              <a:rPr lang="en-US" dirty="0" err="1">
                <a:solidFill>
                  <a:srgbClr val="D74B76"/>
                </a:solidFill>
              </a:rPr>
              <a:t>recomputation</a:t>
            </a:r>
            <a:r>
              <a:rPr lang="en-US" dirty="0"/>
              <a:t>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D74B76"/>
                </a:solidFill>
              </a:rPr>
              <a:t>API support </a:t>
            </a:r>
            <a:r>
              <a:rPr lang="en-US" dirty="0"/>
              <a:t>(</a:t>
            </a:r>
            <a:r>
              <a:rPr lang="en-US" b="1" dirty="0"/>
              <a:t> </a:t>
            </a:r>
            <a:r>
              <a:rPr lang="en-US" dirty="0"/>
              <a:t>Graph mutation or Graph Analytics, or both)</a:t>
            </a:r>
          </a:p>
        </p:txBody>
      </p:sp>
    </p:spTree>
    <p:extLst>
      <p:ext uri="{BB962C8B-B14F-4D97-AF65-F5344CB8AC3E}">
        <p14:creationId xmlns:p14="http://schemas.microsoft.com/office/powerpoint/2010/main" val="393604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341A21-906B-D546-7B5A-40038D45ED96}"/>
              </a:ext>
            </a:extLst>
          </p:cNvPr>
          <p:cNvSpPr/>
          <p:nvPr/>
        </p:nvSpPr>
        <p:spPr>
          <a:xfrm>
            <a:off x="3472962" y="316522"/>
            <a:ext cx="1969477" cy="95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6559-4ECD-2AF5-0877-8EE301164A04}"/>
              </a:ext>
            </a:extLst>
          </p:cNvPr>
          <p:cNvSpPr txBox="1"/>
          <p:nvPr/>
        </p:nvSpPr>
        <p:spPr>
          <a:xfrm>
            <a:off x="3708136" y="641814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Taxonomy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F5E44-7EE9-6F5B-5647-1F54AF4B0081}"/>
              </a:ext>
            </a:extLst>
          </p:cNvPr>
          <p:cNvSpPr txBox="1"/>
          <p:nvPr/>
        </p:nvSpPr>
        <p:spPr>
          <a:xfrm>
            <a:off x="659424" y="1890345"/>
            <a:ext cx="1128835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93F84-BEDF-CAD7-E9E3-45F55076B7AD}"/>
              </a:ext>
            </a:extLst>
          </p:cNvPr>
          <p:cNvSpPr txBox="1"/>
          <p:nvPr/>
        </p:nvSpPr>
        <p:spPr>
          <a:xfrm>
            <a:off x="3668862" y="1890346"/>
            <a:ext cx="1577676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Graph Dynamism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754E1-095E-AD1C-52CD-C89EB4AF8512}"/>
              </a:ext>
            </a:extLst>
          </p:cNvPr>
          <p:cNvSpPr txBox="1"/>
          <p:nvPr/>
        </p:nvSpPr>
        <p:spPr>
          <a:xfrm>
            <a:off x="6716817" y="1890346"/>
            <a:ext cx="941283" cy="307777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DC91C-302C-605A-4D95-25230C80D2B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223842" y="1274884"/>
            <a:ext cx="3233859" cy="615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E0B26-330D-336B-40D1-46571261669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4457700" y="1274884"/>
            <a:ext cx="1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C81CD6-FBEA-63C5-E281-1037E9AA349F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457701" y="1274884"/>
            <a:ext cx="2729758" cy="6154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A1B085-4EDC-60DD-160D-8AC53C5BB65F}"/>
              </a:ext>
            </a:extLst>
          </p:cNvPr>
          <p:cNvSpPr txBox="1"/>
          <p:nvPr/>
        </p:nvSpPr>
        <p:spPr>
          <a:xfrm>
            <a:off x="430824" y="2589334"/>
            <a:ext cx="2268415" cy="95410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Labeled Property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E0FD58-9DE0-92FC-38F4-4BCDF9BD5007}"/>
              </a:ext>
            </a:extLst>
          </p:cNvPr>
          <p:cNvSpPr txBox="1"/>
          <p:nvPr/>
        </p:nvSpPr>
        <p:spPr>
          <a:xfrm>
            <a:off x="6127311" y="2587097"/>
            <a:ext cx="2585865" cy="116955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Whole-Graph Analytics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Traversals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Local Queries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Queries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39675-501E-1248-CFF8-A7D406A09D16}"/>
              </a:ext>
            </a:extLst>
          </p:cNvPr>
          <p:cNvSpPr txBox="1"/>
          <p:nvPr/>
        </p:nvSpPr>
        <p:spPr>
          <a:xfrm>
            <a:off x="3668862" y="2587097"/>
            <a:ext cx="1717137" cy="73866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27AD6-76A3-F437-5196-DB2798F51F5C}"/>
              </a:ext>
            </a:extLst>
          </p:cNvPr>
          <p:cNvSpPr txBox="1"/>
          <p:nvPr/>
        </p:nvSpPr>
        <p:spPr>
          <a:xfrm>
            <a:off x="430194" y="487925"/>
            <a:ext cx="26965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chemeClr val="accent1"/>
                </a:solidFill>
              </a:rPr>
              <a:t>Graph Databases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77D2915-E5AF-AAB0-6C5E-ADF2DF36BA3A}"/>
              </a:ext>
            </a:extLst>
          </p:cNvPr>
          <p:cNvSpPr/>
          <p:nvPr/>
        </p:nvSpPr>
        <p:spPr>
          <a:xfrm>
            <a:off x="231006" y="2348564"/>
            <a:ext cx="8710863" cy="1636295"/>
          </a:xfrm>
          <a:custGeom>
            <a:avLst/>
            <a:gdLst>
              <a:gd name="connsiteX0" fmla="*/ 336885 w 8710863"/>
              <a:gd name="connsiteY0" fmla="*/ 664143 h 1636295"/>
              <a:gd name="connsiteX1" fmla="*/ 221381 w 8710863"/>
              <a:gd name="connsiteY1" fmla="*/ 683394 h 1636295"/>
              <a:gd name="connsiteX2" fmla="*/ 192506 w 8710863"/>
              <a:gd name="connsiteY2" fmla="*/ 693019 h 1636295"/>
              <a:gd name="connsiteX3" fmla="*/ 144379 w 8710863"/>
              <a:gd name="connsiteY3" fmla="*/ 702644 h 1636295"/>
              <a:gd name="connsiteX4" fmla="*/ 77002 w 8710863"/>
              <a:gd name="connsiteY4" fmla="*/ 721895 h 1636295"/>
              <a:gd name="connsiteX5" fmla="*/ 57752 w 8710863"/>
              <a:gd name="connsiteY5" fmla="*/ 750771 h 1636295"/>
              <a:gd name="connsiteX6" fmla="*/ 38501 w 8710863"/>
              <a:gd name="connsiteY6" fmla="*/ 808522 h 1636295"/>
              <a:gd name="connsiteX7" fmla="*/ 28876 w 8710863"/>
              <a:gd name="connsiteY7" fmla="*/ 837398 h 1636295"/>
              <a:gd name="connsiteX8" fmla="*/ 0 w 8710863"/>
              <a:gd name="connsiteY8" fmla="*/ 914400 h 1636295"/>
              <a:gd name="connsiteX9" fmla="*/ 9626 w 8710863"/>
              <a:gd name="connsiteY9" fmla="*/ 1106905 h 1636295"/>
              <a:gd name="connsiteX10" fmla="*/ 28876 w 8710863"/>
              <a:gd name="connsiteY10" fmla="*/ 1222409 h 1636295"/>
              <a:gd name="connsiteX11" fmla="*/ 48127 w 8710863"/>
              <a:gd name="connsiteY11" fmla="*/ 1280160 h 1636295"/>
              <a:gd name="connsiteX12" fmla="*/ 96253 w 8710863"/>
              <a:gd name="connsiteY12" fmla="*/ 1328287 h 1636295"/>
              <a:gd name="connsiteX13" fmla="*/ 154005 w 8710863"/>
              <a:gd name="connsiteY13" fmla="*/ 1376413 h 1636295"/>
              <a:gd name="connsiteX14" fmla="*/ 192506 w 8710863"/>
              <a:gd name="connsiteY14" fmla="*/ 1395663 h 1636295"/>
              <a:gd name="connsiteX15" fmla="*/ 250257 w 8710863"/>
              <a:gd name="connsiteY15" fmla="*/ 1434164 h 1636295"/>
              <a:gd name="connsiteX16" fmla="*/ 308009 w 8710863"/>
              <a:gd name="connsiteY16" fmla="*/ 1453415 h 1636295"/>
              <a:gd name="connsiteX17" fmla="*/ 346510 w 8710863"/>
              <a:gd name="connsiteY17" fmla="*/ 1472665 h 1636295"/>
              <a:gd name="connsiteX18" fmla="*/ 394636 w 8710863"/>
              <a:gd name="connsiteY18" fmla="*/ 1482291 h 1636295"/>
              <a:gd name="connsiteX19" fmla="*/ 490889 w 8710863"/>
              <a:gd name="connsiteY19" fmla="*/ 1520792 h 1636295"/>
              <a:gd name="connsiteX20" fmla="*/ 577516 w 8710863"/>
              <a:gd name="connsiteY20" fmla="*/ 1540042 h 1636295"/>
              <a:gd name="connsiteX21" fmla="*/ 847023 w 8710863"/>
              <a:gd name="connsiteY21" fmla="*/ 1520792 h 1636295"/>
              <a:gd name="connsiteX22" fmla="*/ 972152 w 8710863"/>
              <a:gd name="connsiteY22" fmla="*/ 1501541 h 1636295"/>
              <a:gd name="connsiteX23" fmla="*/ 1540042 w 8710863"/>
              <a:gd name="connsiteY23" fmla="*/ 1491916 h 1636295"/>
              <a:gd name="connsiteX24" fmla="*/ 1876927 w 8710863"/>
              <a:gd name="connsiteY24" fmla="*/ 1472665 h 1636295"/>
              <a:gd name="connsiteX25" fmla="*/ 1982805 w 8710863"/>
              <a:gd name="connsiteY25" fmla="*/ 1463040 h 1636295"/>
              <a:gd name="connsiteX26" fmla="*/ 2223436 w 8710863"/>
              <a:gd name="connsiteY26" fmla="*/ 1443790 h 1636295"/>
              <a:gd name="connsiteX27" fmla="*/ 2906830 w 8710863"/>
              <a:gd name="connsiteY27" fmla="*/ 1434164 h 1636295"/>
              <a:gd name="connsiteX28" fmla="*/ 2974207 w 8710863"/>
              <a:gd name="connsiteY28" fmla="*/ 1424539 h 1636295"/>
              <a:gd name="connsiteX29" fmla="*/ 3051209 w 8710863"/>
              <a:gd name="connsiteY29" fmla="*/ 1414914 h 1636295"/>
              <a:gd name="connsiteX30" fmla="*/ 3108960 w 8710863"/>
              <a:gd name="connsiteY30" fmla="*/ 1405289 h 1636295"/>
              <a:gd name="connsiteX31" fmla="*/ 3291840 w 8710863"/>
              <a:gd name="connsiteY31" fmla="*/ 1386038 h 1636295"/>
              <a:gd name="connsiteX32" fmla="*/ 3349592 w 8710863"/>
              <a:gd name="connsiteY32" fmla="*/ 1376413 h 1636295"/>
              <a:gd name="connsiteX33" fmla="*/ 3513221 w 8710863"/>
              <a:gd name="connsiteY33" fmla="*/ 1366788 h 1636295"/>
              <a:gd name="connsiteX34" fmla="*/ 3609474 w 8710863"/>
              <a:gd name="connsiteY34" fmla="*/ 1357162 h 1636295"/>
              <a:gd name="connsiteX35" fmla="*/ 3744228 w 8710863"/>
              <a:gd name="connsiteY35" fmla="*/ 1337912 h 1636295"/>
              <a:gd name="connsiteX36" fmla="*/ 3830855 w 8710863"/>
              <a:gd name="connsiteY36" fmla="*/ 1328287 h 1636295"/>
              <a:gd name="connsiteX37" fmla="*/ 3927108 w 8710863"/>
              <a:gd name="connsiteY37" fmla="*/ 1309036 h 1636295"/>
              <a:gd name="connsiteX38" fmla="*/ 3975234 w 8710863"/>
              <a:gd name="connsiteY38" fmla="*/ 1299411 h 1636295"/>
              <a:gd name="connsiteX39" fmla="*/ 4013735 w 8710863"/>
              <a:gd name="connsiteY39" fmla="*/ 1289785 h 1636295"/>
              <a:gd name="connsiteX40" fmla="*/ 4206240 w 8710863"/>
              <a:gd name="connsiteY40" fmla="*/ 1260910 h 1636295"/>
              <a:gd name="connsiteX41" fmla="*/ 4235116 w 8710863"/>
              <a:gd name="connsiteY41" fmla="*/ 1251284 h 1636295"/>
              <a:gd name="connsiteX42" fmla="*/ 4302493 w 8710863"/>
              <a:gd name="connsiteY42" fmla="*/ 1241659 h 1636295"/>
              <a:gd name="connsiteX43" fmla="*/ 4360245 w 8710863"/>
              <a:gd name="connsiteY43" fmla="*/ 1232034 h 1636295"/>
              <a:gd name="connsiteX44" fmla="*/ 4389120 w 8710863"/>
              <a:gd name="connsiteY44" fmla="*/ 1222409 h 1636295"/>
              <a:gd name="connsiteX45" fmla="*/ 4466122 w 8710863"/>
              <a:gd name="connsiteY45" fmla="*/ 1203158 h 1636295"/>
              <a:gd name="connsiteX46" fmla="*/ 4610501 w 8710863"/>
              <a:gd name="connsiteY46" fmla="*/ 1155032 h 1636295"/>
              <a:gd name="connsiteX47" fmla="*/ 4639377 w 8710863"/>
              <a:gd name="connsiteY47" fmla="*/ 1145407 h 1636295"/>
              <a:gd name="connsiteX48" fmla="*/ 4668253 w 8710863"/>
              <a:gd name="connsiteY48" fmla="*/ 1135781 h 1636295"/>
              <a:gd name="connsiteX49" fmla="*/ 4716379 w 8710863"/>
              <a:gd name="connsiteY49" fmla="*/ 1126156 h 1636295"/>
              <a:gd name="connsiteX50" fmla="*/ 4745255 w 8710863"/>
              <a:gd name="connsiteY50" fmla="*/ 1116531 h 1636295"/>
              <a:gd name="connsiteX51" fmla="*/ 4793381 w 8710863"/>
              <a:gd name="connsiteY51" fmla="*/ 1106905 h 1636295"/>
              <a:gd name="connsiteX52" fmla="*/ 4918510 w 8710863"/>
              <a:gd name="connsiteY52" fmla="*/ 1087655 h 1636295"/>
              <a:gd name="connsiteX53" fmla="*/ 5034013 w 8710863"/>
              <a:gd name="connsiteY53" fmla="*/ 1078030 h 1636295"/>
              <a:gd name="connsiteX54" fmla="*/ 5207268 w 8710863"/>
              <a:gd name="connsiteY54" fmla="*/ 1087655 h 1636295"/>
              <a:gd name="connsiteX55" fmla="*/ 5284270 w 8710863"/>
              <a:gd name="connsiteY55" fmla="*/ 1106905 h 1636295"/>
              <a:gd name="connsiteX56" fmla="*/ 5351647 w 8710863"/>
              <a:gd name="connsiteY56" fmla="*/ 1116531 h 1636295"/>
              <a:gd name="connsiteX57" fmla="*/ 5476775 w 8710863"/>
              <a:gd name="connsiteY57" fmla="*/ 1145407 h 1636295"/>
              <a:gd name="connsiteX58" fmla="*/ 5515276 w 8710863"/>
              <a:gd name="connsiteY58" fmla="*/ 1155032 h 1636295"/>
              <a:gd name="connsiteX59" fmla="*/ 5601903 w 8710863"/>
              <a:gd name="connsiteY59" fmla="*/ 1183908 h 1636295"/>
              <a:gd name="connsiteX60" fmla="*/ 5640405 w 8710863"/>
              <a:gd name="connsiteY60" fmla="*/ 1203158 h 1636295"/>
              <a:gd name="connsiteX61" fmla="*/ 5669280 w 8710863"/>
              <a:gd name="connsiteY61" fmla="*/ 1222409 h 1636295"/>
              <a:gd name="connsiteX62" fmla="*/ 5707781 w 8710863"/>
              <a:gd name="connsiteY62" fmla="*/ 1232034 h 1636295"/>
              <a:gd name="connsiteX63" fmla="*/ 5784783 w 8710863"/>
              <a:gd name="connsiteY63" fmla="*/ 1280160 h 1636295"/>
              <a:gd name="connsiteX64" fmla="*/ 5823285 w 8710863"/>
              <a:gd name="connsiteY64" fmla="*/ 1309036 h 1636295"/>
              <a:gd name="connsiteX65" fmla="*/ 5871411 w 8710863"/>
              <a:gd name="connsiteY65" fmla="*/ 1337912 h 1636295"/>
              <a:gd name="connsiteX66" fmla="*/ 5919537 w 8710863"/>
              <a:gd name="connsiteY66" fmla="*/ 1376413 h 1636295"/>
              <a:gd name="connsiteX67" fmla="*/ 5977289 w 8710863"/>
              <a:gd name="connsiteY67" fmla="*/ 1414914 h 1636295"/>
              <a:gd name="connsiteX68" fmla="*/ 6035040 w 8710863"/>
              <a:gd name="connsiteY68" fmla="*/ 1453415 h 1636295"/>
              <a:gd name="connsiteX69" fmla="*/ 6092792 w 8710863"/>
              <a:gd name="connsiteY69" fmla="*/ 1491916 h 1636295"/>
              <a:gd name="connsiteX70" fmla="*/ 6131293 w 8710863"/>
              <a:gd name="connsiteY70" fmla="*/ 1520792 h 1636295"/>
              <a:gd name="connsiteX71" fmla="*/ 6198670 w 8710863"/>
              <a:gd name="connsiteY71" fmla="*/ 1549668 h 1636295"/>
              <a:gd name="connsiteX72" fmla="*/ 6227546 w 8710863"/>
              <a:gd name="connsiteY72" fmla="*/ 1568918 h 1636295"/>
              <a:gd name="connsiteX73" fmla="*/ 6266047 w 8710863"/>
              <a:gd name="connsiteY73" fmla="*/ 1578543 h 1636295"/>
              <a:gd name="connsiteX74" fmla="*/ 6333423 w 8710863"/>
              <a:gd name="connsiteY74" fmla="*/ 1597794 h 1636295"/>
              <a:gd name="connsiteX75" fmla="*/ 6391175 w 8710863"/>
              <a:gd name="connsiteY75" fmla="*/ 1607419 h 1636295"/>
              <a:gd name="connsiteX76" fmla="*/ 6468177 w 8710863"/>
              <a:gd name="connsiteY76" fmla="*/ 1626670 h 1636295"/>
              <a:gd name="connsiteX77" fmla="*/ 6612556 w 8710863"/>
              <a:gd name="connsiteY77" fmla="*/ 1636295 h 1636295"/>
              <a:gd name="connsiteX78" fmla="*/ 7536581 w 8710863"/>
              <a:gd name="connsiteY78" fmla="*/ 1626670 h 1636295"/>
              <a:gd name="connsiteX79" fmla="*/ 7623209 w 8710863"/>
              <a:gd name="connsiteY79" fmla="*/ 1617044 h 1636295"/>
              <a:gd name="connsiteX80" fmla="*/ 7748337 w 8710863"/>
              <a:gd name="connsiteY80" fmla="*/ 1597794 h 1636295"/>
              <a:gd name="connsiteX81" fmla="*/ 7854215 w 8710863"/>
              <a:gd name="connsiteY81" fmla="*/ 1578543 h 1636295"/>
              <a:gd name="connsiteX82" fmla="*/ 7911967 w 8710863"/>
              <a:gd name="connsiteY82" fmla="*/ 1559293 h 1636295"/>
              <a:gd name="connsiteX83" fmla="*/ 7979343 w 8710863"/>
              <a:gd name="connsiteY83" fmla="*/ 1540042 h 1636295"/>
              <a:gd name="connsiteX84" fmla="*/ 8017845 w 8710863"/>
              <a:gd name="connsiteY84" fmla="*/ 1530417 h 1636295"/>
              <a:gd name="connsiteX85" fmla="*/ 8104472 w 8710863"/>
              <a:gd name="connsiteY85" fmla="*/ 1501541 h 1636295"/>
              <a:gd name="connsiteX86" fmla="*/ 8152598 w 8710863"/>
              <a:gd name="connsiteY86" fmla="*/ 1482291 h 1636295"/>
              <a:gd name="connsiteX87" fmla="*/ 8210350 w 8710863"/>
              <a:gd name="connsiteY87" fmla="*/ 1463040 h 1636295"/>
              <a:gd name="connsiteX88" fmla="*/ 8239226 w 8710863"/>
              <a:gd name="connsiteY88" fmla="*/ 1453415 h 1636295"/>
              <a:gd name="connsiteX89" fmla="*/ 8354729 w 8710863"/>
              <a:gd name="connsiteY89" fmla="*/ 1414914 h 1636295"/>
              <a:gd name="connsiteX90" fmla="*/ 8383605 w 8710863"/>
              <a:gd name="connsiteY90" fmla="*/ 1405289 h 1636295"/>
              <a:gd name="connsiteX91" fmla="*/ 8431731 w 8710863"/>
              <a:gd name="connsiteY91" fmla="*/ 1395663 h 1636295"/>
              <a:gd name="connsiteX92" fmla="*/ 8499108 w 8710863"/>
              <a:gd name="connsiteY92" fmla="*/ 1357162 h 1636295"/>
              <a:gd name="connsiteX93" fmla="*/ 8556859 w 8710863"/>
              <a:gd name="connsiteY93" fmla="*/ 1299411 h 1636295"/>
              <a:gd name="connsiteX94" fmla="*/ 8604986 w 8710863"/>
              <a:gd name="connsiteY94" fmla="*/ 1241659 h 1636295"/>
              <a:gd name="connsiteX95" fmla="*/ 8633861 w 8710863"/>
              <a:gd name="connsiteY95" fmla="*/ 1145407 h 1636295"/>
              <a:gd name="connsiteX96" fmla="*/ 8643487 w 8710863"/>
              <a:gd name="connsiteY96" fmla="*/ 1116531 h 1636295"/>
              <a:gd name="connsiteX97" fmla="*/ 8662737 w 8710863"/>
              <a:gd name="connsiteY97" fmla="*/ 1029903 h 1636295"/>
              <a:gd name="connsiteX98" fmla="*/ 8681988 w 8710863"/>
              <a:gd name="connsiteY98" fmla="*/ 962527 h 1636295"/>
              <a:gd name="connsiteX99" fmla="*/ 8691613 w 8710863"/>
              <a:gd name="connsiteY99" fmla="*/ 875899 h 1636295"/>
              <a:gd name="connsiteX100" fmla="*/ 8701238 w 8710863"/>
              <a:gd name="connsiteY100" fmla="*/ 847023 h 1636295"/>
              <a:gd name="connsiteX101" fmla="*/ 8710863 w 8710863"/>
              <a:gd name="connsiteY101" fmla="*/ 683394 h 1636295"/>
              <a:gd name="connsiteX102" fmla="*/ 8691613 w 8710863"/>
              <a:gd name="connsiteY102" fmla="*/ 385011 h 1636295"/>
              <a:gd name="connsiteX103" fmla="*/ 8672362 w 8710863"/>
              <a:gd name="connsiteY103" fmla="*/ 327259 h 1636295"/>
              <a:gd name="connsiteX104" fmla="*/ 8633861 w 8710863"/>
              <a:gd name="connsiteY104" fmla="*/ 269508 h 1636295"/>
              <a:gd name="connsiteX105" fmla="*/ 8614611 w 8710863"/>
              <a:gd name="connsiteY105" fmla="*/ 240632 h 1636295"/>
              <a:gd name="connsiteX106" fmla="*/ 8547234 w 8710863"/>
              <a:gd name="connsiteY106" fmla="*/ 192505 h 1636295"/>
              <a:gd name="connsiteX107" fmla="*/ 8489482 w 8710863"/>
              <a:gd name="connsiteY107" fmla="*/ 154004 h 1636295"/>
              <a:gd name="connsiteX108" fmla="*/ 8460607 w 8710863"/>
              <a:gd name="connsiteY108" fmla="*/ 134754 h 1636295"/>
              <a:gd name="connsiteX109" fmla="*/ 8431731 w 8710863"/>
              <a:gd name="connsiteY109" fmla="*/ 115503 h 1636295"/>
              <a:gd name="connsiteX110" fmla="*/ 8402855 w 8710863"/>
              <a:gd name="connsiteY110" fmla="*/ 105878 h 1636295"/>
              <a:gd name="connsiteX111" fmla="*/ 8325853 w 8710863"/>
              <a:gd name="connsiteY111" fmla="*/ 67377 h 1636295"/>
              <a:gd name="connsiteX112" fmla="*/ 8239226 w 8710863"/>
              <a:gd name="connsiteY112" fmla="*/ 38501 h 1636295"/>
              <a:gd name="connsiteX113" fmla="*/ 8210350 w 8710863"/>
              <a:gd name="connsiteY113" fmla="*/ 28876 h 1636295"/>
              <a:gd name="connsiteX114" fmla="*/ 8075596 w 8710863"/>
              <a:gd name="connsiteY114" fmla="*/ 0 h 1636295"/>
              <a:gd name="connsiteX115" fmla="*/ 7854215 w 8710863"/>
              <a:gd name="connsiteY115" fmla="*/ 9625 h 1636295"/>
              <a:gd name="connsiteX116" fmla="*/ 7815714 w 8710863"/>
              <a:gd name="connsiteY116" fmla="*/ 19251 h 1636295"/>
              <a:gd name="connsiteX117" fmla="*/ 7632834 w 8710863"/>
              <a:gd name="connsiteY117" fmla="*/ 28876 h 1636295"/>
              <a:gd name="connsiteX118" fmla="*/ 6901314 w 8710863"/>
              <a:gd name="connsiteY118" fmla="*/ 38501 h 1636295"/>
              <a:gd name="connsiteX119" fmla="*/ 6651057 w 8710863"/>
              <a:gd name="connsiteY119" fmla="*/ 57752 h 1636295"/>
              <a:gd name="connsiteX120" fmla="*/ 6333423 w 8710863"/>
              <a:gd name="connsiteY120" fmla="*/ 77002 h 1636295"/>
              <a:gd name="connsiteX121" fmla="*/ 6237171 w 8710863"/>
              <a:gd name="connsiteY121" fmla="*/ 96253 h 1636295"/>
              <a:gd name="connsiteX122" fmla="*/ 6208295 w 8710863"/>
              <a:gd name="connsiteY122" fmla="*/ 105878 h 1636295"/>
              <a:gd name="connsiteX123" fmla="*/ 6112042 w 8710863"/>
              <a:gd name="connsiteY123" fmla="*/ 163630 h 1636295"/>
              <a:gd name="connsiteX124" fmla="*/ 6044666 w 8710863"/>
              <a:gd name="connsiteY124" fmla="*/ 202131 h 1636295"/>
              <a:gd name="connsiteX125" fmla="*/ 6015790 w 8710863"/>
              <a:gd name="connsiteY125" fmla="*/ 231007 h 1636295"/>
              <a:gd name="connsiteX126" fmla="*/ 5986914 w 8710863"/>
              <a:gd name="connsiteY126" fmla="*/ 240632 h 1636295"/>
              <a:gd name="connsiteX127" fmla="*/ 5938788 w 8710863"/>
              <a:gd name="connsiteY127" fmla="*/ 269508 h 1636295"/>
              <a:gd name="connsiteX128" fmla="*/ 5881036 w 8710863"/>
              <a:gd name="connsiteY128" fmla="*/ 288758 h 1636295"/>
              <a:gd name="connsiteX129" fmla="*/ 5852160 w 8710863"/>
              <a:gd name="connsiteY129" fmla="*/ 298383 h 1636295"/>
              <a:gd name="connsiteX130" fmla="*/ 5823285 w 8710863"/>
              <a:gd name="connsiteY130" fmla="*/ 317634 h 1636295"/>
              <a:gd name="connsiteX131" fmla="*/ 5736657 w 8710863"/>
              <a:gd name="connsiteY131" fmla="*/ 356135 h 1636295"/>
              <a:gd name="connsiteX132" fmla="*/ 5678906 w 8710863"/>
              <a:gd name="connsiteY132" fmla="*/ 394636 h 1636295"/>
              <a:gd name="connsiteX133" fmla="*/ 5621154 w 8710863"/>
              <a:gd name="connsiteY133" fmla="*/ 413887 h 1636295"/>
              <a:gd name="connsiteX134" fmla="*/ 5592278 w 8710863"/>
              <a:gd name="connsiteY134" fmla="*/ 433137 h 1636295"/>
              <a:gd name="connsiteX135" fmla="*/ 5534527 w 8710863"/>
              <a:gd name="connsiteY135" fmla="*/ 452388 h 1636295"/>
              <a:gd name="connsiteX136" fmla="*/ 5505651 w 8710863"/>
              <a:gd name="connsiteY136" fmla="*/ 462013 h 1636295"/>
              <a:gd name="connsiteX137" fmla="*/ 5476775 w 8710863"/>
              <a:gd name="connsiteY137" fmla="*/ 471638 h 1636295"/>
              <a:gd name="connsiteX138" fmla="*/ 5438274 w 8710863"/>
              <a:gd name="connsiteY138" fmla="*/ 481263 h 1636295"/>
              <a:gd name="connsiteX139" fmla="*/ 5380522 w 8710863"/>
              <a:gd name="connsiteY139" fmla="*/ 500514 h 1636295"/>
              <a:gd name="connsiteX140" fmla="*/ 5351647 w 8710863"/>
              <a:gd name="connsiteY140" fmla="*/ 510139 h 1636295"/>
              <a:gd name="connsiteX141" fmla="*/ 5313146 w 8710863"/>
              <a:gd name="connsiteY141" fmla="*/ 519764 h 1636295"/>
              <a:gd name="connsiteX142" fmla="*/ 5284270 w 8710863"/>
              <a:gd name="connsiteY142" fmla="*/ 529390 h 1636295"/>
              <a:gd name="connsiteX143" fmla="*/ 5207268 w 8710863"/>
              <a:gd name="connsiteY143" fmla="*/ 548640 h 1636295"/>
              <a:gd name="connsiteX144" fmla="*/ 5178392 w 8710863"/>
              <a:gd name="connsiteY144" fmla="*/ 558265 h 1636295"/>
              <a:gd name="connsiteX145" fmla="*/ 5082139 w 8710863"/>
              <a:gd name="connsiteY145" fmla="*/ 567891 h 1636295"/>
              <a:gd name="connsiteX146" fmla="*/ 4302493 w 8710863"/>
              <a:gd name="connsiteY146" fmla="*/ 587141 h 1636295"/>
              <a:gd name="connsiteX147" fmla="*/ 4090737 w 8710863"/>
              <a:gd name="connsiteY147" fmla="*/ 596767 h 1636295"/>
              <a:gd name="connsiteX148" fmla="*/ 3994485 w 8710863"/>
              <a:gd name="connsiteY148" fmla="*/ 606392 h 1636295"/>
              <a:gd name="connsiteX149" fmla="*/ 3801979 w 8710863"/>
              <a:gd name="connsiteY149" fmla="*/ 625642 h 1636295"/>
              <a:gd name="connsiteX150" fmla="*/ 3234089 w 8710863"/>
              <a:gd name="connsiteY150" fmla="*/ 635268 h 1636295"/>
              <a:gd name="connsiteX151" fmla="*/ 3089710 w 8710863"/>
              <a:gd name="connsiteY151" fmla="*/ 644893 h 1636295"/>
              <a:gd name="connsiteX152" fmla="*/ 2993457 w 8710863"/>
              <a:gd name="connsiteY152" fmla="*/ 654518 h 1636295"/>
              <a:gd name="connsiteX153" fmla="*/ 1491916 w 8710863"/>
              <a:gd name="connsiteY153" fmla="*/ 644893 h 1636295"/>
              <a:gd name="connsiteX154" fmla="*/ 1270535 w 8710863"/>
              <a:gd name="connsiteY154" fmla="*/ 635268 h 1636295"/>
              <a:gd name="connsiteX155" fmla="*/ 1087655 w 8710863"/>
              <a:gd name="connsiteY155" fmla="*/ 644893 h 1636295"/>
              <a:gd name="connsiteX156" fmla="*/ 847023 w 8710863"/>
              <a:gd name="connsiteY156" fmla="*/ 654518 h 1636295"/>
              <a:gd name="connsiteX157" fmla="*/ 288758 w 8710863"/>
              <a:gd name="connsiteY157" fmla="*/ 644893 h 163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</a:cxnLst>
            <a:rect l="l" t="t" r="r" b="b"/>
            <a:pathLst>
              <a:path w="8710863" h="1636295">
                <a:moveTo>
                  <a:pt x="336885" y="664143"/>
                </a:moveTo>
                <a:cubicBezTo>
                  <a:pt x="298863" y="669575"/>
                  <a:pt x="258907" y="674013"/>
                  <a:pt x="221381" y="683394"/>
                </a:cubicBezTo>
                <a:cubicBezTo>
                  <a:pt x="211538" y="685855"/>
                  <a:pt x="202349" y="690558"/>
                  <a:pt x="192506" y="693019"/>
                </a:cubicBezTo>
                <a:cubicBezTo>
                  <a:pt x="176634" y="696987"/>
                  <a:pt x="160349" y="699095"/>
                  <a:pt x="144379" y="702644"/>
                </a:cubicBezTo>
                <a:cubicBezTo>
                  <a:pt x="108129" y="710700"/>
                  <a:pt x="109152" y="711179"/>
                  <a:pt x="77002" y="721895"/>
                </a:cubicBezTo>
                <a:cubicBezTo>
                  <a:pt x="70585" y="731520"/>
                  <a:pt x="62450" y="740200"/>
                  <a:pt x="57752" y="750771"/>
                </a:cubicBezTo>
                <a:cubicBezTo>
                  <a:pt x="49511" y="769314"/>
                  <a:pt x="44918" y="789272"/>
                  <a:pt x="38501" y="808522"/>
                </a:cubicBezTo>
                <a:cubicBezTo>
                  <a:pt x="35293" y="818147"/>
                  <a:pt x="33413" y="828323"/>
                  <a:pt x="28876" y="837398"/>
                </a:cubicBezTo>
                <a:cubicBezTo>
                  <a:pt x="3710" y="887731"/>
                  <a:pt x="13106" y="861979"/>
                  <a:pt x="0" y="914400"/>
                </a:cubicBezTo>
                <a:cubicBezTo>
                  <a:pt x="3209" y="978568"/>
                  <a:pt x="5048" y="1042820"/>
                  <a:pt x="9626" y="1106905"/>
                </a:cubicBezTo>
                <a:cubicBezTo>
                  <a:pt x="12612" y="1148705"/>
                  <a:pt x="17212" y="1183529"/>
                  <a:pt x="28876" y="1222409"/>
                </a:cubicBezTo>
                <a:cubicBezTo>
                  <a:pt x="34707" y="1241845"/>
                  <a:pt x="36871" y="1263276"/>
                  <a:pt x="48127" y="1280160"/>
                </a:cubicBezTo>
                <a:cubicBezTo>
                  <a:pt x="83417" y="1333096"/>
                  <a:pt x="48129" y="1288184"/>
                  <a:pt x="96253" y="1328287"/>
                </a:cubicBezTo>
                <a:cubicBezTo>
                  <a:pt x="139683" y="1364478"/>
                  <a:pt x="108386" y="1350345"/>
                  <a:pt x="154005" y="1376413"/>
                </a:cubicBezTo>
                <a:cubicBezTo>
                  <a:pt x="166463" y="1383532"/>
                  <a:pt x="180202" y="1388281"/>
                  <a:pt x="192506" y="1395663"/>
                </a:cubicBezTo>
                <a:cubicBezTo>
                  <a:pt x="212345" y="1407566"/>
                  <a:pt x="228308" y="1426848"/>
                  <a:pt x="250257" y="1434164"/>
                </a:cubicBezTo>
                <a:cubicBezTo>
                  <a:pt x="269508" y="1440581"/>
                  <a:pt x="289859" y="1444340"/>
                  <a:pt x="308009" y="1453415"/>
                </a:cubicBezTo>
                <a:cubicBezTo>
                  <a:pt x="320843" y="1459832"/>
                  <a:pt x="332898" y="1468128"/>
                  <a:pt x="346510" y="1472665"/>
                </a:cubicBezTo>
                <a:cubicBezTo>
                  <a:pt x="362030" y="1477838"/>
                  <a:pt x="378594" y="1479082"/>
                  <a:pt x="394636" y="1482291"/>
                </a:cubicBezTo>
                <a:cubicBezTo>
                  <a:pt x="428857" y="1499401"/>
                  <a:pt x="451246" y="1512863"/>
                  <a:pt x="490889" y="1520792"/>
                </a:cubicBezTo>
                <a:cubicBezTo>
                  <a:pt x="551987" y="1533011"/>
                  <a:pt x="523144" y="1526449"/>
                  <a:pt x="577516" y="1540042"/>
                </a:cubicBezTo>
                <a:cubicBezTo>
                  <a:pt x="622073" y="1537257"/>
                  <a:pt x="791436" y="1527740"/>
                  <a:pt x="847023" y="1520792"/>
                </a:cubicBezTo>
                <a:cubicBezTo>
                  <a:pt x="962081" y="1506410"/>
                  <a:pt x="766147" y="1507600"/>
                  <a:pt x="972152" y="1501541"/>
                </a:cubicBezTo>
                <a:cubicBezTo>
                  <a:pt x="1161394" y="1495975"/>
                  <a:pt x="1350745" y="1495124"/>
                  <a:pt x="1540042" y="1491916"/>
                </a:cubicBezTo>
                <a:cubicBezTo>
                  <a:pt x="1737720" y="1482931"/>
                  <a:pt x="1714424" y="1486207"/>
                  <a:pt x="1876927" y="1472665"/>
                </a:cubicBezTo>
                <a:lnTo>
                  <a:pt x="1982805" y="1463040"/>
                </a:lnTo>
                <a:cubicBezTo>
                  <a:pt x="2065417" y="1455172"/>
                  <a:pt x="2139081" y="1445752"/>
                  <a:pt x="2223436" y="1443790"/>
                </a:cubicBezTo>
                <a:lnTo>
                  <a:pt x="2906830" y="1434164"/>
                </a:lnTo>
                <a:lnTo>
                  <a:pt x="2974207" y="1424539"/>
                </a:lnTo>
                <a:lnTo>
                  <a:pt x="3051209" y="1414914"/>
                </a:lnTo>
                <a:cubicBezTo>
                  <a:pt x="3070529" y="1412154"/>
                  <a:pt x="3089595" y="1407710"/>
                  <a:pt x="3108960" y="1405289"/>
                </a:cubicBezTo>
                <a:cubicBezTo>
                  <a:pt x="3258363" y="1386613"/>
                  <a:pt x="3151324" y="1404773"/>
                  <a:pt x="3291840" y="1386038"/>
                </a:cubicBezTo>
                <a:cubicBezTo>
                  <a:pt x="3311185" y="1383459"/>
                  <a:pt x="3330149" y="1378104"/>
                  <a:pt x="3349592" y="1376413"/>
                </a:cubicBezTo>
                <a:cubicBezTo>
                  <a:pt x="3404024" y="1371680"/>
                  <a:pt x="3458733" y="1370824"/>
                  <a:pt x="3513221" y="1366788"/>
                </a:cubicBezTo>
                <a:cubicBezTo>
                  <a:pt x="3545377" y="1364406"/>
                  <a:pt x="3577390" y="1360371"/>
                  <a:pt x="3609474" y="1357162"/>
                </a:cubicBezTo>
                <a:cubicBezTo>
                  <a:pt x="3673264" y="1335900"/>
                  <a:pt x="3623727" y="1349962"/>
                  <a:pt x="3744228" y="1337912"/>
                </a:cubicBezTo>
                <a:cubicBezTo>
                  <a:pt x="3773137" y="1335021"/>
                  <a:pt x="3802057" y="1332127"/>
                  <a:pt x="3830855" y="1328287"/>
                </a:cubicBezTo>
                <a:cubicBezTo>
                  <a:pt x="3901577" y="1318857"/>
                  <a:pt x="3869727" y="1321787"/>
                  <a:pt x="3927108" y="1309036"/>
                </a:cubicBezTo>
                <a:cubicBezTo>
                  <a:pt x="3943078" y="1305487"/>
                  <a:pt x="3959264" y="1302960"/>
                  <a:pt x="3975234" y="1299411"/>
                </a:cubicBezTo>
                <a:cubicBezTo>
                  <a:pt x="3988148" y="1296541"/>
                  <a:pt x="4000821" y="1292655"/>
                  <a:pt x="4013735" y="1289785"/>
                </a:cubicBezTo>
                <a:cubicBezTo>
                  <a:pt x="4077260" y="1275668"/>
                  <a:pt x="4141751" y="1268971"/>
                  <a:pt x="4206240" y="1260910"/>
                </a:cubicBezTo>
                <a:cubicBezTo>
                  <a:pt x="4215865" y="1257701"/>
                  <a:pt x="4225167" y="1253274"/>
                  <a:pt x="4235116" y="1251284"/>
                </a:cubicBezTo>
                <a:cubicBezTo>
                  <a:pt x="4257362" y="1246835"/>
                  <a:pt x="4280070" y="1245109"/>
                  <a:pt x="4302493" y="1241659"/>
                </a:cubicBezTo>
                <a:cubicBezTo>
                  <a:pt x="4321782" y="1238692"/>
                  <a:pt x="4340994" y="1235242"/>
                  <a:pt x="4360245" y="1232034"/>
                </a:cubicBezTo>
                <a:cubicBezTo>
                  <a:pt x="4369870" y="1228826"/>
                  <a:pt x="4379332" y="1225079"/>
                  <a:pt x="4389120" y="1222409"/>
                </a:cubicBezTo>
                <a:cubicBezTo>
                  <a:pt x="4414645" y="1215448"/>
                  <a:pt x="4441022" y="1211524"/>
                  <a:pt x="4466122" y="1203158"/>
                </a:cubicBezTo>
                <a:lnTo>
                  <a:pt x="4610501" y="1155032"/>
                </a:lnTo>
                <a:lnTo>
                  <a:pt x="4639377" y="1145407"/>
                </a:lnTo>
                <a:cubicBezTo>
                  <a:pt x="4649002" y="1142198"/>
                  <a:pt x="4658304" y="1137771"/>
                  <a:pt x="4668253" y="1135781"/>
                </a:cubicBezTo>
                <a:cubicBezTo>
                  <a:pt x="4684295" y="1132573"/>
                  <a:pt x="4700508" y="1130124"/>
                  <a:pt x="4716379" y="1126156"/>
                </a:cubicBezTo>
                <a:cubicBezTo>
                  <a:pt x="4726222" y="1123695"/>
                  <a:pt x="4735412" y="1118992"/>
                  <a:pt x="4745255" y="1116531"/>
                </a:cubicBezTo>
                <a:cubicBezTo>
                  <a:pt x="4761126" y="1112563"/>
                  <a:pt x="4777285" y="1109832"/>
                  <a:pt x="4793381" y="1106905"/>
                </a:cubicBezTo>
                <a:cubicBezTo>
                  <a:pt x="4821024" y="1101879"/>
                  <a:pt x="4892828" y="1090358"/>
                  <a:pt x="4918510" y="1087655"/>
                </a:cubicBezTo>
                <a:cubicBezTo>
                  <a:pt x="4956932" y="1083611"/>
                  <a:pt x="4995512" y="1081238"/>
                  <a:pt x="5034013" y="1078030"/>
                </a:cubicBezTo>
                <a:cubicBezTo>
                  <a:pt x="5091765" y="1081238"/>
                  <a:pt x="5149808" y="1081025"/>
                  <a:pt x="5207268" y="1087655"/>
                </a:cubicBezTo>
                <a:cubicBezTo>
                  <a:pt x="5233551" y="1090688"/>
                  <a:pt x="5258079" y="1103163"/>
                  <a:pt x="5284270" y="1106905"/>
                </a:cubicBezTo>
                <a:cubicBezTo>
                  <a:pt x="5306729" y="1110114"/>
                  <a:pt x="5329269" y="1112801"/>
                  <a:pt x="5351647" y="1116531"/>
                </a:cubicBezTo>
                <a:cubicBezTo>
                  <a:pt x="5396098" y="1123940"/>
                  <a:pt x="5431801" y="1134163"/>
                  <a:pt x="5476775" y="1145407"/>
                </a:cubicBezTo>
                <a:cubicBezTo>
                  <a:pt x="5489609" y="1148615"/>
                  <a:pt x="5502726" y="1150849"/>
                  <a:pt x="5515276" y="1155032"/>
                </a:cubicBezTo>
                <a:cubicBezTo>
                  <a:pt x="5544152" y="1164657"/>
                  <a:pt x="5574678" y="1170296"/>
                  <a:pt x="5601903" y="1183908"/>
                </a:cubicBezTo>
                <a:cubicBezTo>
                  <a:pt x="5614737" y="1190325"/>
                  <a:pt x="5627947" y="1196039"/>
                  <a:pt x="5640405" y="1203158"/>
                </a:cubicBezTo>
                <a:cubicBezTo>
                  <a:pt x="5650449" y="1208897"/>
                  <a:pt x="5658647" y="1217852"/>
                  <a:pt x="5669280" y="1222409"/>
                </a:cubicBezTo>
                <a:cubicBezTo>
                  <a:pt x="5681439" y="1227620"/>
                  <a:pt x="5694947" y="1228826"/>
                  <a:pt x="5707781" y="1232034"/>
                </a:cubicBezTo>
                <a:cubicBezTo>
                  <a:pt x="5733448" y="1248076"/>
                  <a:pt x="5760568" y="1261999"/>
                  <a:pt x="5784783" y="1280160"/>
                </a:cubicBezTo>
                <a:cubicBezTo>
                  <a:pt x="5797617" y="1289785"/>
                  <a:pt x="5809937" y="1300137"/>
                  <a:pt x="5823285" y="1309036"/>
                </a:cubicBezTo>
                <a:cubicBezTo>
                  <a:pt x="5838851" y="1319413"/>
                  <a:pt x="5856085" y="1327184"/>
                  <a:pt x="5871411" y="1337912"/>
                </a:cubicBezTo>
                <a:cubicBezTo>
                  <a:pt x="5888241" y="1349693"/>
                  <a:pt x="5902922" y="1364330"/>
                  <a:pt x="5919537" y="1376413"/>
                </a:cubicBezTo>
                <a:cubicBezTo>
                  <a:pt x="5938248" y="1390021"/>
                  <a:pt x="5958038" y="1402080"/>
                  <a:pt x="5977289" y="1414914"/>
                </a:cubicBezTo>
                <a:lnTo>
                  <a:pt x="6035040" y="1453415"/>
                </a:lnTo>
                <a:cubicBezTo>
                  <a:pt x="6035057" y="1453426"/>
                  <a:pt x="6092776" y="1491904"/>
                  <a:pt x="6092792" y="1491916"/>
                </a:cubicBezTo>
                <a:cubicBezTo>
                  <a:pt x="6105626" y="1501541"/>
                  <a:pt x="6117689" y="1512290"/>
                  <a:pt x="6131293" y="1520792"/>
                </a:cubicBezTo>
                <a:cubicBezTo>
                  <a:pt x="6211394" y="1570855"/>
                  <a:pt x="6133183" y="1516925"/>
                  <a:pt x="6198670" y="1549668"/>
                </a:cubicBezTo>
                <a:cubicBezTo>
                  <a:pt x="6209017" y="1554841"/>
                  <a:pt x="6216913" y="1564361"/>
                  <a:pt x="6227546" y="1568918"/>
                </a:cubicBezTo>
                <a:cubicBezTo>
                  <a:pt x="6239705" y="1574129"/>
                  <a:pt x="6253327" y="1574909"/>
                  <a:pt x="6266047" y="1578543"/>
                </a:cubicBezTo>
                <a:cubicBezTo>
                  <a:pt x="6308868" y="1590778"/>
                  <a:pt x="6283258" y="1587761"/>
                  <a:pt x="6333423" y="1597794"/>
                </a:cubicBezTo>
                <a:cubicBezTo>
                  <a:pt x="6352560" y="1601621"/>
                  <a:pt x="6372124" y="1603185"/>
                  <a:pt x="6391175" y="1607419"/>
                </a:cubicBezTo>
                <a:cubicBezTo>
                  <a:pt x="6446459" y="1619704"/>
                  <a:pt x="6392547" y="1619107"/>
                  <a:pt x="6468177" y="1626670"/>
                </a:cubicBezTo>
                <a:cubicBezTo>
                  <a:pt x="6516171" y="1631470"/>
                  <a:pt x="6564430" y="1633087"/>
                  <a:pt x="6612556" y="1636295"/>
                </a:cubicBezTo>
                <a:lnTo>
                  <a:pt x="7536581" y="1626670"/>
                </a:lnTo>
                <a:cubicBezTo>
                  <a:pt x="7565629" y="1626117"/>
                  <a:pt x="7594380" y="1620648"/>
                  <a:pt x="7623209" y="1617044"/>
                </a:cubicBezTo>
                <a:cubicBezTo>
                  <a:pt x="7697656" y="1607738"/>
                  <a:pt x="7678745" y="1608500"/>
                  <a:pt x="7748337" y="1597794"/>
                </a:cubicBezTo>
                <a:cubicBezTo>
                  <a:pt x="7799373" y="1589943"/>
                  <a:pt x="7810869" y="1591547"/>
                  <a:pt x="7854215" y="1578543"/>
                </a:cubicBezTo>
                <a:cubicBezTo>
                  <a:pt x="7873651" y="1572712"/>
                  <a:pt x="7892281" y="1564214"/>
                  <a:pt x="7911967" y="1559293"/>
                </a:cubicBezTo>
                <a:cubicBezTo>
                  <a:pt x="8032344" y="1529200"/>
                  <a:pt x="7882673" y="1567663"/>
                  <a:pt x="7979343" y="1540042"/>
                </a:cubicBezTo>
                <a:cubicBezTo>
                  <a:pt x="7992063" y="1536408"/>
                  <a:pt x="8005011" y="1533625"/>
                  <a:pt x="8017845" y="1530417"/>
                </a:cubicBezTo>
                <a:cubicBezTo>
                  <a:pt x="8073994" y="1492984"/>
                  <a:pt x="8016691" y="1525482"/>
                  <a:pt x="8104472" y="1501541"/>
                </a:cubicBezTo>
                <a:cubicBezTo>
                  <a:pt x="8121141" y="1496995"/>
                  <a:pt x="8136361" y="1488196"/>
                  <a:pt x="8152598" y="1482291"/>
                </a:cubicBezTo>
                <a:cubicBezTo>
                  <a:pt x="8171668" y="1475356"/>
                  <a:pt x="8191099" y="1469457"/>
                  <a:pt x="8210350" y="1463040"/>
                </a:cubicBezTo>
                <a:cubicBezTo>
                  <a:pt x="8219975" y="1459832"/>
                  <a:pt x="8229806" y="1457183"/>
                  <a:pt x="8239226" y="1453415"/>
                </a:cubicBezTo>
                <a:cubicBezTo>
                  <a:pt x="8317912" y="1421940"/>
                  <a:pt x="8258744" y="1443709"/>
                  <a:pt x="8354729" y="1414914"/>
                </a:cubicBezTo>
                <a:cubicBezTo>
                  <a:pt x="8364447" y="1411999"/>
                  <a:pt x="8373762" y="1407750"/>
                  <a:pt x="8383605" y="1405289"/>
                </a:cubicBezTo>
                <a:cubicBezTo>
                  <a:pt x="8399476" y="1401321"/>
                  <a:pt x="8415689" y="1398872"/>
                  <a:pt x="8431731" y="1395663"/>
                </a:cubicBezTo>
                <a:cubicBezTo>
                  <a:pt x="8451654" y="1385702"/>
                  <a:pt x="8481614" y="1372712"/>
                  <a:pt x="8499108" y="1357162"/>
                </a:cubicBezTo>
                <a:cubicBezTo>
                  <a:pt x="8519456" y="1339075"/>
                  <a:pt x="8541758" y="1322063"/>
                  <a:pt x="8556859" y="1299411"/>
                </a:cubicBezTo>
                <a:cubicBezTo>
                  <a:pt x="8583661" y="1259209"/>
                  <a:pt x="8567930" y="1278715"/>
                  <a:pt x="8604986" y="1241659"/>
                </a:cubicBezTo>
                <a:cubicBezTo>
                  <a:pt x="8619531" y="1183478"/>
                  <a:pt x="8610430" y="1215700"/>
                  <a:pt x="8633861" y="1145407"/>
                </a:cubicBezTo>
                <a:cubicBezTo>
                  <a:pt x="8637070" y="1135782"/>
                  <a:pt x="8641497" y="1126480"/>
                  <a:pt x="8643487" y="1116531"/>
                </a:cubicBezTo>
                <a:cubicBezTo>
                  <a:pt x="8650103" y="1083451"/>
                  <a:pt x="8653675" y="1061620"/>
                  <a:pt x="8662737" y="1029903"/>
                </a:cubicBezTo>
                <a:cubicBezTo>
                  <a:pt x="8690365" y="933203"/>
                  <a:pt x="8651882" y="1082942"/>
                  <a:pt x="8681988" y="962527"/>
                </a:cubicBezTo>
                <a:cubicBezTo>
                  <a:pt x="8685196" y="933651"/>
                  <a:pt x="8686837" y="904557"/>
                  <a:pt x="8691613" y="875899"/>
                </a:cubicBezTo>
                <a:cubicBezTo>
                  <a:pt x="8693281" y="865891"/>
                  <a:pt x="8700228" y="857119"/>
                  <a:pt x="8701238" y="847023"/>
                </a:cubicBezTo>
                <a:cubicBezTo>
                  <a:pt x="8706674" y="792657"/>
                  <a:pt x="8707655" y="737937"/>
                  <a:pt x="8710863" y="683394"/>
                </a:cubicBezTo>
                <a:cubicBezTo>
                  <a:pt x="8708530" y="622722"/>
                  <a:pt x="8716057" y="474640"/>
                  <a:pt x="8691613" y="385011"/>
                </a:cubicBezTo>
                <a:cubicBezTo>
                  <a:pt x="8686274" y="365434"/>
                  <a:pt x="8683618" y="344143"/>
                  <a:pt x="8672362" y="327259"/>
                </a:cubicBezTo>
                <a:lnTo>
                  <a:pt x="8633861" y="269508"/>
                </a:lnTo>
                <a:cubicBezTo>
                  <a:pt x="8627444" y="259883"/>
                  <a:pt x="8624236" y="247049"/>
                  <a:pt x="8614611" y="240632"/>
                </a:cubicBezTo>
                <a:cubicBezTo>
                  <a:pt x="8520704" y="178026"/>
                  <a:pt x="8666661" y="276104"/>
                  <a:pt x="8547234" y="192505"/>
                </a:cubicBezTo>
                <a:cubicBezTo>
                  <a:pt x="8528280" y="179237"/>
                  <a:pt x="8508733" y="166838"/>
                  <a:pt x="8489482" y="154004"/>
                </a:cubicBezTo>
                <a:lnTo>
                  <a:pt x="8460607" y="134754"/>
                </a:lnTo>
                <a:cubicBezTo>
                  <a:pt x="8450982" y="128337"/>
                  <a:pt x="8442706" y="119161"/>
                  <a:pt x="8431731" y="115503"/>
                </a:cubicBezTo>
                <a:cubicBezTo>
                  <a:pt x="8422106" y="112295"/>
                  <a:pt x="8412092" y="110076"/>
                  <a:pt x="8402855" y="105878"/>
                </a:cubicBezTo>
                <a:cubicBezTo>
                  <a:pt x="8376730" y="94003"/>
                  <a:pt x="8353077" y="76451"/>
                  <a:pt x="8325853" y="67377"/>
                </a:cubicBezTo>
                <a:lnTo>
                  <a:pt x="8239226" y="38501"/>
                </a:lnTo>
                <a:cubicBezTo>
                  <a:pt x="8229601" y="35292"/>
                  <a:pt x="8220193" y="31337"/>
                  <a:pt x="8210350" y="28876"/>
                </a:cubicBezTo>
                <a:cubicBezTo>
                  <a:pt x="8114415" y="4892"/>
                  <a:pt x="8159445" y="13974"/>
                  <a:pt x="8075596" y="0"/>
                </a:cubicBezTo>
                <a:cubicBezTo>
                  <a:pt x="8001802" y="3208"/>
                  <a:pt x="7927877" y="4168"/>
                  <a:pt x="7854215" y="9625"/>
                </a:cubicBezTo>
                <a:cubicBezTo>
                  <a:pt x="7841022" y="10602"/>
                  <a:pt x="7828893" y="18105"/>
                  <a:pt x="7815714" y="19251"/>
                </a:cubicBezTo>
                <a:cubicBezTo>
                  <a:pt x="7754899" y="24539"/>
                  <a:pt x="7693865" y="27591"/>
                  <a:pt x="7632834" y="28876"/>
                </a:cubicBezTo>
                <a:lnTo>
                  <a:pt x="6901314" y="38501"/>
                </a:lnTo>
                <a:cubicBezTo>
                  <a:pt x="6739296" y="54704"/>
                  <a:pt x="6860508" y="43789"/>
                  <a:pt x="6651057" y="57752"/>
                </a:cubicBezTo>
                <a:cubicBezTo>
                  <a:pt x="6389037" y="75220"/>
                  <a:pt x="6651252" y="60275"/>
                  <a:pt x="6333423" y="77002"/>
                </a:cubicBezTo>
                <a:cubicBezTo>
                  <a:pt x="6288046" y="84565"/>
                  <a:pt x="6277373" y="84767"/>
                  <a:pt x="6237171" y="96253"/>
                </a:cubicBezTo>
                <a:cubicBezTo>
                  <a:pt x="6227415" y="99040"/>
                  <a:pt x="6217621" y="101881"/>
                  <a:pt x="6208295" y="105878"/>
                </a:cubicBezTo>
                <a:cubicBezTo>
                  <a:pt x="6107443" y="149100"/>
                  <a:pt x="6248903" y="95201"/>
                  <a:pt x="6112042" y="163630"/>
                </a:cubicBezTo>
                <a:cubicBezTo>
                  <a:pt x="6088501" y="175400"/>
                  <a:pt x="6065076" y="185122"/>
                  <a:pt x="6044666" y="202131"/>
                </a:cubicBezTo>
                <a:cubicBezTo>
                  <a:pt x="6034209" y="210845"/>
                  <a:pt x="6027116" y="223456"/>
                  <a:pt x="6015790" y="231007"/>
                </a:cubicBezTo>
                <a:cubicBezTo>
                  <a:pt x="6007348" y="236635"/>
                  <a:pt x="5995989" y="236095"/>
                  <a:pt x="5986914" y="240632"/>
                </a:cubicBezTo>
                <a:cubicBezTo>
                  <a:pt x="5970181" y="248999"/>
                  <a:pt x="5955819" y="261767"/>
                  <a:pt x="5938788" y="269508"/>
                </a:cubicBezTo>
                <a:cubicBezTo>
                  <a:pt x="5920315" y="277905"/>
                  <a:pt x="5900287" y="282341"/>
                  <a:pt x="5881036" y="288758"/>
                </a:cubicBezTo>
                <a:lnTo>
                  <a:pt x="5852160" y="298383"/>
                </a:lnTo>
                <a:cubicBezTo>
                  <a:pt x="5842535" y="304800"/>
                  <a:pt x="5833632" y="312461"/>
                  <a:pt x="5823285" y="317634"/>
                </a:cubicBezTo>
                <a:cubicBezTo>
                  <a:pt x="5765343" y="346605"/>
                  <a:pt x="5787699" y="325509"/>
                  <a:pt x="5736657" y="356135"/>
                </a:cubicBezTo>
                <a:cubicBezTo>
                  <a:pt x="5716818" y="368039"/>
                  <a:pt x="5700855" y="387320"/>
                  <a:pt x="5678906" y="394636"/>
                </a:cubicBezTo>
                <a:cubicBezTo>
                  <a:pt x="5659655" y="401053"/>
                  <a:pt x="5638038" y="402631"/>
                  <a:pt x="5621154" y="413887"/>
                </a:cubicBezTo>
                <a:cubicBezTo>
                  <a:pt x="5611529" y="420304"/>
                  <a:pt x="5602849" y="428439"/>
                  <a:pt x="5592278" y="433137"/>
                </a:cubicBezTo>
                <a:cubicBezTo>
                  <a:pt x="5573735" y="441378"/>
                  <a:pt x="5553777" y="445971"/>
                  <a:pt x="5534527" y="452388"/>
                </a:cubicBezTo>
                <a:lnTo>
                  <a:pt x="5505651" y="462013"/>
                </a:lnTo>
                <a:cubicBezTo>
                  <a:pt x="5496026" y="465221"/>
                  <a:pt x="5486618" y="469177"/>
                  <a:pt x="5476775" y="471638"/>
                </a:cubicBezTo>
                <a:cubicBezTo>
                  <a:pt x="5463941" y="474846"/>
                  <a:pt x="5450945" y="477462"/>
                  <a:pt x="5438274" y="481263"/>
                </a:cubicBezTo>
                <a:cubicBezTo>
                  <a:pt x="5418838" y="487094"/>
                  <a:pt x="5399773" y="494097"/>
                  <a:pt x="5380522" y="500514"/>
                </a:cubicBezTo>
                <a:cubicBezTo>
                  <a:pt x="5370897" y="503722"/>
                  <a:pt x="5361490" y="507678"/>
                  <a:pt x="5351647" y="510139"/>
                </a:cubicBezTo>
                <a:cubicBezTo>
                  <a:pt x="5338813" y="513347"/>
                  <a:pt x="5325866" y="516130"/>
                  <a:pt x="5313146" y="519764"/>
                </a:cubicBezTo>
                <a:cubicBezTo>
                  <a:pt x="5303390" y="522551"/>
                  <a:pt x="5294059" y="526720"/>
                  <a:pt x="5284270" y="529390"/>
                </a:cubicBezTo>
                <a:cubicBezTo>
                  <a:pt x="5258745" y="536351"/>
                  <a:pt x="5232368" y="540274"/>
                  <a:pt x="5207268" y="548640"/>
                </a:cubicBezTo>
                <a:cubicBezTo>
                  <a:pt x="5197643" y="551848"/>
                  <a:pt x="5188420" y="556722"/>
                  <a:pt x="5178392" y="558265"/>
                </a:cubicBezTo>
                <a:cubicBezTo>
                  <a:pt x="5146523" y="563168"/>
                  <a:pt x="5114366" y="566829"/>
                  <a:pt x="5082139" y="567891"/>
                </a:cubicBezTo>
                <a:cubicBezTo>
                  <a:pt x="4822319" y="576457"/>
                  <a:pt x="4562186" y="575336"/>
                  <a:pt x="4302493" y="587141"/>
                </a:cubicBezTo>
                <a:lnTo>
                  <a:pt x="4090737" y="596767"/>
                </a:lnTo>
                <a:lnTo>
                  <a:pt x="3994485" y="606392"/>
                </a:lnTo>
                <a:cubicBezTo>
                  <a:pt x="3922747" y="614363"/>
                  <a:pt x="3878140" y="623497"/>
                  <a:pt x="3801979" y="625642"/>
                </a:cubicBezTo>
                <a:cubicBezTo>
                  <a:pt x="3612730" y="630973"/>
                  <a:pt x="3423386" y="632059"/>
                  <a:pt x="3234089" y="635268"/>
                </a:cubicBezTo>
                <a:lnTo>
                  <a:pt x="3089710" y="644893"/>
                </a:lnTo>
                <a:cubicBezTo>
                  <a:pt x="3057568" y="647464"/>
                  <a:pt x="3025701" y="654518"/>
                  <a:pt x="2993457" y="654518"/>
                </a:cubicBezTo>
                <a:lnTo>
                  <a:pt x="1491916" y="644893"/>
                </a:lnTo>
                <a:cubicBezTo>
                  <a:pt x="1418122" y="641685"/>
                  <a:pt x="1344398" y="635268"/>
                  <a:pt x="1270535" y="635268"/>
                </a:cubicBezTo>
                <a:cubicBezTo>
                  <a:pt x="1209491" y="635268"/>
                  <a:pt x="1148636" y="642121"/>
                  <a:pt x="1087655" y="644893"/>
                </a:cubicBezTo>
                <a:lnTo>
                  <a:pt x="847023" y="654518"/>
                </a:lnTo>
                <a:cubicBezTo>
                  <a:pt x="404279" y="643450"/>
                  <a:pt x="590390" y="644893"/>
                  <a:pt x="288758" y="644893"/>
                </a:cubicBezTo>
              </a:path>
            </a:pathLst>
          </a:custGeom>
          <a:solidFill>
            <a:schemeClr val="accent6">
              <a:lumMod val="60000"/>
              <a:lumOff val="40000"/>
              <a:alpha val="2482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F8D22-6A8B-28E0-4F24-F5D357CFD406}"/>
              </a:ext>
            </a:extLst>
          </p:cNvPr>
          <p:cNvSpPr txBox="1"/>
          <p:nvPr/>
        </p:nvSpPr>
        <p:spPr>
          <a:xfrm>
            <a:off x="231006" y="3978466"/>
            <a:ext cx="8710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Emphasis is on transactional queries/updates on properties. Extensions allow complex analytics workloads queries</a:t>
            </a:r>
          </a:p>
          <a:p>
            <a:endParaRPr lang="en-US" sz="1800" dirty="0"/>
          </a:p>
          <a:p>
            <a:r>
              <a:rPr lang="en-US" sz="1800" b="1" dirty="0"/>
              <a:t>Classification criteria</a:t>
            </a:r>
            <a:r>
              <a:rPr lang="en-US" sz="1800" dirty="0"/>
              <a:t>: </a:t>
            </a:r>
            <a:r>
              <a:rPr lang="en-US" sz="1800" b="1" dirty="0"/>
              <a:t>Storage engines</a:t>
            </a:r>
            <a:r>
              <a:rPr lang="en-US" sz="1800" dirty="0"/>
              <a:t>, Query API (we ignore this)</a:t>
            </a:r>
          </a:p>
        </p:txBody>
      </p:sp>
    </p:spTree>
    <p:extLst>
      <p:ext uri="{BB962C8B-B14F-4D97-AF65-F5344CB8AC3E}">
        <p14:creationId xmlns:p14="http://schemas.microsoft.com/office/powerpoint/2010/main" val="345760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1E0-BC33-6DA6-1423-604065D8A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you need to know to understand my thesis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BE0159-0582-DB91-2162-65D4A06060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Background Section B</a:t>
            </a:r>
          </a:p>
        </p:txBody>
      </p:sp>
    </p:spTree>
    <p:extLst>
      <p:ext uri="{BB962C8B-B14F-4D97-AF65-F5344CB8AC3E}">
        <p14:creationId xmlns:p14="http://schemas.microsoft.com/office/powerpoint/2010/main" val="1171127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D88F3-3F72-67C0-0112-A4984864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7318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Workloads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83893-5A30-BAE2-E9CF-CE23704AA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Short, point queries</a:t>
            </a:r>
          </a:p>
          <a:p>
            <a:r>
              <a:rPr lang="en-US" dirty="0"/>
              <a:t>Neighborhood queries</a:t>
            </a:r>
          </a:p>
          <a:p>
            <a:r>
              <a:rPr lang="en-US" dirty="0"/>
              <a:t>Traversals</a:t>
            </a:r>
          </a:p>
          <a:p>
            <a:r>
              <a:rPr lang="en-US" dirty="0"/>
              <a:t>Whole-graph analytics</a:t>
            </a:r>
          </a:p>
          <a:p>
            <a:endParaRPr lang="en-US" dirty="0"/>
          </a:p>
          <a:p>
            <a:r>
              <a:rPr lang="en-US" dirty="0"/>
              <a:t>Systems specialize for one or a few of these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F98FE11-17F3-9C1A-84E6-ED22077AC9D4}"/>
              </a:ext>
            </a:extLst>
          </p:cNvPr>
          <p:cNvSpPr/>
          <p:nvPr/>
        </p:nvSpPr>
        <p:spPr>
          <a:xfrm>
            <a:off x="2560319" y="3530991"/>
            <a:ext cx="4171071" cy="566627"/>
          </a:xfrm>
          <a:custGeom>
            <a:avLst/>
            <a:gdLst>
              <a:gd name="connsiteX0" fmla="*/ 164145 w 3004458"/>
              <a:gd name="connsiteY0" fmla="*/ 0 h 433140"/>
              <a:gd name="connsiteX1" fmla="*/ 2822261 w 3004458"/>
              <a:gd name="connsiteY1" fmla="*/ 2 h 433140"/>
              <a:gd name="connsiteX2" fmla="*/ 2822265 w 3004458"/>
              <a:gd name="connsiteY2" fmla="*/ 1 h 433140"/>
              <a:gd name="connsiteX3" fmla="*/ 2822269 w 3004458"/>
              <a:gd name="connsiteY3" fmla="*/ 2 h 433140"/>
              <a:gd name="connsiteX4" fmla="*/ 2867810 w 3004458"/>
              <a:gd name="connsiteY4" fmla="*/ 2 h 433140"/>
              <a:gd name="connsiteX5" fmla="*/ 2867813 w 3004458"/>
              <a:gd name="connsiteY5" fmla="*/ 0 h 433140"/>
              <a:gd name="connsiteX6" fmla="*/ 2878724 w 3004458"/>
              <a:gd name="connsiteY6" fmla="*/ 4401 h 433140"/>
              <a:gd name="connsiteX7" fmla="*/ 2887072 w 3004458"/>
              <a:gd name="connsiteY7" fmla="*/ 14765 h 433140"/>
              <a:gd name="connsiteX8" fmla="*/ 2893183 w 3004458"/>
              <a:gd name="connsiteY8" fmla="*/ 17020 h 433140"/>
              <a:gd name="connsiteX9" fmla="*/ 3004458 w 3004458"/>
              <a:gd name="connsiteY9" fmla="*/ 216570 h 433140"/>
              <a:gd name="connsiteX10" fmla="*/ 2893183 w 3004458"/>
              <a:gd name="connsiteY10" fmla="*/ 416120 h 433140"/>
              <a:gd name="connsiteX11" fmla="*/ 2887072 w 3004458"/>
              <a:gd name="connsiteY11" fmla="*/ 418375 h 433140"/>
              <a:gd name="connsiteX12" fmla="*/ 2878724 w 3004458"/>
              <a:gd name="connsiteY12" fmla="*/ 428740 h 433140"/>
              <a:gd name="connsiteX13" fmla="*/ 2867813 w 3004458"/>
              <a:gd name="connsiteY13" fmla="*/ 433140 h 433140"/>
              <a:gd name="connsiteX14" fmla="*/ 182197 w 3004458"/>
              <a:gd name="connsiteY14" fmla="*/ 433139 h 433140"/>
              <a:gd name="connsiteX15" fmla="*/ 182193 w 3004458"/>
              <a:gd name="connsiteY15" fmla="*/ 433139 h 433140"/>
              <a:gd name="connsiteX16" fmla="*/ 182189 w 3004458"/>
              <a:gd name="connsiteY16" fmla="*/ 433139 h 433140"/>
              <a:gd name="connsiteX17" fmla="*/ 164145 w 3004458"/>
              <a:gd name="connsiteY17" fmla="*/ 433139 h 433140"/>
              <a:gd name="connsiteX18" fmla="*/ 156515 w 3004458"/>
              <a:gd name="connsiteY18" fmla="*/ 430062 h 433140"/>
              <a:gd name="connsiteX19" fmla="*/ 145475 w 3004458"/>
              <a:gd name="connsiteY19" fmla="*/ 428739 h 433140"/>
              <a:gd name="connsiteX20" fmla="*/ 0 w 3004458"/>
              <a:gd name="connsiteY20" fmla="*/ 216570 h 433140"/>
              <a:gd name="connsiteX21" fmla="*/ 145475 w 3004458"/>
              <a:gd name="connsiteY21" fmla="*/ 4401 h 433140"/>
              <a:gd name="connsiteX22" fmla="*/ 156512 w 3004458"/>
              <a:gd name="connsiteY22" fmla="*/ 3079 h 4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004458" h="433140">
                <a:moveTo>
                  <a:pt x="164145" y="0"/>
                </a:moveTo>
                <a:lnTo>
                  <a:pt x="2822261" y="2"/>
                </a:lnTo>
                <a:lnTo>
                  <a:pt x="2822265" y="1"/>
                </a:lnTo>
                <a:lnTo>
                  <a:pt x="2822269" y="2"/>
                </a:lnTo>
                <a:lnTo>
                  <a:pt x="2867810" y="2"/>
                </a:lnTo>
                <a:lnTo>
                  <a:pt x="2867813" y="0"/>
                </a:lnTo>
                <a:cubicBezTo>
                  <a:pt x="2871551" y="0"/>
                  <a:pt x="2875200" y="1516"/>
                  <a:pt x="2878724" y="4401"/>
                </a:cubicBezTo>
                <a:lnTo>
                  <a:pt x="2887072" y="14765"/>
                </a:lnTo>
                <a:lnTo>
                  <a:pt x="2893183" y="17020"/>
                </a:lnTo>
                <a:cubicBezTo>
                  <a:pt x="2958575" y="49897"/>
                  <a:pt x="3004458" y="126864"/>
                  <a:pt x="3004458" y="216570"/>
                </a:cubicBezTo>
                <a:cubicBezTo>
                  <a:pt x="3004458" y="306276"/>
                  <a:pt x="2958575" y="383243"/>
                  <a:pt x="2893183" y="416120"/>
                </a:cubicBezTo>
                <a:lnTo>
                  <a:pt x="2887072" y="418375"/>
                </a:lnTo>
                <a:lnTo>
                  <a:pt x="2878724" y="428740"/>
                </a:lnTo>
                <a:cubicBezTo>
                  <a:pt x="2875200" y="431625"/>
                  <a:pt x="2871551" y="433140"/>
                  <a:pt x="2867813" y="433140"/>
                </a:cubicBezTo>
                <a:lnTo>
                  <a:pt x="182197" y="433139"/>
                </a:lnTo>
                <a:lnTo>
                  <a:pt x="182193" y="433139"/>
                </a:lnTo>
                <a:lnTo>
                  <a:pt x="182189" y="433139"/>
                </a:lnTo>
                <a:lnTo>
                  <a:pt x="164145" y="433139"/>
                </a:lnTo>
                <a:lnTo>
                  <a:pt x="156515" y="430062"/>
                </a:lnTo>
                <a:lnTo>
                  <a:pt x="145475" y="428739"/>
                </a:lnTo>
                <a:cubicBezTo>
                  <a:pt x="62453" y="408545"/>
                  <a:pt x="0" y="321227"/>
                  <a:pt x="0" y="216570"/>
                </a:cubicBezTo>
                <a:cubicBezTo>
                  <a:pt x="0" y="111913"/>
                  <a:pt x="62453" y="24595"/>
                  <a:pt x="145475" y="4401"/>
                </a:cubicBezTo>
                <a:lnTo>
                  <a:pt x="156512" y="3079"/>
                </a:lnTo>
                <a:close/>
              </a:path>
            </a:pathLst>
          </a:custGeom>
          <a:gradFill flip="none" rotWithShape="1">
            <a:gsLst>
              <a:gs pos="0">
                <a:srgbClr val="FFF33B"/>
              </a:gs>
              <a:gs pos="23000">
                <a:srgbClr val="FDC70C"/>
              </a:gs>
              <a:gs pos="69000">
                <a:srgbClr val="ED683C"/>
              </a:gs>
              <a:gs pos="44022">
                <a:srgbClr val="F3903F"/>
              </a:gs>
              <a:gs pos="97000">
                <a:srgbClr val="E93E3A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27641E-1306-8635-8787-AFE572D90E45}"/>
              </a:ext>
            </a:extLst>
          </p:cNvPr>
          <p:cNvCxnSpPr/>
          <p:nvPr/>
        </p:nvCxnSpPr>
        <p:spPr>
          <a:xfrm>
            <a:off x="2904978" y="4249757"/>
            <a:ext cx="333404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0A571A-CAE2-E95D-DD78-6681C0F3BE43}"/>
              </a:ext>
            </a:extLst>
          </p:cNvPr>
          <p:cNvSpPr txBox="1"/>
          <p:nvPr/>
        </p:nvSpPr>
        <p:spPr>
          <a:xfrm>
            <a:off x="1863852" y="3574398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</a:t>
            </a:r>
            <a:br>
              <a:rPr lang="en-US" dirty="0"/>
            </a:br>
            <a:r>
              <a:rPr lang="en-US" dirty="0"/>
              <a:t>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7DD15-3151-818E-3BCB-7E41436E178D}"/>
              </a:ext>
            </a:extLst>
          </p:cNvPr>
          <p:cNvSpPr txBox="1"/>
          <p:nvPr/>
        </p:nvSpPr>
        <p:spPr>
          <a:xfrm>
            <a:off x="6767021" y="3489992"/>
            <a:ext cx="10262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Whole graph</a:t>
            </a:r>
            <a:br>
              <a:rPr lang="en-US" dirty="0"/>
            </a:br>
            <a:r>
              <a:rPr lang="en-US" dirty="0"/>
              <a:t>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F83B32-AEAB-393A-D074-3FF238883EB7}"/>
              </a:ext>
            </a:extLst>
          </p:cNvPr>
          <p:cNvSpPr txBox="1"/>
          <p:nvPr/>
        </p:nvSpPr>
        <p:spPr>
          <a:xfrm>
            <a:off x="3370388" y="4272041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Increasing query complexity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240F3A-15C7-9DB1-5CEC-4857DAD054E5}"/>
              </a:ext>
            </a:extLst>
          </p:cNvPr>
          <p:cNvCxnSpPr>
            <a:cxnSpLocks/>
          </p:cNvCxnSpPr>
          <p:nvPr/>
        </p:nvCxnSpPr>
        <p:spPr>
          <a:xfrm>
            <a:off x="2644726" y="4860388"/>
            <a:ext cx="40866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995107-9D5F-7471-49C3-661131621D65}"/>
              </a:ext>
            </a:extLst>
          </p:cNvPr>
          <p:cNvSpPr txBox="1"/>
          <p:nvPr/>
        </p:nvSpPr>
        <p:spPr>
          <a:xfrm>
            <a:off x="1246695" y="4600785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Interactive workloads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BD0A3-1A09-268D-F9E0-3F15792543F4}"/>
              </a:ext>
            </a:extLst>
          </p:cNvPr>
          <p:cNvSpPr txBox="1"/>
          <p:nvPr/>
        </p:nvSpPr>
        <p:spPr>
          <a:xfrm>
            <a:off x="4082764" y="4600784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 workloads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CD8518-DE4D-1E20-16D7-76207ED01C94}"/>
              </a:ext>
            </a:extLst>
          </p:cNvPr>
          <p:cNvSpPr txBox="1"/>
          <p:nvPr/>
        </p:nvSpPr>
        <p:spPr>
          <a:xfrm>
            <a:off x="6743462" y="4569659"/>
            <a:ext cx="1560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Analytics/</a:t>
            </a:r>
            <a:br>
              <a:rPr lang="en-US" dirty="0"/>
            </a:br>
            <a:r>
              <a:rPr lang="en-US" dirty="0"/>
              <a:t>LDBC Workloads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CC95E-83B3-8AC6-01E3-65360121A4FE}"/>
              </a:ext>
            </a:extLst>
          </p:cNvPr>
          <p:cNvSpPr txBox="1"/>
          <p:nvPr/>
        </p:nvSpPr>
        <p:spPr>
          <a:xfrm>
            <a:off x="2651531" y="3661445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OLTP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9D96C-E76E-08B2-FC8B-0A0BE672B7A5}"/>
              </a:ext>
            </a:extLst>
          </p:cNvPr>
          <p:cNvSpPr txBox="1"/>
          <p:nvPr/>
        </p:nvSpPr>
        <p:spPr>
          <a:xfrm>
            <a:off x="6067198" y="3661445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OLAP</a:t>
            </a:r>
          </a:p>
        </p:txBody>
      </p:sp>
    </p:spTree>
    <p:extLst>
      <p:ext uri="{BB962C8B-B14F-4D97-AF65-F5344CB8AC3E}">
        <p14:creationId xmlns:p14="http://schemas.microsoft.com/office/powerpoint/2010/main" val="45173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BBDF-E3AF-A39C-BE1C-C84A3FF5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FC5B-6B4B-E5D1-3DC5-F723B2BB0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Structural – metadata + properties </a:t>
            </a:r>
          </a:p>
          <a:p>
            <a:r>
              <a:rPr lang="en-US" dirty="0"/>
              <a:t>LHS: data operated on is the materialized view of the data on the RHS</a:t>
            </a:r>
          </a:p>
          <a:p>
            <a:r>
              <a:rPr lang="en-US" dirty="0"/>
              <a:t>Different ways to deal with the materialized views</a:t>
            </a:r>
          </a:p>
          <a:p>
            <a:r>
              <a:rPr lang="en-US" dirty="0"/>
              <a:t>Show the concentric circles and the category</a:t>
            </a:r>
          </a:p>
          <a:p>
            <a:pPr lvl="1"/>
            <a:r>
              <a:rPr lang="en-US" dirty="0" err="1"/>
              <a:t>Subsetting</a:t>
            </a:r>
            <a:r>
              <a:rPr lang="en-US" dirty="0"/>
              <a:t> relationships</a:t>
            </a:r>
          </a:p>
          <a:p>
            <a:pPr lvl="1"/>
            <a:r>
              <a:rPr lang="en-US" dirty="0"/>
              <a:t>People typically use a certain point in the space for which they design their system</a:t>
            </a:r>
          </a:p>
          <a:p>
            <a:pPr lvl="1"/>
            <a:r>
              <a:rPr lang="en-US" dirty="0"/>
              <a:t>2x2 </a:t>
            </a:r>
          </a:p>
          <a:p>
            <a:pPr lvl="1"/>
            <a:r>
              <a:rPr lang="en-US" dirty="0"/>
              <a:t>We zoom in and describe them. </a:t>
            </a:r>
          </a:p>
          <a:p>
            <a:pPr lvl="1"/>
            <a:r>
              <a:rPr lang="en-US" dirty="0"/>
              <a:t>No firm line – everything is a continuum.</a:t>
            </a:r>
          </a:p>
          <a:p>
            <a:pPr lvl="1"/>
            <a:r>
              <a:rPr lang="en-US" dirty="0"/>
              <a:t>Similarly RHS: goes back to materialized view stuff. GDB is everything and therefore it has </a:t>
            </a:r>
            <a:r>
              <a:rPr lang="en-US" dirty="0" err="1"/>
              <a:t>functionlaity</a:t>
            </a:r>
            <a:r>
              <a:rPr lang="en-US" dirty="0"/>
              <a:t> that does not exist elsewhere</a:t>
            </a:r>
          </a:p>
          <a:p>
            <a:pPr lvl="1"/>
            <a:r>
              <a:rPr lang="en-US" dirty="0"/>
              <a:t>RHS of the 2x2 can be defined by the table – go back to the RHS of the 2x2 and show the pinwheels.</a:t>
            </a:r>
          </a:p>
        </p:txBody>
      </p:sp>
    </p:spTree>
    <p:extLst>
      <p:ext uri="{BB962C8B-B14F-4D97-AF65-F5344CB8AC3E}">
        <p14:creationId xmlns:p14="http://schemas.microsoft.com/office/powerpoint/2010/main" val="3382144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01B0-798F-C1B9-6A82-EC66F81A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2FDCB-D3B4-5B61-76BE-F4D8F7E1F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Flexograph is a GDB</a:t>
            </a:r>
          </a:p>
          <a:p>
            <a:r>
              <a:rPr lang="en-US" dirty="0"/>
              <a:t>We don’t explicitly materialized graphs but we provide a mechanism for that to happen organically without </a:t>
            </a:r>
            <a:r>
              <a:rPr lang="en-US" dirty="0" err="1"/>
              <a:t>sacrificnig</a:t>
            </a:r>
            <a:r>
              <a:rPr lang="en-US" dirty="0"/>
              <a:t> the GPS perf</a:t>
            </a:r>
          </a:p>
          <a:p>
            <a:r>
              <a:rPr lang="en-US" dirty="0"/>
              <a:t>3 reps make sense – std(don’t extract anything and use RDBMS), CSR and </a:t>
            </a:r>
            <a:r>
              <a:rPr lang="en-US" dirty="0" err="1"/>
              <a:t>AdjLists</a:t>
            </a:r>
            <a:r>
              <a:rPr lang="en-US" dirty="0"/>
              <a:t> are good for scans and how do we create that in the KV store. </a:t>
            </a:r>
          </a:p>
          <a:p>
            <a:r>
              <a:rPr lang="en-US" dirty="0" err="1"/>
              <a:t>Architecure</a:t>
            </a:r>
            <a:r>
              <a:rPr lang="en-US" dirty="0"/>
              <a:t> has 3 parts:</a:t>
            </a:r>
          </a:p>
          <a:p>
            <a:pPr lvl="1"/>
            <a:r>
              <a:rPr lang="en-US" dirty="0"/>
              <a:t>Reps</a:t>
            </a:r>
          </a:p>
          <a:p>
            <a:pPr lvl="1"/>
            <a:r>
              <a:rPr lang="en-US" dirty="0"/>
              <a:t>API rich enough to sit under any query language and does anything you want it to</a:t>
            </a:r>
          </a:p>
          <a:p>
            <a:pPr lvl="1"/>
            <a:r>
              <a:rPr lang="en-US" dirty="0"/>
              <a:t>Glue: between API and the low level operations that allows us to give higher level primitives. </a:t>
            </a:r>
          </a:p>
          <a:p>
            <a:r>
              <a:rPr lang="en-US" dirty="0"/>
              <a:t>Flexograph the storage system is not the interesting bit. We don’t need something super heavy. Why we used WT</a:t>
            </a:r>
          </a:p>
          <a:p>
            <a:pPr lvl="1"/>
            <a:r>
              <a:rPr lang="en-US" dirty="0"/>
              <a:t>Overview of WT. single process MT inherited in our application design, columns stores, </a:t>
            </a:r>
          </a:p>
        </p:txBody>
      </p:sp>
    </p:spTree>
    <p:extLst>
      <p:ext uri="{BB962C8B-B14F-4D97-AF65-F5344CB8AC3E}">
        <p14:creationId xmlns:p14="http://schemas.microsoft.com/office/powerpoint/2010/main" val="2869955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ABF3-A743-0479-FA5C-713E3345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EF160-E9CB-2387-812C-FB435EE2C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WT and talk about key feat</a:t>
            </a:r>
          </a:p>
          <a:p>
            <a:r>
              <a:rPr lang="en-US" dirty="0"/>
              <a:t>How an application looks like: embedded API, uses low level </a:t>
            </a:r>
          </a:p>
          <a:p>
            <a:r>
              <a:rPr lang="en-US" dirty="0"/>
              <a:t>How do we </a:t>
            </a:r>
            <a:r>
              <a:rPr lang="en-US" dirty="0" err="1"/>
              <a:t>realise</a:t>
            </a:r>
            <a:r>
              <a:rPr lang="en-US" dirty="0"/>
              <a:t> the layouts in wt. neighborhood queries have to be fast. Carefully construct Primary Keys, and how we lay them out in that order (how it looks in </a:t>
            </a:r>
            <a:r>
              <a:rPr lang="en-US" dirty="0" err="1"/>
              <a:t>adjlist</a:t>
            </a:r>
            <a:r>
              <a:rPr lang="en-US" dirty="0"/>
              <a:t> and </a:t>
            </a:r>
            <a:r>
              <a:rPr lang="en-US" dirty="0" err="1"/>
              <a:t>edgekey</a:t>
            </a:r>
            <a:r>
              <a:rPr lang="en-US" dirty="0"/>
              <a:t>).</a:t>
            </a:r>
          </a:p>
          <a:p>
            <a:r>
              <a:rPr lang="en-US" dirty="0"/>
              <a:t>Iterator design. </a:t>
            </a:r>
          </a:p>
        </p:txBody>
      </p:sp>
    </p:spTree>
    <p:extLst>
      <p:ext uri="{BB962C8B-B14F-4D97-AF65-F5344CB8AC3E}">
        <p14:creationId xmlns:p14="http://schemas.microsoft.com/office/powerpoint/2010/main" val="2917728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0D334-BACC-AE7A-9374-E83538EB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Layouts – In memory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9B425-1BD5-8884-E5B7-6A72AB5E7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Graphs can be in memory </a:t>
            </a:r>
          </a:p>
          <a:p>
            <a:pPr lvl="1"/>
            <a:r>
              <a:rPr lang="en-US" dirty="0"/>
              <a:t>Use adjacency matrix – easy but wasteful</a:t>
            </a:r>
          </a:p>
          <a:p>
            <a:r>
              <a:rPr lang="en-US" dirty="0"/>
              <a:t>A representation that provides sequential access to neighborhoods is preferred.</a:t>
            </a:r>
          </a:p>
          <a:p>
            <a:r>
              <a:rPr lang="en-US" dirty="0"/>
              <a:t>Compact representations favored</a:t>
            </a:r>
          </a:p>
          <a:p>
            <a:pPr lvl="1"/>
            <a:r>
              <a:rPr lang="en-US" dirty="0"/>
              <a:t>CSR</a:t>
            </a:r>
          </a:p>
          <a:p>
            <a:pPr lvl="1"/>
            <a:r>
              <a:rPr lang="en-US" dirty="0"/>
              <a:t>Adjacency Lists </a:t>
            </a:r>
          </a:p>
          <a:p>
            <a:pPr lvl="1"/>
            <a:endParaRPr lang="en-US" dirty="0"/>
          </a:p>
          <a:p>
            <a:r>
              <a:rPr lang="en-US" dirty="0"/>
              <a:t>But RAM is expensive and graphs are large</a:t>
            </a:r>
          </a:p>
          <a:p>
            <a:pPr lvl="1"/>
            <a:r>
              <a:rPr lang="en-US" dirty="0"/>
              <a:t>Use Out-of-Core graph processing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69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0DE7-A586-013D-5FB7-CFC93748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Out-of-core system Design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01A0C2-1FA8-36AB-09E3-7982A4C73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681992"/>
          </a:xfrm>
        </p:spPr>
        <p:txBody>
          <a:bodyPr>
            <a:normAutofit/>
          </a:bodyPr>
          <a:lstStyle/>
          <a:p>
            <a:r>
              <a:rPr lang="en-US" dirty="0"/>
              <a:t>Typical systems:</a:t>
            </a:r>
          </a:p>
          <a:p>
            <a:pPr lvl="1"/>
            <a:r>
              <a:rPr lang="en-US" dirty="0"/>
              <a:t>Have a set of “Active” vertices</a:t>
            </a:r>
          </a:p>
          <a:p>
            <a:pPr lvl="1"/>
            <a:r>
              <a:rPr lang="en-US" dirty="0"/>
              <a:t>The vertices are partitioned into disjoint sets</a:t>
            </a:r>
          </a:p>
          <a:p>
            <a:pPr lvl="1"/>
            <a:r>
              <a:rPr lang="en-US" dirty="0"/>
              <a:t>Partition the edges by (</a:t>
            </a:r>
            <a:r>
              <a:rPr lang="en-US" dirty="0" err="1"/>
              <a:t>src</a:t>
            </a:r>
            <a:r>
              <a:rPr lang="en-US" dirty="0"/>
              <a:t>, </a:t>
            </a:r>
            <a:r>
              <a:rPr lang="en-US" dirty="0" err="1"/>
              <a:t>dst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Stream the edges from/to the active vertices and apply updates to the relevant vertex sets.</a:t>
            </a:r>
          </a:p>
          <a:p>
            <a:r>
              <a:rPr lang="en-US" dirty="0"/>
              <a:t>This leads to stringent layout design goals:</a:t>
            </a:r>
          </a:p>
          <a:p>
            <a:pPr lvl="1"/>
            <a:r>
              <a:rPr lang="en-US" dirty="0"/>
              <a:t>Selective scheduling</a:t>
            </a:r>
          </a:p>
          <a:p>
            <a:pPr lvl="1"/>
            <a:r>
              <a:rPr lang="en-US" dirty="0"/>
              <a:t>Sequential streaming of relevant edges</a:t>
            </a:r>
          </a:p>
          <a:p>
            <a:pPr marL="609600" lvl="1" indent="0">
              <a:buNone/>
            </a:pPr>
            <a:endParaRPr lang="en-US" dirty="0"/>
          </a:p>
          <a:p>
            <a:r>
              <a:rPr lang="en-US" dirty="0" err="1"/>
              <a:t>GraphChi</a:t>
            </a:r>
            <a:endParaRPr lang="en-US" dirty="0"/>
          </a:p>
          <a:p>
            <a:r>
              <a:rPr lang="en-US" dirty="0"/>
              <a:t>X-Stream</a:t>
            </a:r>
          </a:p>
          <a:p>
            <a:r>
              <a:rPr lang="en-US" dirty="0" err="1"/>
              <a:t>GridGraph</a:t>
            </a:r>
            <a:r>
              <a:rPr lang="en-US" dirty="0"/>
              <a:t> and descendants</a:t>
            </a:r>
          </a:p>
        </p:txBody>
      </p:sp>
      <p:pic>
        <p:nvPicPr>
          <p:cNvPr id="5" name="Picture 4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833F0297-B0C7-CDD8-5F82-7FBE272B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13391"/>
            <a:ext cx="4466880" cy="309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01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48A6-652B-8D6F-CAAE-04E8631A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happens if a graph changes?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4CAF-8AAE-8CD7-F99F-C5EE7B72E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graphs are handled through:</a:t>
            </a:r>
          </a:p>
          <a:p>
            <a:pPr lvl="1"/>
            <a:r>
              <a:rPr lang="en-US" dirty="0"/>
              <a:t>Incremental updates to current version (batch or streaming)</a:t>
            </a:r>
          </a:p>
          <a:p>
            <a:pPr lvl="1"/>
            <a:r>
              <a:rPr lang="en-US" dirty="0"/>
              <a:t>Snapshots + cross-snapshot querying</a:t>
            </a:r>
          </a:p>
          <a:p>
            <a:pPr lvl="1"/>
            <a:endParaRPr lang="en-US" dirty="0"/>
          </a:p>
          <a:p>
            <a:r>
              <a:rPr lang="en-US" dirty="0"/>
              <a:t>Out-of-core dynamic graph processing systems:</a:t>
            </a:r>
          </a:p>
          <a:p>
            <a:pPr lvl="1"/>
            <a:r>
              <a:rPr lang="en-US" dirty="0"/>
              <a:t>Graph Databases</a:t>
            </a:r>
          </a:p>
          <a:p>
            <a:pPr lvl="1"/>
            <a:r>
              <a:rPr lang="en-US" dirty="0" err="1"/>
              <a:t>LiveGraph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756AE-4A26-1D37-59BF-BA4850AD760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Preprocessing Costs are often not amortized:</a:t>
            </a:r>
          </a:p>
          <a:p>
            <a:pPr lvl="1"/>
            <a:r>
              <a:rPr lang="en-US" dirty="0"/>
              <a:t>In-memory + incremental: yes</a:t>
            </a:r>
          </a:p>
          <a:p>
            <a:pPr lvl="1"/>
            <a:r>
              <a:rPr lang="en-US" dirty="0"/>
              <a:t>In-memory + rebuild CSR: no</a:t>
            </a:r>
          </a:p>
          <a:p>
            <a:pPr lvl="1"/>
            <a:r>
              <a:rPr lang="en-US" dirty="0"/>
              <a:t>Out-of-core + incremental: no because index might need to be rebuilt</a:t>
            </a:r>
          </a:p>
          <a:p>
            <a:pPr lvl="1"/>
            <a:r>
              <a:rPr lang="en-US" dirty="0"/>
              <a:t>Out-of-core + rebuild the data layout: no </a:t>
            </a:r>
          </a:p>
          <a:p>
            <a:pPr lvl="1"/>
            <a:endParaRPr lang="en-US" dirty="0"/>
          </a:p>
          <a:p>
            <a:r>
              <a:rPr lang="en-US" dirty="0"/>
              <a:t>Costs increase as size of the graph increases</a:t>
            </a:r>
          </a:p>
        </p:txBody>
      </p:sp>
    </p:spTree>
    <p:extLst>
      <p:ext uri="{BB962C8B-B14F-4D97-AF65-F5344CB8AC3E}">
        <p14:creationId xmlns:p14="http://schemas.microsoft.com/office/powerpoint/2010/main" val="1504514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BE4DD2B-1957-1279-B05D-AF867B78B60C}"/>
              </a:ext>
            </a:extLst>
          </p:cNvPr>
          <p:cNvSpPr/>
          <p:nvPr/>
        </p:nvSpPr>
        <p:spPr>
          <a:xfrm>
            <a:off x="2547525" y="0"/>
            <a:ext cx="5144400" cy="5143499"/>
          </a:xfrm>
          <a:prstGeom prst="ellipse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23AEB4C-022F-B3F7-DD99-41C6CDA74866}"/>
              </a:ext>
            </a:extLst>
          </p:cNvPr>
          <p:cNvSpPr/>
          <p:nvPr/>
        </p:nvSpPr>
        <p:spPr>
          <a:xfrm>
            <a:off x="3428752" y="274522"/>
            <a:ext cx="3381946" cy="4296096"/>
          </a:xfrm>
          <a:custGeom>
            <a:avLst/>
            <a:gdLst>
              <a:gd name="connsiteX0" fmla="*/ 1690973 w 3381946"/>
              <a:gd name="connsiteY0" fmla="*/ 0 h 4296096"/>
              <a:gd name="connsiteX1" fmla="*/ 3381946 w 3381946"/>
              <a:gd name="connsiteY1" fmla="*/ 2148048 h 4296096"/>
              <a:gd name="connsiteX2" fmla="*/ 1690973 w 3381946"/>
              <a:gd name="connsiteY2" fmla="*/ 4296096 h 4296096"/>
              <a:gd name="connsiteX3" fmla="*/ 0 w 3381946"/>
              <a:gd name="connsiteY3" fmla="*/ 2148048 h 4296096"/>
              <a:gd name="connsiteX4" fmla="*/ 1690973 w 3381946"/>
              <a:gd name="connsiteY4" fmla="*/ 0 h 429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1946" h="4296096">
                <a:moveTo>
                  <a:pt x="1690973" y="0"/>
                </a:moveTo>
                <a:cubicBezTo>
                  <a:pt x="2624872" y="0"/>
                  <a:pt x="3381946" y="961714"/>
                  <a:pt x="3381946" y="2148048"/>
                </a:cubicBezTo>
                <a:cubicBezTo>
                  <a:pt x="3381946" y="3334382"/>
                  <a:pt x="2624872" y="4296096"/>
                  <a:pt x="1690973" y="4296096"/>
                </a:cubicBezTo>
                <a:cubicBezTo>
                  <a:pt x="757074" y="4296096"/>
                  <a:pt x="0" y="3334382"/>
                  <a:pt x="0" y="2148048"/>
                </a:cubicBezTo>
                <a:cubicBezTo>
                  <a:pt x="0" y="961714"/>
                  <a:pt x="757074" y="0"/>
                  <a:pt x="1690973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651B24-B26D-CC27-7BA3-4C21FC8260E8}"/>
              </a:ext>
            </a:extLst>
          </p:cNvPr>
          <p:cNvSpPr>
            <a:spLocks noChangeAspect="1"/>
          </p:cNvSpPr>
          <p:nvPr/>
        </p:nvSpPr>
        <p:spPr>
          <a:xfrm>
            <a:off x="4292333" y="652993"/>
            <a:ext cx="1656647" cy="1656000"/>
          </a:xfrm>
          <a:prstGeom prst="ellipse">
            <a:avLst/>
          </a:prstGeom>
          <a:solidFill>
            <a:srgbClr val="0564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</a:t>
            </a:r>
            <a:br>
              <a:rPr lang="en-US" dirty="0"/>
            </a:br>
            <a:r>
              <a:rPr lang="en-US" dirty="0"/>
              <a:t>Analytics Systems</a:t>
            </a:r>
            <a:br>
              <a:rPr lang="en-US" dirty="0"/>
            </a:br>
            <a:r>
              <a:rPr lang="en-US" dirty="0"/>
              <a:t>(RO)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BD98CB-061D-DA19-4AC8-443C264EE824}"/>
              </a:ext>
            </a:extLst>
          </p:cNvPr>
          <p:cNvSpPr/>
          <p:nvPr/>
        </p:nvSpPr>
        <p:spPr>
          <a:xfrm>
            <a:off x="3791510" y="481887"/>
            <a:ext cx="2656432" cy="3459600"/>
          </a:xfrm>
          <a:prstGeom prst="ellipse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E7BE8F-F4D2-6CB2-40C3-3EE0944E1732}"/>
              </a:ext>
            </a:extLst>
          </p:cNvPr>
          <p:cNvSpPr/>
          <p:nvPr/>
        </p:nvSpPr>
        <p:spPr>
          <a:xfrm>
            <a:off x="3428753" y="274523"/>
            <a:ext cx="3381945" cy="429609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E7FEC4-2EC8-0FE1-01D9-626B9A74A3AB}"/>
              </a:ext>
            </a:extLst>
          </p:cNvPr>
          <p:cNvCxnSpPr>
            <a:cxnSpLocks/>
            <a:stCxn id="13" idx="4"/>
            <a:endCxn id="21" idx="2"/>
          </p:cNvCxnSpPr>
          <p:nvPr/>
        </p:nvCxnSpPr>
        <p:spPr>
          <a:xfrm flipH="1">
            <a:off x="957839" y="2308993"/>
            <a:ext cx="4162818" cy="1230828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C56181-7E6B-6ABC-0E6F-35B52BCEF7A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879897" y="109057"/>
            <a:ext cx="3240760" cy="543936"/>
          </a:xfrm>
          <a:prstGeom prst="line">
            <a:avLst/>
          </a:prstGeom>
          <a:ln w="12700">
            <a:solidFill>
              <a:schemeClr val="accent1">
                <a:shade val="95000"/>
                <a:satMod val="10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diagram of a graph&#10;&#10;Description automatically generated">
            <a:extLst>
              <a:ext uri="{FF2B5EF4-FFF2-40B4-BE49-F238E27FC236}">
                <a16:creationId xmlns:a16="http://schemas.microsoft.com/office/drawing/2014/main" id="{BEBFA0D6-D009-B187-F49A-841EA0676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" y="30313"/>
            <a:ext cx="1844117" cy="35095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1AF675E-E14D-DFB2-508B-07E7E9F574EC}"/>
              </a:ext>
            </a:extLst>
          </p:cNvPr>
          <p:cNvSpPr txBox="1"/>
          <p:nvPr/>
        </p:nvSpPr>
        <p:spPr>
          <a:xfrm>
            <a:off x="8054682" y="276194"/>
            <a:ext cx="881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Dynamic</a:t>
            </a:r>
            <a:br>
              <a:rPr lang="en-US" dirty="0"/>
            </a:br>
            <a:r>
              <a:rPr lang="en-US" dirty="0"/>
              <a:t>Graph</a:t>
            </a:r>
            <a:br>
              <a:rPr lang="en-US" dirty="0"/>
            </a:br>
            <a:r>
              <a:rPr lang="en-US" dirty="0"/>
              <a:t>Systems</a:t>
            </a:r>
            <a:br>
              <a:rPr lang="en-US" dirty="0"/>
            </a:br>
            <a:r>
              <a:rPr lang="en-US" dirty="0"/>
              <a:t>(RW)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E778D-8E58-7A0F-DF29-7A6F6E461971}"/>
              </a:ext>
            </a:extLst>
          </p:cNvPr>
          <p:cNvSpPr txBox="1"/>
          <p:nvPr/>
        </p:nvSpPr>
        <p:spPr>
          <a:xfrm>
            <a:off x="7891175" y="2155104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Transactions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E0B9E5-D6B1-7A90-21FC-CF784E47BC55}"/>
              </a:ext>
            </a:extLst>
          </p:cNvPr>
          <p:cNvSpPr txBox="1"/>
          <p:nvPr/>
        </p:nvSpPr>
        <p:spPr>
          <a:xfrm>
            <a:off x="7949448" y="2937834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Multi-Writer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060EFC-B6F1-CFED-1D06-23157C9988F0}"/>
              </a:ext>
            </a:extLst>
          </p:cNvPr>
          <p:cNvSpPr txBox="1"/>
          <p:nvPr/>
        </p:nvSpPr>
        <p:spPr>
          <a:xfrm>
            <a:off x="8065100" y="3941487"/>
            <a:ext cx="8611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Labeled</a:t>
            </a:r>
            <a:br>
              <a:rPr lang="en-US" dirty="0"/>
            </a:br>
            <a:r>
              <a:rPr lang="en-US" dirty="0"/>
              <a:t>Property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AFE8C8-7D07-B21D-0DC6-1600B4FD97E8}"/>
              </a:ext>
            </a:extLst>
          </p:cNvPr>
          <p:cNvCxnSpPr>
            <a:stCxn id="11" idx="5"/>
            <a:endCxn id="28" idx="1"/>
          </p:cNvCxnSpPr>
          <p:nvPr/>
        </p:nvCxnSpPr>
        <p:spPr>
          <a:xfrm flipV="1">
            <a:off x="6938545" y="4310819"/>
            <a:ext cx="1126555" cy="79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18CF2B-28A2-7568-6BE9-8617F5DD336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6710343" y="3091723"/>
            <a:ext cx="1239105" cy="12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3BEAF0-289F-FEB7-3C39-42B4A79E1021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6447942" y="2308993"/>
            <a:ext cx="14432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A19962-0F3B-594F-3510-0A74024DABE9}"/>
              </a:ext>
            </a:extLst>
          </p:cNvPr>
          <p:cNvCxnSpPr>
            <a:stCxn id="11" idx="7"/>
          </p:cNvCxnSpPr>
          <p:nvPr/>
        </p:nvCxnSpPr>
        <p:spPr>
          <a:xfrm>
            <a:off x="6938545" y="753248"/>
            <a:ext cx="1126555" cy="2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0470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5919</TotalTime>
  <Words>1284</Words>
  <Application>Microsoft Macintosh PowerPoint</Application>
  <PresentationFormat>On-screen Show (16:9)</PresentationFormat>
  <Paragraphs>334</Paragraphs>
  <Slides>26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Courier New</vt:lpstr>
      <vt:lpstr>Open Sans</vt:lpstr>
      <vt:lpstr>System Font Regular</vt:lpstr>
      <vt:lpstr>Simple Light</vt:lpstr>
      <vt:lpstr>Design Space for GPS</vt:lpstr>
      <vt:lpstr>Space of Graph Processing System</vt:lpstr>
      <vt:lpstr>Space of Graph Processing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Static GPS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you need to know to understand my thesis</vt:lpstr>
      <vt:lpstr>Graph Workloads</vt:lpstr>
      <vt:lpstr>PowerPoint Presentation</vt:lpstr>
      <vt:lpstr>PowerPoint Presentation</vt:lpstr>
      <vt:lpstr>Implementation</vt:lpstr>
      <vt:lpstr>Data Layouts – In memory</vt:lpstr>
      <vt:lpstr>Out-of-core system Design</vt:lpstr>
      <vt:lpstr>What happens if a graph changes?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7</cp:revision>
  <dcterms:modified xsi:type="dcterms:W3CDTF">2024-06-23T19:29:51Z</dcterms:modified>
</cp:coreProperties>
</file>