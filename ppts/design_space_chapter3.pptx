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256" r:id="rId2"/>
    <p:sldId id="257" r:id="rId3"/>
    <p:sldId id="296" r:id="rId4"/>
    <p:sldId id="297" r:id="rId5"/>
    <p:sldId id="298" r:id="rId6"/>
    <p:sldId id="281" r:id="rId7"/>
    <p:sldId id="305" r:id="rId8"/>
    <p:sldId id="299" r:id="rId9"/>
    <p:sldId id="301" r:id="rId10"/>
    <p:sldId id="306" r:id="rId11"/>
    <p:sldId id="307" r:id="rId12"/>
    <p:sldId id="303" r:id="rId13"/>
    <p:sldId id="302" r:id="rId14"/>
    <p:sldId id="308" r:id="rId15"/>
    <p:sldId id="310" r:id="rId16"/>
    <p:sldId id="311"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3173DA-4E4B-EE47-8B95-D08D6C48B788}">
          <p14:sldIdLst>
            <p14:sldId id="256"/>
            <p14:sldId id="257"/>
          </p14:sldIdLst>
        </p14:section>
        <p14:section name="3.1 Taxonomy of Graph Management Systems" id="{6EB313D0-851E-3041-960F-EAB4A7339D89}">
          <p14:sldIdLst>
            <p14:sldId id="296"/>
            <p14:sldId id="297"/>
          </p14:sldIdLst>
        </p14:section>
        <p14:section name="3.1.1 Static Graph Processing Systems" id="{E8293A1C-66FB-E34F-B19A-2CDFB2A01988}">
          <p14:sldIdLst>
            <p14:sldId id="298"/>
            <p14:sldId id="281"/>
            <p14:sldId id="305"/>
          </p14:sldIdLst>
        </p14:section>
        <p14:section name="3.1.2 Dynamic Graph Processing Systems" id="{8D0D0014-9E39-AE45-B9FF-D2674F8BC050}">
          <p14:sldIdLst>
            <p14:sldId id="299"/>
            <p14:sldId id="301"/>
          </p14:sldIdLst>
        </p14:section>
        <p14:section name="3.2 Data Structures Unify This Space" id="{FD283F3F-7718-1A4C-AF79-17FE1841C356}">
          <p14:sldIdLst>
            <p14:sldId id="306"/>
            <p14:sldId id="307"/>
            <p14:sldId id="303"/>
            <p14:sldId id="302"/>
          </p14:sldIdLst>
        </p14:section>
        <p14:section name="3.3 Systems for Property Graph" id="{DA207652-52D7-064E-8570-8CDE08AC096B}">
          <p14:sldIdLst>
            <p14:sldId id="308"/>
            <p14:sldId id="310"/>
            <p14:sldId id="311"/>
            <p14:sldId id="3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CE4"/>
    <a:srgbClr val="FFFEC4"/>
    <a:srgbClr val="CBFF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47"/>
    <p:restoredTop sz="71881"/>
  </p:normalViewPr>
  <p:slideViewPr>
    <p:cSldViewPr snapToGrid="0">
      <p:cViewPr varScale="1">
        <p:scale>
          <a:sx n="127" d="100"/>
          <a:sy n="127" d="100"/>
        </p:scale>
        <p:origin x="1736" y="176"/>
      </p:cViewPr>
      <p:guideLst/>
    </p:cSldViewPr>
  </p:slideViewPr>
  <p:outlineViewPr>
    <p:cViewPr>
      <p:scale>
        <a:sx n="33" d="100"/>
        <a:sy n="33" d="100"/>
      </p:scale>
      <p:origin x="0" y="0"/>
    </p:cViewPr>
  </p:outlineViewPr>
  <p:notesTextViewPr>
    <p:cViewPr>
      <p:scale>
        <a:sx n="120" d="100"/>
        <a:sy n="120" d="100"/>
      </p:scale>
      <p:origin x="0" y="0"/>
    </p:cViewPr>
  </p:notesTextViewPr>
  <p:notesViewPr>
    <p:cSldViewPr snapToGrid="0">
      <p:cViewPr varScale="1">
        <p:scale>
          <a:sx n="118" d="100"/>
          <a:sy n="118" d="100"/>
        </p:scale>
        <p:origin x="5160"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8FE4A7-B34A-5CAF-A662-018D57F360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8392DC-ACB1-DF00-DA60-2D5232B8D8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C6F1DE-5754-C44E-BFD2-3E7C8AF5F98F}" type="datetimeFigureOut">
              <a:rPr lang="en-US" smtClean="0"/>
              <a:t>6/24/24</a:t>
            </a:fld>
            <a:endParaRPr lang="en-US"/>
          </a:p>
        </p:txBody>
      </p:sp>
      <p:sp>
        <p:nvSpPr>
          <p:cNvPr id="4" name="Footer Placeholder 3">
            <a:extLst>
              <a:ext uri="{FF2B5EF4-FFF2-40B4-BE49-F238E27FC236}">
                <a16:creationId xmlns:a16="http://schemas.microsoft.com/office/drawing/2014/main" id="{139EEB7D-B4F7-9121-FC80-BE83248DA7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6A941EC-3019-54FC-8417-FDAEF1E8A4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5E1556-9A6F-BE41-A689-6D57B56A3D34}" type="slidenum">
              <a:rPr lang="en-US" smtClean="0"/>
              <a:t>‹#›</a:t>
            </a:fld>
            <a:endParaRPr lang="en-US"/>
          </a:p>
        </p:txBody>
      </p:sp>
    </p:spTree>
    <p:extLst>
      <p:ext uri="{BB962C8B-B14F-4D97-AF65-F5344CB8AC3E}">
        <p14:creationId xmlns:p14="http://schemas.microsoft.com/office/powerpoint/2010/main" val="13304287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51C81-6288-A44C-8F57-E481FE0FB415}" type="datetimeFigureOut">
              <a:rPr lang="en-US" smtClean="0"/>
              <a:t>6/24/24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50F01-2B0A-A343-84E7-95C408E80919}" type="slidenum">
              <a:rPr lang="en-US" smtClean="0"/>
              <a:t>‹#›</a:t>
            </a:fld>
            <a:endParaRPr lang="en-US"/>
          </a:p>
        </p:txBody>
      </p:sp>
    </p:spTree>
    <p:extLst>
      <p:ext uri="{BB962C8B-B14F-4D97-AF65-F5344CB8AC3E}">
        <p14:creationId xmlns:p14="http://schemas.microsoft.com/office/powerpoint/2010/main" val="2379562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2</a:t>
            </a:fld>
            <a:endParaRPr lang="en-US"/>
          </a:p>
        </p:txBody>
      </p:sp>
    </p:spTree>
    <p:extLst>
      <p:ext uri="{BB962C8B-B14F-4D97-AF65-F5344CB8AC3E}">
        <p14:creationId xmlns:p14="http://schemas.microsoft.com/office/powerpoint/2010/main" val="1192696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latin typeface="Calibri" panose="020F0502020204030204" pitchFamily="34" charset="0"/>
                <a:cs typeface="Calibri" panose="020F0502020204030204" pitchFamily="34" charset="0"/>
              </a:rPr>
              <a:t>It is quite likely that the relationships we are trying to model with graphs have a rich schema. The relationships themselves form a structure and can be used to compute some properties like connectivity /influence of nodes in a graph. </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The properties and relationships, on the other hand, define filtering primitives for selections and projections on the structure. </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We assume that a labeled property graph (potentially stored in a GDB)  is the ground truth from which its structure can be materialized. The structural graph “are homogeneous, composed simply of vertices, edges and, possibly, a weight attached to their elements.”</a:t>
            </a:r>
          </a:p>
          <a:p>
            <a:endParaRPr lang="en-US" sz="1800" dirty="0">
              <a:latin typeface="Calibri" panose="020F0502020204030204" pitchFamily="34" charset="0"/>
              <a:cs typeface="Calibri" panose="020F0502020204030204" pitchFamily="34" charset="0"/>
            </a:endParaRPr>
          </a:p>
          <a:p>
            <a:endParaRPr lang="en-US" sz="18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3E950F01-2B0A-A343-84E7-95C408E80919}" type="slidenum">
              <a:rPr lang="en-US" smtClean="0"/>
              <a:t>3</a:t>
            </a:fld>
            <a:endParaRPr lang="en-US"/>
          </a:p>
        </p:txBody>
      </p:sp>
    </p:spTree>
    <p:extLst>
      <p:ext uri="{BB962C8B-B14F-4D97-AF65-F5344CB8AC3E}">
        <p14:creationId xmlns:p14="http://schemas.microsoft.com/office/powerpoint/2010/main" val="2307060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a:t>
            </a:r>
            <a:r>
              <a:rPr lang="en-US" baseline="0" dirty="0"/>
              <a:t> first examine structural graphs. All graphs *can* change, and that provides us a feature for classification:</a:t>
            </a:r>
          </a:p>
          <a:p>
            <a:pPr marL="628650" lvl="1" indent="-171450">
              <a:buFont typeface="Arial" panose="020B0604020202020204" pitchFamily="34" charset="0"/>
              <a:buChar char="•"/>
            </a:pPr>
            <a:r>
              <a:rPr lang="en-US" baseline="0" dirty="0"/>
              <a:t>Read-Write graphs: also called dynamic graphs. Can evolve. Updates are either streaming or batch dynamic (applied in batches).</a:t>
            </a:r>
          </a:p>
          <a:p>
            <a:pPr marL="628650" lvl="1" indent="-171450">
              <a:buFont typeface="Arial" panose="020B0604020202020204" pitchFamily="34" charset="0"/>
              <a:buChar char="•"/>
            </a:pPr>
            <a:r>
              <a:rPr lang="en-US" baseline="0" dirty="0"/>
              <a:t>Read-Only graphs: these are point-in-time versions and do not change. Used for batch-analytics.</a:t>
            </a:r>
            <a:endParaRPr lang="en-US" dirty="0"/>
          </a:p>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4</a:t>
            </a:fld>
            <a:endParaRPr lang="en-US"/>
          </a:p>
        </p:txBody>
      </p:sp>
    </p:spTree>
    <p:extLst>
      <p:ext uri="{BB962C8B-B14F-4D97-AF65-F5344CB8AC3E}">
        <p14:creationId xmlns:p14="http://schemas.microsoft.com/office/powerpoint/2010/main" val="3872877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Structural graph s and we only </a:t>
            </a:r>
            <a:r>
              <a:rPr lang="en-US" dirty="0" err="1"/>
              <a:t>fo</a:t>
            </a:r>
            <a:r>
              <a:rPr lang="en-US" dirty="0"/>
              <a:t> analytics on them</a:t>
            </a:r>
          </a:p>
          <a:p>
            <a:pPr marL="171450" indent="-171450">
              <a:buFont typeface="Arial" panose="020B0604020202020204" pitchFamily="34" charset="0"/>
              <a:buChar char="•"/>
            </a:pPr>
            <a:r>
              <a:rPr lang="en-US" dirty="0"/>
              <a:t>Static graphs have been the primary focus of the graph processing systems research for the past decade.</a:t>
            </a:r>
          </a:p>
          <a:p>
            <a:pPr marL="171450" indent="-171450">
              <a:buFont typeface="Arial" panose="020B0604020202020204" pitchFamily="34" charset="0"/>
              <a:buChar char="•"/>
            </a:pPr>
            <a:r>
              <a:rPr lang="en-US" dirty="0"/>
              <a:t>Graphs can be small and fit in main memory on a single machine:</a:t>
            </a:r>
          </a:p>
          <a:p>
            <a:pPr marL="628650" lvl="1" indent="-171450">
              <a:buFont typeface="Arial" panose="020B0604020202020204" pitchFamily="34" charset="0"/>
              <a:buChar char="•"/>
            </a:pPr>
            <a:r>
              <a:rPr lang="en-US" dirty="0"/>
              <a:t>Shared-memory systems are very performant on these. Ex: Gemini, </a:t>
            </a:r>
            <a:r>
              <a:rPr lang="en-US" dirty="0" err="1"/>
              <a:t>Ligra</a:t>
            </a:r>
            <a:r>
              <a:rPr lang="en-US" dirty="0"/>
              <a:t>, </a:t>
            </a:r>
            <a:r>
              <a:rPr lang="en-US" dirty="0" err="1"/>
              <a:t>GraphMat</a:t>
            </a:r>
            <a:r>
              <a:rPr lang="en-US" dirty="0"/>
              <a:t>, Galois, GPOP.</a:t>
            </a:r>
          </a:p>
          <a:p>
            <a:pPr marL="171450" lvl="0" indent="-171450">
              <a:buFont typeface="Arial" panose="020B0604020202020204" pitchFamily="34" charset="0"/>
              <a:buChar char="•"/>
            </a:pPr>
            <a:r>
              <a:rPr lang="en-US" dirty="0"/>
              <a:t>Graphs too large might need to be distributed on a compute cluster to get enough aggregate RAM.</a:t>
            </a:r>
          </a:p>
          <a:p>
            <a:pPr marL="628650" lvl="1" indent="-171450">
              <a:buFont typeface="Arial" panose="020B0604020202020204" pitchFamily="34" charset="0"/>
              <a:buChar char="•"/>
            </a:pPr>
            <a:r>
              <a:rPr lang="en-US" dirty="0"/>
              <a:t>Communication overheads are too large/ under-perform single-threaded programs sometimes</a:t>
            </a:r>
          </a:p>
          <a:p>
            <a:pPr marL="628650" lvl="1" indent="-171450">
              <a:buFont typeface="Arial" panose="020B0604020202020204" pitchFamily="34" charset="0"/>
              <a:buChar char="•"/>
            </a:pPr>
            <a:r>
              <a:rPr lang="en-US" dirty="0"/>
              <a:t>Ex: </a:t>
            </a:r>
            <a:r>
              <a:rPr lang="en-US" dirty="0" err="1"/>
              <a:t>GraphX</a:t>
            </a:r>
            <a:r>
              <a:rPr lang="en-US" dirty="0"/>
              <a:t>, Distributed </a:t>
            </a:r>
            <a:r>
              <a:rPr lang="en-US" dirty="0" err="1"/>
              <a:t>GraphLab</a:t>
            </a:r>
            <a:r>
              <a:rPr lang="en-US" dirty="0"/>
              <a:t>, </a:t>
            </a:r>
            <a:r>
              <a:rPr lang="en-US" dirty="0" err="1"/>
              <a:t>PowerLyra</a:t>
            </a:r>
            <a:r>
              <a:rPr lang="en-US" dirty="0"/>
              <a:t>, </a:t>
            </a:r>
            <a:r>
              <a:rPr lang="en-US" dirty="0" err="1"/>
              <a:t>PowerGraph</a:t>
            </a:r>
            <a:endParaRPr lang="en-US" dirty="0"/>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Alternatively, graphs can be stored on disk and streamed to RAM for processing. These systems are called </a:t>
            </a:r>
            <a:r>
              <a:rPr lang="en-US" b="1" dirty="0"/>
              <a:t>out-of-core systems</a:t>
            </a:r>
          </a:p>
          <a:p>
            <a:pPr marL="628650" lvl="1" indent="-171450">
              <a:buFont typeface="Arial" panose="020B0604020202020204" pitchFamily="34" charset="0"/>
              <a:buChar char="•"/>
            </a:pPr>
            <a:r>
              <a:rPr lang="en-US" dirty="0"/>
              <a:t>The graphs are stored on disk in layouts that maximize the sequential access to neighborhoods.</a:t>
            </a:r>
          </a:p>
          <a:p>
            <a:pPr marL="628650" lvl="1" indent="-171450">
              <a:buFont typeface="Arial" panose="020B0604020202020204" pitchFamily="34" charset="0"/>
              <a:buChar char="•"/>
            </a:pPr>
            <a:r>
              <a:rPr lang="en-US" dirty="0"/>
              <a:t>Ex: </a:t>
            </a:r>
            <a:r>
              <a:rPr lang="en-US" dirty="0" err="1"/>
              <a:t>Graphchi</a:t>
            </a:r>
            <a:r>
              <a:rPr lang="en-US" dirty="0"/>
              <a:t>, X-Stream, </a:t>
            </a:r>
            <a:r>
              <a:rPr lang="en-US" dirty="0" err="1"/>
              <a:t>TurboGraph</a:t>
            </a:r>
            <a:r>
              <a:rPr lang="en-US" dirty="0"/>
              <a:t>, Lumos, V-Part, Wonderland, </a:t>
            </a:r>
            <a:r>
              <a:rPr lang="en-US" dirty="0" err="1"/>
              <a:t>GridGraph</a:t>
            </a:r>
            <a:endParaRPr lang="en-US" dirty="0"/>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Out-of-core systems are designed for the most severely memory constrained environments.</a:t>
            </a:r>
          </a:p>
          <a:p>
            <a:pPr marL="628650" lvl="1" indent="-171450">
              <a:buFont typeface="Arial" panose="020B0604020202020204" pitchFamily="34" charset="0"/>
              <a:buChar char="•"/>
            </a:pPr>
            <a:r>
              <a:rPr lang="en-US" dirty="0"/>
              <a:t>This is not true : modest workstations easily pack ~100 GB of RAM</a:t>
            </a:r>
          </a:p>
          <a:p>
            <a:pPr marL="628650" lvl="1" indent="-171450">
              <a:buFont typeface="Arial" panose="020B0604020202020204" pitchFamily="34" charset="0"/>
              <a:buChar char="•"/>
            </a:pPr>
            <a:r>
              <a:rPr lang="en-US" dirty="0"/>
              <a:t>A mid-point in the spectrum of in-mem/out-of-core systems are </a:t>
            </a:r>
            <a:r>
              <a:rPr lang="en-US" b="1" dirty="0"/>
              <a:t>Semi External Systems </a:t>
            </a:r>
            <a:endParaRPr lang="en-US" b="0" dirty="0"/>
          </a:p>
          <a:p>
            <a:pPr marL="628650" lvl="1" indent="-171450">
              <a:buFont typeface="Arial" panose="020B0604020202020204" pitchFamily="34" charset="0"/>
              <a:buChar char="•"/>
            </a:pPr>
            <a:r>
              <a:rPr lang="en-US" b="0" dirty="0"/>
              <a:t>These systems store some part of the graph in-memory (likely the vertex state and updates) and stream edges from the disk.</a:t>
            </a:r>
          </a:p>
          <a:p>
            <a:pPr marL="628650" lvl="1" indent="-171450">
              <a:buFont typeface="Arial" panose="020B0604020202020204" pitchFamily="34" charset="0"/>
              <a:buChar char="•"/>
            </a:pPr>
            <a:r>
              <a:rPr lang="en-US" b="0" dirty="0"/>
              <a:t>If the memory budget exceeds the size of the graph, store the graph entirely in RAM</a:t>
            </a:r>
          </a:p>
          <a:p>
            <a:pPr marL="628650" lvl="1" indent="-171450">
              <a:buFont typeface="Arial" panose="020B0604020202020204" pitchFamily="34" charset="0"/>
              <a:buChar char="•"/>
            </a:pPr>
            <a:r>
              <a:rPr lang="en-US" b="0" dirty="0"/>
              <a:t>Some systems are strictly semi-external and are designed to operate in that fashion. Ex: </a:t>
            </a:r>
            <a:r>
              <a:rPr lang="en-US" b="0" dirty="0" err="1"/>
              <a:t>FlashGraph</a:t>
            </a:r>
            <a:r>
              <a:rPr lang="en-US" b="0" dirty="0"/>
              <a:t>, CLIP, </a:t>
            </a:r>
            <a:r>
              <a:rPr lang="en-US" b="0" dirty="0" err="1"/>
              <a:t>AsyncStripe</a:t>
            </a:r>
            <a:r>
              <a:rPr lang="en-US" b="0" dirty="0"/>
              <a:t>, Blaze, </a:t>
            </a:r>
            <a:r>
              <a:rPr lang="en-US" b="0" dirty="0" err="1"/>
              <a:t>AsyncStripe</a:t>
            </a:r>
            <a:endParaRPr lang="en-US" b="0" dirty="0"/>
          </a:p>
          <a:p>
            <a:pPr marL="628650" lvl="1" indent="-171450">
              <a:buFont typeface="Arial" panose="020B0604020202020204" pitchFamily="34" charset="0"/>
              <a:buChar char="•"/>
            </a:pPr>
            <a:r>
              <a:rPr lang="en-US" b="0" dirty="0"/>
              <a:t>Other systems use an optional semi-external mode when the memory budget allows it. Ex: </a:t>
            </a:r>
            <a:r>
              <a:rPr lang="en-US" b="0" dirty="0" err="1"/>
              <a:t>GraphChi</a:t>
            </a:r>
            <a:r>
              <a:rPr lang="en-US" b="0" dirty="0"/>
              <a:t>, X-Stream.</a:t>
            </a:r>
            <a:endParaRPr lang="en-US" b="1" dirty="0"/>
          </a:p>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5</a:t>
            </a:fld>
            <a:endParaRPr lang="en-US"/>
          </a:p>
        </p:txBody>
      </p:sp>
    </p:spTree>
    <p:extLst>
      <p:ext uri="{BB962C8B-B14F-4D97-AF65-F5344CB8AC3E}">
        <p14:creationId xmlns:p14="http://schemas.microsoft.com/office/powerpoint/2010/main" val="453278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graph processing systems can be </a:t>
            </a:r>
            <a:r>
              <a:rPr lang="en-US" dirty="0" err="1"/>
              <a:t>futher</a:t>
            </a:r>
            <a:r>
              <a:rPr lang="en-US" dirty="0"/>
              <a:t>/alternatively classified according to their programming model and computation model. </a:t>
            </a:r>
          </a:p>
          <a:p>
            <a:endParaRPr lang="en-US" dirty="0"/>
          </a:p>
          <a:p>
            <a:r>
              <a:rPr lang="en-US" b="1" dirty="0"/>
              <a:t>Computation Model</a:t>
            </a:r>
            <a:r>
              <a:rPr lang="en-US" dirty="0"/>
              <a:t>: This classification identifies the phases involved in the computation model used by a system. The user provides compute functions for each phase.</a:t>
            </a:r>
          </a:p>
          <a:p>
            <a:pPr marL="228600" indent="-228600">
              <a:buFont typeface="+mj-lt"/>
              <a:buAutoNum type="arabicPeriod"/>
            </a:pPr>
            <a:r>
              <a:rPr lang="en-US" dirty="0"/>
              <a:t>Bulk-Synchronous Processing: This defines the “push” style of computation. Computations proceed in phases: Compute – Shuffle Barrier – Push result to neighbors.</a:t>
            </a:r>
          </a:p>
          <a:p>
            <a:pPr marL="228600" indent="-228600">
              <a:buFont typeface="+mj-lt"/>
              <a:buAutoNum type="arabicPeriod"/>
            </a:pPr>
            <a:r>
              <a:rPr lang="en-US" dirty="0"/>
              <a:t>Asynchronous Processing: There is no communication barrier, the computation always uses the most recent updates.</a:t>
            </a:r>
          </a:p>
          <a:p>
            <a:pPr marL="228600" indent="-228600">
              <a:buFont typeface="+mj-lt"/>
              <a:buAutoNum type="arabicPeriod"/>
            </a:pPr>
            <a:r>
              <a:rPr lang="en-US" dirty="0"/>
              <a:t>GAS: this model defines the “pull style” of processing. Gather (pull updates), use these to compute and update the local state. </a:t>
            </a:r>
          </a:p>
          <a:p>
            <a:pPr marL="228600" indent="-228600">
              <a:buFont typeface="+mj-lt"/>
              <a:buAutoNum type="arabicPeriod"/>
            </a:pPr>
            <a:endParaRPr lang="en-US" dirty="0"/>
          </a:p>
          <a:p>
            <a:pPr marL="0" indent="0">
              <a:buFont typeface="+mj-lt"/>
              <a:buNone/>
            </a:pPr>
            <a:r>
              <a:rPr lang="en-US" dirty="0"/>
              <a:t>The computation model is independent of scheduling – the vertices can be scheduled in interesting ways.</a:t>
            </a:r>
          </a:p>
          <a:p>
            <a:pPr marL="0" indent="0">
              <a:buFont typeface="+mj-lt"/>
              <a:buNone/>
            </a:pPr>
            <a:endParaRPr lang="en-US" dirty="0"/>
          </a:p>
          <a:p>
            <a:pPr marL="0" indent="0">
              <a:buFont typeface="+mj-lt"/>
              <a:buNone/>
            </a:pPr>
            <a:r>
              <a:rPr lang="en-US" b="1" dirty="0"/>
              <a:t>Programming Model: </a:t>
            </a:r>
            <a:r>
              <a:rPr lang="en-US" b="0" dirty="0"/>
              <a:t>defines the unit of computation that is performed on every step of the computation model</a:t>
            </a:r>
          </a:p>
          <a:p>
            <a:pPr marL="228600" indent="-228600">
              <a:buFont typeface="+mj-lt"/>
              <a:buAutoNum type="arabicPeriod"/>
            </a:pPr>
            <a:r>
              <a:rPr lang="en-US" sz="1200" b="1" dirty="0"/>
              <a:t>Vertex Centric:</a:t>
            </a:r>
          </a:p>
          <a:p>
            <a:pPr marL="685800" lvl="1" indent="-228600">
              <a:buFont typeface="+mj-lt"/>
              <a:buAutoNum type="arabicPeriod"/>
            </a:pPr>
            <a:r>
              <a:rPr lang="en-US" sz="1200" dirty="0"/>
              <a:t>computation defined in terms of vertex programs</a:t>
            </a:r>
          </a:p>
          <a:p>
            <a:pPr marL="685800" lvl="1" indent="-228600">
              <a:buFont typeface="+mj-lt"/>
              <a:buAutoNum type="arabicPeriod"/>
            </a:pPr>
            <a:r>
              <a:rPr lang="en-US" sz="1200" dirty="0"/>
              <a:t>Depends on self state + neighborhood state</a:t>
            </a:r>
          </a:p>
          <a:p>
            <a:pPr marL="685800" lvl="1" indent="-228600">
              <a:buFont typeface="+mj-lt"/>
              <a:buAutoNum type="arabicPeriod"/>
            </a:pPr>
            <a:r>
              <a:rPr lang="en-US" sz="1200" dirty="0"/>
              <a:t>Needs: </a:t>
            </a:r>
            <a:r>
              <a:rPr lang="en-US" sz="1200" dirty="0">
                <a:latin typeface="Courier New" panose="02070309020205020404" pitchFamily="49" charset="0"/>
                <a:cs typeface="Courier New" panose="02070309020205020404" pitchFamily="49" charset="0"/>
              </a:rPr>
              <a:t>compute(), </a:t>
            </a:r>
            <a:r>
              <a:rPr lang="en-US" sz="1200" dirty="0" err="1">
                <a:latin typeface="Courier New" panose="02070309020205020404" pitchFamily="49" charset="0"/>
                <a:cs typeface="Courier New" panose="02070309020205020404" pitchFamily="49" charset="0"/>
              </a:rPr>
              <a:t>get_value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update_value</a:t>
            </a:r>
            <a:r>
              <a:rPr lang="en-US" sz="1200" dirty="0">
                <a:latin typeface="Courier New" panose="02070309020205020404" pitchFamily="49" charset="0"/>
                <a:cs typeface="Courier New" panose="02070309020205020404" pitchFamily="49" charset="0"/>
              </a:rPr>
              <a:t>()</a:t>
            </a:r>
          </a:p>
          <a:p>
            <a:pPr marL="228600" lvl="0" indent="-228600">
              <a:buFont typeface="+mj-lt"/>
              <a:buAutoNum type="arabicPeriod"/>
            </a:pPr>
            <a:r>
              <a:rPr lang="en-US" sz="1200" b="1" dirty="0"/>
              <a:t>Edge Centric</a:t>
            </a:r>
          </a:p>
          <a:p>
            <a:pPr marL="685800" lvl="1" indent="-228600">
              <a:buFont typeface="+mj-lt"/>
              <a:buAutoNum type="arabicPeriod"/>
            </a:pPr>
            <a:r>
              <a:rPr lang="en-US" sz="1200" dirty="0"/>
              <a:t>computation defined in terms of edge programs</a:t>
            </a:r>
          </a:p>
          <a:p>
            <a:pPr marL="685800" lvl="1" indent="-228600">
              <a:buFont typeface="+mj-lt"/>
              <a:buAutoNum type="arabicPeriod"/>
            </a:pPr>
            <a:r>
              <a:rPr lang="en-US" sz="1200" dirty="0"/>
              <a:t>Edge Scatter sends update over e; Edge Gather applies update to </a:t>
            </a:r>
            <a:r>
              <a:rPr lang="en-US" sz="1200" dirty="0" err="1"/>
              <a:t>e.dest</a:t>
            </a:r>
            <a:endParaRPr lang="en-US" sz="1200" dirty="0"/>
          </a:p>
          <a:p>
            <a:pPr marL="685800" lvl="1" indent="-228600">
              <a:buFont typeface="+mj-lt"/>
              <a:buAutoNum type="arabicPeriod"/>
            </a:pPr>
            <a:r>
              <a:rPr lang="en-US" sz="1200" dirty="0"/>
              <a:t>Needs: </a:t>
            </a:r>
            <a:r>
              <a:rPr lang="en-US" sz="1200" dirty="0" err="1">
                <a:latin typeface="Courier New" panose="02070309020205020404" pitchFamily="49" charset="0"/>
                <a:cs typeface="Courier New" panose="02070309020205020404" pitchFamily="49" charset="0"/>
              </a:rPr>
              <a:t>edge_scatter</a:t>
            </a:r>
            <a:r>
              <a:rPr lang="en-US" sz="1200" dirty="0">
                <a:latin typeface="Courier New" panose="02070309020205020404" pitchFamily="49" charset="0"/>
                <a:cs typeface="Courier New" panose="02070309020205020404" pitchFamily="49" charset="0"/>
              </a:rPr>
              <a:t>(e), </a:t>
            </a:r>
            <a:r>
              <a:rPr lang="en-US" sz="1200" dirty="0" err="1">
                <a:latin typeface="Courier New" panose="02070309020205020404" pitchFamily="49" charset="0"/>
                <a:cs typeface="Courier New" panose="02070309020205020404" pitchFamily="49" charset="0"/>
              </a:rPr>
              <a:t>edge_gather</a:t>
            </a:r>
            <a:r>
              <a:rPr lang="en-US" sz="1200" dirty="0">
                <a:latin typeface="Courier New" panose="02070309020205020404" pitchFamily="49" charset="0"/>
                <a:cs typeface="Courier New" panose="02070309020205020404" pitchFamily="49" charset="0"/>
              </a:rPr>
              <a:t>(u)</a:t>
            </a:r>
          </a:p>
          <a:p>
            <a:pPr marL="228600" lvl="0" indent="-228600">
              <a:buFont typeface="+mj-lt"/>
              <a:buAutoNum type="arabicPeriod"/>
            </a:pPr>
            <a:r>
              <a:rPr lang="en-US" sz="1200" b="1" dirty="0"/>
              <a:t>Partition Centric</a:t>
            </a:r>
          </a:p>
          <a:p>
            <a:pPr marL="685800" lvl="1" indent="-228600">
              <a:buFont typeface="+mj-lt"/>
              <a:buAutoNum type="arabicPeriod"/>
            </a:pPr>
            <a:r>
              <a:rPr lang="en-US" sz="1200" dirty="0"/>
              <a:t>computation defined in terms of partitions </a:t>
            </a:r>
          </a:p>
          <a:p>
            <a:pPr marL="685800" lvl="1" indent="-228600">
              <a:buFont typeface="+mj-lt"/>
              <a:buAutoNum type="arabicPeriod"/>
            </a:pPr>
            <a:r>
              <a:rPr lang="en-US" sz="1200" dirty="0"/>
              <a:t>Done to reduce cross-partition communication</a:t>
            </a:r>
          </a:p>
          <a:p>
            <a:pPr marL="228600" lvl="0" indent="-228600">
              <a:buFont typeface="+mj-lt"/>
              <a:buAutoNum type="arabicPeriod"/>
            </a:pPr>
            <a:endParaRPr lang="en-US" sz="1200" dirty="0">
              <a:latin typeface="Courier New" panose="02070309020205020404" pitchFamily="49" charset="0"/>
              <a:cs typeface="Courier New" panose="02070309020205020404" pitchFamily="49" charset="0"/>
            </a:endParaRPr>
          </a:p>
          <a:p>
            <a:pPr marL="0" indent="0">
              <a:buFont typeface="+mj-lt"/>
              <a:buNone/>
            </a:pPr>
            <a:endParaRPr lang="en-US" b="1" dirty="0"/>
          </a:p>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6</a:t>
            </a:fld>
            <a:endParaRPr lang="en-US"/>
          </a:p>
        </p:txBody>
      </p:sp>
    </p:spTree>
    <p:extLst>
      <p:ext uri="{BB962C8B-B14F-4D97-AF65-F5344CB8AC3E}">
        <p14:creationId xmlns:p14="http://schemas.microsoft.com/office/powerpoint/2010/main" val="1229448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1" dirty="0"/>
          </a:p>
          <a:p>
            <a:r>
              <a:rPr lang="en-US" dirty="0"/>
              <a:t>This concludes our taxonomy of Static GPSs</a:t>
            </a:r>
          </a:p>
        </p:txBody>
      </p:sp>
      <p:sp>
        <p:nvSpPr>
          <p:cNvPr id="4" name="Slide Number Placeholder 3"/>
          <p:cNvSpPr>
            <a:spLocks noGrp="1"/>
          </p:cNvSpPr>
          <p:nvPr>
            <p:ph type="sldNum" sz="quarter" idx="5"/>
          </p:nvPr>
        </p:nvSpPr>
        <p:spPr/>
        <p:txBody>
          <a:bodyPr/>
          <a:lstStyle/>
          <a:p>
            <a:fld id="{3E950F01-2B0A-A343-84E7-95C408E80919}" type="slidenum">
              <a:rPr lang="en-US" smtClean="0"/>
              <a:t>7</a:t>
            </a:fld>
            <a:endParaRPr lang="en-US"/>
          </a:p>
        </p:txBody>
      </p:sp>
    </p:spTree>
    <p:extLst>
      <p:ext uri="{BB962C8B-B14F-4D97-AF65-F5344CB8AC3E}">
        <p14:creationId xmlns:p14="http://schemas.microsoft.com/office/powerpoint/2010/main" val="2418562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Read-Write systems handle evolving graphs. The updates to the graph structure can be applied in many ways:</a:t>
            </a:r>
          </a:p>
          <a:p>
            <a:r>
              <a:rPr lang="en-US" dirty="0"/>
              <a:t>1. Streaming updates: the updates are applied to the current version of the graph directly.</a:t>
            </a:r>
          </a:p>
          <a:p>
            <a:r>
              <a:rPr lang="en-US" dirty="0"/>
              <a:t>2. Batched streaming: The updates are batched and then applied to the graph to produce a new version. </a:t>
            </a:r>
          </a:p>
          <a:p>
            <a:endParaRPr lang="en-US" dirty="0"/>
          </a:p>
          <a:p>
            <a:r>
              <a:rPr lang="en-US" dirty="0"/>
              <a:t>Depending on the type of system, there are 3 common strategies employed to safely apply changes to the graph while a computation might be running. </a:t>
            </a:r>
          </a:p>
          <a:p>
            <a:pPr marL="228600" indent="-228600">
              <a:buFont typeface="+mj-lt"/>
              <a:buAutoNum type="arabicPeriod"/>
            </a:pPr>
            <a:r>
              <a:rPr lang="en-US" b="1" dirty="0"/>
              <a:t>Incremental Maintenance</a:t>
            </a:r>
            <a:r>
              <a:rPr lang="en-US" dirty="0"/>
              <a:t>: A system can choose to batch updates and apply them to a “current version” of the structural graph. As the update is being applied, any ongoing computations use an additional transformation function that is used to apply the batched changes to the graph in a way that produces the same result as would be produced by the algorithm running on the modified graph directly. </a:t>
            </a:r>
          </a:p>
          <a:p>
            <a:pPr marL="228600" indent="-228600">
              <a:buFont typeface="+mj-lt"/>
              <a:buAutoNum type="arabicPeriod"/>
            </a:pPr>
            <a:r>
              <a:rPr lang="en-US" b="1" dirty="0"/>
              <a:t>Snapshot Based Isolation</a:t>
            </a:r>
            <a:r>
              <a:rPr lang="en-US" dirty="0"/>
              <a:t>: All updates create versions of the graph and timestamps help to define which version of the graph a computation should use. Examples include </a:t>
            </a:r>
            <a:r>
              <a:rPr lang="en-US" dirty="0" err="1"/>
              <a:t>GraphOne</a:t>
            </a:r>
            <a:r>
              <a:rPr lang="en-US" dirty="0"/>
              <a:t> (archiving from edge list to adjacency list creates snapshots), LLAMA (explicit snapshots created as the graph evolves), and STINGER &lt;I can’t figure out exactly what it does. I have a feeling this has no semantic guarantees about insertions&gt;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ASPEN is also a snapshot-based system that operates like WAFL – a new subtree is constructed each time a vertex receives an update in its neighborhood. ASPEN uses a tree-like data structure that optimizes the amount of internal-node rewriting needed to update the tree. ASPEN is a single-writer system.</a:t>
            </a:r>
          </a:p>
          <a:p>
            <a:pPr marL="685800" lvl="1" indent="-228600">
              <a:buFont typeface="+mj-lt"/>
              <a:buAutoNum type="arabicPeriod"/>
            </a:pPr>
            <a:endParaRPr lang="en-US" dirty="0"/>
          </a:p>
          <a:p>
            <a:pPr marL="228600" indent="-228600">
              <a:buFont typeface="+mj-lt"/>
              <a:buAutoNum type="arabicPeriod"/>
            </a:pPr>
            <a:endParaRPr lang="en-US" dirty="0"/>
          </a:p>
          <a:p>
            <a:pPr marL="228600" indent="-228600">
              <a:buFont typeface="+mj-lt"/>
              <a:buAutoNum type="arabicPeriod"/>
            </a:pPr>
            <a:r>
              <a:rPr lang="en-US" dirty="0"/>
              <a:t>STINGER has no consistency guarantees – inconsistent snapshots</a:t>
            </a:r>
          </a:p>
          <a:p>
            <a:pPr marL="228600" indent="-228600">
              <a:buFont typeface="+mj-lt"/>
              <a:buAutoNum type="arabicPeriod"/>
            </a:pPr>
            <a:endParaRPr lang="en-US" dirty="0"/>
          </a:p>
          <a:p>
            <a:pPr marL="228600" indent="-228600">
              <a:buFont typeface="+mj-lt"/>
              <a:buAutoNum type="arabicPeriod"/>
            </a:pPr>
            <a:r>
              <a:rPr lang="en-US" dirty="0"/>
              <a:t>Amount of control over the updates: no control, batch dynamic (</a:t>
            </a:r>
            <a:r>
              <a:rPr lang="en-US" dirty="0" err="1"/>
              <a:t>kickstarter</a:t>
            </a:r>
            <a:r>
              <a:rPr lang="en-US" dirty="0"/>
              <a:t>/</a:t>
            </a:r>
            <a:r>
              <a:rPr lang="en-US" dirty="0" err="1"/>
              <a:t>graphbolt</a:t>
            </a:r>
            <a:r>
              <a:rPr lang="en-US" dirty="0"/>
              <a:t>), snapshots, transactional </a:t>
            </a:r>
            <a:r>
              <a:rPr lang="en-US" dirty="0">
                <a:sym typeface="Wingdings" pitchFamily="2" charset="2"/>
              </a:rPr>
              <a:t> figure out</a:t>
            </a:r>
            <a:endParaRPr lang="en-US" dirty="0"/>
          </a:p>
          <a:p>
            <a:pPr marL="228600" indent="-228600">
              <a:buFont typeface="+mj-lt"/>
              <a:buAutoNum type="arabicPeriod"/>
            </a:pPr>
            <a:endParaRPr lang="en-US" dirty="0"/>
          </a:p>
          <a:p>
            <a:pPr marL="228600" indent="-228600">
              <a:buFont typeface="+mj-lt"/>
              <a:buAutoNum type="arabicPeriod"/>
            </a:pPr>
            <a:r>
              <a:rPr lang="en-US" dirty="0"/>
              <a:t>Another axis for classification of these systems is whether they store the </a:t>
            </a:r>
            <a:r>
              <a:rPr lang="en-US" b="1" dirty="0"/>
              <a:t>graph in memory or on disk.</a:t>
            </a:r>
            <a:r>
              <a:rPr lang="en-US" dirty="0"/>
              <a:t> LLAMA uses persistent snapshots and reads them into main memory as needed. The other systems work in memory. </a:t>
            </a:r>
            <a:r>
              <a:rPr lang="en-US" dirty="0" err="1"/>
              <a:t>GraphOne</a:t>
            </a:r>
            <a:r>
              <a:rPr lang="en-US" dirty="0"/>
              <a:t> has a write ahead log, but they disable it during their experiments.</a:t>
            </a:r>
          </a:p>
        </p:txBody>
      </p:sp>
      <p:sp>
        <p:nvSpPr>
          <p:cNvPr id="4" name="Slide Number Placeholder 3"/>
          <p:cNvSpPr>
            <a:spLocks noGrp="1"/>
          </p:cNvSpPr>
          <p:nvPr>
            <p:ph type="sldNum" sz="quarter" idx="5"/>
          </p:nvPr>
        </p:nvSpPr>
        <p:spPr/>
        <p:txBody>
          <a:bodyPr/>
          <a:lstStyle/>
          <a:p>
            <a:fld id="{3E950F01-2B0A-A343-84E7-95C408E80919}" type="slidenum">
              <a:rPr lang="en-US" smtClean="0"/>
              <a:t>8</a:t>
            </a:fld>
            <a:endParaRPr lang="en-US"/>
          </a:p>
        </p:txBody>
      </p:sp>
    </p:spTree>
    <p:extLst>
      <p:ext uri="{BB962C8B-B14F-4D97-AF65-F5344CB8AC3E}">
        <p14:creationId xmlns:p14="http://schemas.microsoft.com/office/powerpoint/2010/main" val="386088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to design a dynamic graph processing system is to use transactions for applying updates to the graph.</a:t>
            </a:r>
          </a:p>
          <a:p>
            <a:endParaRPr lang="en-US" dirty="0"/>
          </a:p>
          <a:p>
            <a:r>
              <a:rPr lang="en-US" dirty="0"/>
              <a:t>Transactions help a system provide some/all of the ACID guarantees that a data management system strives to provide. </a:t>
            </a:r>
          </a:p>
          <a:p>
            <a:endParaRPr lang="en-US" dirty="0"/>
          </a:p>
          <a:p>
            <a:r>
              <a:rPr lang="en-US" dirty="0"/>
              <a:t>Most transactional dynamic GPS are in-memory, with the clear outlier being </a:t>
            </a:r>
            <a:r>
              <a:rPr lang="en-US" dirty="0" err="1"/>
              <a:t>LiveGraph</a:t>
            </a:r>
            <a:r>
              <a:rPr lang="en-US" dirty="0"/>
              <a:t> that uses </a:t>
            </a:r>
            <a:r>
              <a:rPr lang="en-US" dirty="0" err="1"/>
              <a:t>mmap</a:t>
            </a:r>
            <a:r>
              <a:rPr lang="en-US" dirty="0"/>
              <a:t> to provide in-memory behavior with persistence benefits.</a:t>
            </a:r>
          </a:p>
          <a:p>
            <a:endParaRPr lang="en-US" dirty="0"/>
          </a:p>
          <a:p>
            <a:r>
              <a:rPr lang="en-US" dirty="0" err="1"/>
              <a:t>Sortledton</a:t>
            </a:r>
            <a:r>
              <a:rPr lang="en-US" dirty="0"/>
              <a:t> is in-memory, fully transactional and uses an adjacency list-like data structure to hold the graph. </a:t>
            </a:r>
          </a:p>
          <a:p>
            <a:r>
              <a:rPr lang="en-US" dirty="0" err="1"/>
              <a:t>Teseo</a:t>
            </a:r>
            <a:r>
              <a:rPr lang="en-US" dirty="0"/>
              <a:t> is also in-memory and transactional, but it uses a “fat-tree” data structure to hold the graph. </a:t>
            </a:r>
          </a:p>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9</a:t>
            </a:fld>
            <a:endParaRPr lang="en-US"/>
          </a:p>
        </p:txBody>
      </p:sp>
    </p:spTree>
    <p:extLst>
      <p:ext uri="{BB962C8B-B14F-4D97-AF65-F5344CB8AC3E}">
        <p14:creationId xmlns:p14="http://schemas.microsoft.com/office/powerpoint/2010/main" val="1105217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10</a:t>
            </a:fld>
            <a:endParaRPr lang="en-US"/>
          </a:p>
        </p:txBody>
      </p:sp>
    </p:spTree>
    <p:extLst>
      <p:ext uri="{BB962C8B-B14F-4D97-AF65-F5344CB8AC3E}">
        <p14:creationId xmlns:p14="http://schemas.microsoft.com/office/powerpoint/2010/main" val="1677257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11</a:t>
            </a:fld>
            <a:endParaRPr lang="en-US"/>
          </a:p>
        </p:txBody>
      </p:sp>
    </p:spTree>
    <p:extLst>
      <p:ext uri="{BB962C8B-B14F-4D97-AF65-F5344CB8AC3E}">
        <p14:creationId xmlns:p14="http://schemas.microsoft.com/office/powerpoint/2010/main" val="3670543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memory graph systems, regardless of other features, are unified by their use of data structures and therefore which workloads they are most optimized to serve.</a:t>
            </a:r>
          </a:p>
          <a:p>
            <a:endParaRPr lang="en-US" dirty="0"/>
          </a:p>
          <a:p>
            <a:r>
              <a:rPr lang="en-US" dirty="0"/>
              <a:t>We examined the common graph representations in the Background chapter and examined which workloads are best matched to their access primitives.</a:t>
            </a:r>
          </a:p>
          <a:p>
            <a:endParaRPr lang="en-US" dirty="0"/>
          </a:p>
          <a:p>
            <a:endParaRPr lang="en-US" dirty="0"/>
          </a:p>
        </p:txBody>
      </p:sp>
      <p:sp>
        <p:nvSpPr>
          <p:cNvPr id="4" name="Slide Number Placeholder 3"/>
          <p:cNvSpPr>
            <a:spLocks noGrp="1"/>
          </p:cNvSpPr>
          <p:nvPr>
            <p:ph type="sldNum" sz="quarter" idx="5"/>
          </p:nvPr>
        </p:nvSpPr>
        <p:spPr/>
        <p:txBody>
          <a:bodyPr/>
          <a:lstStyle/>
          <a:p>
            <a:fld id="{AACCDA04-A6B2-0940-9306-E627D66A7B2F}" type="slidenum">
              <a:rPr lang="en-US" smtClean="0"/>
              <a:t>12</a:t>
            </a:fld>
            <a:endParaRPr lang="en-US"/>
          </a:p>
        </p:txBody>
      </p:sp>
    </p:spTree>
    <p:extLst>
      <p:ext uri="{BB962C8B-B14F-4D97-AF65-F5344CB8AC3E}">
        <p14:creationId xmlns:p14="http://schemas.microsoft.com/office/powerpoint/2010/main" val="746055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graph data structures used by in-memory systems are CSRs, Adjacency Lists, and some Tree-based data structures. </a:t>
            </a:r>
          </a:p>
          <a:p>
            <a:endParaRPr lang="en-US" dirty="0"/>
          </a:p>
          <a:p>
            <a:r>
              <a:rPr lang="en-US" dirty="0"/>
              <a:t>CSRs are optimized for sequential vertex access and sequential neighborhood access. Therefore, they are well suited for whole-graph analytics workloads such as PageRank that operate on static graphs or snapshots of dynamic graphs.</a:t>
            </a:r>
          </a:p>
          <a:p>
            <a:endParaRPr lang="en-US" dirty="0"/>
          </a:p>
          <a:p>
            <a:r>
              <a:rPr lang="en-US" dirty="0"/>
              <a:t>Adjacency Lists are optimized for sequential neighborhood access. They are chosen by systems that must handle updates to the graph, but still need to provide sequential access for analytics. Adjacency Lists are great for traversals, neighborhood queries, and whole-graph analytics.</a:t>
            </a:r>
          </a:p>
          <a:p>
            <a:endParaRPr lang="en-US" dirty="0"/>
          </a:p>
          <a:p>
            <a:r>
              <a:rPr lang="en-US" dirty="0"/>
              <a:t>Tree-Based data structures are standard for storing highly dynamic data in databases and work well for graphs as well. The dynamism is easily handled by using a B-Tree equivalent and providing a </a:t>
            </a:r>
            <a:r>
              <a:rPr lang="en-US" dirty="0" err="1"/>
              <a:t>hashmap</a:t>
            </a:r>
            <a:r>
              <a:rPr lang="en-US" dirty="0"/>
              <a:t>/index to identify vertex neighborhoods. Trees are best suited for high-volume updates, point-queries, and neighborhood queries.</a:t>
            </a:r>
          </a:p>
        </p:txBody>
      </p:sp>
      <p:sp>
        <p:nvSpPr>
          <p:cNvPr id="4" name="Slide Number Placeholder 3"/>
          <p:cNvSpPr>
            <a:spLocks noGrp="1"/>
          </p:cNvSpPr>
          <p:nvPr>
            <p:ph type="sldNum" sz="quarter" idx="5"/>
          </p:nvPr>
        </p:nvSpPr>
        <p:spPr/>
        <p:txBody>
          <a:bodyPr/>
          <a:lstStyle/>
          <a:p>
            <a:fld id="{AACCDA04-A6B2-0940-9306-E627D66A7B2F}" type="slidenum">
              <a:rPr lang="en-US" smtClean="0"/>
              <a:t>13</a:t>
            </a:fld>
            <a:endParaRPr lang="en-US"/>
          </a:p>
        </p:txBody>
      </p:sp>
    </p:spTree>
    <p:extLst>
      <p:ext uri="{BB962C8B-B14F-4D97-AF65-F5344CB8AC3E}">
        <p14:creationId xmlns:p14="http://schemas.microsoft.com/office/powerpoint/2010/main" val="2383666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CDA04-A6B2-0940-9306-E627D66A7B2F}" type="slidenum">
              <a:rPr lang="en-US" smtClean="0"/>
              <a:t>14</a:t>
            </a:fld>
            <a:endParaRPr lang="en-US"/>
          </a:p>
        </p:txBody>
      </p:sp>
    </p:spTree>
    <p:extLst>
      <p:ext uri="{BB962C8B-B14F-4D97-AF65-F5344CB8AC3E}">
        <p14:creationId xmlns:p14="http://schemas.microsoft.com/office/powerpoint/2010/main" val="2125846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CDA04-A6B2-0940-9306-E627D66A7B2F}" type="slidenum">
              <a:rPr lang="en-US" smtClean="0"/>
              <a:t>15</a:t>
            </a:fld>
            <a:endParaRPr lang="en-US"/>
          </a:p>
        </p:txBody>
      </p:sp>
    </p:spTree>
    <p:extLst>
      <p:ext uri="{BB962C8B-B14F-4D97-AF65-F5344CB8AC3E}">
        <p14:creationId xmlns:p14="http://schemas.microsoft.com/office/powerpoint/2010/main" val="994812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950F01-2B0A-A343-84E7-95C408E80919}" type="slidenum">
              <a:rPr lang="en-US" smtClean="0"/>
              <a:t>16</a:t>
            </a:fld>
            <a:endParaRPr lang="en-US"/>
          </a:p>
        </p:txBody>
      </p:sp>
    </p:spTree>
    <p:extLst>
      <p:ext uri="{BB962C8B-B14F-4D97-AF65-F5344CB8AC3E}">
        <p14:creationId xmlns:p14="http://schemas.microsoft.com/office/powerpoint/2010/main" val="3274444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a 3X3 SG &amp; PG row and 1 </a:t>
            </a:r>
            <a:r>
              <a:rPr lang="en-US" dirty="0" err="1"/>
              <a:t>RW+tX</a:t>
            </a:r>
            <a:r>
              <a:rPr lang="en-US" dirty="0"/>
              <a:t> and RW ~TX</a:t>
            </a:r>
          </a:p>
        </p:txBody>
      </p:sp>
      <p:sp>
        <p:nvSpPr>
          <p:cNvPr id="4" name="Slide Number Placeholder 3"/>
          <p:cNvSpPr>
            <a:spLocks noGrp="1"/>
          </p:cNvSpPr>
          <p:nvPr>
            <p:ph type="sldNum" sz="quarter" idx="5"/>
          </p:nvPr>
        </p:nvSpPr>
        <p:spPr/>
        <p:txBody>
          <a:bodyPr/>
          <a:lstStyle/>
          <a:p>
            <a:fld id="{3E950F01-2B0A-A343-84E7-95C408E80919}" type="slidenum">
              <a:rPr lang="en-US" smtClean="0"/>
              <a:t>17</a:t>
            </a:fld>
            <a:endParaRPr lang="en-US"/>
          </a:p>
        </p:txBody>
      </p:sp>
    </p:spTree>
    <p:extLst>
      <p:ext uri="{BB962C8B-B14F-4D97-AF65-F5344CB8AC3E}">
        <p14:creationId xmlns:p14="http://schemas.microsoft.com/office/powerpoint/2010/main" val="1720137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24EF-D988-F14D-470E-E949FDDB51B6}"/>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F26E3BE-3343-D8AA-7D20-938196A04B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76B15E-2865-9CC1-2E8F-83378ABFE920}"/>
              </a:ext>
            </a:extLst>
          </p:cNvPr>
          <p:cNvSpPr>
            <a:spLocks noGrp="1"/>
          </p:cNvSpPr>
          <p:nvPr>
            <p:ph type="dt" sz="half" idx="10"/>
          </p:nvPr>
        </p:nvSpPr>
        <p:spPr/>
        <p:txBody>
          <a:bodyPr/>
          <a:lstStyle/>
          <a:p>
            <a:fld id="{E100038F-2EC0-D241-903E-1B0129641E3B}" type="datetime1">
              <a:rPr lang="en-CA" smtClean="0"/>
              <a:t>2024-06-24</a:t>
            </a:fld>
            <a:endParaRPr lang="en-US"/>
          </a:p>
        </p:txBody>
      </p:sp>
      <p:sp>
        <p:nvSpPr>
          <p:cNvPr id="5" name="Footer Placeholder 4">
            <a:extLst>
              <a:ext uri="{FF2B5EF4-FFF2-40B4-BE49-F238E27FC236}">
                <a16:creationId xmlns:a16="http://schemas.microsoft.com/office/drawing/2014/main" id="{86665CA2-8CE7-2677-76B2-7567B2B4B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BB7AE-BE56-1D2A-1757-9F6577136D5F}"/>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1425633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0178-4449-5BAC-3B43-29940F95A14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1775643-3645-7874-2CA9-0D46C2360A4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F3E2680-42C3-20FA-6E97-73B51E8E82BB}"/>
              </a:ext>
            </a:extLst>
          </p:cNvPr>
          <p:cNvSpPr>
            <a:spLocks noGrp="1"/>
          </p:cNvSpPr>
          <p:nvPr>
            <p:ph type="dt" sz="half" idx="10"/>
          </p:nvPr>
        </p:nvSpPr>
        <p:spPr/>
        <p:txBody>
          <a:bodyPr/>
          <a:lstStyle/>
          <a:p>
            <a:fld id="{8ED585E7-2F28-574B-8ADC-586704F9ED62}" type="datetime1">
              <a:rPr lang="en-CA" smtClean="0"/>
              <a:t>2024-06-24</a:t>
            </a:fld>
            <a:endParaRPr lang="en-US"/>
          </a:p>
        </p:txBody>
      </p:sp>
      <p:sp>
        <p:nvSpPr>
          <p:cNvPr id="5" name="Footer Placeholder 4">
            <a:extLst>
              <a:ext uri="{FF2B5EF4-FFF2-40B4-BE49-F238E27FC236}">
                <a16:creationId xmlns:a16="http://schemas.microsoft.com/office/drawing/2014/main" id="{2B8382E6-5E60-F3AC-DA81-66D4401400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9B0455-D6B0-A7C0-01D1-F946D85055D2}"/>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345349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5999E-BD69-33EE-4D2C-4EDEB66B50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48AA19-1CD9-ACCF-83C9-F230880675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B78203-06BE-F0A0-4539-1DF6213EA5C3}"/>
              </a:ext>
            </a:extLst>
          </p:cNvPr>
          <p:cNvSpPr>
            <a:spLocks noGrp="1"/>
          </p:cNvSpPr>
          <p:nvPr>
            <p:ph type="dt" sz="half" idx="10"/>
          </p:nvPr>
        </p:nvSpPr>
        <p:spPr/>
        <p:txBody>
          <a:bodyPr/>
          <a:lstStyle/>
          <a:p>
            <a:fld id="{59F604AA-8AFE-4D4B-B165-239BB65B9FD1}" type="datetime1">
              <a:rPr lang="en-CA" smtClean="0"/>
              <a:t>2024-06-24</a:t>
            </a:fld>
            <a:endParaRPr lang="en-US"/>
          </a:p>
        </p:txBody>
      </p:sp>
      <p:sp>
        <p:nvSpPr>
          <p:cNvPr id="5" name="Footer Placeholder 4">
            <a:extLst>
              <a:ext uri="{FF2B5EF4-FFF2-40B4-BE49-F238E27FC236}">
                <a16:creationId xmlns:a16="http://schemas.microsoft.com/office/drawing/2014/main" id="{4CA8993C-C783-A6DB-17B8-2983FE4AD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A59893-2DAA-3089-F772-B8B187A0ED90}"/>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1058457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AD4E5-B443-5AB7-5ED3-8A7B3EBA513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3B09242A-EE73-20E5-6E10-3E17C7CDCC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43B761-9F6E-303B-D695-7679867793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FC3684E-0FE4-4983-68F6-6D74E0E34E35}"/>
              </a:ext>
            </a:extLst>
          </p:cNvPr>
          <p:cNvSpPr>
            <a:spLocks noGrp="1"/>
          </p:cNvSpPr>
          <p:nvPr>
            <p:ph type="dt" sz="half" idx="10"/>
          </p:nvPr>
        </p:nvSpPr>
        <p:spPr/>
        <p:txBody>
          <a:bodyPr/>
          <a:lstStyle/>
          <a:p>
            <a:fld id="{D78145A5-C240-8045-9429-87508FE79AD2}" type="datetime1">
              <a:rPr lang="en-CA" smtClean="0"/>
              <a:t>2024-06-24</a:t>
            </a:fld>
            <a:endParaRPr lang="en-US"/>
          </a:p>
        </p:txBody>
      </p:sp>
      <p:sp>
        <p:nvSpPr>
          <p:cNvPr id="9" name="Footer Placeholder 8">
            <a:extLst>
              <a:ext uri="{FF2B5EF4-FFF2-40B4-BE49-F238E27FC236}">
                <a16:creationId xmlns:a16="http://schemas.microsoft.com/office/drawing/2014/main" id="{261CA3A0-926B-B565-497E-2681E2CE61C6}"/>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8DD8296B-93F9-013C-AE2D-3F1BA8A581A6}"/>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509828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1A42B-0E45-F9F0-487A-A249236C89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E30564-4664-CBD1-CC4E-A9015110C8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4D468-D563-6782-6761-D404ED2F95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405D5D-56CC-C1B5-3184-1B5DD63DD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49426C-FE92-287F-0359-4820194CE2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3665D5-E937-69AD-48C1-8E3E1C619098}"/>
              </a:ext>
            </a:extLst>
          </p:cNvPr>
          <p:cNvSpPr>
            <a:spLocks noGrp="1"/>
          </p:cNvSpPr>
          <p:nvPr>
            <p:ph type="dt" sz="half" idx="10"/>
          </p:nvPr>
        </p:nvSpPr>
        <p:spPr/>
        <p:txBody>
          <a:bodyPr/>
          <a:lstStyle/>
          <a:p>
            <a:fld id="{CA182740-7C42-CD43-AC83-B418FDCB53FF}" type="datetime1">
              <a:rPr lang="en-CA" smtClean="0"/>
              <a:t>2024-06-24</a:t>
            </a:fld>
            <a:endParaRPr lang="en-US"/>
          </a:p>
        </p:txBody>
      </p:sp>
      <p:sp>
        <p:nvSpPr>
          <p:cNvPr id="8" name="Footer Placeholder 7">
            <a:extLst>
              <a:ext uri="{FF2B5EF4-FFF2-40B4-BE49-F238E27FC236}">
                <a16:creationId xmlns:a16="http://schemas.microsoft.com/office/drawing/2014/main" id="{4AD38996-BB8E-1ADA-CCC7-4A6E9D5D37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54152A-566B-5347-7ECE-C8D22441F1A4}"/>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3024480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A2A7-71C5-4610-399D-A39500970B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756974-6F0A-DA01-7507-8985CC2ACF9E}"/>
              </a:ext>
            </a:extLst>
          </p:cNvPr>
          <p:cNvSpPr>
            <a:spLocks noGrp="1"/>
          </p:cNvSpPr>
          <p:nvPr>
            <p:ph type="dt" sz="half" idx="10"/>
          </p:nvPr>
        </p:nvSpPr>
        <p:spPr/>
        <p:txBody>
          <a:bodyPr/>
          <a:lstStyle/>
          <a:p>
            <a:fld id="{D47C28B4-C24E-3B4D-BCF5-936FF4014578}" type="datetime1">
              <a:rPr lang="en-CA" smtClean="0"/>
              <a:t>2024-06-24</a:t>
            </a:fld>
            <a:endParaRPr lang="en-US"/>
          </a:p>
        </p:txBody>
      </p:sp>
      <p:sp>
        <p:nvSpPr>
          <p:cNvPr id="4" name="Footer Placeholder 3">
            <a:extLst>
              <a:ext uri="{FF2B5EF4-FFF2-40B4-BE49-F238E27FC236}">
                <a16:creationId xmlns:a16="http://schemas.microsoft.com/office/drawing/2014/main" id="{97BC5251-6B5A-FB41-F7A4-43E4D71F8A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E82F9D-9B24-4AFC-BFB3-EA2EF6961916}"/>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1330960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405DA5-91CA-F153-6995-9393F15E0CED}"/>
              </a:ext>
            </a:extLst>
          </p:cNvPr>
          <p:cNvSpPr>
            <a:spLocks noGrp="1"/>
          </p:cNvSpPr>
          <p:nvPr>
            <p:ph type="dt" sz="half" idx="10"/>
          </p:nvPr>
        </p:nvSpPr>
        <p:spPr/>
        <p:txBody>
          <a:bodyPr/>
          <a:lstStyle/>
          <a:p>
            <a:fld id="{2B07275B-4B76-F345-94C2-D5F3F50F2BE7}" type="datetime1">
              <a:rPr lang="en-CA" smtClean="0"/>
              <a:t>2024-06-24</a:t>
            </a:fld>
            <a:endParaRPr lang="en-US"/>
          </a:p>
        </p:txBody>
      </p:sp>
      <p:sp>
        <p:nvSpPr>
          <p:cNvPr id="3" name="Footer Placeholder 2">
            <a:extLst>
              <a:ext uri="{FF2B5EF4-FFF2-40B4-BE49-F238E27FC236}">
                <a16:creationId xmlns:a16="http://schemas.microsoft.com/office/drawing/2014/main" id="{935F628E-83D7-A949-F021-8576D1AC0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7F7280-A37E-0FD8-3723-68C60E44F2E0}"/>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1829535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07976-ADD6-E7B4-F90D-5945403D73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91D741-8646-5C1D-74E9-F1199834DA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96EDE9-FF7D-3821-107F-C58144A22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4D2A40-B01F-D029-7785-591BD646D190}"/>
              </a:ext>
            </a:extLst>
          </p:cNvPr>
          <p:cNvSpPr>
            <a:spLocks noGrp="1"/>
          </p:cNvSpPr>
          <p:nvPr>
            <p:ph type="dt" sz="half" idx="10"/>
          </p:nvPr>
        </p:nvSpPr>
        <p:spPr/>
        <p:txBody>
          <a:bodyPr/>
          <a:lstStyle/>
          <a:p>
            <a:fld id="{4FAA4AE8-9458-6F4C-9586-D2DBEF935805}" type="datetime1">
              <a:rPr lang="en-CA" smtClean="0"/>
              <a:t>2024-06-24</a:t>
            </a:fld>
            <a:endParaRPr lang="en-US"/>
          </a:p>
        </p:txBody>
      </p:sp>
      <p:sp>
        <p:nvSpPr>
          <p:cNvPr id="6" name="Footer Placeholder 5">
            <a:extLst>
              <a:ext uri="{FF2B5EF4-FFF2-40B4-BE49-F238E27FC236}">
                <a16:creationId xmlns:a16="http://schemas.microsoft.com/office/drawing/2014/main" id="{F8299A2D-E143-D617-F84F-70FF999EE7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073AE-D9FA-88AC-48D8-C535CF7B972F}"/>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458625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2C7B3-F499-7048-E961-8B4E8CCC5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E1DC8F-4A21-1C57-CD35-4E10745891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3A4051-D454-0FFC-92A3-272E929097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0E51A4-4E20-6EED-D8F0-72DC49D45E44}"/>
              </a:ext>
            </a:extLst>
          </p:cNvPr>
          <p:cNvSpPr>
            <a:spLocks noGrp="1"/>
          </p:cNvSpPr>
          <p:nvPr>
            <p:ph type="dt" sz="half" idx="10"/>
          </p:nvPr>
        </p:nvSpPr>
        <p:spPr/>
        <p:txBody>
          <a:bodyPr/>
          <a:lstStyle/>
          <a:p>
            <a:fld id="{8223337A-157B-C04C-9D55-DAC5B4577163}" type="datetime1">
              <a:rPr lang="en-CA" smtClean="0"/>
              <a:t>2024-06-24</a:t>
            </a:fld>
            <a:endParaRPr lang="en-US"/>
          </a:p>
        </p:txBody>
      </p:sp>
      <p:sp>
        <p:nvSpPr>
          <p:cNvPr id="6" name="Footer Placeholder 5">
            <a:extLst>
              <a:ext uri="{FF2B5EF4-FFF2-40B4-BE49-F238E27FC236}">
                <a16:creationId xmlns:a16="http://schemas.microsoft.com/office/drawing/2014/main" id="{003CD4AA-DFDC-0345-A44F-2124E55311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368D44-8414-D0DD-8BB5-0D649B4EB3D3}"/>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657231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DF3F-5D0E-D5B6-F68E-F1B9896FAC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9C46BA-EF78-906E-5802-9A6933D756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12EAD-7577-4E70-C286-DF92214EA1FD}"/>
              </a:ext>
            </a:extLst>
          </p:cNvPr>
          <p:cNvSpPr>
            <a:spLocks noGrp="1"/>
          </p:cNvSpPr>
          <p:nvPr>
            <p:ph type="dt" sz="half" idx="10"/>
          </p:nvPr>
        </p:nvSpPr>
        <p:spPr/>
        <p:txBody>
          <a:bodyPr/>
          <a:lstStyle/>
          <a:p>
            <a:fld id="{B18212CE-9A69-4E43-9BC7-18D44E6920C5}" type="datetime1">
              <a:rPr lang="en-CA" smtClean="0"/>
              <a:t>2024-06-24</a:t>
            </a:fld>
            <a:endParaRPr lang="en-US"/>
          </a:p>
        </p:txBody>
      </p:sp>
      <p:sp>
        <p:nvSpPr>
          <p:cNvPr id="5" name="Footer Placeholder 4">
            <a:extLst>
              <a:ext uri="{FF2B5EF4-FFF2-40B4-BE49-F238E27FC236}">
                <a16:creationId xmlns:a16="http://schemas.microsoft.com/office/drawing/2014/main" id="{B6E083CE-1BC9-3A2E-CEDB-EE209A0D0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34A254-C303-3D15-EB63-77256D315864}"/>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2933288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4A3F3B-A7F1-ADEB-3FBF-2E3F0B01BD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5DA30B-27A7-E06D-C65D-4452E13C4C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F2C854-874A-4B4C-15B9-1B1B4E6A933B}"/>
              </a:ext>
            </a:extLst>
          </p:cNvPr>
          <p:cNvSpPr>
            <a:spLocks noGrp="1"/>
          </p:cNvSpPr>
          <p:nvPr>
            <p:ph type="dt" sz="half" idx="10"/>
          </p:nvPr>
        </p:nvSpPr>
        <p:spPr/>
        <p:txBody>
          <a:bodyPr/>
          <a:lstStyle/>
          <a:p>
            <a:fld id="{5EE88952-6070-1842-BC0B-4CC6CA0DF681}" type="datetime1">
              <a:rPr lang="en-CA" smtClean="0"/>
              <a:t>2024-06-24</a:t>
            </a:fld>
            <a:endParaRPr lang="en-US"/>
          </a:p>
        </p:txBody>
      </p:sp>
      <p:sp>
        <p:nvSpPr>
          <p:cNvPr id="5" name="Footer Placeholder 4">
            <a:extLst>
              <a:ext uri="{FF2B5EF4-FFF2-40B4-BE49-F238E27FC236}">
                <a16:creationId xmlns:a16="http://schemas.microsoft.com/office/drawing/2014/main" id="{E5C93F71-0E4C-2CA3-4887-41823BF6F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17F1DA-D357-8285-6630-BF4F37576875}"/>
              </a:ext>
            </a:extLst>
          </p:cNvPr>
          <p:cNvSpPr>
            <a:spLocks noGrp="1"/>
          </p:cNvSpPr>
          <p:nvPr>
            <p:ph type="sldNum" sz="quarter" idx="12"/>
          </p:nvPr>
        </p:nvSpPr>
        <p:spPr/>
        <p:txBody>
          <a:bodyPr/>
          <a:lstStyle/>
          <a:p>
            <a:fld id="{0FA4238C-0B31-2640-B0B6-C8A5E6F89A2A}" type="slidenum">
              <a:rPr lang="en-US" smtClean="0"/>
              <a:t>‹#›</a:t>
            </a:fld>
            <a:endParaRPr lang="en-US"/>
          </a:p>
        </p:txBody>
      </p:sp>
    </p:spTree>
    <p:extLst>
      <p:ext uri="{BB962C8B-B14F-4D97-AF65-F5344CB8AC3E}">
        <p14:creationId xmlns:p14="http://schemas.microsoft.com/office/powerpoint/2010/main" val="3872827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74876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F21575-1F8C-6F42-94B8-2E7F8CD46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E399B7-C878-5C7A-7506-F2449FC8C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5A9F8A-BB60-C5AB-4E22-365170918C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4061EB-3770-C44C-851D-6E79C979D57E}" type="datetime1">
              <a:rPr lang="en-CA" smtClean="0"/>
              <a:t>2024-06-24</a:t>
            </a:fld>
            <a:endParaRPr lang="en-US"/>
          </a:p>
        </p:txBody>
      </p:sp>
      <p:sp>
        <p:nvSpPr>
          <p:cNvPr id="5" name="Footer Placeholder 4">
            <a:extLst>
              <a:ext uri="{FF2B5EF4-FFF2-40B4-BE49-F238E27FC236}">
                <a16:creationId xmlns:a16="http://schemas.microsoft.com/office/drawing/2014/main" id="{2A16AEE8-700A-D3B0-093D-4CA0175869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C070B7-8B6A-31C4-EC65-800233F81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A4238C-0B31-2640-B0B6-C8A5E6F89A2A}" type="slidenum">
              <a:rPr lang="en-US" smtClean="0"/>
              <a:t>‹#›</a:t>
            </a:fld>
            <a:endParaRPr lang="en-US"/>
          </a:p>
        </p:txBody>
      </p:sp>
    </p:spTree>
    <p:extLst>
      <p:ext uri="{BB962C8B-B14F-4D97-AF65-F5344CB8AC3E}">
        <p14:creationId xmlns:p14="http://schemas.microsoft.com/office/powerpoint/2010/main" val="40438258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67CA0-D087-BFD4-2B91-4B77C9536911}"/>
              </a:ext>
            </a:extLst>
          </p:cNvPr>
          <p:cNvSpPr>
            <a:spLocks noGrp="1"/>
          </p:cNvSpPr>
          <p:nvPr>
            <p:ph type="ctrTitle"/>
          </p:nvPr>
        </p:nvSpPr>
        <p:spPr/>
        <p:txBody>
          <a:bodyPr/>
          <a:lstStyle/>
          <a:p>
            <a:r>
              <a:rPr lang="en-US" dirty="0"/>
              <a:t>Design Space of Graph Data Management Systems</a:t>
            </a:r>
          </a:p>
        </p:txBody>
      </p:sp>
      <p:sp>
        <p:nvSpPr>
          <p:cNvPr id="3" name="Subtitle 2">
            <a:extLst>
              <a:ext uri="{FF2B5EF4-FFF2-40B4-BE49-F238E27FC236}">
                <a16:creationId xmlns:a16="http://schemas.microsoft.com/office/drawing/2014/main" id="{756DCCF2-E6E7-72B3-28A9-A7D0EAA5B304}"/>
              </a:ext>
            </a:extLst>
          </p:cNvPr>
          <p:cNvSpPr>
            <a:spLocks noGrp="1"/>
          </p:cNvSpPr>
          <p:nvPr>
            <p:ph type="subTitle" idx="1"/>
          </p:nvPr>
        </p:nvSpPr>
        <p:spPr/>
        <p:txBody>
          <a:bodyPr/>
          <a:lstStyle/>
          <a:p>
            <a:r>
              <a:rPr lang="en-US" dirty="0"/>
              <a:t>Chapter 3</a:t>
            </a:r>
          </a:p>
        </p:txBody>
      </p:sp>
      <p:sp>
        <p:nvSpPr>
          <p:cNvPr id="4" name="Slide Number Placeholder 3">
            <a:extLst>
              <a:ext uri="{FF2B5EF4-FFF2-40B4-BE49-F238E27FC236}">
                <a16:creationId xmlns:a16="http://schemas.microsoft.com/office/drawing/2014/main" id="{49C190C4-64AA-4683-6CDA-86A50A95AA45}"/>
              </a:ext>
            </a:extLst>
          </p:cNvPr>
          <p:cNvSpPr>
            <a:spLocks noGrp="1"/>
          </p:cNvSpPr>
          <p:nvPr>
            <p:ph type="sldNum" sz="quarter" idx="12"/>
          </p:nvPr>
        </p:nvSpPr>
        <p:spPr/>
        <p:txBody>
          <a:bodyPr/>
          <a:lstStyle/>
          <a:p>
            <a:fld id="{0FA4238C-0B31-2640-B0B6-C8A5E6F89A2A}" type="slidenum">
              <a:rPr lang="en-US" smtClean="0"/>
              <a:t>1</a:t>
            </a:fld>
            <a:endParaRPr lang="en-US"/>
          </a:p>
        </p:txBody>
      </p:sp>
    </p:spTree>
    <p:extLst>
      <p:ext uri="{BB962C8B-B14F-4D97-AF65-F5344CB8AC3E}">
        <p14:creationId xmlns:p14="http://schemas.microsoft.com/office/powerpoint/2010/main" val="3454797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81A1D-F5C1-08A4-014D-99F73ADF940F}"/>
              </a:ext>
            </a:extLst>
          </p:cNvPr>
          <p:cNvSpPr>
            <a:spLocks noGrp="1"/>
          </p:cNvSpPr>
          <p:nvPr>
            <p:ph type="title"/>
          </p:nvPr>
        </p:nvSpPr>
        <p:spPr/>
        <p:txBody>
          <a:bodyPr/>
          <a:lstStyle/>
          <a:p>
            <a:r>
              <a:rPr lang="en-US" dirty="0"/>
              <a:t>What we covered in Background:</a:t>
            </a:r>
          </a:p>
        </p:txBody>
      </p:sp>
      <p:sp>
        <p:nvSpPr>
          <p:cNvPr id="3" name="Content Placeholder 2">
            <a:extLst>
              <a:ext uri="{FF2B5EF4-FFF2-40B4-BE49-F238E27FC236}">
                <a16:creationId xmlns:a16="http://schemas.microsoft.com/office/drawing/2014/main" id="{11749D9B-D648-3392-0B46-8A7495E11F49}"/>
              </a:ext>
            </a:extLst>
          </p:cNvPr>
          <p:cNvSpPr>
            <a:spLocks noGrp="1"/>
          </p:cNvSpPr>
          <p:nvPr>
            <p:ph idx="1"/>
          </p:nvPr>
        </p:nvSpPr>
        <p:spPr/>
        <p:txBody>
          <a:bodyPr>
            <a:normAutofit/>
          </a:bodyPr>
          <a:lstStyle/>
          <a:p>
            <a:r>
              <a:rPr lang="en-US" dirty="0"/>
              <a:t>How to model a graph</a:t>
            </a:r>
          </a:p>
          <a:p>
            <a:pPr lvl="1"/>
            <a:r>
              <a:rPr lang="en-US" dirty="0"/>
              <a:t>Structural graph</a:t>
            </a:r>
          </a:p>
          <a:p>
            <a:pPr lvl="1"/>
            <a:r>
              <a:rPr lang="en-US" dirty="0"/>
              <a:t>Labeled Property Graphs (LPG) aka Property Graphs (PG)</a:t>
            </a:r>
          </a:p>
          <a:p>
            <a:pPr lvl="1"/>
            <a:endParaRPr lang="en-US" dirty="0"/>
          </a:p>
          <a:p>
            <a:r>
              <a:rPr lang="en-US" dirty="0"/>
              <a:t>Workloads and their access patterns</a:t>
            </a:r>
          </a:p>
          <a:p>
            <a:endParaRPr lang="en-US" dirty="0"/>
          </a:p>
          <a:p>
            <a:r>
              <a:rPr lang="en-US" dirty="0"/>
              <a:t>Data structures that are used for these access patterns</a:t>
            </a:r>
          </a:p>
        </p:txBody>
      </p:sp>
      <p:sp>
        <p:nvSpPr>
          <p:cNvPr id="4" name="Slide Number Placeholder 3">
            <a:extLst>
              <a:ext uri="{FF2B5EF4-FFF2-40B4-BE49-F238E27FC236}">
                <a16:creationId xmlns:a16="http://schemas.microsoft.com/office/drawing/2014/main" id="{B2061AF9-21DD-E117-1C22-1D015BA1A8D8}"/>
              </a:ext>
            </a:extLst>
          </p:cNvPr>
          <p:cNvSpPr>
            <a:spLocks noGrp="1"/>
          </p:cNvSpPr>
          <p:nvPr>
            <p:ph type="sldNum" sz="quarter" idx="12"/>
          </p:nvPr>
        </p:nvSpPr>
        <p:spPr/>
        <p:txBody>
          <a:bodyPr/>
          <a:lstStyle/>
          <a:p>
            <a:fld id="{0FA4238C-0B31-2640-B0B6-C8A5E6F89A2A}" type="slidenum">
              <a:rPr lang="en-US" smtClean="0"/>
              <a:t>2</a:t>
            </a:fld>
            <a:endParaRPr lang="en-US"/>
          </a:p>
        </p:txBody>
      </p:sp>
    </p:spTree>
    <p:extLst>
      <p:ext uri="{BB962C8B-B14F-4D97-AF65-F5344CB8AC3E}">
        <p14:creationId xmlns:p14="http://schemas.microsoft.com/office/powerpoint/2010/main" val="93353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92B49E3-7A52-B346-288B-B4370299E784}"/>
              </a:ext>
            </a:extLst>
          </p:cNvPr>
          <p:cNvSpPr/>
          <p:nvPr/>
        </p:nvSpPr>
        <p:spPr>
          <a:xfrm>
            <a:off x="2534266" y="2078076"/>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Labeled Property Graph</a:t>
            </a:r>
          </a:p>
        </p:txBody>
      </p:sp>
      <p:sp>
        <p:nvSpPr>
          <p:cNvPr id="2" name="Oval 1">
            <a:extLst>
              <a:ext uri="{FF2B5EF4-FFF2-40B4-BE49-F238E27FC236}">
                <a16:creationId xmlns:a16="http://schemas.microsoft.com/office/drawing/2014/main" id="{F9FAAC54-FEF4-50D7-4765-AA8EFF3398E2}"/>
              </a:ext>
            </a:extLst>
          </p:cNvPr>
          <p:cNvSpPr/>
          <p:nvPr/>
        </p:nvSpPr>
        <p:spPr>
          <a:xfrm>
            <a:off x="7370895" y="2078076"/>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a:t>
            </a:r>
          </a:p>
        </p:txBody>
      </p:sp>
      <p:sp>
        <p:nvSpPr>
          <p:cNvPr id="3" name="Right Arrow 2">
            <a:extLst>
              <a:ext uri="{FF2B5EF4-FFF2-40B4-BE49-F238E27FC236}">
                <a16:creationId xmlns:a16="http://schemas.microsoft.com/office/drawing/2014/main" id="{755489E7-90DC-9584-BA00-53B05AB50BEA}"/>
              </a:ext>
            </a:extLst>
          </p:cNvPr>
          <p:cNvSpPr/>
          <p:nvPr/>
        </p:nvSpPr>
        <p:spPr>
          <a:xfrm>
            <a:off x="5464408" y="3289150"/>
            <a:ext cx="1678193" cy="2796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725FE19-7D3B-F680-15A0-B80205E96433}"/>
              </a:ext>
            </a:extLst>
          </p:cNvPr>
          <p:cNvSpPr txBox="1"/>
          <p:nvPr/>
        </p:nvSpPr>
        <p:spPr>
          <a:xfrm>
            <a:off x="5602158" y="2922507"/>
            <a:ext cx="1402692" cy="883383"/>
          </a:xfrm>
          <a:prstGeom prst="rect">
            <a:avLst/>
          </a:prstGeom>
          <a:noFill/>
        </p:spPr>
        <p:txBody>
          <a:bodyPr wrap="none" rtlCol="0">
            <a:spAutoFit/>
          </a:bodyPr>
          <a:lstStyle/>
          <a:p>
            <a:pPr algn="ctr">
              <a:lnSpc>
                <a:spcPct val="150000"/>
              </a:lnSpc>
            </a:pPr>
            <a:r>
              <a:rPr lang="en-US" dirty="0"/>
              <a:t>Materialized</a:t>
            </a:r>
            <a:br>
              <a:rPr lang="en-US" dirty="0"/>
            </a:br>
            <a:r>
              <a:rPr lang="en-US" dirty="0"/>
              <a:t>View</a:t>
            </a:r>
          </a:p>
        </p:txBody>
      </p:sp>
      <p:sp>
        <p:nvSpPr>
          <p:cNvPr id="6" name="Slide Number Placeholder 5">
            <a:extLst>
              <a:ext uri="{FF2B5EF4-FFF2-40B4-BE49-F238E27FC236}">
                <a16:creationId xmlns:a16="http://schemas.microsoft.com/office/drawing/2014/main" id="{DA853A32-F7E6-49A5-0E0A-7A0CBBFC3345}"/>
              </a:ext>
            </a:extLst>
          </p:cNvPr>
          <p:cNvSpPr>
            <a:spLocks noGrp="1"/>
          </p:cNvSpPr>
          <p:nvPr>
            <p:ph type="sldNum" sz="quarter" idx="12"/>
          </p:nvPr>
        </p:nvSpPr>
        <p:spPr/>
        <p:txBody>
          <a:bodyPr/>
          <a:lstStyle/>
          <a:p>
            <a:fld id="{0FA4238C-0B31-2640-B0B6-C8A5E6F89A2A}" type="slidenum">
              <a:rPr lang="en-US" smtClean="0"/>
              <a:t>3</a:t>
            </a:fld>
            <a:endParaRPr lang="en-US"/>
          </a:p>
        </p:txBody>
      </p:sp>
    </p:spTree>
    <p:extLst>
      <p:ext uri="{BB962C8B-B14F-4D97-AF65-F5344CB8AC3E}">
        <p14:creationId xmlns:p14="http://schemas.microsoft.com/office/powerpoint/2010/main" val="3263261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9FAAC54-FEF4-50D7-4765-AA8EFF3398E2}"/>
              </a:ext>
            </a:extLst>
          </p:cNvPr>
          <p:cNvSpPr/>
          <p:nvPr/>
        </p:nvSpPr>
        <p:spPr>
          <a:xfrm>
            <a:off x="1307280" y="2078076"/>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a:t>
            </a:r>
          </a:p>
        </p:txBody>
      </p:sp>
      <p:sp>
        <p:nvSpPr>
          <p:cNvPr id="6" name="Oval 5">
            <a:extLst>
              <a:ext uri="{FF2B5EF4-FFF2-40B4-BE49-F238E27FC236}">
                <a16:creationId xmlns:a16="http://schemas.microsoft.com/office/drawing/2014/main" id="{9655624C-4083-F542-D13F-E642CC5883F8}"/>
              </a:ext>
            </a:extLst>
          </p:cNvPr>
          <p:cNvSpPr/>
          <p:nvPr/>
        </p:nvSpPr>
        <p:spPr>
          <a:xfrm>
            <a:off x="4745076" y="3996411"/>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sp>
        <p:nvSpPr>
          <p:cNvPr id="7" name="Oval 6">
            <a:extLst>
              <a:ext uri="{FF2B5EF4-FFF2-40B4-BE49-F238E27FC236}">
                <a16:creationId xmlns:a16="http://schemas.microsoft.com/office/drawing/2014/main" id="{85E2A72F-610E-AC87-C569-C99A1FE652E0}"/>
              </a:ext>
            </a:extLst>
          </p:cNvPr>
          <p:cNvSpPr/>
          <p:nvPr/>
        </p:nvSpPr>
        <p:spPr>
          <a:xfrm>
            <a:off x="4745076" y="159741"/>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Only (Static)</a:t>
            </a:r>
            <a:br>
              <a:rPr lang="en-US" dirty="0"/>
            </a:br>
            <a:r>
              <a:rPr lang="en-US" dirty="0"/>
              <a:t>Static Graph</a:t>
            </a:r>
          </a:p>
        </p:txBody>
      </p:sp>
      <p:cxnSp>
        <p:nvCxnSpPr>
          <p:cNvPr id="10" name="Straight Arrow Connector 9">
            <a:extLst>
              <a:ext uri="{FF2B5EF4-FFF2-40B4-BE49-F238E27FC236}">
                <a16:creationId xmlns:a16="http://schemas.microsoft.com/office/drawing/2014/main" id="{0B8E6892-EE11-1742-D7C8-916EA2FEBD1E}"/>
              </a:ext>
            </a:extLst>
          </p:cNvPr>
          <p:cNvCxnSpPr>
            <a:stCxn id="2" idx="7"/>
            <a:endCxn id="7" idx="2"/>
          </p:cNvCxnSpPr>
          <p:nvPr/>
        </p:nvCxnSpPr>
        <p:spPr>
          <a:xfrm flipV="1">
            <a:off x="3613452" y="1510665"/>
            <a:ext cx="1131624" cy="96308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7D87A91-CB47-5104-AFE9-AF96787262E5}"/>
              </a:ext>
            </a:extLst>
          </p:cNvPr>
          <p:cNvCxnSpPr>
            <a:stCxn id="2" idx="5"/>
            <a:endCxn id="6" idx="2"/>
          </p:cNvCxnSpPr>
          <p:nvPr/>
        </p:nvCxnSpPr>
        <p:spPr>
          <a:xfrm>
            <a:off x="3613452" y="4384248"/>
            <a:ext cx="1131624" cy="96308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C5D1CC65-3547-1C52-7FD7-A694B2D9F8A1}"/>
              </a:ext>
            </a:extLst>
          </p:cNvPr>
          <p:cNvSpPr>
            <a:spLocks noGrp="1"/>
          </p:cNvSpPr>
          <p:nvPr>
            <p:ph type="sldNum" sz="quarter" idx="12"/>
          </p:nvPr>
        </p:nvSpPr>
        <p:spPr/>
        <p:txBody>
          <a:bodyPr/>
          <a:lstStyle/>
          <a:p>
            <a:fld id="{0FA4238C-0B31-2640-B0B6-C8A5E6F89A2A}" type="slidenum">
              <a:rPr lang="en-US" smtClean="0"/>
              <a:t>4</a:t>
            </a:fld>
            <a:endParaRPr lang="en-US"/>
          </a:p>
        </p:txBody>
      </p:sp>
    </p:spTree>
    <p:extLst>
      <p:ext uri="{BB962C8B-B14F-4D97-AF65-F5344CB8AC3E}">
        <p14:creationId xmlns:p14="http://schemas.microsoft.com/office/powerpoint/2010/main" val="278293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graph&#10;&#10;Description automatically generated">
            <a:extLst>
              <a:ext uri="{FF2B5EF4-FFF2-40B4-BE49-F238E27FC236}">
                <a16:creationId xmlns:a16="http://schemas.microsoft.com/office/drawing/2014/main" id="{8F9BDA60-070B-2B31-D28F-3E01D80E9EC4}"/>
              </a:ext>
            </a:extLst>
          </p:cNvPr>
          <p:cNvPicPr>
            <a:picLocks noChangeAspect="1"/>
          </p:cNvPicPr>
          <p:nvPr/>
        </p:nvPicPr>
        <p:blipFill>
          <a:blip r:embed="rId3"/>
          <a:stretch>
            <a:fillRect/>
          </a:stretch>
        </p:blipFill>
        <p:spPr>
          <a:xfrm>
            <a:off x="8213092" y="0"/>
            <a:ext cx="3963666" cy="6858000"/>
          </a:xfrm>
          <a:prstGeom prst="rect">
            <a:avLst/>
          </a:prstGeom>
        </p:spPr>
      </p:pic>
      <p:sp>
        <p:nvSpPr>
          <p:cNvPr id="6" name="Oval 5">
            <a:extLst>
              <a:ext uri="{FF2B5EF4-FFF2-40B4-BE49-F238E27FC236}">
                <a16:creationId xmlns:a16="http://schemas.microsoft.com/office/drawing/2014/main" id="{9655624C-4083-F542-D13F-E642CC5883F8}"/>
              </a:ext>
            </a:extLst>
          </p:cNvPr>
          <p:cNvSpPr/>
          <p:nvPr/>
        </p:nvSpPr>
        <p:spPr>
          <a:xfrm>
            <a:off x="355956" y="3554730"/>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sp>
        <p:nvSpPr>
          <p:cNvPr id="8" name="Trapezoid 7">
            <a:extLst>
              <a:ext uri="{FF2B5EF4-FFF2-40B4-BE49-F238E27FC236}">
                <a16:creationId xmlns:a16="http://schemas.microsoft.com/office/drawing/2014/main" id="{9444DBB5-3F4D-37AD-47D4-A36171863A17}"/>
              </a:ext>
            </a:extLst>
          </p:cNvPr>
          <p:cNvSpPr/>
          <p:nvPr/>
        </p:nvSpPr>
        <p:spPr>
          <a:xfrm>
            <a:off x="1588770" y="611505"/>
            <a:ext cx="6703695" cy="5823585"/>
          </a:xfrm>
          <a:custGeom>
            <a:avLst/>
            <a:gdLst>
              <a:gd name="connsiteX0" fmla="*/ 0 w 5326380"/>
              <a:gd name="connsiteY0" fmla="*/ 6069330 h 6069330"/>
              <a:gd name="connsiteX1" fmla="*/ 1331595 w 5326380"/>
              <a:gd name="connsiteY1" fmla="*/ 0 h 6069330"/>
              <a:gd name="connsiteX2" fmla="*/ 3994785 w 5326380"/>
              <a:gd name="connsiteY2" fmla="*/ 0 h 6069330"/>
              <a:gd name="connsiteX3" fmla="*/ 5326380 w 5326380"/>
              <a:gd name="connsiteY3" fmla="*/ 6069330 h 6069330"/>
              <a:gd name="connsiteX4" fmla="*/ 0 w 5326380"/>
              <a:gd name="connsiteY4" fmla="*/ 6069330 h 6069330"/>
              <a:gd name="connsiteX0" fmla="*/ 0 w 5332095"/>
              <a:gd name="connsiteY0" fmla="*/ 6069330 h 6069330"/>
              <a:gd name="connsiteX1" fmla="*/ 1331595 w 5332095"/>
              <a:gd name="connsiteY1" fmla="*/ 0 h 6069330"/>
              <a:gd name="connsiteX2" fmla="*/ 5332095 w 5332095"/>
              <a:gd name="connsiteY2" fmla="*/ 405765 h 6069330"/>
              <a:gd name="connsiteX3" fmla="*/ 5326380 w 5332095"/>
              <a:gd name="connsiteY3" fmla="*/ 6069330 h 6069330"/>
              <a:gd name="connsiteX4" fmla="*/ 0 w 5332095"/>
              <a:gd name="connsiteY4" fmla="*/ 6069330 h 6069330"/>
              <a:gd name="connsiteX0" fmla="*/ 0 w 6703695"/>
              <a:gd name="connsiteY0" fmla="*/ 2926080 h 6069330"/>
              <a:gd name="connsiteX1" fmla="*/ 2703195 w 6703695"/>
              <a:gd name="connsiteY1" fmla="*/ 0 h 6069330"/>
              <a:gd name="connsiteX2" fmla="*/ 6703695 w 6703695"/>
              <a:gd name="connsiteY2" fmla="*/ 405765 h 6069330"/>
              <a:gd name="connsiteX3" fmla="*/ 6697980 w 6703695"/>
              <a:gd name="connsiteY3" fmla="*/ 6069330 h 6069330"/>
              <a:gd name="connsiteX4" fmla="*/ 0 w 6703695"/>
              <a:gd name="connsiteY4" fmla="*/ 2926080 h 6069330"/>
              <a:gd name="connsiteX0" fmla="*/ 0 w 6703695"/>
              <a:gd name="connsiteY0" fmla="*/ 2680335 h 5823585"/>
              <a:gd name="connsiteX1" fmla="*/ 120015 w 6703695"/>
              <a:gd name="connsiteY1" fmla="*/ 0 h 5823585"/>
              <a:gd name="connsiteX2" fmla="*/ 6703695 w 6703695"/>
              <a:gd name="connsiteY2" fmla="*/ 160020 h 5823585"/>
              <a:gd name="connsiteX3" fmla="*/ 6697980 w 6703695"/>
              <a:gd name="connsiteY3" fmla="*/ 5823585 h 5823585"/>
              <a:gd name="connsiteX4" fmla="*/ 0 w 6703695"/>
              <a:gd name="connsiteY4" fmla="*/ 2680335 h 5823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3695" h="5823585">
                <a:moveTo>
                  <a:pt x="0" y="2680335"/>
                </a:moveTo>
                <a:lnTo>
                  <a:pt x="120015" y="0"/>
                </a:lnTo>
                <a:lnTo>
                  <a:pt x="6703695" y="160020"/>
                </a:lnTo>
                <a:lnTo>
                  <a:pt x="6697980" y="5823585"/>
                </a:lnTo>
                <a:lnTo>
                  <a:pt x="0" y="2680335"/>
                </a:lnTo>
                <a:close/>
              </a:path>
            </a:pathLst>
          </a:custGeom>
          <a:solidFill>
            <a:schemeClr val="accent1">
              <a:alpha val="12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5E2A72F-610E-AC87-C569-C99A1FE652E0}"/>
              </a:ext>
            </a:extLst>
          </p:cNvPr>
          <p:cNvSpPr/>
          <p:nvPr/>
        </p:nvSpPr>
        <p:spPr>
          <a:xfrm>
            <a:off x="355956" y="601422"/>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Only (Static)</a:t>
            </a:r>
            <a:br>
              <a:rPr lang="en-US" dirty="0"/>
            </a:br>
            <a:r>
              <a:rPr lang="en-US" dirty="0"/>
              <a:t>Static Graph</a:t>
            </a:r>
          </a:p>
        </p:txBody>
      </p:sp>
      <p:sp>
        <p:nvSpPr>
          <p:cNvPr id="2" name="Slide Number Placeholder 1">
            <a:extLst>
              <a:ext uri="{FF2B5EF4-FFF2-40B4-BE49-F238E27FC236}">
                <a16:creationId xmlns:a16="http://schemas.microsoft.com/office/drawing/2014/main" id="{DF9FC14A-7E7F-F74D-9AA3-CB5B864EB3D9}"/>
              </a:ext>
            </a:extLst>
          </p:cNvPr>
          <p:cNvSpPr>
            <a:spLocks noGrp="1"/>
          </p:cNvSpPr>
          <p:nvPr>
            <p:ph type="sldNum" sz="quarter" idx="12"/>
          </p:nvPr>
        </p:nvSpPr>
        <p:spPr/>
        <p:txBody>
          <a:bodyPr/>
          <a:lstStyle/>
          <a:p>
            <a:fld id="{0FA4238C-0B31-2640-B0B6-C8A5E6F89A2A}" type="slidenum">
              <a:rPr lang="en-US" smtClean="0"/>
              <a:t>5</a:t>
            </a:fld>
            <a:endParaRPr lang="en-US"/>
          </a:p>
        </p:txBody>
      </p:sp>
    </p:spTree>
    <p:extLst>
      <p:ext uri="{BB962C8B-B14F-4D97-AF65-F5344CB8AC3E}">
        <p14:creationId xmlns:p14="http://schemas.microsoft.com/office/powerpoint/2010/main" val="3051656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10;&#10;Description automatically generated">
            <a:extLst>
              <a:ext uri="{FF2B5EF4-FFF2-40B4-BE49-F238E27FC236}">
                <a16:creationId xmlns:a16="http://schemas.microsoft.com/office/drawing/2014/main" id="{CA7E8560-67D3-B3C6-53C5-96162710EF04}"/>
              </a:ext>
            </a:extLst>
          </p:cNvPr>
          <p:cNvPicPr>
            <a:picLocks noChangeAspect="1"/>
          </p:cNvPicPr>
          <p:nvPr/>
        </p:nvPicPr>
        <p:blipFill>
          <a:blip r:embed="rId3"/>
          <a:stretch>
            <a:fillRect/>
          </a:stretch>
        </p:blipFill>
        <p:spPr>
          <a:xfrm>
            <a:off x="796413" y="675872"/>
            <a:ext cx="10599174" cy="5506255"/>
          </a:xfrm>
          <a:prstGeom prst="rect">
            <a:avLst/>
          </a:prstGeom>
        </p:spPr>
      </p:pic>
      <p:sp>
        <p:nvSpPr>
          <p:cNvPr id="2" name="Slide Number Placeholder 1">
            <a:extLst>
              <a:ext uri="{FF2B5EF4-FFF2-40B4-BE49-F238E27FC236}">
                <a16:creationId xmlns:a16="http://schemas.microsoft.com/office/drawing/2014/main" id="{F98AC130-E092-7505-ACC5-3AC75D860E90}"/>
              </a:ext>
            </a:extLst>
          </p:cNvPr>
          <p:cNvSpPr>
            <a:spLocks noGrp="1"/>
          </p:cNvSpPr>
          <p:nvPr>
            <p:ph type="sldNum" idx="12"/>
          </p:nvPr>
        </p:nvSpPr>
        <p:spPr/>
        <p:txBody>
          <a:bodyPr/>
          <a:lstStyle/>
          <a:p>
            <a:fld id="{00000000-1234-1234-1234-123412341234}" type="slidenum">
              <a:rPr lang="en-GB" smtClean="0"/>
              <a:pPr/>
              <a:t>6</a:t>
            </a:fld>
            <a:endParaRPr lang="en-GB"/>
          </a:p>
        </p:txBody>
      </p:sp>
    </p:spTree>
    <p:extLst>
      <p:ext uri="{BB962C8B-B14F-4D97-AF65-F5344CB8AC3E}">
        <p14:creationId xmlns:p14="http://schemas.microsoft.com/office/powerpoint/2010/main" val="76629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graph&#10;&#10;Description automatically generated">
            <a:extLst>
              <a:ext uri="{FF2B5EF4-FFF2-40B4-BE49-F238E27FC236}">
                <a16:creationId xmlns:a16="http://schemas.microsoft.com/office/drawing/2014/main" id="{8F9BDA60-070B-2B31-D28F-3E01D80E9EC4}"/>
              </a:ext>
            </a:extLst>
          </p:cNvPr>
          <p:cNvPicPr>
            <a:picLocks noChangeAspect="1"/>
          </p:cNvPicPr>
          <p:nvPr/>
        </p:nvPicPr>
        <p:blipFill>
          <a:blip r:embed="rId3"/>
          <a:stretch>
            <a:fillRect/>
          </a:stretch>
        </p:blipFill>
        <p:spPr>
          <a:xfrm>
            <a:off x="8213092" y="0"/>
            <a:ext cx="3963666" cy="6858000"/>
          </a:xfrm>
          <a:prstGeom prst="rect">
            <a:avLst/>
          </a:prstGeom>
        </p:spPr>
      </p:pic>
      <p:sp>
        <p:nvSpPr>
          <p:cNvPr id="6" name="Oval 5">
            <a:extLst>
              <a:ext uri="{FF2B5EF4-FFF2-40B4-BE49-F238E27FC236}">
                <a16:creationId xmlns:a16="http://schemas.microsoft.com/office/drawing/2014/main" id="{9655624C-4083-F542-D13F-E642CC5883F8}"/>
              </a:ext>
            </a:extLst>
          </p:cNvPr>
          <p:cNvSpPr/>
          <p:nvPr/>
        </p:nvSpPr>
        <p:spPr>
          <a:xfrm>
            <a:off x="355956" y="3554730"/>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sp>
        <p:nvSpPr>
          <p:cNvPr id="8" name="Trapezoid 7">
            <a:extLst>
              <a:ext uri="{FF2B5EF4-FFF2-40B4-BE49-F238E27FC236}">
                <a16:creationId xmlns:a16="http://schemas.microsoft.com/office/drawing/2014/main" id="{9444DBB5-3F4D-37AD-47D4-A36171863A17}"/>
              </a:ext>
            </a:extLst>
          </p:cNvPr>
          <p:cNvSpPr/>
          <p:nvPr/>
        </p:nvSpPr>
        <p:spPr>
          <a:xfrm>
            <a:off x="1588770" y="611505"/>
            <a:ext cx="6703695" cy="5823585"/>
          </a:xfrm>
          <a:custGeom>
            <a:avLst/>
            <a:gdLst>
              <a:gd name="connsiteX0" fmla="*/ 0 w 5326380"/>
              <a:gd name="connsiteY0" fmla="*/ 6069330 h 6069330"/>
              <a:gd name="connsiteX1" fmla="*/ 1331595 w 5326380"/>
              <a:gd name="connsiteY1" fmla="*/ 0 h 6069330"/>
              <a:gd name="connsiteX2" fmla="*/ 3994785 w 5326380"/>
              <a:gd name="connsiteY2" fmla="*/ 0 h 6069330"/>
              <a:gd name="connsiteX3" fmla="*/ 5326380 w 5326380"/>
              <a:gd name="connsiteY3" fmla="*/ 6069330 h 6069330"/>
              <a:gd name="connsiteX4" fmla="*/ 0 w 5326380"/>
              <a:gd name="connsiteY4" fmla="*/ 6069330 h 6069330"/>
              <a:gd name="connsiteX0" fmla="*/ 0 w 5332095"/>
              <a:gd name="connsiteY0" fmla="*/ 6069330 h 6069330"/>
              <a:gd name="connsiteX1" fmla="*/ 1331595 w 5332095"/>
              <a:gd name="connsiteY1" fmla="*/ 0 h 6069330"/>
              <a:gd name="connsiteX2" fmla="*/ 5332095 w 5332095"/>
              <a:gd name="connsiteY2" fmla="*/ 405765 h 6069330"/>
              <a:gd name="connsiteX3" fmla="*/ 5326380 w 5332095"/>
              <a:gd name="connsiteY3" fmla="*/ 6069330 h 6069330"/>
              <a:gd name="connsiteX4" fmla="*/ 0 w 5332095"/>
              <a:gd name="connsiteY4" fmla="*/ 6069330 h 6069330"/>
              <a:gd name="connsiteX0" fmla="*/ 0 w 6703695"/>
              <a:gd name="connsiteY0" fmla="*/ 2926080 h 6069330"/>
              <a:gd name="connsiteX1" fmla="*/ 2703195 w 6703695"/>
              <a:gd name="connsiteY1" fmla="*/ 0 h 6069330"/>
              <a:gd name="connsiteX2" fmla="*/ 6703695 w 6703695"/>
              <a:gd name="connsiteY2" fmla="*/ 405765 h 6069330"/>
              <a:gd name="connsiteX3" fmla="*/ 6697980 w 6703695"/>
              <a:gd name="connsiteY3" fmla="*/ 6069330 h 6069330"/>
              <a:gd name="connsiteX4" fmla="*/ 0 w 6703695"/>
              <a:gd name="connsiteY4" fmla="*/ 2926080 h 6069330"/>
              <a:gd name="connsiteX0" fmla="*/ 0 w 6703695"/>
              <a:gd name="connsiteY0" fmla="*/ 2680335 h 5823585"/>
              <a:gd name="connsiteX1" fmla="*/ 120015 w 6703695"/>
              <a:gd name="connsiteY1" fmla="*/ 0 h 5823585"/>
              <a:gd name="connsiteX2" fmla="*/ 6703695 w 6703695"/>
              <a:gd name="connsiteY2" fmla="*/ 160020 h 5823585"/>
              <a:gd name="connsiteX3" fmla="*/ 6697980 w 6703695"/>
              <a:gd name="connsiteY3" fmla="*/ 5823585 h 5823585"/>
              <a:gd name="connsiteX4" fmla="*/ 0 w 6703695"/>
              <a:gd name="connsiteY4" fmla="*/ 2680335 h 5823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3695" h="5823585">
                <a:moveTo>
                  <a:pt x="0" y="2680335"/>
                </a:moveTo>
                <a:lnTo>
                  <a:pt x="120015" y="0"/>
                </a:lnTo>
                <a:lnTo>
                  <a:pt x="6703695" y="160020"/>
                </a:lnTo>
                <a:lnTo>
                  <a:pt x="6697980" y="5823585"/>
                </a:lnTo>
                <a:lnTo>
                  <a:pt x="0" y="2680335"/>
                </a:lnTo>
                <a:close/>
              </a:path>
            </a:pathLst>
          </a:custGeom>
          <a:solidFill>
            <a:schemeClr val="accent1">
              <a:alpha val="12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5E2A72F-610E-AC87-C569-C99A1FE652E0}"/>
              </a:ext>
            </a:extLst>
          </p:cNvPr>
          <p:cNvSpPr/>
          <p:nvPr/>
        </p:nvSpPr>
        <p:spPr>
          <a:xfrm>
            <a:off x="355956" y="601422"/>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Only (Static)</a:t>
            </a:r>
            <a:br>
              <a:rPr lang="en-US" dirty="0"/>
            </a:br>
            <a:r>
              <a:rPr lang="en-US" dirty="0"/>
              <a:t>Static Graph</a:t>
            </a:r>
          </a:p>
        </p:txBody>
      </p:sp>
      <p:sp>
        <p:nvSpPr>
          <p:cNvPr id="2" name="Slide Number Placeholder 1">
            <a:extLst>
              <a:ext uri="{FF2B5EF4-FFF2-40B4-BE49-F238E27FC236}">
                <a16:creationId xmlns:a16="http://schemas.microsoft.com/office/drawing/2014/main" id="{4791B050-5334-6DA9-6BDB-C475C7E12254}"/>
              </a:ext>
            </a:extLst>
          </p:cNvPr>
          <p:cNvSpPr>
            <a:spLocks noGrp="1"/>
          </p:cNvSpPr>
          <p:nvPr>
            <p:ph type="sldNum" sz="quarter" idx="12"/>
          </p:nvPr>
        </p:nvSpPr>
        <p:spPr/>
        <p:txBody>
          <a:bodyPr/>
          <a:lstStyle/>
          <a:p>
            <a:fld id="{0FA4238C-0B31-2640-B0B6-C8A5E6F89A2A}" type="slidenum">
              <a:rPr lang="en-US" smtClean="0"/>
              <a:t>7</a:t>
            </a:fld>
            <a:endParaRPr lang="en-US"/>
          </a:p>
        </p:txBody>
      </p:sp>
    </p:spTree>
    <p:extLst>
      <p:ext uri="{BB962C8B-B14F-4D97-AF65-F5344CB8AC3E}">
        <p14:creationId xmlns:p14="http://schemas.microsoft.com/office/powerpoint/2010/main" val="4034699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B51FCB-1E33-C0D6-610E-3A391DCFFD91}"/>
              </a:ext>
            </a:extLst>
          </p:cNvPr>
          <p:cNvPicPr>
            <a:picLocks noChangeAspect="1"/>
          </p:cNvPicPr>
          <p:nvPr/>
        </p:nvPicPr>
        <p:blipFill>
          <a:blip r:embed="rId3"/>
          <a:stretch>
            <a:fillRect/>
          </a:stretch>
        </p:blipFill>
        <p:spPr>
          <a:xfrm>
            <a:off x="7919300" y="-14906"/>
            <a:ext cx="4272700" cy="6872906"/>
          </a:xfrm>
          <a:prstGeom prst="rect">
            <a:avLst/>
          </a:prstGeom>
        </p:spPr>
      </p:pic>
      <p:sp>
        <p:nvSpPr>
          <p:cNvPr id="6" name="Oval 5">
            <a:extLst>
              <a:ext uri="{FF2B5EF4-FFF2-40B4-BE49-F238E27FC236}">
                <a16:creationId xmlns:a16="http://schemas.microsoft.com/office/drawing/2014/main" id="{9655624C-4083-F542-D13F-E642CC5883F8}"/>
              </a:ext>
            </a:extLst>
          </p:cNvPr>
          <p:cNvSpPr/>
          <p:nvPr/>
        </p:nvSpPr>
        <p:spPr>
          <a:xfrm>
            <a:off x="333096" y="2078076"/>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cxnSp>
        <p:nvCxnSpPr>
          <p:cNvPr id="9" name="Straight Arrow Connector 8">
            <a:extLst>
              <a:ext uri="{FF2B5EF4-FFF2-40B4-BE49-F238E27FC236}">
                <a16:creationId xmlns:a16="http://schemas.microsoft.com/office/drawing/2014/main" id="{A8BD72CF-B9D9-F5B5-8E6B-CC9810911850}"/>
              </a:ext>
            </a:extLst>
          </p:cNvPr>
          <p:cNvCxnSpPr>
            <a:cxnSpLocks/>
            <a:stCxn id="6" idx="7"/>
            <a:endCxn id="2" idx="2"/>
          </p:cNvCxnSpPr>
          <p:nvPr/>
        </p:nvCxnSpPr>
        <p:spPr>
          <a:xfrm flipV="1">
            <a:off x="2639268" y="1526044"/>
            <a:ext cx="1686708" cy="94770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2" name="Trapezoid 11">
            <a:extLst>
              <a:ext uri="{FF2B5EF4-FFF2-40B4-BE49-F238E27FC236}">
                <a16:creationId xmlns:a16="http://schemas.microsoft.com/office/drawing/2014/main" id="{18BC018C-BFF5-5F03-EE19-A90C3DFAF397}"/>
              </a:ext>
            </a:extLst>
          </p:cNvPr>
          <p:cNvSpPr/>
          <p:nvPr/>
        </p:nvSpPr>
        <p:spPr>
          <a:xfrm>
            <a:off x="4629136" y="834533"/>
            <a:ext cx="6893411" cy="5067927"/>
          </a:xfrm>
          <a:custGeom>
            <a:avLst/>
            <a:gdLst>
              <a:gd name="connsiteX0" fmla="*/ 0 w 2303930"/>
              <a:gd name="connsiteY0" fmla="*/ 1693823 h 1693823"/>
              <a:gd name="connsiteX1" fmla="*/ 423456 w 2303930"/>
              <a:gd name="connsiteY1" fmla="*/ 0 h 1693823"/>
              <a:gd name="connsiteX2" fmla="*/ 1880474 w 2303930"/>
              <a:gd name="connsiteY2" fmla="*/ 0 h 1693823"/>
              <a:gd name="connsiteX3" fmla="*/ 2303930 w 2303930"/>
              <a:gd name="connsiteY3" fmla="*/ 1693823 h 1693823"/>
              <a:gd name="connsiteX4" fmla="*/ 0 w 2303930"/>
              <a:gd name="connsiteY4" fmla="*/ 1693823 h 1693823"/>
              <a:gd name="connsiteX0" fmla="*/ 0 w 6463553"/>
              <a:gd name="connsiteY0" fmla="*/ 1693823 h 2688906"/>
              <a:gd name="connsiteX1" fmla="*/ 423456 w 6463553"/>
              <a:gd name="connsiteY1" fmla="*/ 0 h 2688906"/>
              <a:gd name="connsiteX2" fmla="*/ 1880474 w 6463553"/>
              <a:gd name="connsiteY2" fmla="*/ 0 h 2688906"/>
              <a:gd name="connsiteX3" fmla="*/ 6463553 w 6463553"/>
              <a:gd name="connsiteY3" fmla="*/ 2688906 h 2688906"/>
              <a:gd name="connsiteX4" fmla="*/ 0 w 6463553"/>
              <a:gd name="connsiteY4" fmla="*/ 1693823 h 2688906"/>
              <a:gd name="connsiteX0" fmla="*/ 2911415 w 6040097"/>
              <a:gd name="connsiteY0" fmla="*/ 2688906 h 2688906"/>
              <a:gd name="connsiteX1" fmla="*/ 0 w 6040097"/>
              <a:gd name="connsiteY1" fmla="*/ 0 h 2688906"/>
              <a:gd name="connsiteX2" fmla="*/ 1457018 w 6040097"/>
              <a:gd name="connsiteY2" fmla="*/ 0 h 2688906"/>
              <a:gd name="connsiteX3" fmla="*/ 6040097 w 6040097"/>
              <a:gd name="connsiteY3" fmla="*/ 2688906 h 2688906"/>
              <a:gd name="connsiteX4" fmla="*/ 2911415 w 6040097"/>
              <a:gd name="connsiteY4" fmla="*/ 2688906 h 2688906"/>
              <a:gd name="connsiteX0" fmla="*/ 2911415 w 6040097"/>
              <a:gd name="connsiteY0" fmla="*/ 4849400 h 4849400"/>
              <a:gd name="connsiteX1" fmla="*/ 0 w 6040097"/>
              <a:gd name="connsiteY1" fmla="*/ 2160494 h 4849400"/>
              <a:gd name="connsiteX2" fmla="*/ 721912 w 6040097"/>
              <a:gd name="connsiteY2" fmla="*/ 0 h 4849400"/>
              <a:gd name="connsiteX3" fmla="*/ 6040097 w 6040097"/>
              <a:gd name="connsiteY3" fmla="*/ 4849400 h 4849400"/>
              <a:gd name="connsiteX4" fmla="*/ 2911415 w 6040097"/>
              <a:gd name="connsiteY4" fmla="*/ 4849400 h 4849400"/>
              <a:gd name="connsiteX0" fmla="*/ 2848662 w 5977344"/>
              <a:gd name="connsiteY0" fmla="*/ 4849400 h 4849400"/>
              <a:gd name="connsiteX1" fmla="*/ 0 w 5977344"/>
              <a:gd name="connsiteY1" fmla="*/ 1810871 h 4849400"/>
              <a:gd name="connsiteX2" fmla="*/ 659159 w 5977344"/>
              <a:gd name="connsiteY2" fmla="*/ 0 h 4849400"/>
              <a:gd name="connsiteX3" fmla="*/ 5977344 w 5977344"/>
              <a:gd name="connsiteY3" fmla="*/ 4849400 h 4849400"/>
              <a:gd name="connsiteX4" fmla="*/ 2848662 w 5977344"/>
              <a:gd name="connsiteY4" fmla="*/ 4849400 h 4849400"/>
              <a:gd name="connsiteX0" fmla="*/ 2848662 w 5977344"/>
              <a:gd name="connsiteY0" fmla="*/ 3612270 h 3612270"/>
              <a:gd name="connsiteX1" fmla="*/ 0 w 5977344"/>
              <a:gd name="connsiteY1" fmla="*/ 573741 h 3612270"/>
              <a:gd name="connsiteX2" fmla="*/ 1017747 w 5977344"/>
              <a:gd name="connsiteY2" fmla="*/ 0 h 3612270"/>
              <a:gd name="connsiteX3" fmla="*/ 5977344 w 5977344"/>
              <a:gd name="connsiteY3" fmla="*/ 3612270 h 3612270"/>
              <a:gd name="connsiteX4" fmla="*/ 2848662 w 5977344"/>
              <a:gd name="connsiteY4" fmla="*/ 3612270 h 3612270"/>
              <a:gd name="connsiteX0" fmla="*/ 2848662 w 5977344"/>
              <a:gd name="connsiteY0" fmla="*/ 4499776 h 4499776"/>
              <a:gd name="connsiteX1" fmla="*/ 0 w 5977344"/>
              <a:gd name="connsiteY1" fmla="*/ 1461247 h 4499776"/>
              <a:gd name="connsiteX2" fmla="*/ 963958 w 5977344"/>
              <a:gd name="connsiteY2" fmla="*/ 0 h 4499776"/>
              <a:gd name="connsiteX3" fmla="*/ 5977344 w 5977344"/>
              <a:gd name="connsiteY3" fmla="*/ 4499776 h 4499776"/>
              <a:gd name="connsiteX4" fmla="*/ 2848662 w 5977344"/>
              <a:gd name="connsiteY4" fmla="*/ 4499776 h 4499776"/>
              <a:gd name="connsiteX0" fmla="*/ 3117603 w 6246285"/>
              <a:gd name="connsiteY0" fmla="*/ 4499776 h 4499776"/>
              <a:gd name="connsiteX1" fmla="*/ 0 w 6246285"/>
              <a:gd name="connsiteY1" fmla="*/ 1398494 h 4499776"/>
              <a:gd name="connsiteX2" fmla="*/ 1232899 w 6246285"/>
              <a:gd name="connsiteY2" fmla="*/ 0 h 4499776"/>
              <a:gd name="connsiteX3" fmla="*/ 6246285 w 6246285"/>
              <a:gd name="connsiteY3" fmla="*/ 4499776 h 4499776"/>
              <a:gd name="connsiteX4" fmla="*/ 3117603 w 6246285"/>
              <a:gd name="connsiteY4" fmla="*/ 4499776 h 4499776"/>
              <a:gd name="connsiteX0" fmla="*/ 3117603 w 6246285"/>
              <a:gd name="connsiteY0" fmla="*/ 4885258 h 4885258"/>
              <a:gd name="connsiteX1" fmla="*/ 0 w 6246285"/>
              <a:gd name="connsiteY1" fmla="*/ 1783976 h 4885258"/>
              <a:gd name="connsiteX2" fmla="*/ 829488 w 6246285"/>
              <a:gd name="connsiteY2" fmla="*/ 0 h 4885258"/>
              <a:gd name="connsiteX3" fmla="*/ 6246285 w 6246285"/>
              <a:gd name="connsiteY3" fmla="*/ 4885258 h 4885258"/>
              <a:gd name="connsiteX4" fmla="*/ 3117603 w 6246285"/>
              <a:gd name="connsiteY4" fmla="*/ 4885258 h 4885258"/>
              <a:gd name="connsiteX0" fmla="*/ 3521015 w 6649697"/>
              <a:gd name="connsiteY0" fmla="*/ 4885258 h 4885258"/>
              <a:gd name="connsiteX1" fmla="*/ 0 w 6649697"/>
              <a:gd name="connsiteY1" fmla="*/ 1541929 h 4885258"/>
              <a:gd name="connsiteX2" fmla="*/ 1232900 w 6649697"/>
              <a:gd name="connsiteY2" fmla="*/ 0 h 4885258"/>
              <a:gd name="connsiteX3" fmla="*/ 6649697 w 6649697"/>
              <a:gd name="connsiteY3" fmla="*/ 4885258 h 4885258"/>
              <a:gd name="connsiteX4" fmla="*/ 3521015 w 6649697"/>
              <a:gd name="connsiteY4" fmla="*/ 4885258 h 4885258"/>
              <a:gd name="connsiteX0" fmla="*/ 3521015 w 6649697"/>
              <a:gd name="connsiteY0" fmla="*/ 4607352 h 4607352"/>
              <a:gd name="connsiteX1" fmla="*/ 0 w 6649697"/>
              <a:gd name="connsiteY1" fmla="*/ 1264023 h 4607352"/>
              <a:gd name="connsiteX2" fmla="*/ 1555629 w 6649697"/>
              <a:gd name="connsiteY2" fmla="*/ 0 h 4607352"/>
              <a:gd name="connsiteX3" fmla="*/ 6649697 w 6649697"/>
              <a:gd name="connsiteY3" fmla="*/ 4607352 h 4607352"/>
              <a:gd name="connsiteX4" fmla="*/ 3521015 w 6649697"/>
              <a:gd name="connsiteY4" fmla="*/ 4607352 h 4607352"/>
              <a:gd name="connsiteX0" fmla="*/ 3451647 w 6580329"/>
              <a:gd name="connsiteY0" fmla="*/ 4607352 h 4607352"/>
              <a:gd name="connsiteX1" fmla="*/ 0 w 6580329"/>
              <a:gd name="connsiteY1" fmla="*/ 1308166 h 4607352"/>
              <a:gd name="connsiteX2" fmla="*/ 1486261 w 6580329"/>
              <a:gd name="connsiteY2" fmla="*/ 0 h 4607352"/>
              <a:gd name="connsiteX3" fmla="*/ 6580329 w 6580329"/>
              <a:gd name="connsiteY3" fmla="*/ 4607352 h 4607352"/>
              <a:gd name="connsiteX4" fmla="*/ 3451647 w 6580329"/>
              <a:gd name="connsiteY4" fmla="*/ 4607352 h 4607352"/>
              <a:gd name="connsiteX0" fmla="*/ 3451647 w 6580329"/>
              <a:gd name="connsiteY0" fmla="*/ 4705149 h 4705149"/>
              <a:gd name="connsiteX1" fmla="*/ 0 w 6580329"/>
              <a:gd name="connsiteY1" fmla="*/ 1405963 h 4705149"/>
              <a:gd name="connsiteX2" fmla="*/ 1417804 w 6580329"/>
              <a:gd name="connsiteY2" fmla="*/ 0 h 4705149"/>
              <a:gd name="connsiteX3" fmla="*/ 6580329 w 6580329"/>
              <a:gd name="connsiteY3" fmla="*/ 4705149 h 4705149"/>
              <a:gd name="connsiteX4" fmla="*/ 3451647 w 6580329"/>
              <a:gd name="connsiteY4" fmla="*/ 4705149 h 4705149"/>
              <a:gd name="connsiteX0" fmla="*/ 3310193 w 6580329"/>
              <a:gd name="connsiteY0" fmla="*/ 5063837 h 5063837"/>
              <a:gd name="connsiteX1" fmla="*/ 0 w 6580329"/>
              <a:gd name="connsiteY1" fmla="*/ 1405963 h 5063837"/>
              <a:gd name="connsiteX2" fmla="*/ 1417804 w 6580329"/>
              <a:gd name="connsiteY2" fmla="*/ 0 h 5063837"/>
              <a:gd name="connsiteX3" fmla="*/ 6580329 w 6580329"/>
              <a:gd name="connsiteY3" fmla="*/ 4705149 h 5063837"/>
              <a:gd name="connsiteX4" fmla="*/ 3310193 w 6580329"/>
              <a:gd name="connsiteY4" fmla="*/ 5063837 h 5063837"/>
              <a:gd name="connsiteX0" fmla="*/ 3310193 w 6893411"/>
              <a:gd name="connsiteY0" fmla="*/ 5063837 h 5067927"/>
              <a:gd name="connsiteX1" fmla="*/ 0 w 6893411"/>
              <a:gd name="connsiteY1" fmla="*/ 1405963 h 5067927"/>
              <a:gd name="connsiteX2" fmla="*/ 1417804 w 6893411"/>
              <a:gd name="connsiteY2" fmla="*/ 0 h 5067927"/>
              <a:gd name="connsiteX3" fmla="*/ 6893411 w 6893411"/>
              <a:gd name="connsiteY3" fmla="*/ 5067927 h 5067927"/>
              <a:gd name="connsiteX4" fmla="*/ 3310193 w 6893411"/>
              <a:gd name="connsiteY4" fmla="*/ 5063837 h 5067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3411" h="5067927">
                <a:moveTo>
                  <a:pt x="3310193" y="5063837"/>
                </a:moveTo>
                <a:lnTo>
                  <a:pt x="0" y="1405963"/>
                </a:lnTo>
                <a:lnTo>
                  <a:pt x="1417804" y="0"/>
                </a:lnTo>
                <a:lnTo>
                  <a:pt x="6893411" y="5067927"/>
                </a:lnTo>
                <a:lnTo>
                  <a:pt x="3310193" y="5063837"/>
                </a:lnTo>
                <a:close/>
              </a:path>
            </a:pathLst>
          </a:custGeom>
          <a:solidFill>
            <a:schemeClr val="accent1">
              <a:alpha val="1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2E7AC2DA-3432-1758-67A9-C4D467082987}"/>
              </a:ext>
            </a:extLst>
          </p:cNvPr>
          <p:cNvSpPr/>
          <p:nvPr/>
        </p:nvSpPr>
        <p:spPr>
          <a:xfrm>
            <a:off x="4325976" y="525779"/>
            <a:ext cx="2000529" cy="20005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Non - Transactional</a:t>
            </a:r>
          </a:p>
        </p:txBody>
      </p:sp>
      <p:sp>
        <p:nvSpPr>
          <p:cNvPr id="3" name="Slide Number Placeholder 2">
            <a:extLst>
              <a:ext uri="{FF2B5EF4-FFF2-40B4-BE49-F238E27FC236}">
                <a16:creationId xmlns:a16="http://schemas.microsoft.com/office/drawing/2014/main" id="{77524A8B-446C-C14E-A810-9C36D0500736}"/>
              </a:ext>
            </a:extLst>
          </p:cNvPr>
          <p:cNvSpPr>
            <a:spLocks noGrp="1"/>
          </p:cNvSpPr>
          <p:nvPr>
            <p:ph type="sldNum" sz="quarter" idx="12"/>
          </p:nvPr>
        </p:nvSpPr>
        <p:spPr/>
        <p:txBody>
          <a:bodyPr/>
          <a:lstStyle/>
          <a:p>
            <a:fld id="{0FA4238C-0B31-2640-B0B6-C8A5E6F89A2A}" type="slidenum">
              <a:rPr lang="en-US" smtClean="0"/>
              <a:t>8</a:t>
            </a:fld>
            <a:endParaRPr lang="en-US"/>
          </a:p>
        </p:txBody>
      </p:sp>
    </p:spTree>
    <p:extLst>
      <p:ext uri="{BB962C8B-B14F-4D97-AF65-F5344CB8AC3E}">
        <p14:creationId xmlns:p14="http://schemas.microsoft.com/office/powerpoint/2010/main" val="3389208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EFA317-0A67-3F59-F952-EECFE0D4485C}"/>
              </a:ext>
            </a:extLst>
          </p:cNvPr>
          <p:cNvPicPr>
            <a:picLocks noChangeAspect="1"/>
          </p:cNvPicPr>
          <p:nvPr/>
        </p:nvPicPr>
        <p:blipFill>
          <a:blip r:embed="rId3"/>
          <a:stretch>
            <a:fillRect/>
          </a:stretch>
        </p:blipFill>
        <p:spPr>
          <a:xfrm>
            <a:off x="7053881" y="597568"/>
            <a:ext cx="5138119" cy="5662863"/>
          </a:xfrm>
          <a:prstGeom prst="rect">
            <a:avLst/>
          </a:prstGeom>
        </p:spPr>
      </p:pic>
      <p:sp>
        <p:nvSpPr>
          <p:cNvPr id="6" name="Oval 5">
            <a:extLst>
              <a:ext uri="{FF2B5EF4-FFF2-40B4-BE49-F238E27FC236}">
                <a16:creationId xmlns:a16="http://schemas.microsoft.com/office/drawing/2014/main" id="{9655624C-4083-F542-D13F-E642CC5883F8}"/>
              </a:ext>
            </a:extLst>
          </p:cNvPr>
          <p:cNvSpPr/>
          <p:nvPr/>
        </p:nvSpPr>
        <p:spPr>
          <a:xfrm>
            <a:off x="333096" y="2078076"/>
            <a:ext cx="2701848" cy="2701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cxnSp>
        <p:nvCxnSpPr>
          <p:cNvPr id="9" name="Straight Arrow Connector 8">
            <a:extLst>
              <a:ext uri="{FF2B5EF4-FFF2-40B4-BE49-F238E27FC236}">
                <a16:creationId xmlns:a16="http://schemas.microsoft.com/office/drawing/2014/main" id="{A8BD72CF-B9D9-F5B5-8E6B-CC9810911850}"/>
              </a:ext>
            </a:extLst>
          </p:cNvPr>
          <p:cNvCxnSpPr>
            <a:cxnSpLocks/>
            <a:stCxn id="6" idx="7"/>
            <a:endCxn id="2" idx="2"/>
          </p:cNvCxnSpPr>
          <p:nvPr/>
        </p:nvCxnSpPr>
        <p:spPr>
          <a:xfrm flipV="1">
            <a:off x="2639268" y="1526044"/>
            <a:ext cx="1686708" cy="94770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2E7AC2DA-3432-1758-67A9-C4D467082987}"/>
              </a:ext>
            </a:extLst>
          </p:cNvPr>
          <p:cNvSpPr/>
          <p:nvPr/>
        </p:nvSpPr>
        <p:spPr>
          <a:xfrm>
            <a:off x="4325976" y="525779"/>
            <a:ext cx="2000529" cy="20005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Non - Transactional</a:t>
            </a:r>
          </a:p>
        </p:txBody>
      </p:sp>
      <p:cxnSp>
        <p:nvCxnSpPr>
          <p:cNvPr id="8" name="Straight Arrow Connector 7">
            <a:extLst>
              <a:ext uri="{FF2B5EF4-FFF2-40B4-BE49-F238E27FC236}">
                <a16:creationId xmlns:a16="http://schemas.microsoft.com/office/drawing/2014/main" id="{EFBDF8FE-DF70-F023-7AA8-47B1662DA5FB}"/>
              </a:ext>
            </a:extLst>
          </p:cNvPr>
          <p:cNvCxnSpPr>
            <a:stCxn id="6" idx="5"/>
            <a:endCxn id="3" idx="2"/>
          </p:cNvCxnSpPr>
          <p:nvPr/>
        </p:nvCxnSpPr>
        <p:spPr>
          <a:xfrm>
            <a:off x="2639268" y="4384248"/>
            <a:ext cx="1686707" cy="94770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1D68A7B-CDE1-0740-478D-EB5FE16D8D8E}"/>
              </a:ext>
            </a:extLst>
          </p:cNvPr>
          <p:cNvSpPr/>
          <p:nvPr/>
        </p:nvSpPr>
        <p:spPr>
          <a:xfrm>
            <a:off x="7133196" y="922038"/>
            <a:ext cx="1510772" cy="5173961"/>
          </a:xfrm>
          <a:custGeom>
            <a:avLst/>
            <a:gdLst>
              <a:gd name="connsiteX0" fmla="*/ 0 w 1421176"/>
              <a:gd name="connsiteY0" fmla="*/ 0 h 4494882"/>
              <a:gd name="connsiteX1" fmla="*/ 1421176 w 1421176"/>
              <a:gd name="connsiteY1" fmla="*/ 0 h 4494882"/>
              <a:gd name="connsiteX2" fmla="*/ 1421176 w 1421176"/>
              <a:gd name="connsiteY2" fmla="*/ 4494882 h 4494882"/>
              <a:gd name="connsiteX3" fmla="*/ 0 w 1421176"/>
              <a:gd name="connsiteY3" fmla="*/ 4494882 h 4494882"/>
              <a:gd name="connsiteX4" fmla="*/ 0 w 1421176"/>
              <a:gd name="connsiteY4" fmla="*/ 0 h 4494882"/>
              <a:gd name="connsiteX0" fmla="*/ 0 w 1432192"/>
              <a:gd name="connsiteY0" fmla="*/ 11017 h 4494882"/>
              <a:gd name="connsiteX1" fmla="*/ 1432192 w 1432192"/>
              <a:gd name="connsiteY1" fmla="*/ 0 h 4494882"/>
              <a:gd name="connsiteX2" fmla="*/ 1432192 w 1432192"/>
              <a:gd name="connsiteY2" fmla="*/ 4494882 h 4494882"/>
              <a:gd name="connsiteX3" fmla="*/ 11016 w 1432192"/>
              <a:gd name="connsiteY3" fmla="*/ 4494882 h 4494882"/>
              <a:gd name="connsiteX4" fmla="*/ 0 w 1432192"/>
              <a:gd name="connsiteY4" fmla="*/ 11017 h 4494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192" h="4494882">
                <a:moveTo>
                  <a:pt x="0" y="11017"/>
                </a:moveTo>
                <a:lnTo>
                  <a:pt x="1432192" y="0"/>
                </a:lnTo>
                <a:lnTo>
                  <a:pt x="1432192" y="4494882"/>
                </a:lnTo>
                <a:lnTo>
                  <a:pt x="11016" y="4494882"/>
                </a:lnTo>
                <a:lnTo>
                  <a:pt x="0" y="11017"/>
                </a:lnTo>
                <a:close/>
              </a:path>
            </a:pathLst>
          </a:custGeom>
          <a:solidFill>
            <a:schemeClr val="accent1">
              <a:alpha val="1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apezoid 12">
            <a:extLst>
              <a:ext uri="{FF2B5EF4-FFF2-40B4-BE49-F238E27FC236}">
                <a16:creationId xmlns:a16="http://schemas.microsoft.com/office/drawing/2014/main" id="{D9EA2083-361A-4079-8D3F-012958BFD73A}"/>
              </a:ext>
            </a:extLst>
          </p:cNvPr>
          <p:cNvSpPr/>
          <p:nvPr/>
        </p:nvSpPr>
        <p:spPr>
          <a:xfrm>
            <a:off x="5132668" y="933340"/>
            <a:ext cx="2019088" cy="5344428"/>
          </a:xfrm>
          <a:custGeom>
            <a:avLst/>
            <a:gdLst>
              <a:gd name="connsiteX0" fmla="*/ 0 w 1684727"/>
              <a:gd name="connsiteY0" fmla="*/ 1429102 h 1429102"/>
              <a:gd name="connsiteX1" fmla="*/ 357276 w 1684727"/>
              <a:gd name="connsiteY1" fmla="*/ 0 h 1429102"/>
              <a:gd name="connsiteX2" fmla="*/ 1327452 w 1684727"/>
              <a:gd name="connsiteY2" fmla="*/ 0 h 1429102"/>
              <a:gd name="connsiteX3" fmla="*/ 1684727 w 1684727"/>
              <a:gd name="connsiteY3" fmla="*/ 1429102 h 1429102"/>
              <a:gd name="connsiteX4" fmla="*/ 0 w 1684727"/>
              <a:gd name="connsiteY4" fmla="*/ 1429102 h 1429102"/>
              <a:gd name="connsiteX0" fmla="*/ 0 w 1878295"/>
              <a:gd name="connsiteY0" fmla="*/ 3797729 h 3797729"/>
              <a:gd name="connsiteX1" fmla="*/ 357276 w 1878295"/>
              <a:gd name="connsiteY1" fmla="*/ 2368627 h 3797729"/>
              <a:gd name="connsiteX2" fmla="*/ 1878295 w 1878295"/>
              <a:gd name="connsiteY2" fmla="*/ 0 h 3797729"/>
              <a:gd name="connsiteX3" fmla="*/ 1684727 w 1878295"/>
              <a:gd name="connsiteY3" fmla="*/ 3797729 h 3797729"/>
              <a:gd name="connsiteX4" fmla="*/ 0 w 1878295"/>
              <a:gd name="connsiteY4" fmla="*/ 3797729 h 3797729"/>
              <a:gd name="connsiteX0" fmla="*/ 0 w 1883031"/>
              <a:gd name="connsiteY0" fmla="*/ 3797729 h 4502808"/>
              <a:gd name="connsiteX1" fmla="*/ 357276 w 1883031"/>
              <a:gd name="connsiteY1" fmla="*/ 2368627 h 4502808"/>
              <a:gd name="connsiteX2" fmla="*/ 1878295 w 1883031"/>
              <a:gd name="connsiteY2" fmla="*/ 0 h 4502808"/>
              <a:gd name="connsiteX3" fmla="*/ 1883031 w 1883031"/>
              <a:gd name="connsiteY3" fmla="*/ 4502808 h 4502808"/>
              <a:gd name="connsiteX4" fmla="*/ 0 w 1883031"/>
              <a:gd name="connsiteY4" fmla="*/ 3797729 h 4502808"/>
              <a:gd name="connsiteX0" fmla="*/ 0 w 1530491"/>
              <a:gd name="connsiteY0" fmla="*/ 5229921 h 5229921"/>
              <a:gd name="connsiteX1" fmla="*/ 4736 w 1530491"/>
              <a:gd name="connsiteY1" fmla="*/ 2368627 h 5229921"/>
              <a:gd name="connsiteX2" fmla="*/ 1525755 w 1530491"/>
              <a:gd name="connsiteY2" fmla="*/ 0 h 5229921"/>
              <a:gd name="connsiteX3" fmla="*/ 1530491 w 1530491"/>
              <a:gd name="connsiteY3" fmla="*/ 4502808 h 5229921"/>
              <a:gd name="connsiteX4" fmla="*/ 0 w 1530491"/>
              <a:gd name="connsiteY4" fmla="*/ 5229921 h 5229921"/>
              <a:gd name="connsiteX0" fmla="*/ 546111 w 2076602"/>
              <a:gd name="connsiteY0" fmla="*/ 5229921 h 5229921"/>
              <a:gd name="connsiteX1" fmla="*/ 3 w 2076602"/>
              <a:gd name="connsiteY1" fmla="*/ 3305060 h 5229921"/>
              <a:gd name="connsiteX2" fmla="*/ 2071866 w 2076602"/>
              <a:gd name="connsiteY2" fmla="*/ 0 h 5229921"/>
              <a:gd name="connsiteX3" fmla="*/ 2076602 w 2076602"/>
              <a:gd name="connsiteY3" fmla="*/ 4502808 h 5229921"/>
              <a:gd name="connsiteX4" fmla="*/ 546111 w 2076602"/>
              <a:gd name="connsiteY4" fmla="*/ 5229921 h 5229921"/>
              <a:gd name="connsiteX0" fmla="*/ 495365 w 2076602"/>
              <a:gd name="connsiteY0" fmla="*/ 5217428 h 5217428"/>
              <a:gd name="connsiteX1" fmla="*/ 3 w 2076602"/>
              <a:gd name="connsiteY1" fmla="*/ 3305060 h 5217428"/>
              <a:gd name="connsiteX2" fmla="*/ 2071866 w 2076602"/>
              <a:gd name="connsiteY2" fmla="*/ 0 h 5217428"/>
              <a:gd name="connsiteX3" fmla="*/ 2076602 w 2076602"/>
              <a:gd name="connsiteY3" fmla="*/ 4502808 h 5217428"/>
              <a:gd name="connsiteX4" fmla="*/ 495365 w 2076602"/>
              <a:gd name="connsiteY4" fmla="*/ 5217428 h 5217428"/>
              <a:gd name="connsiteX0" fmla="*/ 495365 w 2083200"/>
              <a:gd name="connsiteY0" fmla="*/ 5195452 h 5195452"/>
              <a:gd name="connsiteX1" fmla="*/ 3 w 2083200"/>
              <a:gd name="connsiteY1" fmla="*/ 3283084 h 5195452"/>
              <a:gd name="connsiteX2" fmla="*/ 2083024 w 2083200"/>
              <a:gd name="connsiteY2" fmla="*/ 0 h 5195452"/>
              <a:gd name="connsiteX3" fmla="*/ 2076602 w 2083200"/>
              <a:gd name="connsiteY3" fmla="*/ 4480832 h 5195452"/>
              <a:gd name="connsiteX4" fmla="*/ 495365 w 2083200"/>
              <a:gd name="connsiteY4" fmla="*/ 5195452 h 5195452"/>
              <a:gd name="connsiteX0" fmla="*/ 495365 w 2090357"/>
              <a:gd name="connsiteY0" fmla="*/ 5195452 h 5195452"/>
              <a:gd name="connsiteX1" fmla="*/ 3 w 2090357"/>
              <a:gd name="connsiteY1" fmla="*/ 3283084 h 5195452"/>
              <a:gd name="connsiteX2" fmla="*/ 2083024 w 2090357"/>
              <a:gd name="connsiteY2" fmla="*/ 0 h 5195452"/>
              <a:gd name="connsiteX3" fmla="*/ 2090357 w 2090357"/>
              <a:gd name="connsiteY3" fmla="*/ 4720120 h 5195452"/>
              <a:gd name="connsiteX4" fmla="*/ 495365 w 2090357"/>
              <a:gd name="connsiteY4" fmla="*/ 5195452 h 5195452"/>
              <a:gd name="connsiteX0" fmla="*/ 495365 w 2090357"/>
              <a:gd name="connsiteY0" fmla="*/ 5249629 h 5249629"/>
              <a:gd name="connsiteX1" fmla="*/ 3 w 2090357"/>
              <a:gd name="connsiteY1" fmla="*/ 3337261 h 5249629"/>
              <a:gd name="connsiteX2" fmla="*/ 2078439 w 2090357"/>
              <a:gd name="connsiteY2" fmla="*/ 0 h 5249629"/>
              <a:gd name="connsiteX3" fmla="*/ 2090357 w 2090357"/>
              <a:gd name="connsiteY3" fmla="*/ 4774297 h 5249629"/>
              <a:gd name="connsiteX4" fmla="*/ 495365 w 2090357"/>
              <a:gd name="connsiteY4" fmla="*/ 5249629 h 5249629"/>
              <a:gd name="connsiteX0" fmla="*/ 495365 w 2090357"/>
              <a:gd name="connsiteY0" fmla="*/ 5222540 h 5222540"/>
              <a:gd name="connsiteX1" fmla="*/ 3 w 2090357"/>
              <a:gd name="connsiteY1" fmla="*/ 3310172 h 5222540"/>
              <a:gd name="connsiteX2" fmla="*/ 2087608 w 2090357"/>
              <a:gd name="connsiteY2" fmla="*/ 0 h 5222540"/>
              <a:gd name="connsiteX3" fmla="*/ 2090357 w 2090357"/>
              <a:gd name="connsiteY3" fmla="*/ 4747208 h 5222540"/>
              <a:gd name="connsiteX4" fmla="*/ 495365 w 2090357"/>
              <a:gd name="connsiteY4" fmla="*/ 5222540 h 5222540"/>
              <a:gd name="connsiteX0" fmla="*/ 495365 w 2090357"/>
              <a:gd name="connsiteY0" fmla="*/ 5238373 h 5238373"/>
              <a:gd name="connsiteX1" fmla="*/ 3 w 2090357"/>
              <a:gd name="connsiteY1" fmla="*/ 3326005 h 5238373"/>
              <a:gd name="connsiteX2" fmla="*/ 2084393 w 2090357"/>
              <a:gd name="connsiteY2" fmla="*/ 0 h 5238373"/>
              <a:gd name="connsiteX3" fmla="*/ 2090357 w 2090357"/>
              <a:gd name="connsiteY3" fmla="*/ 4763041 h 5238373"/>
              <a:gd name="connsiteX4" fmla="*/ 495365 w 2090357"/>
              <a:gd name="connsiteY4" fmla="*/ 5238373 h 5238373"/>
              <a:gd name="connsiteX0" fmla="*/ 495365 w 2090357"/>
              <a:gd name="connsiteY0" fmla="*/ 5219373 h 5219373"/>
              <a:gd name="connsiteX1" fmla="*/ 3 w 2090357"/>
              <a:gd name="connsiteY1" fmla="*/ 3307005 h 5219373"/>
              <a:gd name="connsiteX2" fmla="*/ 2087609 w 2090357"/>
              <a:gd name="connsiteY2" fmla="*/ 0 h 5219373"/>
              <a:gd name="connsiteX3" fmla="*/ 2090357 w 2090357"/>
              <a:gd name="connsiteY3" fmla="*/ 4744041 h 5219373"/>
              <a:gd name="connsiteX4" fmla="*/ 495365 w 2090357"/>
              <a:gd name="connsiteY4" fmla="*/ 5219373 h 5219373"/>
              <a:gd name="connsiteX0" fmla="*/ 495365 w 2100602"/>
              <a:gd name="connsiteY0" fmla="*/ 5244706 h 5244706"/>
              <a:gd name="connsiteX1" fmla="*/ 3 w 2100602"/>
              <a:gd name="connsiteY1" fmla="*/ 3332338 h 5244706"/>
              <a:gd name="connsiteX2" fmla="*/ 2100472 w 2100602"/>
              <a:gd name="connsiteY2" fmla="*/ 0 h 5244706"/>
              <a:gd name="connsiteX3" fmla="*/ 2090357 w 2100602"/>
              <a:gd name="connsiteY3" fmla="*/ 4769374 h 5244706"/>
              <a:gd name="connsiteX4" fmla="*/ 495365 w 2100602"/>
              <a:gd name="connsiteY4" fmla="*/ 5244706 h 5244706"/>
              <a:gd name="connsiteX0" fmla="*/ 495365 w 2090357"/>
              <a:gd name="connsiteY0" fmla="*/ 5232039 h 5232039"/>
              <a:gd name="connsiteX1" fmla="*/ 3 w 2090357"/>
              <a:gd name="connsiteY1" fmla="*/ 3319671 h 5232039"/>
              <a:gd name="connsiteX2" fmla="*/ 2084394 w 2090357"/>
              <a:gd name="connsiteY2" fmla="*/ 0 h 5232039"/>
              <a:gd name="connsiteX3" fmla="*/ 2090357 w 2090357"/>
              <a:gd name="connsiteY3" fmla="*/ 4756707 h 5232039"/>
              <a:gd name="connsiteX4" fmla="*/ 495365 w 2090357"/>
              <a:gd name="connsiteY4" fmla="*/ 5232039 h 5232039"/>
              <a:gd name="connsiteX0" fmla="*/ 495365 w 2084424"/>
              <a:gd name="connsiteY0" fmla="*/ 5232039 h 5232039"/>
              <a:gd name="connsiteX1" fmla="*/ 3 w 2084424"/>
              <a:gd name="connsiteY1" fmla="*/ 3319671 h 5232039"/>
              <a:gd name="connsiteX2" fmla="*/ 2084394 w 2084424"/>
              <a:gd name="connsiteY2" fmla="*/ 0 h 5232039"/>
              <a:gd name="connsiteX3" fmla="*/ 2026800 w 2084424"/>
              <a:gd name="connsiteY3" fmla="*/ 5078590 h 5232039"/>
              <a:gd name="connsiteX4" fmla="*/ 495365 w 2084424"/>
              <a:gd name="connsiteY4" fmla="*/ 5232039 h 5232039"/>
              <a:gd name="connsiteX0" fmla="*/ 495365 w 2026800"/>
              <a:gd name="connsiteY0" fmla="*/ 5330391 h 5330391"/>
              <a:gd name="connsiteX1" fmla="*/ 3 w 2026800"/>
              <a:gd name="connsiteY1" fmla="*/ 3418023 h 5330391"/>
              <a:gd name="connsiteX2" fmla="*/ 2011757 w 2026800"/>
              <a:gd name="connsiteY2" fmla="*/ 0 h 5330391"/>
              <a:gd name="connsiteX3" fmla="*/ 2026800 w 2026800"/>
              <a:gd name="connsiteY3" fmla="*/ 5176942 h 5330391"/>
              <a:gd name="connsiteX4" fmla="*/ 495365 w 2026800"/>
              <a:gd name="connsiteY4" fmla="*/ 5330391 h 5330391"/>
              <a:gd name="connsiteX0" fmla="*/ 495365 w 2044960"/>
              <a:gd name="connsiteY0" fmla="*/ 5330391 h 5330391"/>
              <a:gd name="connsiteX1" fmla="*/ 3 w 2044960"/>
              <a:gd name="connsiteY1" fmla="*/ 3418023 h 5330391"/>
              <a:gd name="connsiteX2" fmla="*/ 2011757 w 2044960"/>
              <a:gd name="connsiteY2" fmla="*/ 0 h 5330391"/>
              <a:gd name="connsiteX3" fmla="*/ 2044960 w 2044960"/>
              <a:gd name="connsiteY3" fmla="*/ 5141177 h 5330391"/>
              <a:gd name="connsiteX4" fmla="*/ 495365 w 2044960"/>
              <a:gd name="connsiteY4" fmla="*/ 5330391 h 5330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960" h="5330391">
                <a:moveTo>
                  <a:pt x="495365" y="5330391"/>
                </a:moveTo>
                <a:cubicBezTo>
                  <a:pt x="496944" y="4376626"/>
                  <a:pt x="-1576" y="4371788"/>
                  <a:pt x="3" y="3418023"/>
                </a:cubicBezTo>
                <a:lnTo>
                  <a:pt x="2011757" y="0"/>
                </a:lnTo>
                <a:cubicBezTo>
                  <a:pt x="2013336" y="1500936"/>
                  <a:pt x="2043381" y="3640241"/>
                  <a:pt x="2044960" y="5141177"/>
                </a:cubicBezTo>
                <a:lnTo>
                  <a:pt x="495365" y="5330391"/>
                </a:lnTo>
                <a:close/>
              </a:path>
            </a:pathLst>
          </a:custGeom>
          <a:solidFill>
            <a:schemeClr val="accent1">
              <a:alpha val="1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56EFB181-4986-6630-A48C-4CF7CF8352E3}"/>
              </a:ext>
            </a:extLst>
          </p:cNvPr>
          <p:cNvSpPr/>
          <p:nvPr/>
        </p:nvSpPr>
        <p:spPr>
          <a:xfrm>
            <a:off x="4325975" y="4331691"/>
            <a:ext cx="2000529" cy="20005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Transactional</a:t>
            </a:r>
          </a:p>
        </p:txBody>
      </p:sp>
      <p:sp>
        <p:nvSpPr>
          <p:cNvPr id="14" name="Oval 13">
            <a:extLst>
              <a:ext uri="{FF2B5EF4-FFF2-40B4-BE49-F238E27FC236}">
                <a16:creationId xmlns:a16="http://schemas.microsoft.com/office/drawing/2014/main" id="{EC6285DC-6516-3402-A52D-9D4DF417CFC2}"/>
              </a:ext>
            </a:extLst>
          </p:cNvPr>
          <p:cNvSpPr/>
          <p:nvPr/>
        </p:nvSpPr>
        <p:spPr>
          <a:xfrm>
            <a:off x="5238157" y="64196"/>
            <a:ext cx="1715685" cy="1715685"/>
          </a:xfrm>
          <a:prstGeom prst="ellipse">
            <a:avLst/>
          </a:prstGeom>
          <a:solidFill>
            <a:schemeClr val="accent1">
              <a:alpha val="0"/>
            </a:schemeClr>
          </a:solidFill>
          <a:ln>
            <a:solidFill>
              <a:schemeClr val="accent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alpha val="0"/>
                  </a:schemeClr>
                </a:solidFill>
              </a:rPr>
              <a:t>Structural Graph</a:t>
            </a:r>
          </a:p>
        </p:txBody>
      </p:sp>
      <p:cxnSp>
        <p:nvCxnSpPr>
          <p:cNvPr id="15" name="Straight Arrow Connector 14">
            <a:extLst>
              <a:ext uri="{FF2B5EF4-FFF2-40B4-BE49-F238E27FC236}">
                <a16:creationId xmlns:a16="http://schemas.microsoft.com/office/drawing/2014/main" id="{446087F3-FCA0-D791-31C9-4A7599D6D320}"/>
              </a:ext>
            </a:extLst>
          </p:cNvPr>
          <p:cNvCxnSpPr>
            <a:cxnSpLocks/>
            <a:stCxn id="14" idx="6"/>
            <a:endCxn id="16" idx="2"/>
          </p:cNvCxnSpPr>
          <p:nvPr/>
        </p:nvCxnSpPr>
        <p:spPr>
          <a:xfrm>
            <a:off x="6953842" y="922039"/>
            <a:ext cx="3522473" cy="428921"/>
          </a:xfrm>
          <a:prstGeom prst="straightConnector1">
            <a:avLst/>
          </a:prstGeom>
          <a:ln w="38100">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79C2BE2A-96B2-83D5-CA7F-283A5F54E455}"/>
              </a:ext>
            </a:extLst>
          </p:cNvPr>
          <p:cNvSpPr/>
          <p:nvPr/>
        </p:nvSpPr>
        <p:spPr>
          <a:xfrm>
            <a:off x="10476315" y="493117"/>
            <a:ext cx="1715685" cy="1715685"/>
          </a:xfrm>
          <a:prstGeom prst="ellipse">
            <a:avLst/>
          </a:prstGeom>
          <a:solidFill>
            <a:schemeClr val="accent1">
              <a:alpha val="0"/>
            </a:schemeClr>
          </a:solidFill>
          <a:ln>
            <a:solidFill>
              <a:schemeClr val="accent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alpha val="0"/>
                  </a:schemeClr>
                </a:solidFill>
              </a:rPr>
              <a:t>RO</a:t>
            </a:r>
            <a:br>
              <a:rPr lang="en-US" dirty="0">
                <a:solidFill>
                  <a:schemeClr val="lt1">
                    <a:alpha val="0"/>
                  </a:schemeClr>
                </a:solidFill>
              </a:rPr>
            </a:br>
            <a:r>
              <a:rPr lang="en-US" dirty="0">
                <a:solidFill>
                  <a:schemeClr val="lt1">
                    <a:alpha val="0"/>
                  </a:schemeClr>
                </a:solidFill>
              </a:rPr>
              <a:t>(Static)</a:t>
            </a:r>
            <a:br>
              <a:rPr lang="en-US" dirty="0">
                <a:solidFill>
                  <a:schemeClr val="lt1">
                    <a:alpha val="0"/>
                  </a:schemeClr>
                </a:solidFill>
              </a:rPr>
            </a:br>
            <a:r>
              <a:rPr lang="en-US" dirty="0">
                <a:solidFill>
                  <a:schemeClr val="lt1">
                    <a:alpha val="0"/>
                  </a:schemeClr>
                </a:solidFill>
              </a:rPr>
              <a:t>Static Graph</a:t>
            </a:r>
          </a:p>
        </p:txBody>
      </p:sp>
      <p:sp>
        <p:nvSpPr>
          <p:cNvPr id="4" name="Slide Number Placeholder 3">
            <a:extLst>
              <a:ext uri="{FF2B5EF4-FFF2-40B4-BE49-F238E27FC236}">
                <a16:creationId xmlns:a16="http://schemas.microsoft.com/office/drawing/2014/main" id="{B87C108D-E915-2AD0-55E5-4B88781D84FC}"/>
              </a:ext>
            </a:extLst>
          </p:cNvPr>
          <p:cNvSpPr>
            <a:spLocks noGrp="1"/>
          </p:cNvSpPr>
          <p:nvPr>
            <p:ph type="sldNum" sz="quarter" idx="12"/>
          </p:nvPr>
        </p:nvSpPr>
        <p:spPr/>
        <p:txBody>
          <a:bodyPr/>
          <a:lstStyle/>
          <a:p>
            <a:fld id="{0FA4238C-0B31-2640-B0B6-C8A5E6F89A2A}" type="slidenum">
              <a:rPr lang="en-US" smtClean="0"/>
              <a:t>9</a:t>
            </a:fld>
            <a:endParaRPr lang="en-US"/>
          </a:p>
        </p:txBody>
      </p:sp>
    </p:spTree>
    <p:extLst>
      <p:ext uri="{BB962C8B-B14F-4D97-AF65-F5344CB8AC3E}">
        <p14:creationId xmlns:p14="http://schemas.microsoft.com/office/powerpoint/2010/main" val="3676646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655624C-4083-F542-D13F-E642CC5883F8}"/>
              </a:ext>
            </a:extLst>
          </p:cNvPr>
          <p:cNvSpPr>
            <a:spLocks noChangeAspect="1"/>
          </p:cNvSpPr>
          <p:nvPr/>
        </p:nvSpPr>
        <p:spPr>
          <a:xfrm>
            <a:off x="7928516" y="436317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cxnSp>
        <p:nvCxnSpPr>
          <p:cNvPr id="9" name="Straight Arrow Connector 8">
            <a:extLst>
              <a:ext uri="{FF2B5EF4-FFF2-40B4-BE49-F238E27FC236}">
                <a16:creationId xmlns:a16="http://schemas.microsoft.com/office/drawing/2014/main" id="{A8BD72CF-B9D9-F5B5-8E6B-CC9810911850}"/>
              </a:ext>
            </a:extLst>
          </p:cNvPr>
          <p:cNvCxnSpPr>
            <a:cxnSpLocks noChangeAspect="1"/>
            <a:stCxn id="6" idx="7"/>
            <a:endCxn id="2" idx="2"/>
          </p:cNvCxnSpPr>
          <p:nvPr/>
        </p:nvCxnSpPr>
        <p:spPr>
          <a:xfrm flipV="1">
            <a:off x="9368240" y="4363171"/>
            <a:ext cx="960334" cy="2470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2E7AC2DA-3432-1758-67A9-C4D467082987}"/>
              </a:ext>
            </a:extLst>
          </p:cNvPr>
          <p:cNvSpPr>
            <a:spLocks noChangeAspect="1"/>
          </p:cNvSpPr>
          <p:nvPr/>
        </p:nvSpPr>
        <p:spPr>
          <a:xfrm>
            <a:off x="10328574" y="3738714"/>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Non - Transactional</a:t>
            </a:r>
          </a:p>
        </p:txBody>
      </p:sp>
      <p:cxnSp>
        <p:nvCxnSpPr>
          <p:cNvPr id="8" name="Straight Arrow Connector 7">
            <a:extLst>
              <a:ext uri="{FF2B5EF4-FFF2-40B4-BE49-F238E27FC236}">
                <a16:creationId xmlns:a16="http://schemas.microsoft.com/office/drawing/2014/main" id="{EFBDF8FE-DF70-F023-7AA8-47B1662DA5FB}"/>
              </a:ext>
            </a:extLst>
          </p:cNvPr>
          <p:cNvCxnSpPr>
            <a:cxnSpLocks noChangeAspect="1"/>
            <a:stCxn id="6" idx="5"/>
            <a:endCxn id="3" idx="2"/>
          </p:cNvCxnSpPr>
          <p:nvPr/>
        </p:nvCxnSpPr>
        <p:spPr>
          <a:xfrm>
            <a:off x="9368240" y="5802895"/>
            <a:ext cx="960334" cy="2470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 name="Oval 2">
            <a:extLst>
              <a:ext uri="{FF2B5EF4-FFF2-40B4-BE49-F238E27FC236}">
                <a16:creationId xmlns:a16="http://schemas.microsoft.com/office/drawing/2014/main" id="{56EFB181-4986-6630-A48C-4CF7CF8352E3}"/>
              </a:ext>
            </a:extLst>
          </p:cNvPr>
          <p:cNvSpPr>
            <a:spLocks noChangeAspect="1"/>
          </p:cNvSpPr>
          <p:nvPr/>
        </p:nvSpPr>
        <p:spPr>
          <a:xfrm>
            <a:off x="10328574" y="5425456"/>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Transactional</a:t>
            </a:r>
          </a:p>
        </p:txBody>
      </p:sp>
      <p:sp>
        <p:nvSpPr>
          <p:cNvPr id="14" name="Oval 13">
            <a:extLst>
              <a:ext uri="{FF2B5EF4-FFF2-40B4-BE49-F238E27FC236}">
                <a16:creationId xmlns:a16="http://schemas.microsoft.com/office/drawing/2014/main" id="{EC6285DC-6516-3402-A52D-9D4DF417CFC2}"/>
              </a:ext>
            </a:extLst>
          </p:cNvPr>
          <p:cNvSpPr/>
          <p:nvPr/>
        </p:nvSpPr>
        <p:spPr>
          <a:xfrm>
            <a:off x="5238157" y="64196"/>
            <a:ext cx="1715685" cy="1715685"/>
          </a:xfrm>
          <a:prstGeom prst="ellipse">
            <a:avLst/>
          </a:prstGeom>
          <a:solidFill>
            <a:schemeClr val="accent1">
              <a:alpha val="0"/>
            </a:schemeClr>
          </a:solidFill>
          <a:ln>
            <a:solidFill>
              <a:schemeClr val="accent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alpha val="0"/>
                  </a:schemeClr>
                </a:solidFill>
              </a:rPr>
              <a:t>Structural Graph</a:t>
            </a:r>
          </a:p>
        </p:txBody>
      </p:sp>
      <p:cxnSp>
        <p:nvCxnSpPr>
          <p:cNvPr id="15" name="Straight Arrow Connector 14">
            <a:extLst>
              <a:ext uri="{FF2B5EF4-FFF2-40B4-BE49-F238E27FC236}">
                <a16:creationId xmlns:a16="http://schemas.microsoft.com/office/drawing/2014/main" id="{446087F3-FCA0-D791-31C9-4A7599D6D320}"/>
              </a:ext>
            </a:extLst>
          </p:cNvPr>
          <p:cNvCxnSpPr>
            <a:cxnSpLocks/>
            <a:stCxn id="14" idx="6"/>
          </p:cNvCxnSpPr>
          <p:nvPr/>
        </p:nvCxnSpPr>
        <p:spPr>
          <a:xfrm>
            <a:off x="6953842" y="922039"/>
            <a:ext cx="3522473" cy="428921"/>
          </a:xfrm>
          <a:prstGeom prst="straightConnector1">
            <a:avLst/>
          </a:prstGeom>
          <a:ln w="38100">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AAA2E77-F6D0-0012-6FBE-CD92ACDB2E02}"/>
              </a:ext>
            </a:extLst>
          </p:cNvPr>
          <p:cNvSpPr>
            <a:spLocks noChangeAspect="1"/>
          </p:cNvSpPr>
          <p:nvPr/>
        </p:nvSpPr>
        <p:spPr>
          <a:xfrm>
            <a:off x="7928516" y="1029307"/>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Read-Only (Static) Structural Graphs</a:t>
            </a:r>
          </a:p>
        </p:txBody>
      </p:sp>
      <p:sp>
        <p:nvSpPr>
          <p:cNvPr id="19" name="Oval 18">
            <a:extLst>
              <a:ext uri="{FF2B5EF4-FFF2-40B4-BE49-F238E27FC236}">
                <a16:creationId xmlns:a16="http://schemas.microsoft.com/office/drawing/2014/main" id="{7CFEEA74-8988-716F-2C2A-5B6E76E777F3}"/>
              </a:ext>
            </a:extLst>
          </p:cNvPr>
          <p:cNvSpPr>
            <a:spLocks noChangeAspect="1"/>
          </p:cNvSpPr>
          <p:nvPr/>
        </p:nvSpPr>
        <p:spPr>
          <a:xfrm>
            <a:off x="10328573" y="106444"/>
            <a:ext cx="1248913" cy="12489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In Memory</a:t>
            </a:r>
          </a:p>
        </p:txBody>
      </p:sp>
      <p:sp>
        <p:nvSpPr>
          <p:cNvPr id="20" name="Oval 19">
            <a:extLst>
              <a:ext uri="{FF2B5EF4-FFF2-40B4-BE49-F238E27FC236}">
                <a16:creationId xmlns:a16="http://schemas.microsoft.com/office/drawing/2014/main" id="{E9946AB7-773D-98C1-1A1D-2F523558774D}"/>
              </a:ext>
            </a:extLst>
          </p:cNvPr>
          <p:cNvSpPr>
            <a:spLocks noChangeAspect="1"/>
          </p:cNvSpPr>
          <p:nvPr/>
        </p:nvSpPr>
        <p:spPr>
          <a:xfrm>
            <a:off x="10328574" y="2091592"/>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Out of Core</a:t>
            </a:r>
          </a:p>
        </p:txBody>
      </p:sp>
      <p:cxnSp>
        <p:nvCxnSpPr>
          <p:cNvPr id="22" name="Straight Arrow Connector 21">
            <a:extLst>
              <a:ext uri="{FF2B5EF4-FFF2-40B4-BE49-F238E27FC236}">
                <a16:creationId xmlns:a16="http://schemas.microsoft.com/office/drawing/2014/main" id="{5CEA30D7-A101-73B0-AD12-04B98EF68CB8}"/>
              </a:ext>
            </a:extLst>
          </p:cNvPr>
          <p:cNvCxnSpPr>
            <a:cxnSpLocks/>
            <a:stCxn id="18" idx="7"/>
            <a:endCxn id="19" idx="2"/>
          </p:cNvCxnSpPr>
          <p:nvPr/>
        </p:nvCxnSpPr>
        <p:spPr>
          <a:xfrm flipV="1">
            <a:off x="9368240" y="730901"/>
            <a:ext cx="960333" cy="545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C0CDC51-3FAA-9CD7-E10C-ED17C641E47B}"/>
              </a:ext>
            </a:extLst>
          </p:cNvPr>
          <p:cNvCxnSpPr>
            <a:cxnSpLocks/>
            <a:stCxn id="18" idx="5"/>
            <a:endCxn id="20" idx="2"/>
          </p:cNvCxnSpPr>
          <p:nvPr/>
        </p:nvCxnSpPr>
        <p:spPr>
          <a:xfrm>
            <a:off x="9368240" y="2469031"/>
            <a:ext cx="960334" cy="2470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EC69C761-124F-41AB-E0A3-1499746AC66D}"/>
              </a:ext>
            </a:extLst>
          </p:cNvPr>
          <p:cNvSpPr>
            <a:spLocks noChangeAspect="1"/>
          </p:cNvSpPr>
          <p:nvPr/>
        </p:nvSpPr>
        <p:spPr>
          <a:xfrm>
            <a:off x="6095999" y="264599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Graphs</a:t>
            </a:r>
          </a:p>
        </p:txBody>
      </p:sp>
      <p:cxnSp>
        <p:nvCxnSpPr>
          <p:cNvPr id="32" name="Straight Arrow Connector 31">
            <a:extLst>
              <a:ext uri="{FF2B5EF4-FFF2-40B4-BE49-F238E27FC236}">
                <a16:creationId xmlns:a16="http://schemas.microsoft.com/office/drawing/2014/main" id="{17ACE054-D435-B3CE-B88F-0C688CF42FC2}"/>
              </a:ext>
            </a:extLst>
          </p:cNvPr>
          <p:cNvCxnSpPr>
            <a:stCxn id="30" idx="7"/>
            <a:endCxn id="18" idx="3"/>
          </p:cNvCxnSpPr>
          <p:nvPr/>
        </p:nvCxnSpPr>
        <p:spPr>
          <a:xfrm flipV="1">
            <a:off x="7535723" y="2469031"/>
            <a:ext cx="639811" cy="4239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B92F135-1B09-533E-6251-47EC138E17C9}"/>
              </a:ext>
            </a:extLst>
          </p:cNvPr>
          <p:cNvCxnSpPr>
            <a:stCxn id="30" idx="5"/>
            <a:endCxn id="6" idx="1"/>
          </p:cNvCxnSpPr>
          <p:nvPr/>
        </p:nvCxnSpPr>
        <p:spPr>
          <a:xfrm>
            <a:off x="7535723" y="4085715"/>
            <a:ext cx="639811" cy="524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81D12286-0C35-5ED6-B1A5-323255E44133}"/>
              </a:ext>
            </a:extLst>
          </p:cNvPr>
          <p:cNvSpPr>
            <a:spLocks noChangeAspect="1"/>
          </p:cNvSpPr>
          <p:nvPr/>
        </p:nvSpPr>
        <p:spPr>
          <a:xfrm>
            <a:off x="2194462" y="264599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Property Graphs</a:t>
            </a:r>
          </a:p>
        </p:txBody>
      </p:sp>
      <p:sp>
        <p:nvSpPr>
          <p:cNvPr id="36" name="Right Arrow 35">
            <a:extLst>
              <a:ext uri="{FF2B5EF4-FFF2-40B4-BE49-F238E27FC236}">
                <a16:creationId xmlns:a16="http://schemas.microsoft.com/office/drawing/2014/main" id="{6B91584E-9DB2-06CF-838A-72EFE6F9E20E}"/>
              </a:ext>
            </a:extLst>
          </p:cNvPr>
          <p:cNvSpPr/>
          <p:nvPr/>
        </p:nvSpPr>
        <p:spPr>
          <a:xfrm>
            <a:off x="3881204" y="3340506"/>
            <a:ext cx="2153040" cy="1991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3FC39CC-D571-9E4C-45FA-11CDDFD77826}"/>
              </a:ext>
            </a:extLst>
          </p:cNvPr>
          <p:cNvSpPr txBox="1"/>
          <p:nvPr/>
        </p:nvSpPr>
        <p:spPr>
          <a:xfrm>
            <a:off x="4100484" y="2516729"/>
            <a:ext cx="1686742" cy="923330"/>
          </a:xfrm>
          <a:prstGeom prst="rect">
            <a:avLst/>
          </a:prstGeom>
          <a:noFill/>
        </p:spPr>
        <p:txBody>
          <a:bodyPr wrap="square" rtlCol="0">
            <a:spAutoFit/>
          </a:bodyPr>
          <a:lstStyle/>
          <a:p>
            <a:r>
              <a:rPr lang="en-US" dirty="0"/>
              <a:t>Materialize a view of the Graph Structure</a:t>
            </a:r>
          </a:p>
        </p:txBody>
      </p:sp>
      <p:sp>
        <p:nvSpPr>
          <p:cNvPr id="38" name="TextBox 37">
            <a:extLst>
              <a:ext uri="{FF2B5EF4-FFF2-40B4-BE49-F238E27FC236}">
                <a16:creationId xmlns:a16="http://schemas.microsoft.com/office/drawing/2014/main" id="{16E1C238-5520-E772-70C2-6A95EBFFF473}"/>
              </a:ext>
            </a:extLst>
          </p:cNvPr>
          <p:cNvSpPr txBox="1"/>
          <p:nvPr/>
        </p:nvSpPr>
        <p:spPr>
          <a:xfrm>
            <a:off x="6095999" y="4347952"/>
            <a:ext cx="1405706" cy="369332"/>
          </a:xfrm>
          <a:prstGeom prst="rect">
            <a:avLst/>
          </a:prstGeom>
          <a:noFill/>
        </p:spPr>
        <p:txBody>
          <a:bodyPr wrap="none" rtlCol="0">
            <a:spAutoFit/>
          </a:bodyPr>
          <a:lstStyle/>
          <a:p>
            <a:r>
              <a:rPr lang="en-US" dirty="0"/>
              <a:t>Read-Write? </a:t>
            </a:r>
          </a:p>
        </p:txBody>
      </p:sp>
      <p:sp>
        <p:nvSpPr>
          <p:cNvPr id="39" name="TextBox 38">
            <a:extLst>
              <a:ext uri="{FF2B5EF4-FFF2-40B4-BE49-F238E27FC236}">
                <a16:creationId xmlns:a16="http://schemas.microsoft.com/office/drawing/2014/main" id="{8D2343BD-1112-6EFC-19E4-E86E4B4BA243}"/>
              </a:ext>
            </a:extLst>
          </p:cNvPr>
          <p:cNvSpPr txBox="1"/>
          <p:nvPr/>
        </p:nvSpPr>
        <p:spPr>
          <a:xfrm>
            <a:off x="7844496" y="4078106"/>
            <a:ext cx="304892" cy="369332"/>
          </a:xfrm>
          <a:prstGeom prst="rect">
            <a:avLst/>
          </a:prstGeom>
          <a:noFill/>
        </p:spPr>
        <p:txBody>
          <a:bodyPr wrap="none" rtlCol="0">
            <a:spAutoFit/>
          </a:bodyPr>
          <a:lstStyle/>
          <a:p>
            <a:r>
              <a:rPr lang="en-US" b="1" dirty="0"/>
              <a:t>Y</a:t>
            </a:r>
          </a:p>
        </p:txBody>
      </p:sp>
      <p:sp>
        <p:nvSpPr>
          <p:cNvPr id="40" name="TextBox 39">
            <a:extLst>
              <a:ext uri="{FF2B5EF4-FFF2-40B4-BE49-F238E27FC236}">
                <a16:creationId xmlns:a16="http://schemas.microsoft.com/office/drawing/2014/main" id="{44B261C5-1C89-3D6C-994D-4638A07F8AC7}"/>
              </a:ext>
            </a:extLst>
          </p:cNvPr>
          <p:cNvSpPr txBox="1"/>
          <p:nvPr/>
        </p:nvSpPr>
        <p:spPr>
          <a:xfrm>
            <a:off x="7841788" y="2700547"/>
            <a:ext cx="333746" cy="369332"/>
          </a:xfrm>
          <a:prstGeom prst="rect">
            <a:avLst/>
          </a:prstGeom>
          <a:noFill/>
        </p:spPr>
        <p:txBody>
          <a:bodyPr wrap="none" rtlCol="0">
            <a:spAutoFit/>
          </a:bodyPr>
          <a:lstStyle/>
          <a:p>
            <a:r>
              <a:rPr lang="en-US" b="1" dirty="0"/>
              <a:t>N</a:t>
            </a:r>
          </a:p>
        </p:txBody>
      </p:sp>
      <p:sp>
        <p:nvSpPr>
          <p:cNvPr id="42" name="TextBox 41">
            <a:extLst>
              <a:ext uri="{FF2B5EF4-FFF2-40B4-BE49-F238E27FC236}">
                <a16:creationId xmlns:a16="http://schemas.microsoft.com/office/drawing/2014/main" id="{B1EA7894-006F-97C5-DD55-EB2048B8CF4F}"/>
              </a:ext>
            </a:extLst>
          </p:cNvPr>
          <p:cNvSpPr txBox="1"/>
          <p:nvPr/>
        </p:nvSpPr>
        <p:spPr>
          <a:xfrm>
            <a:off x="7841788" y="6164826"/>
            <a:ext cx="1532984" cy="369332"/>
          </a:xfrm>
          <a:prstGeom prst="rect">
            <a:avLst/>
          </a:prstGeom>
          <a:noFill/>
        </p:spPr>
        <p:txBody>
          <a:bodyPr wrap="none" rtlCol="0">
            <a:spAutoFit/>
          </a:bodyPr>
          <a:lstStyle/>
          <a:p>
            <a:r>
              <a:rPr lang="en-US" dirty="0"/>
              <a:t>Transactional?</a:t>
            </a:r>
          </a:p>
        </p:txBody>
      </p:sp>
      <p:sp>
        <p:nvSpPr>
          <p:cNvPr id="43" name="TextBox 42">
            <a:extLst>
              <a:ext uri="{FF2B5EF4-FFF2-40B4-BE49-F238E27FC236}">
                <a16:creationId xmlns:a16="http://schemas.microsoft.com/office/drawing/2014/main" id="{58CF0DDA-6874-CD4C-4BC2-0DC58E89FD29}"/>
              </a:ext>
            </a:extLst>
          </p:cNvPr>
          <p:cNvSpPr txBox="1"/>
          <p:nvPr/>
        </p:nvSpPr>
        <p:spPr>
          <a:xfrm>
            <a:off x="9748684" y="6049913"/>
            <a:ext cx="304892" cy="369332"/>
          </a:xfrm>
          <a:prstGeom prst="rect">
            <a:avLst/>
          </a:prstGeom>
          <a:noFill/>
        </p:spPr>
        <p:txBody>
          <a:bodyPr wrap="none" rtlCol="0">
            <a:spAutoFit/>
          </a:bodyPr>
          <a:lstStyle/>
          <a:p>
            <a:r>
              <a:rPr lang="en-US" b="1" dirty="0"/>
              <a:t>Y</a:t>
            </a:r>
          </a:p>
        </p:txBody>
      </p:sp>
      <p:sp>
        <p:nvSpPr>
          <p:cNvPr id="44" name="TextBox 43">
            <a:extLst>
              <a:ext uri="{FF2B5EF4-FFF2-40B4-BE49-F238E27FC236}">
                <a16:creationId xmlns:a16="http://schemas.microsoft.com/office/drawing/2014/main" id="{F183BC00-0066-B05E-56EB-9834B19F6A36}"/>
              </a:ext>
            </a:extLst>
          </p:cNvPr>
          <p:cNvSpPr txBox="1"/>
          <p:nvPr/>
        </p:nvSpPr>
        <p:spPr>
          <a:xfrm>
            <a:off x="9704439" y="4055408"/>
            <a:ext cx="333746" cy="369332"/>
          </a:xfrm>
          <a:prstGeom prst="rect">
            <a:avLst/>
          </a:prstGeom>
          <a:noFill/>
        </p:spPr>
        <p:txBody>
          <a:bodyPr wrap="none" rtlCol="0">
            <a:spAutoFit/>
          </a:bodyPr>
          <a:lstStyle/>
          <a:p>
            <a:r>
              <a:rPr lang="en-US" b="1" dirty="0"/>
              <a:t>N</a:t>
            </a:r>
          </a:p>
        </p:txBody>
      </p:sp>
      <p:sp>
        <p:nvSpPr>
          <p:cNvPr id="45" name="TextBox 44">
            <a:extLst>
              <a:ext uri="{FF2B5EF4-FFF2-40B4-BE49-F238E27FC236}">
                <a16:creationId xmlns:a16="http://schemas.microsoft.com/office/drawing/2014/main" id="{FA4050F6-1A69-F2BE-7CE8-B3FC17A98227}"/>
              </a:ext>
            </a:extLst>
          </p:cNvPr>
          <p:cNvSpPr txBox="1"/>
          <p:nvPr/>
        </p:nvSpPr>
        <p:spPr>
          <a:xfrm flipH="1">
            <a:off x="9707239" y="667614"/>
            <a:ext cx="232531" cy="369332"/>
          </a:xfrm>
          <a:prstGeom prst="rect">
            <a:avLst/>
          </a:prstGeom>
          <a:noFill/>
        </p:spPr>
        <p:txBody>
          <a:bodyPr wrap="square" rtlCol="0">
            <a:spAutoFit/>
          </a:bodyPr>
          <a:lstStyle/>
          <a:p>
            <a:r>
              <a:rPr lang="en-US" b="1" dirty="0"/>
              <a:t>Y</a:t>
            </a:r>
          </a:p>
        </p:txBody>
      </p:sp>
      <p:sp>
        <p:nvSpPr>
          <p:cNvPr id="46" name="TextBox 45">
            <a:extLst>
              <a:ext uri="{FF2B5EF4-FFF2-40B4-BE49-F238E27FC236}">
                <a16:creationId xmlns:a16="http://schemas.microsoft.com/office/drawing/2014/main" id="{861D3B19-9520-22F7-795F-9AD3D0F749D3}"/>
              </a:ext>
            </a:extLst>
          </p:cNvPr>
          <p:cNvSpPr txBox="1"/>
          <p:nvPr/>
        </p:nvSpPr>
        <p:spPr>
          <a:xfrm flipH="1">
            <a:off x="9755046" y="2169452"/>
            <a:ext cx="232531" cy="369332"/>
          </a:xfrm>
          <a:prstGeom prst="rect">
            <a:avLst/>
          </a:prstGeom>
          <a:noFill/>
        </p:spPr>
        <p:txBody>
          <a:bodyPr wrap="square" rtlCol="0">
            <a:spAutoFit/>
          </a:bodyPr>
          <a:lstStyle/>
          <a:p>
            <a:r>
              <a:rPr lang="en-US" b="1" dirty="0"/>
              <a:t>N</a:t>
            </a:r>
          </a:p>
        </p:txBody>
      </p:sp>
      <p:sp>
        <p:nvSpPr>
          <p:cNvPr id="47" name="TextBox 46">
            <a:extLst>
              <a:ext uri="{FF2B5EF4-FFF2-40B4-BE49-F238E27FC236}">
                <a16:creationId xmlns:a16="http://schemas.microsoft.com/office/drawing/2014/main" id="{21E8378D-073E-7088-074D-AB50115A0265}"/>
              </a:ext>
            </a:extLst>
          </p:cNvPr>
          <p:cNvSpPr txBox="1"/>
          <p:nvPr/>
        </p:nvSpPr>
        <p:spPr>
          <a:xfrm>
            <a:off x="7928516" y="667614"/>
            <a:ext cx="1632242" cy="369332"/>
          </a:xfrm>
          <a:prstGeom prst="rect">
            <a:avLst/>
          </a:prstGeom>
          <a:noFill/>
        </p:spPr>
        <p:txBody>
          <a:bodyPr wrap="none" rtlCol="0">
            <a:spAutoFit/>
          </a:bodyPr>
          <a:lstStyle/>
          <a:p>
            <a:r>
              <a:rPr lang="en-US" dirty="0"/>
              <a:t>Graph in mem?</a:t>
            </a:r>
          </a:p>
        </p:txBody>
      </p:sp>
      <p:sp>
        <p:nvSpPr>
          <p:cNvPr id="48" name="Cloud 47">
            <a:extLst>
              <a:ext uri="{FF2B5EF4-FFF2-40B4-BE49-F238E27FC236}">
                <a16:creationId xmlns:a16="http://schemas.microsoft.com/office/drawing/2014/main" id="{F951BA58-2F74-2A0E-95BB-A348729E8188}"/>
              </a:ext>
            </a:extLst>
          </p:cNvPr>
          <p:cNvSpPr/>
          <p:nvPr/>
        </p:nvSpPr>
        <p:spPr>
          <a:xfrm>
            <a:off x="10231743" y="1350960"/>
            <a:ext cx="1686742" cy="74063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Semi-External</a:t>
            </a:r>
          </a:p>
        </p:txBody>
      </p:sp>
      <p:cxnSp>
        <p:nvCxnSpPr>
          <p:cNvPr id="52" name="Straight Arrow Connector 51">
            <a:extLst>
              <a:ext uri="{FF2B5EF4-FFF2-40B4-BE49-F238E27FC236}">
                <a16:creationId xmlns:a16="http://schemas.microsoft.com/office/drawing/2014/main" id="{93035D63-C339-EC0E-6826-710650264357}"/>
              </a:ext>
            </a:extLst>
          </p:cNvPr>
          <p:cNvCxnSpPr>
            <a:stCxn id="18" idx="6"/>
            <a:endCxn id="48" idx="2"/>
          </p:cNvCxnSpPr>
          <p:nvPr/>
        </p:nvCxnSpPr>
        <p:spPr>
          <a:xfrm flipV="1">
            <a:off x="9615258" y="1721276"/>
            <a:ext cx="621717" cy="151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005064B-3BA0-BB24-285A-00AF14F61100}"/>
              </a:ext>
            </a:extLst>
          </p:cNvPr>
          <p:cNvSpPr txBox="1"/>
          <p:nvPr/>
        </p:nvSpPr>
        <p:spPr>
          <a:xfrm rot="19857621">
            <a:off x="9549845" y="1444723"/>
            <a:ext cx="844142" cy="369332"/>
          </a:xfrm>
          <a:prstGeom prst="rect">
            <a:avLst/>
          </a:prstGeom>
          <a:noFill/>
        </p:spPr>
        <p:txBody>
          <a:bodyPr wrap="none" rtlCol="0">
            <a:spAutoFit/>
          </a:bodyPr>
          <a:lstStyle/>
          <a:p>
            <a:r>
              <a:rPr lang="en-US" b="1" dirty="0"/>
              <a:t>Maybe</a:t>
            </a:r>
          </a:p>
        </p:txBody>
      </p:sp>
      <p:sp>
        <p:nvSpPr>
          <p:cNvPr id="55" name="Title 54">
            <a:extLst>
              <a:ext uri="{FF2B5EF4-FFF2-40B4-BE49-F238E27FC236}">
                <a16:creationId xmlns:a16="http://schemas.microsoft.com/office/drawing/2014/main" id="{9370FBFA-77F3-D33E-3D17-684D609478B3}"/>
              </a:ext>
            </a:extLst>
          </p:cNvPr>
          <p:cNvSpPr>
            <a:spLocks noGrp="1"/>
          </p:cNvSpPr>
          <p:nvPr>
            <p:ph type="title"/>
          </p:nvPr>
        </p:nvSpPr>
        <p:spPr/>
        <p:txBody>
          <a:bodyPr/>
          <a:lstStyle/>
          <a:p>
            <a:r>
              <a:rPr lang="en-US" dirty="0"/>
              <a:t>The Taxonomy So Far</a:t>
            </a:r>
          </a:p>
        </p:txBody>
      </p:sp>
      <p:sp>
        <p:nvSpPr>
          <p:cNvPr id="4" name="Slide Number Placeholder 3">
            <a:extLst>
              <a:ext uri="{FF2B5EF4-FFF2-40B4-BE49-F238E27FC236}">
                <a16:creationId xmlns:a16="http://schemas.microsoft.com/office/drawing/2014/main" id="{03DE374F-5C50-406C-0691-253EF2AB7F80}"/>
              </a:ext>
            </a:extLst>
          </p:cNvPr>
          <p:cNvSpPr>
            <a:spLocks noGrp="1"/>
          </p:cNvSpPr>
          <p:nvPr>
            <p:ph type="sldNum" sz="quarter" idx="12"/>
          </p:nvPr>
        </p:nvSpPr>
        <p:spPr/>
        <p:txBody>
          <a:bodyPr/>
          <a:lstStyle/>
          <a:p>
            <a:fld id="{0FA4238C-0B31-2640-B0B6-C8A5E6F89A2A}" type="slidenum">
              <a:rPr lang="en-US" smtClean="0"/>
              <a:t>10</a:t>
            </a:fld>
            <a:endParaRPr lang="en-US"/>
          </a:p>
        </p:txBody>
      </p:sp>
    </p:spTree>
    <p:extLst>
      <p:ext uri="{BB962C8B-B14F-4D97-AF65-F5344CB8AC3E}">
        <p14:creationId xmlns:p14="http://schemas.microsoft.com/office/powerpoint/2010/main" val="797353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655624C-4083-F542-D13F-E642CC5883F8}"/>
              </a:ext>
            </a:extLst>
          </p:cNvPr>
          <p:cNvSpPr>
            <a:spLocks noChangeAspect="1"/>
          </p:cNvSpPr>
          <p:nvPr/>
        </p:nvSpPr>
        <p:spPr>
          <a:xfrm>
            <a:off x="7928516" y="4363171"/>
            <a:ext cx="1686742" cy="1686742"/>
          </a:xfrm>
          <a:prstGeom prst="ellipse">
            <a:avLst/>
          </a:prstGeom>
          <a:solidFill>
            <a:schemeClr val="accent1">
              <a:alpha val="5025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cxnSp>
        <p:nvCxnSpPr>
          <p:cNvPr id="9" name="Straight Arrow Connector 8">
            <a:extLst>
              <a:ext uri="{FF2B5EF4-FFF2-40B4-BE49-F238E27FC236}">
                <a16:creationId xmlns:a16="http://schemas.microsoft.com/office/drawing/2014/main" id="{A8BD72CF-B9D9-F5B5-8E6B-CC9810911850}"/>
              </a:ext>
            </a:extLst>
          </p:cNvPr>
          <p:cNvCxnSpPr>
            <a:cxnSpLocks noChangeAspect="1"/>
            <a:stCxn id="6" idx="7"/>
            <a:endCxn id="2" idx="2"/>
          </p:cNvCxnSpPr>
          <p:nvPr/>
        </p:nvCxnSpPr>
        <p:spPr>
          <a:xfrm flipV="1">
            <a:off x="9368240" y="4363171"/>
            <a:ext cx="960334" cy="247018"/>
          </a:xfrm>
          <a:prstGeom prst="straightConnector1">
            <a:avLst/>
          </a:prstGeom>
          <a:ln w="38100">
            <a:solidFill>
              <a:schemeClr val="accent1">
                <a:alpha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2E7AC2DA-3432-1758-67A9-C4D467082987}"/>
              </a:ext>
            </a:extLst>
          </p:cNvPr>
          <p:cNvSpPr>
            <a:spLocks noChangeAspect="1"/>
          </p:cNvSpPr>
          <p:nvPr/>
        </p:nvSpPr>
        <p:spPr>
          <a:xfrm>
            <a:off x="10328574" y="3738714"/>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Non - Transactional</a:t>
            </a:r>
          </a:p>
        </p:txBody>
      </p:sp>
      <p:cxnSp>
        <p:nvCxnSpPr>
          <p:cNvPr id="8" name="Straight Arrow Connector 7">
            <a:extLst>
              <a:ext uri="{FF2B5EF4-FFF2-40B4-BE49-F238E27FC236}">
                <a16:creationId xmlns:a16="http://schemas.microsoft.com/office/drawing/2014/main" id="{EFBDF8FE-DF70-F023-7AA8-47B1662DA5FB}"/>
              </a:ext>
            </a:extLst>
          </p:cNvPr>
          <p:cNvCxnSpPr>
            <a:cxnSpLocks noChangeAspect="1"/>
            <a:stCxn id="6" idx="5"/>
            <a:endCxn id="3" idx="2"/>
          </p:cNvCxnSpPr>
          <p:nvPr/>
        </p:nvCxnSpPr>
        <p:spPr>
          <a:xfrm>
            <a:off x="9368240" y="5802895"/>
            <a:ext cx="960334" cy="247018"/>
          </a:xfrm>
          <a:prstGeom prst="straightConnector1">
            <a:avLst/>
          </a:prstGeom>
          <a:ln w="38100">
            <a:solidFill>
              <a:schemeClr val="accent1">
                <a:alpha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 name="Oval 2">
            <a:extLst>
              <a:ext uri="{FF2B5EF4-FFF2-40B4-BE49-F238E27FC236}">
                <a16:creationId xmlns:a16="http://schemas.microsoft.com/office/drawing/2014/main" id="{56EFB181-4986-6630-A48C-4CF7CF8352E3}"/>
              </a:ext>
            </a:extLst>
          </p:cNvPr>
          <p:cNvSpPr>
            <a:spLocks noChangeAspect="1"/>
          </p:cNvSpPr>
          <p:nvPr/>
        </p:nvSpPr>
        <p:spPr>
          <a:xfrm>
            <a:off x="10328574" y="5425456"/>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Transactional</a:t>
            </a:r>
          </a:p>
        </p:txBody>
      </p:sp>
      <p:sp>
        <p:nvSpPr>
          <p:cNvPr id="14" name="Oval 13">
            <a:extLst>
              <a:ext uri="{FF2B5EF4-FFF2-40B4-BE49-F238E27FC236}">
                <a16:creationId xmlns:a16="http://schemas.microsoft.com/office/drawing/2014/main" id="{EC6285DC-6516-3402-A52D-9D4DF417CFC2}"/>
              </a:ext>
            </a:extLst>
          </p:cNvPr>
          <p:cNvSpPr/>
          <p:nvPr/>
        </p:nvSpPr>
        <p:spPr>
          <a:xfrm>
            <a:off x="5238157" y="64196"/>
            <a:ext cx="1715685" cy="1715685"/>
          </a:xfrm>
          <a:prstGeom prst="ellipse">
            <a:avLst/>
          </a:prstGeom>
          <a:solidFill>
            <a:schemeClr val="accent1">
              <a:alpha val="0"/>
            </a:schemeClr>
          </a:solidFill>
          <a:ln>
            <a:solidFill>
              <a:schemeClr val="accent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alpha val="0"/>
                  </a:schemeClr>
                </a:solidFill>
              </a:rPr>
              <a:t>Structural Graph</a:t>
            </a:r>
          </a:p>
        </p:txBody>
      </p:sp>
      <p:cxnSp>
        <p:nvCxnSpPr>
          <p:cNvPr id="15" name="Straight Arrow Connector 14">
            <a:extLst>
              <a:ext uri="{FF2B5EF4-FFF2-40B4-BE49-F238E27FC236}">
                <a16:creationId xmlns:a16="http://schemas.microsoft.com/office/drawing/2014/main" id="{446087F3-FCA0-D791-31C9-4A7599D6D320}"/>
              </a:ext>
            </a:extLst>
          </p:cNvPr>
          <p:cNvCxnSpPr>
            <a:cxnSpLocks/>
            <a:stCxn id="14" idx="6"/>
          </p:cNvCxnSpPr>
          <p:nvPr/>
        </p:nvCxnSpPr>
        <p:spPr>
          <a:xfrm>
            <a:off x="6953842" y="922039"/>
            <a:ext cx="3522473" cy="428921"/>
          </a:xfrm>
          <a:prstGeom prst="straightConnector1">
            <a:avLst/>
          </a:prstGeom>
          <a:ln w="38100">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AAA2E77-F6D0-0012-6FBE-CD92ACDB2E02}"/>
              </a:ext>
            </a:extLst>
          </p:cNvPr>
          <p:cNvSpPr>
            <a:spLocks noChangeAspect="1"/>
          </p:cNvSpPr>
          <p:nvPr/>
        </p:nvSpPr>
        <p:spPr>
          <a:xfrm>
            <a:off x="7928516" y="1029307"/>
            <a:ext cx="1686742" cy="1686742"/>
          </a:xfrm>
          <a:prstGeom prst="ellipse">
            <a:avLst/>
          </a:prstGeom>
          <a:solidFill>
            <a:schemeClr val="accent1">
              <a:alpha val="50258"/>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Read-Only (Static) Structural Graphs</a:t>
            </a:r>
          </a:p>
        </p:txBody>
      </p:sp>
      <p:sp>
        <p:nvSpPr>
          <p:cNvPr id="19" name="Oval 18">
            <a:extLst>
              <a:ext uri="{FF2B5EF4-FFF2-40B4-BE49-F238E27FC236}">
                <a16:creationId xmlns:a16="http://schemas.microsoft.com/office/drawing/2014/main" id="{7CFEEA74-8988-716F-2C2A-5B6E76E777F3}"/>
              </a:ext>
            </a:extLst>
          </p:cNvPr>
          <p:cNvSpPr>
            <a:spLocks noChangeAspect="1"/>
          </p:cNvSpPr>
          <p:nvPr/>
        </p:nvSpPr>
        <p:spPr>
          <a:xfrm>
            <a:off x="10328573" y="106444"/>
            <a:ext cx="1248913" cy="12489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Out of Core</a:t>
            </a:r>
          </a:p>
        </p:txBody>
      </p:sp>
      <p:sp>
        <p:nvSpPr>
          <p:cNvPr id="20" name="Oval 19">
            <a:extLst>
              <a:ext uri="{FF2B5EF4-FFF2-40B4-BE49-F238E27FC236}">
                <a16:creationId xmlns:a16="http://schemas.microsoft.com/office/drawing/2014/main" id="{E9946AB7-773D-98C1-1A1D-2F523558774D}"/>
              </a:ext>
            </a:extLst>
          </p:cNvPr>
          <p:cNvSpPr>
            <a:spLocks noChangeAspect="1"/>
          </p:cNvSpPr>
          <p:nvPr/>
        </p:nvSpPr>
        <p:spPr>
          <a:xfrm>
            <a:off x="10328574" y="2091592"/>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In Memory</a:t>
            </a:r>
          </a:p>
        </p:txBody>
      </p:sp>
      <p:cxnSp>
        <p:nvCxnSpPr>
          <p:cNvPr id="22" name="Straight Arrow Connector 21">
            <a:extLst>
              <a:ext uri="{FF2B5EF4-FFF2-40B4-BE49-F238E27FC236}">
                <a16:creationId xmlns:a16="http://schemas.microsoft.com/office/drawing/2014/main" id="{5CEA30D7-A101-73B0-AD12-04B98EF68CB8}"/>
              </a:ext>
            </a:extLst>
          </p:cNvPr>
          <p:cNvCxnSpPr>
            <a:cxnSpLocks/>
            <a:stCxn id="18" idx="7"/>
            <a:endCxn id="19" idx="2"/>
          </p:cNvCxnSpPr>
          <p:nvPr/>
        </p:nvCxnSpPr>
        <p:spPr>
          <a:xfrm flipV="1">
            <a:off x="9368240" y="730901"/>
            <a:ext cx="960333" cy="545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C0CDC51-3FAA-9CD7-E10C-ED17C641E47B}"/>
              </a:ext>
            </a:extLst>
          </p:cNvPr>
          <p:cNvCxnSpPr>
            <a:cxnSpLocks/>
            <a:stCxn id="18" idx="5"/>
            <a:endCxn id="20" idx="2"/>
          </p:cNvCxnSpPr>
          <p:nvPr/>
        </p:nvCxnSpPr>
        <p:spPr>
          <a:xfrm>
            <a:off x="9368240" y="2469031"/>
            <a:ext cx="960334" cy="247018"/>
          </a:xfrm>
          <a:prstGeom prst="straightConnector1">
            <a:avLst/>
          </a:prstGeom>
          <a:ln>
            <a:solidFill>
              <a:schemeClr val="accent1">
                <a:alpha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EC69C761-124F-41AB-E0A3-1499746AC66D}"/>
              </a:ext>
            </a:extLst>
          </p:cNvPr>
          <p:cNvSpPr>
            <a:spLocks noChangeAspect="1"/>
          </p:cNvSpPr>
          <p:nvPr/>
        </p:nvSpPr>
        <p:spPr>
          <a:xfrm>
            <a:off x="6095999" y="2645991"/>
            <a:ext cx="1686742" cy="1686742"/>
          </a:xfrm>
          <a:prstGeom prst="ellipse">
            <a:avLst/>
          </a:prstGeom>
          <a:solidFill>
            <a:schemeClr val="accent1">
              <a:alpha val="49875"/>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Graphs</a:t>
            </a:r>
          </a:p>
        </p:txBody>
      </p:sp>
      <p:cxnSp>
        <p:nvCxnSpPr>
          <p:cNvPr id="32" name="Straight Arrow Connector 31">
            <a:extLst>
              <a:ext uri="{FF2B5EF4-FFF2-40B4-BE49-F238E27FC236}">
                <a16:creationId xmlns:a16="http://schemas.microsoft.com/office/drawing/2014/main" id="{17ACE054-D435-B3CE-B88F-0C688CF42FC2}"/>
              </a:ext>
            </a:extLst>
          </p:cNvPr>
          <p:cNvCxnSpPr>
            <a:stCxn id="30" idx="7"/>
            <a:endCxn id="18" idx="3"/>
          </p:cNvCxnSpPr>
          <p:nvPr/>
        </p:nvCxnSpPr>
        <p:spPr>
          <a:xfrm flipV="1">
            <a:off x="7535723" y="2469031"/>
            <a:ext cx="639811" cy="423978"/>
          </a:xfrm>
          <a:prstGeom prst="straightConnector1">
            <a:avLst/>
          </a:prstGeom>
          <a:ln>
            <a:solidFill>
              <a:schemeClr val="accent1">
                <a:alpha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B92F135-1B09-533E-6251-47EC138E17C9}"/>
              </a:ext>
            </a:extLst>
          </p:cNvPr>
          <p:cNvCxnSpPr>
            <a:stCxn id="30" idx="5"/>
            <a:endCxn id="6" idx="1"/>
          </p:cNvCxnSpPr>
          <p:nvPr/>
        </p:nvCxnSpPr>
        <p:spPr>
          <a:xfrm>
            <a:off x="7535723" y="4085715"/>
            <a:ext cx="639811" cy="524474"/>
          </a:xfrm>
          <a:prstGeom prst="straightConnector1">
            <a:avLst/>
          </a:prstGeom>
          <a:ln>
            <a:solidFill>
              <a:schemeClr val="accent1">
                <a:alpha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81D12286-0C35-5ED6-B1A5-323255E44133}"/>
              </a:ext>
            </a:extLst>
          </p:cNvPr>
          <p:cNvSpPr>
            <a:spLocks noChangeAspect="1"/>
          </p:cNvSpPr>
          <p:nvPr/>
        </p:nvSpPr>
        <p:spPr>
          <a:xfrm>
            <a:off x="2194462" y="2645991"/>
            <a:ext cx="1686742" cy="1686742"/>
          </a:xfrm>
          <a:prstGeom prst="ellipse">
            <a:avLst/>
          </a:prstGeom>
          <a:solidFill>
            <a:schemeClr val="accent1">
              <a:alpha val="49927"/>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Property Graphs</a:t>
            </a:r>
          </a:p>
        </p:txBody>
      </p:sp>
      <p:sp>
        <p:nvSpPr>
          <p:cNvPr id="36" name="Right Arrow 35">
            <a:extLst>
              <a:ext uri="{FF2B5EF4-FFF2-40B4-BE49-F238E27FC236}">
                <a16:creationId xmlns:a16="http://schemas.microsoft.com/office/drawing/2014/main" id="{6B91584E-9DB2-06CF-838A-72EFE6F9E20E}"/>
              </a:ext>
            </a:extLst>
          </p:cNvPr>
          <p:cNvSpPr/>
          <p:nvPr/>
        </p:nvSpPr>
        <p:spPr>
          <a:xfrm>
            <a:off x="3881204" y="3340506"/>
            <a:ext cx="2153040" cy="199107"/>
          </a:xfrm>
          <a:prstGeom prst="rightArrow">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3FC39CC-D571-9E4C-45FA-11CDDFD77826}"/>
              </a:ext>
            </a:extLst>
          </p:cNvPr>
          <p:cNvSpPr txBox="1"/>
          <p:nvPr/>
        </p:nvSpPr>
        <p:spPr>
          <a:xfrm>
            <a:off x="4100484" y="2516729"/>
            <a:ext cx="1686742" cy="923330"/>
          </a:xfrm>
          <a:prstGeom prst="rect">
            <a:avLst/>
          </a:prstGeom>
          <a:noFill/>
        </p:spPr>
        <p:txBody>
          <a:bodyPr wrap="square" rtlCol="0">
            <a:spAutoFit/>
          </a:bodyPr>
          <a:lstStyle/>
          <a:p>
            <a:r>
              <a:rPr lang="en-US" dirty="0">
                <a:solidFill>
                  <a:schemeClr val="tx1">
                    <a:alpha val="50000"/>
                  </a:schemeClr>
                </a:solidFill>
              </a:rPr>
              <a:t>Materialize a view of the Graph Structure</a:t>
            </a:r>
          </a:p>
        </p:txBody>
      </p:sp>
      <p:sp>
        <p:nvSpPr>
          <p:cNvPr id="38" name="TextBox 37">
            <a:extLst>
              <a:ext uri="{FF2B5EF4-FFF2-40B4-BE49-F238E27FC236}">
                <a16:creationId xmlns:a16="http://schemas.microsoft.com/office/drawing/2014/main" id="{16E1C238-5520-E772-70C2-6A95EBFFF473}"/>
              </a:ext>
            </a:extLst>
          </p:cNvPr>
          <p:cNvSpPr txBox="1"/>
          <p:nvPr/>
        </p:nvSpPr>
        <p:spPr>
          <a:xfrm>
            <a:off x="6095999" y="4347952"/>
            <a:ext cx="1405706" cy="369332"/>
          </a:xfrm>
          <a:prstGeom prst="rect">
            <a:avLst/>
          </a:prstGeom>
          <a:noFill/>
        </p:spPr>
        <p:txBody>
          <a:bodyPr wrap="none" rtlCol="0">
            <a:spAutoFit/>
          </a:bodyPr>
          <a:lstStyle/>
          <a:p>
            <a:r>
              <a:rPr lang="en-US" dirty="0">
                <a:solidFill>
                  <a:schemeClr val="tx1">
                    <a:alpha val="50000"/>
                  </a:schemeClr>
                </a:solidFill>
              </a:rPr>
              <a:t>Read-Write? </a:t>
            </a:r>
          </a:p>
        </p:txBody>
      </p:sp>
      <p:sp>
        <p:nvSpPr>
          <p:cNvPr id="39" name="TextBox 38">
            <a:extLst>
              <a:ext uri="{FF2B5EF4-FFF2-40B4-BE49-F238E27FC236}">
                <a16:creationId xmlns:a16="http://schemas.microsoft.com/office/drawing/2014/main" id="{8D2343BD-1112-6EFC-19E4-E86E4B4BA243}"/>
              </a:ext>
            </a:extLst>
          </p:cNvPr>
          <p:cNvSpPr txBox="1"/>
          <p:nvPr/>
        </p:nvSpPr>
        <p:spPr>
          <a:xfrm>
            <a:off x="7844496" y="4078106"/>
            <a:ext cx="304892" cy="369332"/>
          </a:xfrm>
          <a:prstGeom prst="rect">
            <a:avLst/>
          </a:prstGeom>
          <a:noFill/>
        </p:spPr>
        <p:txBody>
          <a:bodyPr wrap="none" rtlCol="0">
            <a:spAutoFit/>
          </a:bodyPr>
          <a:lstStyle/>
          <a:p>
            <a:r>
              <a:rPr lang="en-US" b="1" dirty="0">
                <a:solidFill>
                  <a:schemeClr val="tx1">
                    <a:alpha val="50000"/>
                  </a:schemeClr>
                </a:solidFill>
              </a:rPr>
              <a:t>Y</a:t>
            </a:r>
          </a:p>
        </p:txBody>
      </p:sp>
      <p:sp>
        <p:nvSpPr>
          <p:cNvPr id="40" name="TextBox 39">
            <a:extLst>
              <a:ext uri="{FF2B5EF4-FFF2-40B4-BE49-F238E27FC236}">
                <a16:creationId xmlns:a16="http://schemas.microsoft.com/office/drawing/2014/main" id="{44B261C5-1C89-3D6C-994D-4638A07F8AC7}"/>
              </a:ext>
            </a:extLst>
          </p:cNvPr>
          <p:cNvSpPr txBox="1"/>
          <p:nvPr/>
        </p:nvSpPr>
        <p:spPr>
          <a:xfrm>
            <a:off x="7841788" y="2700547"/>
            <a:ext cx="333746" cy="369332"/>
          </a:xfrm>
          <a:prstGeom prst="rect">
            <a:avLst/>
          </a:prstGeom>
          <a:noFill/>
        </p:spPr>
        <p:txBody>
          <a:bodyPr wrap="none" rtlCol="0">
            <a:spAutoFit/>
          </a:bodyPr>
          <a:lstStyle/>
          <a:p>
            <a:r>
              <a:rPr lang="en-US" b="1" dirty="0">
                <a:solidFill>
                  <a:schemeClr val="tx1">
                    <a:alpha val="50000"/>
                  </a:schemeClr>
                </a:solidFill>
              </a:rPr>
              <a:t>N</a:t>
            </a:r>
          </a:p>
        </p:txBody>
      </p:sp>
      <p:sp>
        <p:nvSpPr>
          <p:cNvPr id="42" name="TextBox 41">
            <a:extLst>
              <a:ext uri="{FF2B5EF4-FFF2-40B4-BE49-F238E27FC236}">
                <a16:creationId xmlns:a16="http://schemas.microsoft.com/office/drawing/2014/main" id="{B1EA7894-006F-97C5-DD55-EB2048B8CF4F}"/>
              </a:ext>
            </a:extLst>
          </p:cNvPr>
          <p:cNvSpPr txBox="1"/>
          <p:nvPr/>
        </p:nvSpPr>
        <p:spPr>
          <a:xfrm>
            <a:off x="7841788" y="6164826"/>
            <a:ext cx="1532984" cy="369332"/>
          </a:xfrm>
          <a:prstGeom prst="rect">
            <a:avLst/>
          </a:prstGeom>
          <a:noFill/>
        </p:spPr>
        <p:txBody>
          <a:bodyPr wrap="none" rtlCol="0">
            <a:spAutoFit/>
          </a:bodyPr>
          <a:lstStyle/>
          <a:p>
            <a:r>
              <a:rPr lang="en-US" dirty="0">
                <a:solidFill>
                  <a:schemeClr val="tx1">
                    <a:alpha val="50000"/>
                  </a:schemeClr>
                </a:solidFill>
              </a:rPr>
              <a:t>Transactional?</a:t>
            </a:r>
          </a:p>
        </p:txBody>
      </p:sp>
      <p:sp>
        <p:nvSpPr>
          <p:cNvPr id="43" name="TextBox 42">
            <a:extLst>
              <a:ext uri="{FF2B5EF4-FFF2-40B4-BE49-F238E27FC236}">
                <a16:creationId xmlns:a16="http://schemas.microsoft.com/office/drawing/2014/main" id="{58CF0DDA-6874-CD4C-4BC2-0DC58E89FD29}"/>
              </a:ext>
            </a:extLst>
          </p:cNvPr>
          <p:cNvSpPr txBox="1"/>
          <p:nvPr/>
        </p:nvSpPr>
        <p:spPr>
          <a:xfrm>
            <a:off x="9748684" y="6049913"/>
            <a:ext cx="304892" cy="369332"/>
          </a:xfrm>
          <a:prstGeom prst="rect">
            <a:avLst/>
          </a:prstGeom>
          <a:noFill/>
        </p:spPr>
        <p:txBody>
          <a:bodyPr wrap="none" rtlCol="0">
            <a:spAutoFit/>
          </a:bodyPr>
          <a:lstStyle/>
          <a:p>
            <a:r>
              <a:rPr lang="en-US" b="1" dirty="0">
                <a:solidFill>
                  <a:schemeClr val="tx1">
                    <a:alpha val="50000"/>
                  </a:schemeClr>
                </a:solidFill>
              </a:rPr>
              <a:t>Y</a:t>
            </a:r>
          </a:p>
        </p:txBody>
      </p:sp>
      <p:sp>
        <p:nvSpPr>
          <p:cNvPr id="44" name="TextBox 43">
            <a:extLst>
              <a:ext uri="{FF2B5EF4-FFF2-40B4-BE49-F238E27FC236}">
                <a16:creationId xmlns:a16="http://schemas.microsoft.com/office/drawing/2014/main" id="{F183BC00-0066-B05E-56EB-9834B19F6A36}"/>
              </a:ext>
            </a:extLst>
          </p:cNvPr>
          <p:cNvSpPr txBox="1"/>
          <p:nvPr/>
        </p:nvSpPr>
        <p:spPr>
          <a:xfrm>
            <a:off x="9704439" y="4055408"/>
            <a:ext cx="333746" cy="369332"/>
          </a:xfrm>
          <a:prstGeom prst="rect">
            <a:avLst/>
          </a:prstGeom>
          <a:noFill/>
        </p:spPr>
        <p:txBody>
          <a:bodyPr wrap="none" rtlCol="0">
            <a:spAutoFit/>
          </a:bodyPr>
          <a:lstStyle/>
          <a:p>
            <a:r>
              <a:rPr lang="en-US" b="1" dirty="0">
                <a:solidFill>
                  <a:schemeClr val="tx1">
                    <a:alpha val="50000"/>
                  </a:schemeClr>
                </a:solidFill>
              </a:rPr>
              <a:t>N</a:t>
            </a:r>
          </a:p>
        </p:txBody>
      </p:sp>
      <p:sp>
        <p:nvSpPr>
          <p:cNvPr id="45" name="TextBox 44">
            <a:extLst>
              <a:ext uri="{FF2B5EF4-FFF2-40B4-BE49-F238E27FC236}">
                <a16:creationId xmlns:a16="http://schemas.microsoft.com/office/drawing/2014/main" id="{FA4050F6-1A69-F2BE-7CE8-B3FC17A98227}"/>
              </a:ext>
            </a:extLst>
          </p:cNvPr>
          <p:cNvSpPr txBox="1"/>
          <p:nvPr/>
        </p:nvSpPr>
        <p:spPr>
          <a:xfrm flipH="1">
            <a:off x="9707239" y="667614"/>
            <a:ext cx="232531" cy="369332"/>
          </a:xfrm>
          <a:prstGeom prst="rect">
            <a:avLst/>
          </a:prstGeom>
          <a:noFill/>
        </p:spPr>
        <p:txBody>
          <a:bodyPr wrap="square" rtlCol="0">
            <a:spAutoFit/>
          </a:bodyPr>
          <a:lstStyle/>
          <a:p>
            <a:r>
              <a:rPr lang="en-US" b="1" dirty="0">
                <a:solidFill>
                  <a:schemeClr val="tx1">
                    <a:alpha val="50000"/>
                  </a:schemeClr>
                </a:solidFill>
              </a:rPr>
              <a:t>Y</a:t>
            </a:r>
          </a:p>
        </p:txBody>
      </p:sp>
      <p:sp>
        <p:nvSpPr>
          <p:cNvPr id="46" name="TextBox 45">
            <a:extLst>
              <a:ext uri="{FF2B5EF4-FFF2-40B4-BE49-F238E27FC236}">
                <a16:creationId xmlns:a16="http://schemas.microsoft.com/office/drawing/2014/main" id="{861D3B19-9520-22F7-795F-9AD3D0F749D3}"/>
              </a:ext>
            </a:extLst>
          </p:cNvPr>
          <p:cNvSpPr txBox="1"/>
          <p:nvPr/>
        </p:nvSpPr>
        <p:spPr>
          <a:xfrm flipH="1">
            <a:off x="9755046" y="2169452"/>
            <a:ext cx="232531" cy="369332"/>
          </a:xfrm>
          <a:prstGeom prst="rect">
            <a:avLst/>
          </a:prstGeom>
          <a:noFill/>
        </p:spPr>
        <p:txBody>
          <a:bodyPr wrap="square" rtlCol="0">
            <a:spAutoFit/>
          </a:bodyPr>
          <a:lstStyle/>
          <a:p>
            <a:r>
              <a:rPr lang="en-US" b="1" dirty="0">
                <a:solidFill>
                  <a:schemeClr val="tx1">
                    <a:alpha val="50000"/>
                  </a:schemeClr>
                </a:solidFill>
              </a:rPr>
              <a:t>N</a:t>
            </a:r>
          </a:p>
        </p:txBody>
      </p:sp>
      <p:sp>
        <p:nvSpPr>
          <p:cNvPr id="47" name="TextBox 46">
            <a:extLst>
              <a:ext uri="{FF2B5EF4-FFF2-40B4-BE49-F238E27FC236}">
                <a16:creationId xmlns:a16="http://schemas.microsoft.com/office/drawing/2014/main" id="{21E8378D-073E-7088-074D-AB50115A0265}"/>
              </a:ext>
            </a:extLst>
          </p:cNvPr>
          <p:cNvSpPr txBox="1"/>
          <p:nvPr/>
        </p:nvSpPr>
        <p:spPr>
          <a:xfrm>
            <a:off x="7928516" y="667614"/>
            <a:ext cx="1632242" cy="369332"/>
          </a:xfrm>
          <a:prstGeom prst="rect">
            <a:avLst/>
          </a:prstGeom>
          <a:noFill/>
        </p:spPr>
        <p:txBody>
          <a:bodyPr wrap="none" rtlCol="0">
            <a:spAutoFit/>
          </a:bodyPr>
          <a:lstStyle/>
          <a:p>
            <a:r>
              <a:rPr lang="en-US" dirty="0">
                <a:solidFill>
                  <a:schemeClr val="tx1">
                    <a:alpha val="50000"/>
                  </a:schemeClr>
                </a:solidFill>
              </a:rPr>
              <a:t>Graph in mem?</a:t>
            </a:r>
          </a:p>
        </p:txBody>
      </p:sp>
      <p:sp>
        <p:nvSpPr>
          <p:cNvPr id="48" name="Cloud 47">
            <a:extLst>
              <a:ext uri="{FF2B5EF4-FFF2-40B4-BE49-F238E27FC236}">
                <a16:creationId xmlns:a16="http://schemas.microsoft.com/office/drawing/2014/main" id="{F951BA58-2F74-2A0E-95BB-A348729E8188}"/>
              </a:ext>
            </a:extLst>
          </p:cNvPr>
          <p:cNvSpPr/>
          <p:nvPr/>
        </p:nvSpPr>
        <p:spPr>
          <a:xfrm>
            <a:off x="10231743" y="1350960"/>
            <a:ext cx="1686742" cy="74063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Semi-External</a:t>
            </a:r>
          </a:p>
        </p:txBody>
      </p:sp>
      <p:cxnSp>
        <p:nvCxnSpPr>
          <p:cNvPr id="52" name="Straight Arrow Connector 51">
            <a:extLst>
              <a:ext uri="{FF2B5EF4-FFF2-40B4-BE49-F238E27FC236}">
                <a16:creationId xmlns:a16="http://schemas.microsoft.com/office/drawing/2014/main" id="{93035D63-C339-EC0E-6826-710650264357}"/>
              </a:ext>
            </a:extLst>
          </p:cNvPr>
          <p:cNvCxnSpPr>
            <a:stCxn id="18" idx="6"/>
            <a:endCxn id="48" idx="2"/>
          </p:cNvCxnSpPr>
          <p:nvPr/>
        </p:nvCxnSpPr>
        <p:spPr>
          <a:xfrm flipV="1">
            <a:off x="9615258" y="1721276"/>
            <a:ext cx="621717" cy="151402"/>
          </a:xfrm>
          <a:prstGeom prst="straightConnector1">
            <a:avLst/>
          </a:prstGeom>
          <a:ln>
            <a:solidFill>
              <a:schemeClr val="accent1">
                <a:alpha val="49613"/>
              </a:schemeClr>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005064B-3BA0-BB24-285A-00AF14F61100}"/>
              </a:ext>
            </a:extLst>
          </p:cNvPr>
          <p:cNvSpPr txBox="1"/>
          <p:nvPr/>
        </p:nvSpPr>
        <p:spPr>
          <a:xfrm rot="19857621">
            <a:off x="9549845" y="1444723"/>
            <a:ext cx="844142" cy="369332"/>
          </a:xfrm>
          <a:prstGeom prst="rect">
            <a:avLst/>
          </a:prstGeom>
          <a:noFill/>
        </p:spPr>
        <p:txBody>
          <a:bodyPr wrap="none" rtlCol="0">
            <a:spAutoFit/>
          </a:bodyPr>
          <a:lstStyle/>
          <a:p>
            <a:r>
              <a:rPr lang="en-US" b="1" dirty="0">
                <a:solidFill>
                  <a:schemeClr val="tx1">
                    <a:alpha val="50000"/>
                  </a:schemeClr>
                </a:solidFill>
              </a:rPr>
              <a:t>Maybe</a:t>
            </a:r>
          </a:p>
        </p:txBody>
      </p:sp>
      <p:sp>
        <p:nvSpPr>
          <p:cNvPr id="55" name="Title 54">
            <a:extLst>
              <a:ext uri="{FF2B5EF4-FFF2-40B4-BE49-F238E27FC236}">
                <a16:creationId xmlns:a16="http://schemas.microsoft.com/office/drawing/2014/main" id="{9370FBFA-77F3-D33E-3D17-684D609478B3}"/>
              </a:ext>
            </a:extLst>
          </p:cNvPr>
          <p:cNvSpPr>
            <a:spLocks noGrp="1"/>
          </p:cNvSpPr>
          <p:nvPr>
            <p:ph type="title"/>
          </p:nvPr>
        </p:nvSpPr>
        <p:spPr/>
        <p:txBody>
          <a:bodyPr/>
          <a:lstStyle/>
          <a:p>
            <a:r>
              <a:rPr lang="en-US" dirty="0"/>
              <a:t>The Taxonomy So Far</a:t>
            </a:r>
          </a:p>
        </p:txBody>
      </p:sp>
      <p:sp>
        <p:nvSpPr>
          <p:cNvPr id="4" name="TextBox 3">
            <a:extLst>
              <a:ext uri="{FF2B5EF4-FFF2-40B4-BE49-F238E27FC236}">
                <a16:creationId xmlns:a16="http://schemas.microsoft.com/office/drawing/2014/main" id="{8236AD68-0E27-2D2A-69EA-D8BC77F99097}"/>
              </a:ext>
            </a:extLst>
          </p:cNvPr>
          <p:cNvSpPr txBox="1"/>
          <p:nvPr/>
        </p:nvSpPr>
        <p:spPr>
          <a:xfrm>
            <a:off x="1945579" y="5288036"/>
            <a:ext cx="3743169" cy="1169551"/>
          </a:xfrm>
          <a:prstGeom prst="rect">
            <a:avLst/>
          </a:prstGeom>
          <a:noFill/>
        </p:spPr>
        <p:txBody>
          <a:bodyPr wrap="square" rtlCol="0">
            <a:spAutoFit/>
          </a:bodyPr>
          <a:lstStyle/>
          <a:p>
            <a:pPr algn="ctr"/>
            <a:r>
              <a:rPr lang="en-US" sz="3500" dirty="0"/>
              <a:t>What Unifies these Systems?</a:t>
            </a:r>
          </a:p>
        </p:txBody>
      </p:sp>
      <p:sp>
        <p:nvSpPr>
          <p:cNvPr id="5" name="Rectangle 4">
            <a:extLst>
              <a:ext uri="{FF2B5EF4-FFF2-40B4-BE49-F238E27FC236}">
                <a16:creationId xmlns:a16="http://schemas.microsoft.com/office/drawing/2014/main" id="{F79B7188-30AE-A45F-36D3-2881774FC8E7}"/>
              </a:ext>
            </a:extLst>
          </p:cNvPr>
          <p:cNvSpPr/>
          <p:nvPr/>
        </p:nvSpPr>
        <p:spPr>
          <a:xfrm>
            <a:off x="10231743" y="2091592"/>
            <a:ext cx="1598310" cy="4766408"/>
          </a:xfrm>
          <a:prstGeom prst="rect">
            <a:avLst/>
          </a:prstGeom>
          <a:solidFill>
            <a:schemeClr val="accent2">
              <a:alpha val="1341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92DF9F13-C304-7D83-DB76-AD86F9977F28}"/>
              </a:ext>
            </a:extLst>
          </p:cNvPr>
          <p:cNvSpPr/>
          <p:nvPr/>
        </p:nvSpPr>
        <p:spPr>
          <a:xfrm>
            <a:off x="5690756" y="4766345"/>
            <a:ext cx="4475520" cy="1081527"/>
          </a:xfrm>
          <a:custGeom>
            <a:avLst/>
            <a:gdLst>
              <a:gd name="connsiteX0" fmla="*/ 0 w 3800963"/>
              <a:gd name="connsiteY0" fmla="*/ 265571 h 1062285"/>
              <a:gd name="connsiteX1" fmla="*/ 3269821 w 3800963"/>
              <a:gd name="connsiteY1" fmla="*/ 265571 h 1062285"/>
              <a:gd name="connsiteX2" fmla="*/ 3269821 w 3800963"/>
              <a:gd name="connsiteY2" fmla="*/ 0 h 1062285"/>
              <a:gd name="connsiteX3" fmla="*/ 3800963 w 3800963"/>
              <a:gd name="connsiteY3" fmla="*/ 531143 h 1062285"/>
              <a:gd name="connsiteX4" fmla="*/ 3269821 w 3800963"/>
              <a:gd name="connsiteY4" fmla="*/ 1062285 h 1062285"/>
              <a:gd name="connsiteX5" fmla="*/ 3269821 w 3800963"/>
              <a:gd name="connsiteY5" fmla="*/ 796714 h 1062285"/>
              <a:gd name="connsiteX6" fmla="*/ 0 w 3800963"/>
              <a:gd name="connsiteY6" fmla="*/ 796714 h 1062285"/>
              <a:gd name="connsiteX7" fmla="*/ 0 w 3800963"/>
              <a:gd name="connsiteY7" fmla="*/ 265571 h 1062285"/>
              <a:gd name="connsiteX0" fmla="*/ 434714 w 4235677"/>
              <a:gd name="connsiteY0" fmla="*/ 265571 h 1081527"/>
              <a:gd name="connsiteX1" fmla="*/ 3704535 w 4235677"/>
              <a:gd name="connsiteY1" fmla="*/ 265571 h 1081527"/>
              <a:gd name="connsiteX2" fmla="*/ 3704535 w 4235677"/>
              <a:gd name="connsiteY2" fmla="*/ 0 h 1081527"/>
              <a:gd name="connsiteX3" fmla="*/ 4235677 w 4235677"/>
              <a:gd name="connsiteY3" fmla="*/ 531143 h 1081527"/>
              <a:gd name="connsiteX4" fmla="*/ 3704535 w 4235677"/>
              <a:gd name="connsiteY4" fmla="*/ 1062285 h 1081527"/>
              <a:gd name="connsiteX5" fmla="*/ 3704535 w 4235677"/>
              <a:gd name="connsiteY5" fmla="*/ 796714 h 1081527"/>
              <a:gd name="connsiteX6" fmla="*/ 0 w 4235677"/>
              <a:gd name="connsiteY6" fmla="*/ 1081527 h 1081527"/>
              <a:gd name="connsiteX7" fmla="*/ 434714 w 4235677"/>
              <a:gd name="connsiteY7" fmla="*/ 265571 h 1081527"/>
              <a:gd name="connsiteX0" fmla="*/ 0 w 4475520"/>
              <a:gd name="connsiteY0" fmla="*/ 880168 h 1081527"/>
              <a:gd name="connsiteX1" fmla="*/ 3944378 w 4475520"/>
              <a:gd name="connsiteY1" fmla="*/ 265571 h 1081527"/>
              <a:gd name="connsiteX2" fmla="*/ 3944378 w 4475520"/>
              <a:gd name="connsiteY2" fmla="*/ 0 h 1081527"/>
              <a:gd name="connsiteX3" fmla="*/ 4475520 w 4475520"/>
              <a:gd name="connsiteY3" fmla="*/ 531143 h 1081527"/>
              <a:gd name="connsiteX4" fmla="*/ 3944378 w 4475520"/>
              <a:gd name="connsiteY4" fmla="*/ 1062285 h 1081527"/>
              <a:gd name="connsiteX5" fmla="*/ 3944378 w 4475520"/>
              <a:gd name="connsiteY5" fmla="*/ 796714 h 1081527"/>
              <a:gd name="connsiteX6" fmla="*/ 239843 w 4475520"/>
              <a:gd name="connsiteY6" fmla="*/ 1081527 h 1081527"/>
              <a:gd name="connsiteX7" fmla="*/ 0 w 4475520"/>
              <a:gd name="connsiteY7" fmla="*/ 880168 h 108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5520" h="1081527">
                <a:moveTo>
                  <a:pt x="0" y="880168"/>
                </a:moveTo>
                <a:lnTo>
                  <a:pt x="3944378" y="265571"/>
                </a:lnTo>
                <a:lnTo>
                  <a:pt x="3944378" y="0"/>
                </a:lnTo>
                <a:lnTo>
                  <a:pt x="4475520" y="531143"/>
                </a:lnTo>
                <a:lnTo>
                  <a:pt x="3944378" y="1062285"/>
                </a:lnTo>
                <a:lnTo>
                  <a:pt x="3944378" y="796714"/>
                </a:lnTo>
                <a:lnTo>
                  <a:pt x="239843" y="1081527"/>
                </a:lnTo>
                <a:lnTo>
                  <a:pt x="0" y="880168"/>
                </a:lnTo>
                <a:close/>
              </a:path>
            </a:pathLst>
          </a:custGeom>
          <a:solidFill>
            <a:srgbClr val="FCE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0700E7F4-B035-73E9-40C7-198C0CA73E12}"/>
              </a:ext>
            </a:extLst>
          </p:cNvPr>
          <p:cNvSpPr>
            <a:spLocks noGrp="1"/>
          </p:cNvSpPr>
          <p:nvPr>
            <p:ph type="sldNum" sz="quarter" idx="12"/>
          </p:nvPr>
        </p:nvSpPr>
        <p:spPr/>
        <p:txBody>
          <a:bodyPr/>
          <a:lstStyle/>
          <a:p>
            <a:fld id="{0FA4238C-0B31-2640-B0B6-C8A5E6F89A2A}" type="slidenum">
              <a:rPr lang="en-US" smtClean="0"/>
              <a:t>11</a:t>
            </a:fld>
            <a:endParaRPr lang="en-US"/>
          </a:p>
        </p:txBody>
      </p:sp>
    </p:spTree>
    <p:extLst>
      <p:ext uri="{BB962C8B-B14F-4D97-AF65-F5344CB8AC3E}">
        <p14:creationId xmlns:p14="http://schemas.microsoft.com/office/powerpoint/2010/main" val="369200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655624C-4083-F542-D13F-E642CC5883F8}"/>
              </a:ext>
            </a:extLst>
          </p:cNvPr>
          <p:cNvSpPr/>
          <p:nvPr/>
        </p:nvSpPr>
        <p:spPr>
          <a:xfrm>
            <a:off x="273136" y="493117"/>
            <a:ext cx="1717199" cy="17171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pic>
        <p:nvPicPr>
          <p:cNvPr id="5" name="Picture 4" descr="A diagram of graphs and text&#10;&#10;Description automatically generated with medium confidence">
            <a:extLst>
              <a:ext uri="{FF2B5EF4-FFF2-40B4-BE49-F238E27FC236}">
                <a16:creationId xmlns:a16="http://schemas.microsoft.com/office/drawing/2014/main" id="{7E845FBF-F39F-DD9A-7E1A-014ADE3BADB4}"/>
              </a:ext>
            </a:extLst>
          </p:cNvPr>
          <p:cNvPicPr>
            <a:picLocks noChangeAspect="1"/>
          </p:cNvPicPr>
          <p:nvPr/>
        </p:nvPicPr>
        <p:blipFill>
          <a:blip r:embed="rId3"/>
          <a:stretch>
            <a:fillRect/>
          </a:stretch>
        </p:blipFill>
        <p:spPr>
          <a:xfrm>
            <a:off x="109074" y="2428406"/>
            <a:ext cx="3817373" cy="4429593"/>
          </a:xfrm>
          <a:prstGeom prst="rect">
            <a:avLst/>
          </a:prstGeom>
        </p:spPr>
      </p:pic>
      <p:sp>
        <p:nvSpPr>
          <p:cNvPr id="14" name="Oval 13">
            <a:extLst>
              <a:ext uri="{FF2B5EF4-FFF2-40B4-BE49-F238E27FC236}">
                <a16:creationId xmlns:a16="http://schemas.microsoft.com/office/drawing/2014/main" id="{EC6285DC-6516-3402-A52D-9D4DF417CFC2}"/>
              </a:ext>
            </a:extLst>
          </p:cNvPr>
          <p:cNvSpPr/>
          <p:nvPr/>
        </p:nvSpPr>
        <p:spPr>
          <a:xfrm>
            <a:off x="5238157" y="64196"/>
            <a:ext cx="1715685" cy="1715685"/>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a:t>
            </a:r>
          </a:p>
        </p:txBody>
      </p:sp>
      <p:cxnSp>
        <p:nvCxnSpPr>
          <p:cNvPr id="15" name="Straight Arrow Connector 14">
            <a:extLst>
              <a:ext uri="{FF2B5EF4-FFF2-40B4-BE49-F238E27FC236}">
                <a16:creationId xmlns:a16="http://schemas.microsoft.com/office/drawing/2014/main" id="{446087F3-FCA0-D791-31C9-4A7599D6D320}"/>
              </a:ext>
            </a:extLst>
          </p:cNvPr>
          <p:cNvCxnSpPr>
            <a:cxnSpLocks/>
            <a:stCxn id="14" idx="6"/>
            <a:endCxn id="16" idx="2"/>
          </p:cNvCxnSpPr>
          <p:nvPr/>
        </p:nvCxnSpPr>
        <p:spPr>
          <a:xfrm>
            <a:off x="6953842" y="922039"/>
            <a:ext cx="3522473" cy="428921"/>
          </a:xfrm>
          <a:prstGeom prst="straightConnector1">
            <a:avLst/>
          </a:prstGeom>
          <a:ln w="381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736C1628-812F-DC66-531E-2777F3B0547C}"/>
              </a:ext>
            </a:extLst>
          </p:cNvPr>
          <p:cNvCxnSpPr>
            <a:stCxn id="14" idx="2"/>
            <a:endCxn id="6" idx="6"/>
          </p:cNvCxnSpPr>
          <p:nvPr/>
        </p:nvCxnSpPr>
        <p:spPr>
          <a:xfrm flipH="1">
            <a:off x="1990335" y="922039"/>
            <a:ext cx="3247822" cy="42967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92C948DA-0F7F-5AD1-0EDF-7531BE2CDD9D}"/>
              </a:ext>
            </a:extLst>
          </p:cNvPr>
          <p:cNvPicPr>
            <a:picLocks noChangeAspect="1"/>
          </p:cNvPicPr>
          <p:nvPr/>
        </p:nvPicPr>
        <p:blipFill>
          <a:blip r:embed="rId4"/>
          <a:stretch>
            <a:fillRect/>
          </a:stretch>
        </p:blipFill>
        <p:spPr>
          <a:xfrm>
            <a:off x="9057766" y="2057597"/>
            <a:ext cx="3232905" cy="4920324"/>
          </a:xfrm>
          <a:prstGeom prst="rect">
            <a:avLst/>
          </a:prstGeom>
        </p:spPr>
      </p:pic>
      <p:sp>
        <p:nvSpPr>
          <p:cNvPr id="16" name="Oval 15">
            <a:extLst>
              <a:ext uri="{FF2B5EF4-FFF2-40B4-BE49-F238E27FC236}">
                <a16:creationId xmlns:a16="http://schemas.microsoft.com/office/drawing/2014/main" id="{79C2BE2A-96B2-83D5-CA7F-283A5F54E455}"/>
              </a:ext>
            </a:extLst>
          </p:cNvPr>
          <p:cNvSpPr/>
          <p:nvPr/>
        </p:nvSpPr>
        <p:spPr>
          <a:xfrm>
            <a:off x="10476315" y="493117"/>
            <a:ext cx="1715685" cy="1715685"/>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a:t>
            </a:r>
            <a:br>
              <a:rPr lang="en-US" dirty="0"/>
            </a:br>
            <a:r>
              <a:rPr lang="en-US" dirty="0"/>
              <a:t>(Static)</a:t>
            </a:r>
            <a:br>
              <a:rPr lang="en-US" dirty="0"/>
            </a:br>
            <a:r>
              <a:rPr lang="en-US" dirty="0"/>
              <a:t>Static Graph</a:t>
            </a:r>
          </a:p>
        </p:txBody>
      </p:sp>
      <p:sp>
        <p:nvSpPr>
          <p:cNvPr id="12" name="TextBox 11">
            <a:extLst>
              <a:ext uri="{FF2B5EF4-FFF2-40B4-BE49-F238E27FC236}">
                <a16:creationId xmlns:a16="http://schemas.microsoft.com/office/drawing/2014/main" id="{30D83BF8-15D6-F5ED-FCD9-4CEA443DA815}"/>
              </a:ext>
            </a:extLst>
          </p:cNvPr>
          <p:cNvSpPr txBox="1"/>
          <p:nvPr/>
        </p:nvSpPr>
        <p:spPr>
          <a:xfrm>
            <a:off x="4868671" y="5288936"/>
            <a:ext cx="3108253" cy="923330"/>
          </a:xfrm>
          <a:prstGeom prst="rect">
            <a:avLst/>
          </a:prstGeom>
          <a:solidFill>
            <a:schemeClr val="accent1">
              <a:alpha val="12000"/>
            </a:schemeClr>
          </a:solidFill>
          <a:ln>
            <a:solidFill>
              <a:schemeClr val="accent1"/>
            </a:solidFill>
          </a:ln>
        </p:spPr>
        <p:txBody>
          <a:bodyPr wrap="square" rtlCol="0">
            <a:spAutoFit/>
          </a:bodyPr>
          <a:lstStyle/>
          <a:p>
            <a:pPr algn="ctr"/>
            <a:r>
              <a:rPr lang="en-US" dirty="0"/>
              <a:t>Common in-memory data-structures used</a:t>
            </a:r>
          </a:p>
          <a:p>
            <a:pPr algn="ctr"/>
            <a:r>
              <a:rPr lang="en-US" dirty="0"/>
              <a:t>to store the graph</a:t>
            </a:r>
          </a:p>
        </p:txBody>
      </p:sp>
      <p:sp>
        <p:nvSpPr>
          <p:cNvPr id="17" name="Rectangle 16">
            <a:extLst>
              <a:ext uri="{FF2B5EF4-FFF2-40B4-BE49-F238E27FC236}">
                <a16:creationId xmlns:a16="http://schemas.microsoft.com/office/drawing/2014/main" id="{6A0C10F0-B2A2-E01F-9B24-8406DB9063EE}"/>
              </a:ext>
            </a:extLst>
          </p:cNvPr>
          <p:cNvSpPr/>
          <p:nvPr/>
        </p:nvSpPr>
        <p:spPr>
          <a:xfrm>
            <a:off x="0" y="4643202"/>
            <a:ext cx="3926447" cy="1742608"/>
          </a:xfrm>
          <a:prstGeom prst="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04AAD30-8CE8-49E7-A676-7E7451C1CC82}"/>
              </a:ext>
            </a:extLst>
          </p:cNvPr>
          <p:cNvSpPr/>
          <p:nvPr/>
        </p:nvSpPr>
        <p:spPr>
          <a:xfrm>
            <a:off x="8919148" y="4643202"/>
            <a:ext cx="2714742" cy="2214798"/>
          </a:xfrm>
          <a:prstGeom prst="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a:extLst>
              <a:ext uri="{FF2B5EF4-FFF2-40B4-BE49-F238E27FC236}">
                <a16:creationId xmlns:a16="http://schemas.microsoft.com/office/drawing/2014/main" id="{43304FC2-61F5-0928-CE68-222D7ED40274}"/>
              </a:ext>
            </a:extLst>
          </p:cNvPr>
          <p:cNvSpPr/>
          <p:nvPr/>
        </p:nvSpPr>
        <p:spPr>
          <a:xfrm>
            <a:off x="7970665" y="4645843"/>
            <a:ext cx="949290" cy="2214158"/>
          </a:xfrm>
          <a:custGeom>
            <a:avLst/>
            <a:gdLst>
              <a:gd name="connsiteX0" fmla="*/ 0 w 1554127"/>
              <a:gd name="connsiteY0" fmla="*/ 1334125 h 1334125"/>
              <a:gd name="connsiteX1" fmla="*/ 333531 w 1554127"/>
              <a:gd name="connsiteY1" fmla="*/ 0 h 1334125"/>
              <a:gd name="connsiteX2" fmla="*/ 1220596 w 1554127"/>
              <a:gd name="connsiteY2" fmla="*/ 0 h 1334125"/>
              <a:gd name="connsiteX3" fmla="*/ 1554127 w 1554127"/>
              <a:gd name="connsiteY3" fmla="*/ 1334125 h 1334125"/>
              <a:gd name="connsiteX4" fmla="*/ 0 w 1554127"/>
              <a:gd name="connsiteY4" fmla="*/ 1334125 h 1334125"/>
              <a:gd name="connsiteX0" fmla="*/ 0 w 1554127"/>
              <a:gd name="connsiteY0" fmla="*/ 1334125 h 1334125"/>
              <a:gd name="connsiteX1" fmla="*/ 278265 w 1554127"/>
              <a:gd name="connsiteY1" fmla="*/ 5024 h 1334125"/>
              <a:gd name="connsiteX2" fmla="*/ 1220596 w 1554127"/>
              <a:gd name="connsiteY2" fmla="*/ 0 h 1334125"/>
              <a:gd name="connsiteX3" fmla="*/ 1554127 w 1554127"/>
              <a:gd name="connsiteY3" fmla="*/ 1334125 h 1334125"/>
              <a:gd name="connsiteX4" fmla="*/ 0 w 1554127"/>
              <a:gd name="connsiteY4" fmla="*/ 1334125 h 1334125"/>
              <a:gd name="connsiteX0" fmla="*/ 0 w 1282821"/>
              <a:gd name="connsiteY0" fmla="*/ 922143 h 1334125"/>
              <a:gd name="connsiteX1" fmla="*/ 6959 w 1282821"/>
              <a:gd name="connsiteY1" fmla="*/ 5024 h 1334125"/>
              <a:gd name="connsiteX2" fmla="*/ 949290 w 1282821"/>
              <a:gd name="connsiteY2" fmla="*/ 0 h 1334125"/>
              <a:gd name="connsiteX3" fmla="*/ 1282821 w 1282821"/>
              <a:gd name="connsiteY3" fmla="*/ 1334125 h 1334125"/>
              <a:gd name="connsiteX4" fmla="*/ 0 w 1282821"/>
              <a:gd name="connsiteY4" fmla="*/ 922143 h 1334125"/>
              <a:gd name="connsiteX0" fmla="*/ 0 w 1282821"/>
              <a:gd name="connsiteY0" fmla="*/ 1565237 h 1977219"/>
              <a:gd name="connsiteX1" fmla="*/ 6959 w 1282821"/>
              <a:gd name="connsiteY1" fmla="*/ 648118 h 1977219"/>
              <a:gd name="connsiteX2" fmla="*/ 949290 w 1282821"/>
              <a:gd name="connsiteY2" fmla="*/ 0 h 1977219"/>
              <a:gd name="connsiteX3" fmla="*/ 1282821 w 1282821"/>
              <a:gd name="connsiteY3" fmla="*/ 1977219 h 1977219"/>
              <a:gd name="connsiteX4" fmla="*/ 0 w 1282821"/>
              <a:gd name="connsiteY4" fmla="*/ 1565237 h 1977219"/>
              <a:gd name="connsiteX0" fmla="*/ 0 w 949290"/>
              <a:gd name="connsiteY0" fmla="*/ 1565237 h 2198283"/>
              <a:gd name="connsiteX1" fmla="*/ 6959 w 949290"/>
              <a:gd name="connsiteY1" fmla="*/ 648118 h 2198283"/>
              <a:gd name="connsiteX2" fmla="*/ 949290 w 949290"/>
              <a:gd name="connsiteY2" fmla="*/ 0 h 2198283"/>
              <a:gd name="connsiteX3" fmla="*/ 941177 w 949290"/>
              <a:gd name="connsiteY3" fmla="*/ 2198283 h 2198283"/>
              <a:gd name="connsiteX4" fmla="*/ 0 w 949290"/>
              <a:gd name="connsiteY4" fmla="*/ 1565237 h 2198283"/>
              <a:gd name="connsiteX0" fmla="*/ 0 w 949290"/>
              <a:gd name="connsiteY0" fmla="*/ 1565237 h 2214158"/>
              <a:gd name="connsiteX1" fmla="*/ 6959 w 949290"/>
              <a:gd name="connsiteY1" fmla="*/ 648118 h 2214158"/>
              <a:gd name="connsiteX2" fmla="*/ 949290 w 949290"/>
              <a:gd name="connsiteY2" fmla="*/ 0 h 2214158"/>
              <a:gd name="connsiteX3" fmla="*/ 947527 w 949290"/>
              <a:gd name="connsiteY3" fmla="*/ 2214158 h 2214158"/>
              <a:gd name="connsiteX4" fmla="*/ 0 w 949290"/>
              <a:gd name="connsiteY4" fmla="*/ 1565237 h 2214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290" h="2214158">
                <a:moveTo>
                  <a:pt x="0" y="1565237"/>
                </a:moveTo>
                <a:cubicBezTo>
                  <a:pt x="2320" y="1259531"/>
                  <a:pt x="4639" y="953824"/>
                  <a:pt x="6959" y="648118"/>
                </a:cubicBezTo>
                <a:lnTo>
                  <a:pt x="949290" y="0"/>
                </a:lnTo>
                <a:cubicBezTo>
                  <a:pt x="946586" y="732761"/>
                  <a:pt x="950231" y="1481397"/>
                  <a:pt x="947527" y="2214158"/>
                </a:cubicBezTo>
                <a:lnTo>
                  <a:pt x="0" y="1565237"/>
                </a:lnTo>
                <a:close/>
              </a:path>
            </a:pathLst>
          </a:custGeom>
          <a:solidFill>
            <a:schemeClr val="accent1">
              <a:alpha val="1196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apezoid 19">
            <a:extLst>
              <a:ext uri="{FF2B5EF4-FFF2-40B4-BE49-F238E27FC236}">
                <a16:creationId xmlns:a16="http://schemas.microsoft.com/office/drawing/2014/main" id="{E33519CC-E502-89FF-ECF7-36B0FADC7E7A}"/>
              </a:ext>
            </a:extLst>
          </p:cNvPr>
          <p:cNvSpPr/>
          <p:nvPr/>
        </p:nvSpPr>
        <p:spPr>
          <a:xfrm>
            <a:off x="3923469" y="4650454"/>
            <a:ext cx="948389" cy="1744882"/>
          </a:xfrm>
          <a:custGeom>
            <a:avLst/>
            <a:gdLst>
              <a:gd name="connsiteX0" fmla="*/ 0 w 797597"/>
              <a:gd name="connsiteY0" fmla="*/ 1037877 h 1037877"/>
              <a:gd name="connsiteX1" fmla="*/ 199399 w 797597"/>
              <a:gd name="connsiteY1" fmla="*/ 0 h 1037877"/>
              <a:gd name="connsiteX2" fmla="*/ 598198 w 797597"/>
              <a:gd name="connsiteY2" fmla="*/ 0 h 1037877"/>
              <a:gd name="connsiteX3" fmla="*/ 797597 w 797597"/>
              <a:gd name="connsiteY3" fmla="*/ 1037877 h 1037877"/>
              <a:gd name="connsiteX4" fmla="*/ 0 w 797597"/>
              <a:gd name="connsiteY4" fmla="*/ 1037877 h 1037877"/>
              <a:gd name="connsiteX0" fmla="*/ 7509 w 805106"/>
              <a:gd name="connsiteY0" fmla="*/ 1735357 h 1735357"/>
              <a:gd name="connsiteX1" fmla="*/ 0 w 805106"/>
              <a:gd name="connsiteY1" fmla="*/ 0 h 1735357"/>
              <a:gd name="connsiteX2" fmla="*/ 605707 w 805106"/>
              <a:gd name="connsiteY2" fmla="*/ 697480 h 1735357"/>
              <a:gd name="connsiteX3" fmla="*/ 805106 w 805106"/>
              <a:gd name="connsiteY3" fmla="*/ 1735357 h 1735357"/>
              <a:gd name="connsiteX4" fmla="*/ 7509 w 805106"/>
              <a:gd name="connsiteY4" fmla="*/ 1735357 h 1735357"/>
              <a:gd name="connsiteX0" fmla="*/ 7509 w 945269"/>
              <a:gd name="connsiteY0" fmla="*/ 1735357 h 1735357"/>
              <a:gd name="connsiteX1" fmla="*/ 0 w 945269"/>
              <a:gd name="connsiteY1" fmla="*/ 0 h 1735357"/>
              <a:gd name="connsiteX2" fmla="*/ 605707 w 945269"/>
              <a:gd name="connsiteY2" fmla="*/ 697480 h 1735357"/>
              <a:gd name="connsiteX3" fmla="*/ 945269 w 945269"/>
              <a:gd name="connsiteY3" fmla="*/ 1565158 h 1735357"/>
              <a:gd name="connsiteX4" fmla="*/ 7509 w 945269"/>
              <a:gd name="connsiteY4" fmla="*/ 1735357 h 1735357"/>
              <a:gd name="connsiteX0" fmla="*/ 7509 w 946104"/>
              <a:gd name="connsiteY0" fmla="*/ 1735357 h 1735357"/>
              <a:gd name="connsiteX1" fmla="*/ 0 w 946104"/>
              <a:gd name="connsiteY1" fmla="*/ 0 h 1735357"/>
              <a:gd name="connsiteX2" fmla="*/ 946104 w 946104"/>
              <a:gd name="connsiteY2" fmla="*/ 637410 h 1735357"/>
              <a:gd name="connsiteX3" fmla="*/ 945269 w 946104"/>
              <a:gd name="connsiteY3" fmla="*/ 1565158 h 1735357"/>
              <a:gd name="connsiteX4" fmla="*/ 7509 w 946104"/>
              <a:gd name="connsiteY4" fmla="*/ 1735357 h 1735357"/>
              <a:gd name="connsiteX0" fmla="*/ 4334 w 946104"/>
              <a:gd name="connsiteY0" fmla="*/ 1738532 h 1738532"/>
              <a:gd name="connsiteX1" fmla="*/ 0 w 946104"/>
              <a:gd name="connsiteY1" fmla="*/ 0 h 1738532"/>
              <a:gd name="connsiteX2" fmla="*/ 946104 w 946104"/>
              <a:gd name="connsiteY2" fmla="*/ 637410 h 1738532"/>
              <a:gd name="connsiteX3" fmla="*/ 945269 w 946104"/>
              <a:gd name="connsiteY3" fmla="*/ 1565158 h 1738532"/>
              <a:gd name="connsiteX4" fmla="*/ 4334 w 946104"/>
              <a:gd name="connsiteY4" fmla="*/ 1738532 h 1738532"/>
              <a:gd name="connsiteX0" fmla="*/ 269 w 948389"/>
              <a:gd name="connsiteY0" fmla="*/ 1744882 h 1744882"/>
              <a:gd name="connsiteX1" fmla="*/ 2285 w 948389"/>
              <a:gd name="connsiteY1" fmla="*/ 0 h 1744882"/>
              <a:gd name="connsiteX2" fmla="*/ 948389 w 948389"/>
              <a:gd name="connsiteY2" fmla="*/ 637410 h 1744882"/>
              <a:gd name="connsiteX3" fmla="*/ 947554 w 948389"/>
              <a:gd name="connsiteY3" fmla="*/ 1565158 h 1744882"/>
              <a:gd name="connsiteX4" fmla="*/ 269 w 948389"/>
              <a:gd name="connsiteY4" fmla="*/ 1744882 h 1744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389" h="1744882">
                <a:moveTo>
                  <a:pt x="269" y="1744882"/>
                </a:moveTo>
                <a:cubicBezTo>
                  <a:pt x="-1176" y="1165371"/>
                  <a:pt x="3730" y="579511"/>
                  <a:pt x="2285" y="0"/>
                </a:cubicBezTo>
                <a:lnTo>
                  <a:pt x="948389" y="637410"/>
                </a:lnTo>
                <a:cubicBezTo>
                  <a:pt x="948111" y="946659"/>
                  <a:pt x="947832" y="1255909"/>
                  <a:pt x="947554" y="1565158"/>
                </a:cubicBezTo>
                <a:lnTo>
                  <a:pt x="269" y="1744882"/>
                </a:lnTo>
                <a:close/>
              </a:path>
            </a:pathLst>
          </a:cu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10079B5-5B85-BB2C-ECC1-59EFEA24629D}"/>
              </a:ext>
            </a:extLst>
          </p:cNvPr>
          <p:cNvSpPr>
            <a:spLocks noGrp="1"/>
          </p:cNvSpPr>
          <p:nvPr>
            <p:ph type="sldNum" sz="quarter" idx="12"/>
          </p:nvPr>
        </p:nvSpPr>
        <p:spPr/>
        <p:txBody>
          <a:bodyPr/>
          <a:lstStyle/>
          <a:p>
            <a:fld id="{0FA4238C-0B31-2640-B0B6-C8A5E6F89A2A}" type="slidenum">
              <a:rPr lang="en-US" smtClean="0"/>
              <a:t>12</a:t>
            </a:fld>
            <a:endParaRPr lang="en-US"/>
          </a:p>
        </p:txBody>
      </p:sp>
    </p:spTree>
    <p:extLst>
      <p:ext uri="{BB962C8B-B14F-4D97-AF65-F5344CB8AC3E}">
        <p14:creationId xmlns:p14="http://schemas.microsoft.com/office/powerpoint/2010/main" val="1814718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FF0E6BDD-85E4-4B3E-EF91-ED548BB4947F}"/>
              </a:ext>
            </a:extLst>
          </p:cNvPr>
          <p:cNvPicPr>
            <a:picLocks noChangeAspect="1"/>
          </p:cNvPicPr>
          <p:nvPr/>
        </p:nvPicPr>
        <p:blipFill>
          <a:blip r:embed="rId3"/>
          <a:stretch>
            <a:fillRect/>
          </a:stretch>
        </p:blipFill>
        <p:spPr>
          <a:xfrm>
            <a:off x="6553200" y="156350"/>
            <a:ext cx="5638800" cy="4191000"/>
          </a:xfrm>
          <a:prstGeom prst="rect">
            <a:avLst/>
          </a:prstGeom>
        </p:spPr>
      </p:pic>
      <p:pic>
        <p:nvPicPr>
          <p:cNvPr id="41" name="Picture 40">
            <a:extLst>
              <a:ext uri="{FF2B5EF4-FFF2-40B4-BE49-F238E27FC236}">
                <a16:creationId xmlns:a16="http://schemas.microsoft.com/office/drawing/2014/main" id="{BA6A6D4B-3377-BFD8-C57E-DB0D144242F8}"/>
              </a:ext>
            </a:extLst>
          </p:cNvPr>
          <p:cNvPicPr>
            <a:picLocks noChangeAspect="1"/>
          </p:cNvPicPr>
          <p:nvPr/>
        </p:nvPicPr>
        <p:blipFill>
          <a:blip r:embed="rId4"/>
          <a:stretch>
            <a:fillRect/>
          </a:stretch>
        </p:blipFill>
        <p:spPr>
          <a:xfrm>
            <a:off x="317500" y="0"/>
            <a:ext cx="3835400" cy="3873500"/>
          </a:xfrm>
          <a:prstGeom prst="rect">
            <a:avLst/>
          </a:prstGeom>
        </p:spPr>
      </p:pic>
      <p:grpSp>
        <p:nvGrpSpPr>
          <p:cNvPr id="151" name="Group 150">
            <a:extLst>
              <a:ext uri="{FF2B5EF4-FFF2-40B4-BE49-F238E27FC236}">
                <a16:creationId xmlns:a16="http://schemas.microsoft.com/office/drawing/2014/main" id="{A659D7E8-2129-8734-4D76-2D462C688A15}"/>
              </a:ext>
            </a:extLst>
          </p:cNvPr>
          <p:cNvGrpSpPr/>
          <p:nvPr/>
        </p:nvGrpSpPr>
        <p:grpSpPr>
          <a:xfrm>
            <a:off x="662828" y="5187647"/>
            <a:ext cx="3594100" cy="1193800"/>
            <a:chOff x="1193800" y="4914900"/>
            <a:chExt cx="3594100" cy="1193800"/>
          </a:xfrm>
        </p:grpSpPr>
        <p:sp>
          <p:nvSpPr>
            <p:cNvPr id="42" name="Rectangle 41">
              <a:extLst>
                <a:ext uri="{FF2B5EF4-FFF2-40B4-BE49-F238E27FC236}">
                  <a16:creationId xmlns:a16="http://schemas.microsoft.com/office/drawing/2014/main" id="{3A59D55D-9E39-AD81-24EA-6B5C08FEC192}"/>
                </a:ext>
              </a:extLst>
            </p:cNvPr>
            <p:cNvSpPr/>
            <p:nvPr/>
          </p:nvSpPr>
          <p:spPr>
            <a:xfrm>
              <a:off x="1955800" y="4914900"/>
              <a:ext cx="355600" cy="355600"/>
            </a:xfrm>
            <a:prstGeom prst="rect">
              <a:avLst/>
            </a:prstGeom>
            <a:solidFill>
              <a:srgbClr val="DCEF9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9F6ED7E-7B1D-9970-D16D-226B34DAB128}"/>
                </a:ext>
              </a:extLst>
            </p:cNvPr>
            <p:cNvSpPr/>
            <p:nvPr/>
          </p:nvSpPr>
          <p:spPr>
            <a:xfrm>
              <a:off x="2324100" y="4914900"/>
              <a:ext cx="355600" cy="355600"/>
            </a:xfrm>
            <a:prstGeom prst="rect">
              <a:avLst/>
            </a:prstGeom>
            <a:solidFill>
              <a:srgbClr val="9ADCE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B61B6A1-4204-D20B-D454-1CDD3ED2C3EB}"/>
                </a:ext>
              </a:extLst>
            </p:cNvPr>
            <p:cNvSpPr/>
            <p:nvPr/>
          </p:nvSpPr>
          <p:spPr>
            <a:xfrm>
              <a:off x="2692400" y="4914900"/>
              <a:ext cx="355600" cy="355600"/>
            </a:xfrm>
            <a:prstGeom prst="rect">
              <a:avLst/>
            </a:prstGeom>
            <a:solidFill>
              <a:srgbClr val="EF9AD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7537F1E-75E2-EEE1-CD59-3890A50A71BE}"/>
                </a:ext>
              </a:extLst>
            </p:cNvPr>
            <p:cNvSpPr/>
            <p:nvPr/>
          </p:nvSpPr>
          <p:spPr>
            <a:xfrm>
              <a:off x="3048000" y="4914900"/>
              <a:ext cx="355600" cy="355600"/>
            </a:xfrm>
            <a:prstGeom prst="rect">
              <a:avLst/>
            </a:prstGeom>
            <a:solidFill>
              <a:srgbClr val="FDDA0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B0169B84-AF48-5BCC-9695-F0612656125F}"/>
                </a:ext>
              </a:extLst>
            </p:cNvPr>
            <p:cNvSpPr/>
            <p:nvPr/>
          </p:nvSpPr>
          <p:spPr>
            <a:xfrm>
              <a:off x="1193800" y="5753100"/>
              <a:ext cx="355600" cy="355600"/>
            </a:xfrm>
            <a:prstGeom prst="rect">
              <a:avLst/>
            </a:prstGeom>
            <a:solidFill>
              <a:srgbClr val="BACB8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45E8314-5B52-6F02-2070-977E2FD2C058}"/>
                </a:ext>
              </a:extLst>
            </p:cNvPr>
            <p:cNvSpPr/>
            <p:nvPr/>
          </p:nvSpPr>
          <p:spPr>
            <a:xfrm>
              <a:off x="1562100" y="5753100"/>
              <a:ext cx="355600" cy="355600"/>
            </a:xfrm>
            <a:prstGeom prst="rect">
              <a:avLst/>
            </a:prstGeom>
            <a:solidFill>
              <a:srgbClr val="BACB8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7AEF970-E6AC-C103-84B9-BB186C4E8235}"/>
                </a:ext>
              </a:extLst>
            </p:cNvPr>
            <p:cNvSpPr/>
            <p:nvPr/>
          </p:nvSpPr>
          <p:spPr>
            <a:xfrm>
              <a:off x="19304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0777ACE-D898-2500-9130-415958C42CEF}"/>
                </a:ext>
              </a:extLst>
            </p:cNvPr>
            <p:cNvSpPr/>
            <p:nvPr/>
          </p:nvSpPr>
          <p:spPr>
            <a:xfrm>
              <a:off x="22860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70C183C-52B3-E616-C4D5-67CF3C41A53F}"/>
                </a:ext>
              </a:extLst>
            </p:cNvPr>
            <p:cNvSpPr/>
            <p:nvPr/>
          </p:nvSpPr>
          <p:spPr>
            <a:xfrm>
              <a:off x="26416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438F241-8C40-F291-BE79-38E4EF06A2A4}"/>
                </a:ext>
              </a:extLst>
            </p:cNvPr>
            <p:cNvSpPr/>
            <p:nvPr/>
          </p:nvSpPr>
          <p:spPr>
            <a:xfrm>
              <a:off x="29845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E2DF24A-B5A0-E245-15A3-EFCC8EAF66DF}"/>
                </a:ext>
              </a:extLst>
            </p:cNvPr>
            <p:cNvSpPr/>
            <p:nvPr/>
          </p:nvSpPr>
          <p:spPr>
            <a:xfrm>
              <a:off x="3352800" y="5753100"/>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EC6390B5-A6B1-CD59-5C73-C95EB3D1CECA}"/>
                </a:ext>
              </a:extLst>
            </p:cNvPr>
            <p:cNvSpPr/>
            <p:nvPr/>
          </p:nvSpPr>
          <p:spPr>
            <a:xfrm>
              <a:off x="3721100" y="5753100"/>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5AD393C-891B-2079-56D2-56069822C2D9}"/>
                </a:ext>
              </a:extLst>
            </p:cNvPr>
            <p:cNvSpPr/>
            <p:nvPr/>
          </p:nvSpPr>
          <p:spPr>
            <a:xfrm>
              <a:off x="4076700" y="5753100"/>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CAF59AB1-2F71-FBBB-6402-3B5CCA115D1F}"/>
                </a:ext>
              </a:extLst>
            </p:cNvPr>
            <p:cNvSpPr/>
            <p:nvPr/>
          </p:nvSpPr>
          <p:spPr>
            <a:xfrm>
              <a:off x="4432300" y="5753100"/>
              <a:ext cx="355600" cy="355600"/>
            </a:xfrm>
            <a:prstGeom prst="rect">
              <a:avLst/>
            </a:prstGeom>
            <a:solidFill>
              <a:srgbClr val="EBCA0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3E3FC3FF-6488-7235-0BFE-264092F2DBDA}"/>
                </a:ext>
              </a:extLst>
            </p:cNvPr>
            <p:cNvCxnSpPr>
              <a:cxnSpLocks/>
              <a:stCxn id="42" idx="2"/>
            </p:cNvCxnSpPr>
            <p:nvPr/>
          </p:nvCxnSpPr>
          <p:spPr>
            <a:xfrm flipH="1">
              <a:off x="1193800" y="5270500"/>
              <a:ext cx="939800" cy="48260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6C6426B-AACC-CA5C-D6C3-8936C06B74CB}"/>
                </a:ext>
              </a:extLst>
            </p:cNvPr>
            <p:cNvCxnSpPr>
              <a:cxnSpLocks/>
              <a:stCxn id="43" idx="2"/>
            </p:cNvCxnSpPr>
            <p:nvPr/>
          </p:nvCxnSpPr>
          <p:spPr>
            <a:xfrm flipH="1">
              <a:off x="1930400" y="5270500"/>
              <a:ext cx="571500" cy="48260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13123EAB-0455-A406-A53F-1B43DDF1DA7A}"/>
                </a:ext>
              </a:extLst>
            </p:cNvPr>
            <p:cNvCxnSpPr>
              <a:cxnSpLocks/>
              <a:stCxn id="44" idx="2"/>
            </p:cNvCxnSpPr>
            <p:nvPr/>
          </p:nvCxnSpPr>
          <p:spPr>
            <a:xfrm>
              <a:off x="2870200" y="5270500"/>
              <a:ext cx="482600" cy="48260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57D0B634-1C77-7F42-D4A8-FD8A4EEAE9AB}"/>
                </a:ext>
              </a:extLst>
            </p:cNvPr>
            <p:cNvCxnSpPr>
              <a:cxnSpLocks/>
              <a:stCxn id="45" idx="2"/>
            </p:cNvCxnSpPr>
            <p:nvPr/>
          </p:nvCxnSpPr>
          <p:spPr>
            <a:xfrm>
              <a:off x="3225800" y="5270500"/>
              <a:ext cx="1206500" cy="48260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6" name="TextBox 75">
            <a:extLst>
              <a:ext uri="{FF2B5EF4-FFF2-40B4-BE49-F238E27FC236}">
                <a16:creationId xmlns:a16="http://schemas.microsoft.com/office/drawing/2014/main" id="{1925E68C-0F1E-2E3F-861E-D7B5FCB3B793}"/>
              </a:ext>
            </a:extLst>
          </p:cNvPr>
          <p:cNvSpPr txBox="1"/>
          <p:nvPr/>
        </p:nvSpPr>
        <p:spPr>
          <a:xfrm>
            <a:off x="1735152" y="6435076"/>
            <a:ext cx="1152303" cy="400110"/>
          </a:xfrm>
          <a:prstGeom prst="rect">
            <a:avLst/>
          </a:prstGeom>
          <a:noFill/>
        </p:spPr>
        <p:txBody>
          <a:bodyPr wrap="none" rtlCol="0">
            <a:spAutoFit/>
          </a:bodyPr>
          <a:lstStyle/>
          <a:p>
            <a:r>
              <a:rPr lang="en-US" sz="2000" b="1" dirty="0"/>
              <a:t>CSR - like</a:t>
            </a:r>
          </a:p>
        </p:txBody>
      </p:sp>
      <p:grpSp>
        <p:nvGrpSpPr>
          <p:cNvPr id="119" name="Group 118">
            <a:extLst>
              <a:ext uri="{FF2B5EF4-FFF2-40B4-BE49-F238E27FC236}">
                <a16:creationId xmlns:a16="http://schemas.microsoft.com/office/drawing/2014/main" id="{E92E18B7-3323-B5FE-8A9E-736B8DB777D3}"/>
              </a:ext>
            </a:extLst>
          </p:cNvPr>
          <p:cNvGrpSpPr/>
          <p:nvPr/>
        </p:nvGrpSpPr>
        <p:grpSpPr>
          <a:xfrm>
            <a:off x="5193506" y="4654248"/>
            <a:ext cx="2184399" cy="1661209"/>
            <a:chOff x="5511801" y="5040441"/>
            <a:chExt cx="2184399" cy="1661209"/>
          </a:xfrm>
        </p:grpSpPr>
        <p:grpSp>
          <p:nvGrpSpPr>
            <p:cNvPr id="104" name="Group 103">
              <a:extLst>
                <a:ext uri="{FF2B5EF4-FFF2-40B4-BE49-F238E27FC236}">
                  <a16:creationId xmlns:a16="http://schemas.microsoft.com/office/drawing/2014/main" id="{B260ABFA-29E4-F95F-66DD-6CC3B780E19E}"/>
                </a:ext>
              </a:extLst>
            </p:cNvPr>
            <p:cNvGrpSpPr/>
            <p:nvPr/>
          </p:nvGrpSpPr>
          <p:grpSpPr>
            <a:xfrm rot="16200000">
              <a:off x="4965701" y="5586541"/>
              <a:ext cx="1447800" cy="355600"/>
              <a:chOff x="5575300" y="4737100"/>
              <a:chExt cx="1447800" cy="355600"/>
            </a:xfrm>
          </p:grpSpPr>
          <p:sp>
            <p:nvSpPr>
              <p:cNvPr id="83" name="Rectangle 82">
                <a:extLst>
                  <a:ext uri="{FF2B5EF4-FFF2-40B4-BE49-F238E27FC236}">
                    <a16:creationId xmlns:a16="http://schemas.microsoft.com/office/drawing/2014/main" id="{64772887-EC48-43D4-C374-F66A65E26C52}"/>
                  </a:ext>
                </a:extLst>
              </p:cNvPr>
              <p:cNvSpPr/>
              <p:nvPr/>
            </p:nvSpPr>
            <p:spPr>
              <a:xfrm>
                <a:off x="5575300" y="4737100"/>
                <a:ext cx="355600" cy="355600"/>
              </a:xfrm>
              <a:prstGeom prst="rect">
                <a:avLst/>
              </a:prstGeom>
              <a:solidFill>
                <a:srgbClr val="DCEF9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89D3A335-CF1F-E299-5925-201CBA3FF31E}"/>
                  </a:ext>
                </a:extLst>
              </p:cNvPr>
              <p:cNvSpPr/>
              <p:nvPr/>
            </p:nvSpPr>
            <p:spPr>
              <a:xfrm>
                <a:off x="5943600" y="4737100"/>
                <a:ext cx="355600" cy="355600"/>
              </a:xfrm>
              <a:prstGeom prst="rect">
                <a:avLst/>
              </a:prstGeom>
              <a:solidFill>
                <a:srgbClr val="9ADCE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76E1F356-BC84-D443-FE84-7B785AE86AD7}"/>
                  </a:ext>
                </a:extLst>
              </p:cNvPr>
              <p:cNvSpPr/>
              <p:nvPr/>
            </p:nvSpPr>
            <p:spPr>
              <a:xfrm>
                <a:off x="6311900" y="4737100"/>
                <a:ext cx="355600" cy="355600"/>
              </a:xfrm>
              <a:prstGeom prst="rect">
                <a:avLst/>
              </a:prstGeom>
              <a:solidFill>
                <a:srgbClr val="EF9AD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036F8D6C-C1F3-CBC5-3EE5-A8DFA76175AB}"/>
                  </a:ext>
                </a:extLst>
              </p:cNvPr>
              <p:cNvSpPr/>
              <p:nvPr/>
            </p:nvSpPr>
            <p:spPr>
              <a:xfrm>
                <a:off x="6667500" y="4737100"/>
                <a:ext cx="355600" cy="355600"/>
              </a:xfrm>
              <a:prstGeom prst="rect">
                <a:avLst/>
              </a:prstGeom>
              <a:solidFill>
                <a:srgbClr val="FDDA0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FF485201-38EA-1452-3268-AAAE37DE8AC7}"/>
                </a:ext>
              </a:extLst>
            </p:cNvPr>
            <p:cNvGrpSpPr/>
            <p:nvPr/>
          </p:nvGrpSpPr>
          <p:grpSpPr>
            <a:xfrm>
              <a:off x="6286500" y="6346050"/>
              <a:ext cx="723900" cy="355600"/>
              <a:chOff x="6286500" y="6346050"/>
              <a:chExt cx="723900" cy="355600"/>
            </a:xfrm>
          </p:grpSpPr>
          <p:sp>
            <p:nvSpPr>
              <p:cNvPr id="87" name="Rectangle 86">
                <a:extLst>
                  <a:ext uri="{FF2B5EF4-FFF2-40B4-BE49-F238E27FC236}">
                    <a16:creationId xmlns:a16="http://schemas.microsoft.com/office/drawing/2014/main" id="{242D3B7C-B722-D6C4-AD16-49F4D66D66D6}"/>
                  </a:ext>
                </a:extLst>
              </p:cNvPr>
              <p:cNvSpPr/>
              <p:nvPr/>
            </p:nvSpPr>
            <p:spPr>
              <a:xfrm>
                <a:off x="6286500" y="6346050"/>
                <a:ext cx="355600" cy="355600"/>
              </a:xfrm>
              <a:prstGeom prst="rect">
                <a:avLst/>
              </a:prstGeom>
              <a:solidFill>
                <a:srgbClr val="BACB8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459301A-6DF9-B92C-3A2A-F9D8FB6E6B76}"/>
                  </a:ext>
                </a:extLst>
              </p:cNvPr>
              <p:cNvSpPr/>
              <p:nvPr/>
            </p:nvSpPr>
            <p:spPr>
              <a:xfrm>
                <a:off x="6654800" y="6346050"/>
                <a:ext cx="355600" cy="355600"/>
              </a:xfrm>
              <a:prstGeom prst="rect">
                <a:avLst/>
              </a:prstGeom>
              <a:solidFill>
                <a:srgbClr val="BACB8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B34D1B69-16C0-1C43-3442-4626625E6A8F}"/>
                </a:ext>
              </a:extLst>
            </p:cNvPr>
            <p:cNvGrpSpPr/>
            <p:nvPr/>
          </p:nvGrpSpPr>
          <p:grpSpPr>
            <a:xfrm>
              <a:off x="6286500" y="5917168"/>
              <a:ext cx="1409700" cy="355600"/>
              <a:chOff x="6299200" y="5753100"/>
              <a:chExt cx="1409700" cy="355600"/>
            </a:xfrm>
          </p:grpSpPr>
          <p:sp>
            <p:nvSpPr>
              <p:cNvPr id="89" name="Rectangle 88">
                <a:extLst>
                  <a:ext uri="{FF2B5EF4-FFF2-40B4-BE49-F238E27FC236}">
                    <a16:creationId xmlns:a16="http://schemas.microsoft.com/office/drawing/2014/main" id="{2724B613-5248-B2C1-6739-6238B61FDCD2}"/>
                  </a:ext>
                </a:extLst>
              </p:cNvPr>
              <p:cNvSpPr/>
              <p:nvPr/>
            </p:nvSpPr>
            <p:spPr>
              <a:xfrm>
                <a:off x="62992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28C5180-A18E-D3E9-6693-44E2BD360A77}"/>
                  </a:ext>
                </a:extLst>
              </p:cNvPr>
              <p:cNvSpPr/>
              <p:nvPr/>
            </p:nvSpPr>
            <p:spPr>
              <a:xfrm>
                <a:off x="66548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DE08B51E-CE73-7D98-0512-7C7ED96F232E}"/>
                  </a:ext>
                </a:extLst>
              </p:cNvPr>
              <p:cNvSpPr/>
              <p:nvPr/>
            </p:nvSpPr>
            <p:spPr>
              <a:xfrm>
                <a:off x="70104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C74593EB-8533-9E2D-0C5F-42C508ABE476}"/>
                  </a:ext>
                </a:extLst>
              </p:cNvPr>
              <p:cNvSpPr/>
              <p:nvPr/>
            </p:nvSpPr>
            <p:spPr>
              <a:xfrm>
                <a:off x="7353300" y="5753100"/>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F8CD310E-0D54-EEC6-203D-547CA08406EB}"/>
                </a:ext>
              </a:extLst>
            </p:cNvPr>
            <p:cNvGrpSpPr/>
            <p:nvPr/>
          </p:nvGrpSpPr>
          <p:grpSpPr>
            <a:xfrm>
              <a:off x="6286500" y="5488286"/>
              <a:ext cx="1079500" cy="355600"/>
              <a:chOff x="7696200" y="5232400"/>
              <a:chExt cx="1079500" cy="355600"/>
            </a:xfrm>
          </p:grpSpPr>
          <p:sp>
            <p:nvSpPr>
              <p:cNvPr id="93" name="Rectangle 92">
                <a:extLst>
                  <a:ext uri="{FF2B5EF4-FFF2-40B4-BE49-F238E27FC236}">
                    <a16:creationId xmlns:a16="http://schemas.microsoft.com/office/drawing/2014/main" id="{219EFD11-7757-4EA8-3774-D3F42EF42356}"/>
                  </a:ext>
                </a:extLst>
              </p:cNvPr>
              <p:cNvSpPr/>
              <p:nvPr/>
            </p:nvSpPr>
            <p:spPr>
              <a:xfrm>
                <a:off x="7696200" y="5232400"/>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56AD786C-0F21-046C-C733-1DC14EA46CB4}"/>
                  </a:ext>
                </a:extLst>
              </p:cNvPr>
              <p:cNvSpPr/>
              <p:nvPr/>
            </p:nvSpPr>
            <p:spPr>
              <a:xfrm>
                <a:off x="8064500" y="5232400"/>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775E93B1-459C-D626-51D6-F98FBF2A650C}"/>
                  </a:ext>
                </a:extLst>
              </p:cNvPr>
              <p:cNvSpPr/>
              <p:nvPr/>
            </p:nvSpPr>
            <p:spPr>
              <a:xfrm>
                <a:off x="8420100" y="5232400"/>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6" name="Rectangle 95">
              <a:extLst>
                <a:ext uri="{FF2B5EF4-FFF2-40B4-BE49-F238E27FC236}">
                  <a16:creationId xmlns:a16="http://schemas.microsoft.com/office/drawing/2014/main" id="{60186286-59EE-C755-FA72-8BA96746FCB2}"/>
                </a:ext>
              </a:extLst>
            </p:cNvPr>
            <p:cNvSpPr/>
            <p:nvPr/>
          </p:nvSpPr>
          <p:spPr>
            <a:xfrm>
              <a:off x="6299200" y="5040441"/>
              <a:ext cx="355600" cy="355600"/>
            </a:xfrm>
            <a:prstGeom prst="rect">
              <a:avLst/>
            </a:prstGeom>
            <a:solidFill>
              <a:srgbClr val="EBCA0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 name="Straight Arrow Connector 105">
              <a:extLst>
                <a:ext uri="{FF2B5EF4-FFF2-40B4-BE49-F238E27FC236}">
                  <a16:creationId xmlns:a16="http://schemas.microsoft.com/office/drawing/2014/main" id="{7669ADE8-82A9-D3D0-B6C7-7ED7D99FC2CC}"/>
                </a:ext>
              </a:extLst>
            </p:cNvPr>
            <p:cNvCxnSpPr>
              <a:stCxn id="86" idx="2"/>
              <a:endCxn id="96" idx="1"/>
            </p:cNvCxnSpPr>
            <p:nvPr/>
          </p:nvCxnSpPr>
          <p:spPr>
            <a:xfrm>
              <a:off x="5867401" y="5218241"/>
              <a:ext cx="431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Elbow Connector 113">
              <a:extLst>
                <a:ext uri="{FF2B5EF4-FFF2-40B4-BE49-F238E27FC236}">
                  <a16:creationId xmlns:a16="http://schemas.microsoft.com/office/drawing/2014/main" id="{FB4B55E2-4B53-3606-57BE-1E5B2BA7B231}"/>
                </a:ext>
              </a:extLst>
            </p:cNvPr>
            <p:cNvCxnSpPr>
              <a:stCxn id="83" idx="2"/>
              <a:endCxn id="87" idx="1"/>
            </p:cNvCxnSpPr>
            <p:nvPr/>
          </p:nvCxnSpPr>
          <p:spPr>
            <a:xfrm>
              <a:off x="5867401" y="6310441"/>
              <a:ext cx="419099" cy="21340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Elbow Connector 115">
              <a:extLst>
                <a:ext uri="{FF2B5EF4-FFF2-40B4-BE49-F238E27FC236}">
                  <a16:creationId xmlns:a16="http://schemas.microsoft.com/office/drawing/2014/main" id="{17CC75EB-0648-5504-9FAE-FAA32929A4C2}"/>
                </a:ext>
              </a:extLst>
            </p:cNvPr>
            <p:cNvCxnSpPr>
              <a:stCxn id="84" idx="2"/>
              <a:endCxn id="89" idx="1"/>
            </p:cNvCxnSpPr>
            <p:nvPr/>
          </p:nvCxnSpPr>
          <p:spPr>
            <a:xfrm>
              <a:off x="5867401" y="5942141"/>
              <a:ext cx="419099" cy="15282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Elbow Connector 117">
              <a:extLst>
                <a:ext uri="{FF2B5EF4-FFF2-40B4-BE49-F238E27FC236}">
                  <a16:creationId xmlns:a16="http://schemas.microsoft.com/office/drawing/2014/main" id="{FD4D86B6-E04B-4A6F-54D3-17E514B367C9}"/>
                </a:ext>
              </a:extLst>
            </p:cNvPr>
            <p:cNvCxnSpPr>
              <a:stCxn id="85" idx="2"/>
              <a:endCxn id="93" idx="1"/>
            </p:cNvCxnSpPr>
            <p:nvPr/>
          </p:nvCxnSpPr>
          <p:spPr>
            <a:xfrm>
              <a:off x="5867401" y="5573841"/>
              <a:ext cx="419099" cy="9224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20" name="TextBox 119">
            <a:extLst>
              <a:ext uri="{FF2B5EF4-FFF2-40B4-BE49-F238E27FC236}">
                <a16:creationId xmlns:a16="http://schemas.microsoft.com/office/drawing/2014/main" id="{D1169DB5-F63D-2804-F1FE-B6E362D1B295}"/>
              </a:ext>
            </a:extLst>
          </p:cNvPr>
          <p:cNvSpPr txBox="1"/>
          <p:nvPr/>
        </p:nvSpPr>
        <p:spPr>
          <a:xfrm>
            <a:off x="5355745" y="6440483"/>
            <a:ext cx="2257093" cy="400110"/>
          </a:xfrm>
          <a:prstGeom prst="rect">
            <a:avLst/>
          </a:prstGeom>
          <a:noFill/>
        </p:spPr>
        <p:txBody>
          <a:bodyPr wrap="none" rtlCol="0">
            <a:spAutoFit/>
          </a:bodyPr>
          <a:lstStyle/>
          <a:p>
            <a:r>
              <a:rPr lang="en-US" sz="2000" b="1" dirty="0"/>
              <a:t>Adjacency List - like</a:t>
            </a:r>
          </a:p>
        </p:txBody>
      </p:sp>
      <p:grpSp>
        <p:nvGrpSpPr>
          <p:cNvPr id="152" name="Group 151">
            <a:extLst>
              <a:ext uri="{FF2B5EF4-FFF2-40B4-BE49-F238E27FC236}">
                <a16:creationId xmlns:a16="http://schemas.microsoft.com/office/drawing/2014/main" id="{0947C19C-8DA3-3178-106C-5A54D7D14E85}"/>
              </a:ext>
            </a:extLst>
          </p:cNvPr>
          <p:cNvGrpSpPr/>
          <p:nvPr/>
        </p:nvGrpSpPr>
        <p:grpSpPr>
          <a:xfrm>
            <a:off x="7898604" y="4671840"/>
            <a:ext cx="3944151" cy="1625600"/>
            <a:chOff x="8120849" y="4681195"/>
            <a:chExt cx="3944151" cy="1625600"/>
          </a:xfrm>
        </p:grpSpPr>
        <p:sp>
          <p:nvSpPr>
            <p:cNvPr id="123" name="Rectangle 122">
              <a:extLst>
                <a:ext uri="{FF2B5EF4-FFF2-40B4-BE49-F238E27FC236}">
                  <a16:creationId xmlns:a16="http://schemas.microsoft.com/office/drawing/2014/main" id="{C1548A0D-5B29-6964-CFD7-BF3BF55D211B}"/>
                </a:ext>
              </a:extLst>
            </p:cNvPr>
            <p:cNvSpPr>
              <a:spLocks/>
            </p:cNvSpPr>
            <p:nvPr/>
          </p:nvSpPr>
          <p:spPr>
            <a:xfrm>
              <a:off x="9042399" y="5221389"/>
              <a:ext cx="712800" cy="356400"/>
            </a:xfrm>
            <a:prstGeom prst="rect">
              <a:avLst/>
            </a:prstGeom>
            <a:solidFill>
              <a:srgbClr val="AAD4B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860D0041-49D6-AD8F-A48D-6A15FE9C1412}"/>
                </a:ext>
              </a:extLst>
            </p:cNvPr>
            <p:cNvSpPr/>
            <p:nvPr/>
          </p:nvSpPr>
          <p:spPr>
            <a:xfrm>
              <a:off x="10731500" y="5197217"/>
              <a:ext cx="712800" cy="355600"/>
            </a:xfrm>
            <a:prstGeom prst="rect">
              <a:avLst/>
            </a:prstGeom>
            <a:solidFill>
              <a:srgbClr val="E3AC6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E585C303-EC03-DE69-AEEE-7CE795C071D9}"/>
                </a:ext>
              </a:extLst>
            </p:cNvPr>
            <p:cNvSpPr/>
            <p:nvPr/>
          </p:nvSpPr>
          <p:spPr>
            <a:xfrm>
              <a:off x="10083800" y="4681195"/>
              <a:ext cx="712800" cy="355600"/>
            </a:xfrm>
            <a:prstGeom prst="rect">
              <a:avLst/>
            </a:prstGeom>
            <a:solidFill>
              <a:srgbClr val="C7C09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0989963A-9144-2E8D-625E-0FD51192FAC2}"/>
                </a:ext>
              </a:extLst>
            </p:cNvPr>
            <p:cNvSpPr/>
            <p:nvPr/>
          </p:nvSpPr>
          <p:spPr>
            <a:xfrm>
              <a:off x="10629900" y="5951195"/>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183BDF2-1070-030C-EDDC-64492850141A}"/>
                </a:ext>
              </a:extLst>
            </p:cNvPr>
            <p:cNvSpPr/>
            <p:nvPr/>
          </p:nvSpPr>
          <p:spPr>
            <a:xfrm>
              <a:off x="10998200" y="5951195"/>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A3551449-3901-E5C8-EFEA-EAE15E198320}"/>
                </a:ext>
              </a:extLst>
            </p:cNvPr>
            <p:cNvSpPr/>
            <p:nvPr/>
          </p:nvSpPr>
          <p:spPr>
            <a:xfrm>
              <a:off x="11353800" y="5951195"/>
              <a:ext cx="355600" cy="355600"/>
            </a:xfrm>
            <a:prstGeom prst="rect">
              <a:avLst/>
            </a:prstGeom>
            <a:solidFill>
              <a:srgbClr val="DB8E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6C8FD168-46FA-3535-D7A9-214A5F7E69F5}"/>
                </a:ext>
              </a:extLst>
            </p:cNvPr>
            <p:cNvSpPr/>
            <p:nvPr/>
          </p:nvSpPr>
          <p:spPr>
            <a:xfrm>
              <a:off x="11709400" y="5951195"/>
              <a:ext cx="355600" cy="355600"/>
            </a:xfrm>
            <a:prstGeom prst="rect">
              <a:avLst/>
            </a:prstGeom>
            <a:solidFill>
              <a:srgbClr val="EBCA0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1085C708-D249-5F94-5D03-0307F678C64C}"/>
                </a:ext>
              </a:extLst>
            </p:cNvPr>
            <p:cNvSpPr/>
            <p:nvPr/>
          </p:nvSpPr>
          <p:spPr>
            <a:xfrm>
              <a:off x="8127999" y="5938922"/>
              <a:ext cx="355600" cy="355600"/>
            </a:xfrm>
            <a:prstGeom prst="rect">
              <a:avLst/>
            </a:prstGeom>
            <a:solidFill>
              <a:srgbClr val="BACB8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83D09D4-01E5-7489-0751-3BF11F113590}"/>
                </a:ext>
              </a:extLst>
            </p:cNvPr>
            <p:cNvSpPr/>
            <p:nvPr/>
          </p:nvSpPr>
          <p:spPr>
            <a:xfrm>
              <a:off x="8496299" y="5938922"/>
              <a:ext cx="355600" cy="355600"/>
            </a:xfrm>
            <a:prstGeom prst="rect">
              <a:avLst/>
            </a:prstGeom>
            <a:solidFill>
              <a:srgbClr val="BACB8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7F39DB6A-E81E-D5D0-3797-5C76A80A14EF}"/>
                </a:ext>
              </a:extLst>
            </p:cNvPr>
            <p:cNvSpPr/>
            <p:nvPr/>
          </p:nvSpPr>
          <p:spPr>
            <a:xfrm>
              <a:off x="8864599" y="5938922"/>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6C92227-3839-5B97-1F25-EF6AC62C0A24}"/>
                </a:ext>
              </a:extLst>
            </p:cNvPr>
            <p:cNvSpPr/>
            <p:nvPr/>
          </p:nvSpPr>
          <p:spPr>
            <a:xfrm>
              <a:off x="9220199" y="5938922"/>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9293B3C7-4295-FB40-B291-42FA48D07F49}"/>
                </a:ext>
              </a:extLst>
            </p:cNvPr>
            <p:cNvSpPr/>
            <p:nvPr/>
          </p:nvSpPr>
          <p:spPr>
            <a:xfrm>
              <a:off x="9575799" y="5938922"/>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89C4EE40-1CFC-B5AC-3FC8-8D5444913E54}"/>
                </a:ext>
              </a:extLst>
            </p:cNvPr>
            <p:cNvSpPr/>
            <p:nvPr/>
          </p:nvSpPr>
          <p:spPr>
            <a:xfrm>
              <a:off x="9918699" y="5938922"/>
              <a:ext cx="355600" cy="355600"/>
            </a:xfrm>
            <a:prstGeom prst="rect">
              <a:avLst/>
            </a:prstGeom>
            <a:solidFill>
              <a:srgbClr val="85BFD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Arrow Connector 138">
              <a:extLst>
                <a:ext uri="{FF2B5EF4-FFF2-40B4-BE49-F238E27FC236}">
                  <a16:creationId xmlns:a16="http://schemas.microsoft.com/office/drawing/2014/main" id="{117EF4D1-30E4-18F4-D7F7-98F77F1E540F}"/>
                </a:ext>
              </a:extLst>
            </p:cNvPr>
            <p:cNvCxnSpPr>
              <a:stCxn id="123" idx="1"/>
            </p:cNvCxnSpPr>
            <p:nvPr/>
          </p:nvCxnSpPr>
          <p:spPr>
            <a:xfrm flipH="1">
              <a:off x="8120849" y="5399589"/>
              <a:ext cx="921550" cy="5516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F0CB45DC-4DF6-FEAB-6CB4-E26D5222C95E}"/>
                </a:ext>
              </a:extLst>
            </p:cNvPr>
            <p:cNvCxnSpPr>
              <a:stCxn id="123" idx="3"/>
            </p:cNvCxnSpPr>
            <p:nvPr/>
          </p:nvCxnSpPr>
          <p:spPr>
            <a:xfrm>
              <a:off x="9755199" y="5399589"/>
              <a:ext cx="519100" cy="539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753CF742-9B26-7E85-EB32-37E737EC9B62}"/>
                </a:ext>
              </a:extLst>
            </p:cNvPr>
            <p:cNvCxnSpPr>
              <a:stCxn id="124" idx="1"/>
            </p:cNvCxnSpPr>
            <p:nvPr/>
          </p:nvCxnSpPr>
          <p:spPr>
            <a:xfrm flipH="1">
              <a:off x="10629900" y="5375017"/>
              <a:ext cx="101600" cy="6117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5" name="Straight Arrow Connector 144">
              <a:extLst>
                <a:ext uri="{FF2B5EF4-FFF2-40B4-BE49-F238E27FC236}">
                  <a16:creationId xmlns:a16="http://schemas.microsoft.com/office/drawing/2014/main" id="{D7CE3F0C-4316-5787-8186-D626639394E1}"/>
                </a:ext>
              </a:extLst>
            </p:cNvPr>
            <p:cNvCxnSpPr>
              <a:cxnSpLocks/>
            </p:cNvCxnSpPr>
            <p:nvPr/>
          </p:nvCxnSpPr>
          <p:spPr>
            <a:xfrm>
              <a:off x="11442700" y="5375017"/>
              <a:ext cx="622300" cy="5761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7" name="Straight Arrow Connector 146">
              <a:extLst>
                <a:ext uri="{FF2B5EF4-FFF2-40B4-BE49-F238E27FC236}">
                  <a16:creationId xmlns:a16="http://schemas.microsoft.com/office/drawing/2014/main" id="{77E03200-3944-C3B9-0E12-904FE0BBC4EE}"/>
                </a:ext>
              </a:extLst>
            </p:cNvPr>
            <p:cNvCxnSpPr>
              <a:stCxn id="126" idx="1"/>
              <a:endCxn id="123" idx="0"/>
            </p:cNvCxnSpPr>
            <p:nvPr/>
          </p:nvCxnSpPr>
          <p:spPr>
            <a:xfrm flipH="1">
              <a:off x="9398799" y="4858995"/>
              <a:ext cx="685001" cy="362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9" name="Straight Arrow Connector 148">
              <a:extLst>
                <a:ext uri="{FF2B5EF4-FFF2-40B4-BE49-F238E27FC236}">
                  <a16:creationId xmlns:a16="http://schemas.microsoft.com/office/drawing/2014/main" id="{3214DC05-28AE-8A6E-733A-05F8988EF257}"/>
                </a:ext>
              </a:extLst>
            </p:cNvPr>
            <p:cNvCxnSpPr>
              <a:cxnSpLocks/>
            </p:cNvCxnSpPr>
            <p:nvPr/>
          </p:nvCxnSpPr>
          <p:spPr>
            <a:xfrm>
              <a:off x="10795000" y="4858994"/>
              <a:ext cx="292100" cy="355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50" name="TextBox 149">
            <a:extLst>
              <a:ext uri="{FF2B5EF4-FFF2-40B4-BE49-F238E27FC236}">
                <a16:creationId xmlns:a16="http://schemas.microsoft.com/office/drawing/2014/main" id="{96502E99-DD3D-79F6-1C91-4C4ECC2F6537}"/>
              </a:ext>
            </a:extLst>
          </p:cNvPr>
          <p:cNvSpPr txBox="1"/>
          <p:nvPr/>
        </p:nvSpPr>
        <p:spPr>
          <a:xfrm>
            <a:off x="9244767" y="6440483"/>
            <a:ext cx="1531188" cy="400110"/>
          </a:xfrm>
          <a:prstGeom prst="rect">
            <a:avLst/>
          </a:prstGeom>
          <a:noFill/>
        </p:spPr>
        <p:txBody>
          <a:bodyPr wrap="none" rtlCol="0">
            <a:spAutoFit/>
          </a:bodyPr>
          <a:lstStyle/>
          <a:p>
            <a:r>
              <a:rPr lang="en-US" sz="2000" b="1" dirty="0"/>
              <a:t>Tree– Based </a:t>
            </a:r>
          </a:p>
        </p:txBody>
      </p:sp>
      <p:sp>
        <p:nvSpPr>
          <p:cNvPr id="2" name="Left Brace 1">
            <a:extLst>
              <a:ext uri="{FF2B5EF4-FFF2-40B4-BE49-F238E27FC236}">
                <a16:creationId xmlns:a16="http://schemas.microsoft.com/office/drawing/2014/main" id="{6175E851-2F7B-7B9B-36EF-4E7F9E739D1F}"/>
              </a:ext>
            </a:extLst>
          </p:cNvPr>
          <p:cNvSpPr/>
          <p:nvPr/>
        </p:nvSpPr>
        <p:spPr>
          <a:xfrm rot="16200000">
            <a:off x="1993901" y="2246141"/>
            <a:ext cx="482598" cy="3835400"/>
          </a:xfrm>
          <a:prstGeom prst="leftBrace">
            <a:avLst>
              <a:gd name="adj1" fmla="val 8333"/>
              <a:gd name="adj2" fmla="val 46873"/>
            </a:avLst>
          </a:prstGeom>
          <a:ln w="381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88F11177-7FF6-FAA8-5F81-F7102F52C5F0}"/>
              </a:ext>
            </a:extLst>
          </p:cNvPr>
          <p:cNvCxnSpPr>
            <a:cxnSpLocks/>
            <a:stCxn id="2" idx="1"/>
            <a:endCxn id="43" idx="0"/>
          </p:cNvCxnSpPr>
          <p:nvPr/>
        </p:nvCxnSpPr>
        <p:spPr>
          <a:xfrm flipH="1">
            <a:off x="1970928" y="4405140"/>
            <a:ext cx="144339" cy="78250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E20DB603-429A-887E-E5D6-859BC7DBEC59}"/>
              </a:ext>
            </a:extLst>
          </p:cNvPr>
          <p:cNvSpPr/>
          <p:nvPr/>
        </p:nvSpPr>
        <p:spPr>
          <a:xfrm>
            <a:off x="8451854" y="1916692"/>
            <a:ext cx="1537703" cy="1512308"/>
          </a:xfrm>
          <a:prstGeom prst="ellipse">
            <a:avLst/>
          </a:prstGeom>
          <a:solidFill>
            <a:schemeClr val="accent1">
              <a:alpha val="14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E33F743-56F0-C228-AB8D-EB43B56FD25D}"/>
              </a:ext>
            </a:extLst>
          </p:cNvPr>
          <p:cNvSpPr/>
          <p:nvPr/>
        </p:nvSpPr>
        <p:spPr>
          <a:xfrm>
            <a:off x="6835515" y="1588957"/>
            <a:ext cx="1425839" cy="1840043"/>
          </a:xfrm>
          <a:prstGeom prst="ellipse">
            <a:avLst/>
          </a:prstGeom>
          <a:solidFill>
            <a:schemeClr val="accent1">
              <a:alpha val="1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55D1ED0-95DD-293C-9F69-CCF159AC945B}"/>
              </a:ext>
            </a:extLst>
          </p:cNvPr>
          <p:cNvSpPr/>
          <p:nvPr/>
        </p:nvSpPr>
        <p:spPr>
          <a:xfrm rot="393665">
            <a:off x="6692743" y="923002"/>
            <a:ext cx="5054912" cy="989351"/>
          </a:xfrm>
          <a:prstGeom prst="ellipse">
            <a:avLst/>
          </a:prstGeom>
          <a:solidFill>
            <a:schemeClr val="accent1">
              <a:alpha val="1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Elbow Connector 26">
            <a:extLst>
              <a:ext uri="{FF2B5EF4-FFF2-40B4-BE49-F238E27FC236}">
                <a16:creationId xmlns:a16="http://schemas.microsoft.com/office/drawing/2014/main" id="{C3480D3A-8EE1-4B0B-2AD4-234BF138C41B}"/>
              </a:ext>
            </a:extLst>
          </p:cNvPr>
          <p:cNvCxnSpPr>
            <a:cxnSpLocks/>
            <a:stCxn id="25" idx="2"/>
            <a:endCxn id="86" idx="3"/>
          </p:cNvCxnSpPr>
          <p:nvPr/>
        </p:nvCxnSpPr>
        <p:spPr>
          <a:xfrm rot="10800000" flipV="1">
            <a:off x="5371306" y="1128884"/>
            <a:ext cx="1337990" cy="3525363"/>
          </a:xfrm>
          <a:prstGeom prst="bentConnector2">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8" name="Curved Connector 37">
            <a:extLst>
              <a:ext uri="{FF2B5EF4-FFF2-40B4-BE49-F238E27FC236}">
                <a16:creationId xmlns:a16="http://schemas.microsoft.com/office/drawing/2014/main" id="{79DE7CFE-9962-6DA0-C737-8B65E93AB91A}"/>
              </a:ext>
            </a:extLst>
          </p:cNvPr>
          <p:cNvCxnSpPr>
            <a:cxnSpLocks/>
            <a:stCxn id="14" idx="2"/>
            <a:endCxn id="126" idx="0"/>
          </p:cNvCxnSpPr>
          <p:nvPr/>
        </p:nvCxnSpPr>
        <p:spPr>
          <a:xfrm rot="10800000" flipH="1" flipV="1">
            <a:off x="6835515" y="2508978"/>
            <a:ext cx="3382440" cy="2162861"/>
          </a:xfrm>
          <a:prstGeom prst="curvedConnector4">
            <a:avLst>
              <a:gd name="adj1" fmla="val -26258"/>
              <a:gd name="adj2" fmla="val 88596"/>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3" name="Curved Connector 62">
            <a:extLst>
              <a:ext uri="{FF2B5EF4-FFF2-40B4-BE49-F238E27FC236}">
                <a16:creationId xmlns:a16="http://schemas.microsoft.com/office/drawing/2014/main" id="{AAB2983A-8005-B23E-EF60-D7FDC3D9EFF2}"/>
              </a:ext>
            </a:extLst>
          </p:cNvPr>
          <p:cNvCxnSpPr>
            <a:cxnSpLocks/>
            <a:stCxn id="10" idx="1"/>
            <a:endCxn id="45" idx="3"/>
          </p:cNvCxnSpPr>
          <p:nvPr/>
        </p:nvCxnSpPr>
        <p:spPr>
          <a:xfrm rot="16200000" flipH="1" flipV="1">
            <a:off x="4161195" y="849596"/>
            <a:ext cx="3227283" cy="5804417"/>
          </a:xfrm>
          <a:prstGeom prst="curvedConnector4">
            <a:avLst>
              <a:gd name="adj1" fmla="val -58176"/>
              <a:gd name="adj2" fmla="val 68468"/>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0F69530D-922D-8C4D-28D7-15005D68B576}"/>
              </a:ext>
            </a:extLst>
          </p:cNvPr>
          <p:cNvSpPr>
            <a:spLocks noGrp="1"/>
          </p:cNvSpPr>
          <p:nvPr>
            <p:ph type="sldNum" sz="quarter" idx="12"/>
          </p:nvPr>
        </p:nvSpPr>
        <p:spPr/>
        <p:txBody>
          <a:bodyPr/>
          <a:lstStyle/>
          <a:p>
            <a:fld id="{0FA4238C-0B31-2640-B0B6-C8A5E6F89A2A}" type="slidenum">
              <a:rPr lang="en-US" smtClean="0"/>
              <a:t>13</a:t>
            </a:fld>
            <a:endParaRPr lang="en-US"/>
          </a:p>
        </p:txBody>
      </p:sp>
    </p:spTree>
    <p:extLst>
      <p:ext uri="{BB962C8B-B14F-4D97-AF65-F5344CB8AC3E}">
        <p14:creationId xmlns:p14="http://schemas.microsoft.com/office/powerpoint/2010/main" val="2134712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30497FDF-4E25-4E89-1166-84DA7753A970}"/>
              </a:ext>
            </a:extLst>
          </p:cNvPr>
          <p:cNvSpPr>
            <a:spLocks noChangeAspect="1"/>
          </p:cNvSpPr>
          <p:nvPr/>
        </p:nvSpPr>
        <p:spPr>
          <a:xfrm>
            <a:off x="7928516" y="436317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cxnSp>
        <p:nvCxnSpPr>
          <p:cNvPr id="5" name="Straight Arrow Connector 4">
            <a:extLst>
              <a:ext uri="{FF2B5EF4-FFF2-40B4-BE49-F238E27FC236}">
                <a16:creationId xmlns:a16="http://schemas.microsoft.com/office/drawing/2014/main" id="{BFEE4EF1-D61D-2939-C5D2-907A9E35062C}"/>
              </a:ext>
            </a:extLst>
          </p:cNvPr>
          <p:cNvCxnSpPr>
            <a:cxnSpLocks noChangeAspect="1"/>
            <a:stCxn id="3" idx="7"/>
            <a:endCxn id="6" idx="2"/>
          </p:cNvCxnSpPr>
          <p:nvPr/>
        </p:nvCxnSpPr>
        <p:spPr>
          <a:xfrm flipV="1">
            <a:off x="9368240" y="4363171"/>
            <a:ext cx="960334" cy="2470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CDD53D3B-285E-CCFF-7DA6-4BA37771C5DE}"/>
              </a:ext>
            </a:extLst>
          </p:cNvPr>
          <p:cNvSpPr>
            <a:spLocks noChangeAspect="1"/>
          </p:cNvSpPr>
          <p:nvPr/>
        </p:nvSpPr>
        <p:spPr>
          <a:xfrm>
            <a:off x="10328574" y="3738714"/>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Non - Transactional</a:t>
            </a:r>
          </a:p>
        </p:txBody>
      </p:sp>
      <p:cxnSp>
        <p:nvCxnSpPr>
          <p:cNvPr id="7" name="Straight Arrow Connector 6">
            <a:extLst>
              <a:ext uri="{FF2B5EF4-FFF2-40B4-BE49-F238E27FC236}">
                <a16:creationId xmlns:a16="http://schemas.microsoft.com/office/drawing/2014/main" id="{114509EB-689C-4515-4BA3-AE1893B57BEB}"/>
              </a:ext>
            </a:extLst>
          </p:cNvPr>
          <p:cNvCxnSpPr>
            <a:cxnSpLocks noChangeAspect="1"/>
            <a:stCxn id="3" idx="5"/>
            <a:endCxn id="8" idx="2"/>
          </p:cNvCxnSpPr>
          <p:nvPr/>
        </p:nvCxnSpPr>
        <p:spPr>
          <a:xfrm>
            <a:off x="9368240" y="5802895"/>
            <a:ext cx="960334" cy="2470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56C54305-EC0C-273C-95B6-3A282634ABB7}"/>
              </a:ext>
            </a:extLst>
          </p:cNvPr>
          <p:cNvSpPr>
            <a:spLocks noChangeAspect="1"/>
          </p:cNvSpPr>
          <p:nvPr/>
        </p:nvSpPr>
        <p:spPr>
          <a:xfrm>
            <a:off x="10328574" y="5425456"/>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Transactional</a:t>
            </a:r>
          </a:p>
        </p:txBody>
      </p:sp>
      <p:sp>
        <p:nvSpPr>
          <p:cNvPr id="9" name="Oval 8">
            <a:extLst>
              <a:ext uri="{FF2B5EF4-FFF2-40B4-BE49-F238E27FC236}">
                <a16:creationId xmlns:a16="http://schemas.microsoft.com/office/drawing/2014/main" id="{35148AF6-CD2C-E3A7-6A84-1665A1D852B1}"/>
              </a:ext>
            </a:extLst>
          </p:cNvPr>
          <p:cNvSpPr/>
          <p:nvPr/>
        </p:nvSpPr>
        <p:spPr>
          <a:xfrm>
            <a:off x="5238157" y="64196"/>
            <a:ext cx="1715685" cy="1715685"/>
          </a:xfrm>
          <a:prstGeom prst="ellipse">
            <a:avLst/>
          </a:prstGeom>
          <a:solidFill>
            <a:schemeClr val="accent1">
              <a:alpha val="0"/>
            </a:schemeClr>
          </a:solidFill>
          <a:ln>
            <a:solidFill>
              <a:schemeClr val="accent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alpha val="0"/>
                  </a:schemeClr>
                </a:solidFill>
              </a:rPr>
              <a:t>Structural Graph</a:t>
            </a:r>
          </a:p>
        </p:txBody>
      </p:sp>
      <p:cxnSp>
        <p:nvCxnSpPr>
          <p:cNvPr id="11" name="Straight Arrow Connector 10">
            <a:extLst>
              <a:ext uri="{FF2B5EF4-FFF2-40B4-BE49-F238E27FC236}">
                <a16:creationId xmlns:a16="http://schemas.microsoft.com/office/drawing/2014/main" id="{0E4AFBA1-89A6-E8CC-08D4-DCE8976097C1}"/>
              </a:ext>
            </a:extLst>
          </p:cNvPr>
          <p:cNvCxnSpPr>
            <a:cxnSpLocks/>
            <a:stCxn id="9" idx="6"/>
          </p:cNvCxnSpPr>
          <p:nvPr/>
        </p:nvCxnSpPr>
        <p:spPr>
          <a:xfrm>
            <a:off x="6953842" y="922039"/>
            <a:ext cx="3522473" cy="428921"/>
          </a:xfrm>
          <a:prstGeom prst="straightConnector1">
            <a:avLst/>
          </a:prstGeom>
          <a:ln w="38100">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0D0D04C0-7C7D-D745-BED7-EA4CFEB5D85B}"/>
              </a:ext>
            </a:extLst>
          </p:cNvPr>
          <p:cNvSpPr>
            <a:spLocks noChangeAspect="1"/>
          </p:cNvSpPr>
          <p:nvPr/>
        </p:nvSpPr>
        <p:spPr>
          <a:xfrm>
            <a:off x="7928516" y="1029307"/>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Read-Only (Static) Structural Graphs</a:t>
            </a:r>
          </a:p>
        </p:txBody>
      </p:sp>
      <p:sp>
        <p:nvSpPr>
          <p:cNvPr id="13" name="Oval 12">
            <a:extLst>
              <a:ext uri="{FF2B5EF4-FFF2-40B4-BE49-F238E27FC236}">
                <a16:creationId xmlns:a16="http://schemas.microsoft.com/office/drawing/2014/main" id="{9C4FE917-0EF2-DF71-4C05-B262E9DE3BE1}"/>
              </a:ext>
            </a:extLst>
          </p:cNvPr>
          <p:cNvSpPr>
            <a:spLocks noChangeAspect="1"/>
          </p:cNvSpPr>
          <p:nvPr/>
        </p:nvSpPr>
        <p:spPr>
          <a:xfrm>
            <a:off x="10328573" y="106444"/>
            <a:ext cx="1248913" cy="12489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In Memory</a:t>
            </a:r>
          </a:p>
        </p:txBody>
      </p:sp>
      <p:sp>
        <p:nvSpPr>
          <p:cNvPr id="15" name="Oval 14">
            <a:extLst>
              <a:ext uri="{FF2B5EF4-FFF2-40B4-BE49-F238E27FC236}">
                <a16:creationId xmlns:a16="http://schemas.microsoft.com/office/drawing/2014/main" id="{61A55D07-7CC2-5CD6-F9A8-BBF18F4B82C0}"/>
              </a:ext>
            </a:extLst>
          </p:cNvPr>
          <p:cNvSpPr>
            <a:spLocks noChangeAspect="1"/>
          </p:cNvSpPr>
          <p:nvPr/>
        </p:nvSpPr>
        <p:spPr>
          <a:xfrm>
            <a:off x="10328574" y="2091592"/>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Out of Core</a:t>
            </a:r>
          </a:p>
        </p:txBody>
      </p:sp>
      <p:cxnSp>
        <p:nvCxnSpPr>
          <p:cNvPr id="16" name="Straight Arrow Connector 15">
            <a:extLst>
              <a:ext uri="{FF2B5EF4-FFF2-40B4-BE49-F238E27FC236}">
                <a16:creationId xmlns:a16="http://schemas.microsoft.com/office/drawing/2014/main" id="{23E2A384-5734-0163-D65A-7B6BFFD2F6EE}"/>
              </a:ext>
            </a:extLst>
          </p:cNvPr>
          <p:cNvCxnSpPr>
            <a:cxnSpLocks/>
            <a:stCxn id="12" idx="7"/>
            <a:endCxn id="13" idx="2"/>
          </p:cNvCxnSpPr>
          <p:nvPr/>
        </p:nvCxnSpPr>
        <p:spPr>
          <a:xfrm flipV="1">
            <a:off x="9368240" y="730901"/>
            <a:ext cx="960333" cy="545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1F7F459-9053-17D6-EDB2-91C8F0D4DD80}"/>
              </a:ext>
            </a:extLst>
          </p:cNvPr>
          <p:cNvCxnSpPr>
            <a:cxnSpLocks/>
            <a:stCxn id="12" idx="5"/>
            <a:endCxn id="15" idx="2"/>
          </p:cNvCxnSpPr>
          <p:nvPr/>
        </p:nvCxnSpPr>
        <p:spPr>
          <a:xfrm>
            <a:off x="9368240" y="2469031"/>
            <a:ext cx="960334" cy="2470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0362C745-9322-0C95-5A49-614B557BD31A}"/>
              </a:ext>
            </a:extLst>
          </p:cNvPr>
          <p:cNvSpPr>
            <a:spLocks noChangeAspect="1"/>
          </p:cNvSpPr>
          <p:nvPr/>
        </p:nvSpPr>
        <p:spPr>
          <a:xfrm>
            <a:off x="6095999" y="264599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Graphs</a:t>
            </a:r>
          </a:p>
        </p:txBody>
      </p:sp>
      <p:cxnSp>
        <p:nvCxnSpPr>
          <p:cNvPr id="19" name="Straight Arrow Connector 18">
            <a:extLst>
              <a:ext uri="{FF2B5EF4-FFF2-40B4-BE49-F238E27FC236}">
                <a16:creationId xmlns:a16="http://schemas.microsoft.com/office/drawing/2014/main" id="{4B7F3B58-A82A-C330-F77D-D5A6669317A0}"/>
              </a:ext>
            </a:extLst>
          </p:cNvPr>
          <p:cNvCxnSpPr>
            <a:stCxn id="18" idx="7"/>
            <a:endCxn id="12" idx="3"/>
          </p:cNvCxnSpPr>
          <p:nvPr/>
        </p:nvCxnSpPr>
        <p:spPr>
          <a:xfrm flipV="1">
            <a:off x="7535723" y="2469031"/>
            <a:ext cx="639811" cy="4239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EFA54BB-8A62-7DD2-E670-E9E1E5640F49}"/>
              </a:ext>
            </a:extLst>
          </p:cNvPr>
          <p:cNvCxnSpPr>
            <a:stCxn id="18" idx="5"/>
            <a:endCxn id="3" idx="1"/>
          </p:cNvCxnSpPr>
          <p:nvPr/>
        </p:nvCxnSpPr>
        <p:spPr>
          <a:xfrm>
            <a:off x="7535723" y="4085715"/>
            <a:ext cx="639811" cy="524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DAB6CCDE-9CB1-95BA-820C-ED3199E64ABA}"/>
              </a:ext>
            </a:extLst>
          </p:cNvPr>
          <p:cNvSpPr>
            <a:spLocks noChangeAspect="1"/>
          </p:cNvSpPr>
          <p:nvPr/>
        </p:nvSpPr>
        <p:spPr>
          <a:xfrm>
            <a:off x="2194462" y="264599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Property Graphs</a:t>
            </a:r>
          </a:p>
        </p:txBody>
      </p:sp>
      <p:sp>
        <p:nvSpPr>
          <p:cNvPr id="22" name="Right Arrow 21">
            <a:extLst>
              <a:ext uri="{FF2B5EF4-FFF2-40B4-BE49-F238E27FC236}">
                <a16:creationId xmlns:a16="http://schemas.microsoft.com/office/drawing/2014/main" id="{3040884B-A238-8BB3-4C4A-B7D2BD901C71}"/>
              </a:ext>
            </a:extLst>
          </p:cNvPr>
          <p:cNvSpPr/>
          <p:nvPr/>
        </p:nvSpPr>
        <p:spPr>
          <a:xfrm>
            <a:off x="3881204" y="3340506"/>
            <a:ext cx="2153040" cy="1991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897871D-4813-F30A-2F2A-7D357A7FD85B}"/>
              </a:ext>
            </a:extLst>
          </p:cNvPr>
          <p:cNvSpPr txBox="1"/>
          <p:nvPr/>
        </p:nvSpPr>
        <p:spPr>
          <a:xfrm>
            <a:off x="4100484" y="2516729"/>
            <a:ext cx="1686742" cy="923330"/>
          </a:xfrm>
          <a:prstGeom prst="rect">
            <a:avLst/>
          </a:prstGeom>
          <a:noFill/>
        </p:spPr>
        <p:txBody>
          <a:bodyPr wrap="square" rtlCol="0">
            <a:spAutoFit/>
          </a:bodyPr>
          <a:lstStyle/>
          <a:p>
            <a:r>
              <a:rPr lang="en-US" dirty="0"/>
              <a:t>Materialize a view of the Graph Structure</a:t>
            </a:r>
          </a:p>
        </p:txBody>
      </p:sp>
      <p:sp>
        <p:nvSpPr>
          <p:cNvPr id="24" name="TextBox 23">
            <a:extLst>
              <a:ext uri="{FF2B5EF4-FFF2-40B4-BE49-F238E27FC236}">
                <a16:creationId xmlns:a16="http://schemas.microsoft.com/office/drawing/2014/main" id="{6FBA11D3-C584-D5D6-74A1-8688B454DE94}"/>
              </a:ext>
            </a:extLst>
          </p:cNvPr>
          <p:cNvSpPr txBox="1"/>
          <p:nvPr/>
        </p:nvSpPr>
        <p:spPr>
          <a:xfrm>
            <a:off x="6095999" y="4347952"/>
            <a:ext cx="1405706" cy="369332"/>
          </a:xfrm>
          <a:prstGeom prst="rect">
            <a:avLst/>
          </a:prstGeom>
          <a:noFill/>
        </p:spPr>
        <p:txBody>
          <a:bodyPr wrap="none" rtlCol="0">
            <a:spAutoFit/>
          </a:bodyPr>
          <a:lstStyle/>
          <a:p>
            <a:r>
              <a:rPr lang="en-US" dirty="0"/>
              <a:t>Read-Write? </a:t>
            </a:r>
          </a:p>
        </p:txBody>
      </p:sp>
      <p:sp>
        <p:nvSpPr>
          <p:cNvPr id="26" name="TextBox 25">
            <a:extLst>
              <a:ext uri="{FF2B5EF4-FFF2-40B4-BE49-F238E27FC236}">
                <a16:creationId xmlns:a16="http://schemas.microsoft.com/office/drawing/2014/main" id="{924D34CE-DEF5-75F4-E06E-664573BCF914}"/>
              </a:ext>
            </a:extLst>
          </p:cNvPr>
          <p:cNvSpPr txBox="1"/>
          <p:nvPr/>
        </p:nvSpPr>
        <p:spPr>
          <a:xfrm>
            <a:off x="7844496" y="4078106"/>
            <a:ext cx="304892" cy="369332"/>
          </a:xfrm>
          <a:prstGeom prst="rect">
            <a:avLst/>
          </a:prstGeom>
          <a:noFill/>
        </p:spPr>
        <p:txBody>
          <a:bodyPr wrap="none" rtlCol="0">
            <a:spAutoFit/>
          </a:bodyPr>
          <a:lstStyle/>
          <a:p>
            <a:r>
              <a:rPr lang="en-US" b="1" dirty="0"/>
              <a:t>Y</a:t>
            </a:r>
          </a:p>
        </p:txBody>
      </p:sp>
      <p:sp>
        <p:nvSpPr>
          <p:cNvPr id="28" name="TextBox 27">
            <a:extLst>
              <a:ext uri="{FF2B5EF4-FFF2-40B4-BE49-F238E27FC236}">
                <a16:creationId xmlns:a16="http://schemas.microsoft.com/office/drawing/2014/main" id="{D52E2578-CC93-0596-8AA9-478EDBFDC6D4}"/>
              </a:ext>
            </a:extLst>
          </p:cNvPr>
          <p:cNvSpPr txBox="1"/>
          <p:nvPr/>
        </p:nvSpPr>
        <p:spPr>
          <a:xfrm>
            <a:off x="7841788" y="2700547"/>
            <a:ext cx="333746" cy="369332"/>
          </a:xfrm>
          <a:prstGeom prst="rect">
            <a:avLst/>
          </a:prstGeom>
          <a:noFill/>
        </p:spPr>
        <p:txBody>
          <a:bodyPr wrap="none" rtlCol="0">
            <a:spAutoFit/>
          </a:bodyPr>
          <a:lstStyle/>
          <a:p>
            <a:r>
              <a:rPr lang="en-US" b="1" dirty="0"/>
              <a:t>N</a:t>
            </a:r>
          </a:p>
        </p:txBody>
      </p:sp>
      <p:sp>
        <p:nvSpPr>
          <p:cNvPr id="29" name="TextBox 28">
            <a:extLst>
              <a:ext uri="{FF2B5EF4-FFF2-40B4-BE49-F238E27FC236}">
                <a16:creationId xmlns:a16="http://schemas.microsoft.com/office/drawing/2014/main" id="{9B53ADAF-572A-9A6D-D259-45FEB8FFACC8}"/>
              </a:ext>
            </a:extLst>
          </p:cNvPr>
          <p:cNvSpPr txBox="1"/>
          <p:nvPr/>
        </p:nvSpPr>
        <p:spPr>
          <a:xfrm>
            <a:off x="7841788" y="6164826"/>
            <a:ext cx="1532984" cy="369332"/>
          </a:xfrm>
          <a:prstGeom prst="rect">
            <a:avLst/>
          </a:prstGeom>
          <a:noFill/>
        </p:spPr>
        <p:txBody>
          <a:bodyPr wrap="none" rtlCol="0">
            <a:spAutoFit/>
          </a:bodyPr>
          <a:lstStyle/>
          <a:p>
            <a:r>
              <a:rPr lang="en-US" dirty="0"/>
              <a:t>Transactional?</a:t>
            </a:r>
          </a:p>
        </p:txBody>
      </p:sp>
      <p:sp>
        <p:nvSpPr>
          <p:cNvPr id="30" name="TextBox 29">
            <a:extLst>
              <a:ext uri="{FF2B5EF4-FFF2-40B4-BE49-F238E27FC236}">
                <a16:creationId xmlns:a16="http://schemas.microsoft.com/office/drawing/2014/main" id="{A3DD1555-14F1-19E7-0E2B-9D1372723C23}"/>
              </a:ext>
            </a:extLst>
          </p:cNvPr>
          <p:cNvSpPr txBox="1"/>
          <p:nvPr/>
        </p:nvSpPr>
        <p:spPr>
          <a:xfrm>
            <a:off x="9748684" y="6049913"/>
            <a:ext cx="304892" cy="369332"/>
          </a:xfrm>
          <a:prstGeom prst="rect">
            <a:avLst/>
          </a:prstGeom>
          <a:noFill/>
        </p:spPr>
        <p:txBody>
          <a:bodyPr wrap="none" rtlCol="0">
            <a:spAutoFit/>
          </a:bodyPr>
          <a:lstStyle/>
          <a:p>
            <a:r>
              <a:rPr lang="en-US" b="1" dirty="0"/>
              <a:t>Y</a:t>
            </a:r>
          </a:p>
        </p:txBody>
      </p:sp>
      <p:sp>
        <p:nvSpPr>
          <p:cNvPr id="31" name="TextBox 30">
            <a:extLst>
              <a:ext uri="{FF2B5EF4-FFF2-40B4-BE49-F238E27FC236}">
                <a16:creationId xmlns:a16="http://schemas.microsoft.com/office/drawing/2014/main" id="{677CE15D-23AB-69E9-A370-0618AFF2BA95}"/>
              </a:ext>
            </a:extLst>
          </p:cNvPr>
          <p:cNvSpPr txBox="1"/>
          <p:nvPr/>
        </p:nvSpPr>
        <p:spPr>
          <a:xfrm>
            <a:off x="9704439" y="4055408"/>
            <a:ext cx="333746" cy="369332"/>
          </a:xfrm>
          <a:prstGeom prst="rect">
            <a:avLst/>
          </a:prstGeom>
          <a:noFill/>
        </p:spPr>
        <p:txBody>
          <a:bodyPr wrap="none" rtlCol="0">
            <a:spAutoFit/>
          </a:bodyPr>
          <a:lstStyle/>
          <a:p>
            <a:r>
              <a:rPr lang="en-US" b="1" dirty="0"/>
              <a:t>N</a:t>
            </a:r>
          </a:p>
        </p:txBody>
      </p:sp>
      <p:sp>
        <p:nvSpPr>
          <p:cNvPr id="32" name="TextBox 31">
            <a:extLst>
              <a:ext uri="{FF2B5EF4-FFF2-40B4-BE49-F238E27FC236}">
                <a16:creationId xmlns:a16="http://schemas.microsoft.com/office/drawing/2014/main" id="{0882B96D-C863-9A94-7DC4-86141BBF631A}"/>
              </a:ext>
            </a:extLst>
          </p:cNvPr>
          <p:cNvSpPr txBox="1"/>
          <p:nvPr/>
        </p:nvSpPr>
        <p:spPr>
          <a:xfrm flipH="1">
            <a:off x="9707239" y="667614"/>
            <a:ext cx="232531" cy="369332"/>
          </a:xfrm>
          <a:prstGeom prst="rect">
            <a:avLst/>
          </a:prstGeom>
          <a:noFill/>
        </p:spPr>
        <p:txBody>
          <a:bodyPr wrap="square" rtlCol="0">
            <a:spAutoFit/>
          </a:bodyPr>
          <a:lstStyle/>
          <a:p>
            <a:r>
              <a:rPr lang="en-US" b="1" dirty="0"/>
              <a:t>Y</a:t>
            </a:r>
          </a:p>
        </p:txBody>
      </p:sp>
      <p:sp>
        <p:nvSpPr>
          <p:cNvPr id="33" name="TextBox 32">
            <a:extLst>
              <a:ext uri="{FF2B5EF4-FFF2-40B4-BE49-F238E27FC236}">
                <a16:creationId xmlns:a16="http://schemas.microsoft.com/office/drawing/2014/main" id="{A855B6A7-AD75-80C6-D4B2-F285F8FCEF98}"/>
              </a:ext>
            </a:extLst>
          </p:cNvPr>
          <p:cNvSpPr txBox="1"/>
          <p:nvPr/>
        </p:nvSpPr>
        <p:spPr>
          <a:xfrm flipH="1">
            <a:off x="9755046" y="2169452"/>
            <a:ext cx="232531" cy="369332"/>
          </a:xfrm>
          <a:prstGeom prst="rect">
            <a:avLst/>
          </a:prstGeom>
          <a:noFill/>
        </p:spPr>
        <p:txBody>
          <a:bodyPr wrap="square" rtlCol="0">
            <a:spAutoFit/>
          </a:bodyPr>
          <a:lstStyle/>
          <a:p>
            <a:r>
              <a:rPr lang="en-US" b="1" dirty="0"/>
              <a:t>N</a:t>
            </a:r>
          </a:p>
        </p:txBody>
      </p:sp>
      <p:sp>
        <p:nvSpPr>
          <p:cNvPr id="34" name="TextBox 33">
            <a:extLst>
              <a:ext uri="{FF2B5EF4-FFF2-40B4-BE49-F238E27FC236}">
                <a16:creationId xmlns:a16="http://schemas.microsoft.com/office/drawing/2014/main" id="{5334E1A7-4FA1-E269-899F-47C0B2ECA71F}"/>
              </a:ext>
            </a:extLst>
          </p:cNvPr>
          <p:cNvSpPr txBox="1"/>
          <p:nvPr/>
        </p:nvSpPr>
        <p:spPr>
          <a:xfrm>
            <a:off x="7928516" y="667614"/>
            <a:ext cx="1632242" cy="369332"/>
          </a:xfrm>
          <a:prstGeom prst="rect">
            <a:avLst/>
          </a:prstGeom>
          <a:noFill/>
        </p:spPr>
        <p:txBody>
          <a:bodyPr wrap="none" rtlCol="0">
            <a:spAutoFit/>
          </a:bodyPr>
          <a:lstStyle/>
          <a:p>
            <a:r>
              <a:rPr lang="en-US" dirty="0"/>
              <a:t>Graph in mem?</a:t>
            </a:r>
          </a:p>
        </p:txBody>
      </p:sp>
      <p:sp>
        <p:nvSpPr>
          <p:cNvPr id="35" name="Cloud 34">
            <a:extLst>
              <a:ext uri="{FF2B5EF4-FFF2-40B4-BE49-F238E27FC236}">
                <a16:creationId xmlns:a16="http://schemas.microsoft.com/office/drawing/2014/main" id="{24144098-9203-A8CE-28B3-216239D1FA8E}"/>
              </a:ext>
            </a:extLst>
          </p:cNvPr>
          <p:cNvSpPr/>
          <p:nvPr/>
        </p:nvSpPr>
        <p:spPr>
          <a:xfrm>
            <a:off x="10231743" y="1350960"/>
            <a:ext cx="1686742" cy="74063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Semi-External</a:t>
            </a:r>
          </a:p>
        </p:txBody>
      </p:sp>
      <p:cxnSp>
        <p:nvCxnSpPr>
          <p:cNvPr id="36" name="Straight Arrow Connector 35">
            <a:extLst>
              <a:ext uri="{FF2B5EF4-FFF2-40B4-BE49-F238E27FC236}">
                <a16:creationId xmlns:a16="http://schemas.microsoft.com/office/drawing/2014/main" id="{599D6C05-3BC8-D3BE-754D-1DA52E6DD435}"/>
              </a:ext>
            </a:extLst>
          </p:cNvPr>
          <p:cNvCxnSpPr>
            <a:stCxn id="12" idx="6"/>
            <a:endCxn id="35" idx="2"/>
          </p:cNvCxnSpPr>
          <p:nvPr/>
        </p:nvCxnSpPr>
        <p:spPr>
          <a:xfrm flipV="1">
            <a:off x="9615258" y="1721276"/>
            <a:ext cx="621717" cy="151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2A980E4D-EC04-D27F-D250-14E1802843A2}"/>
              </a:ext>
            </a:extLst>
          </p:cNvPr>
          <p:cNvSpPr txBox="1"/>
          <p:nvPr/>
        </p:nvSpPr>
        <p:spPr>
          <a:xfrm rot="19857621">
            <a:off x="9549845" y="1444723"/>
            <a:ext cx="844142" cy="369332"/>
          </a:xfrm>
          <a:prstGeom prst="rect">
            <a:avLst/>
          </a:prstGeom>
          <a:noFill/>
        </p:spPr>
        <p:txBody>
          <a:bodyPr wrap="none" rtlCol="0">
            <a:spAutoFit/>
          </a:bodyPr>
          <a:lstStyle/>
          <a:p>
            <a:r>
              <a:rPr lang="en-US" b="1" dirty="0"/>
              <a:t>Maybe</a:t>
            </a:r>
          </a:p>
        </p:txBody>
      </p:sp>
      <p:sp>
        <p:nvSpPr>
          <p:cNvPr id="40" name="Title 54">
            <a:extLst>
              <a:ext uri="{FF2B5EF4-FFF2-40B4-BE49-F238E27FC236}">
                <a16:creationId xmlns:a16="http://schemas.microsoft.com/office/drawing/2014/main" id="{3EDA5A56-B0FA-927B-8133-B9151C6A47E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The Taxonomy So Far</a:t>
            </a:r>
            <a:endParaRPr lang="en-US" dirty="0"/>
          </a:p>
        </p:txBody>
      </p:sp>
      <p:sp>
        <p:nvSpPr>
          <p:cNvPr id="2" name="Slide Number Placeholder 1">
            <a:extLst>
              <a:ext uri="{FF2B5EF4-FFF2-40B4-BE49-F238E27FC236}">
                <a16:creationId xmlns:a16="http://schemas.microsoft.com/office/drawing/2014/main" id="{5E9CA329-83DA-DEB3-FAD5-3B985FAE1B5C}"/>
              </a:ext>
            </a:extLst>
          </p:cNvPr>
          <p:cNvSpPr>
            <a:spLocks noGrp="1"/>
          </p:cNvSpPr>
          <p:nvPr>
            <p:ph type="sldNum" sz="quarter" idx="12"/>
          </p:nvPr>
        </p:nvSpPr>
        <p:spPr/>
        <p:txBody>
          <a:bodyPr/>
          <a:lstStyle/>
          <a:p>
            <a:fld id="{0FA4238C-0B31-2640-B0B6-C8A5E6F89A2A}" type="slidenum">
              <a:rPr lang="en-US" smtClean="0"/>
              <a:t>14</a:t>
            </a:fld>
            <a:endParaRPr lang="en-US"/>
          </a:p>
        </p:txBody>
      </p:sp>
    </p:spTree>
    <p:extLst>
      <p:ext uri="{BB962C8B-B14F-4D97-AF65-F5344CB8AC3E}">
        <p14:creationId xmlns:p14="http://schemas.microsoft.com/office/powerpoint/2010/main" val="2121499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30497FDF-4E25-4E89-1166-84DA7753A970}"/>
              </a:ext>
            </a:extLst>
          </p:cNvPr>
          <p:cNvSpPr>
            <a:spLocks noChangeAspect="1"/>
          </p:cNvSpPr>
          <p:nvPr/>
        </p:nvSpPr>
        <p:spPr>
          <a:xfrm>
            <a:off x="7928516" y="436317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Read-Write (Dynamic)</a:t>
            </a:r>
            <a:br>
              <a:rPr lang="en-US" dirty="0"/>
            </a:br>
            <a:r>
              <a:rPr lang="en-US" dirty="0"/>
              <a:t>Structural Graph</a:t>
            </a:r>
          </a:p>
        </p:txBody>
      </p:sp>
      <p:cxnSp>
        <p:nvCxnSpPr>
          <p:cNvPr id="5" name="Straight Arrow Connector 4">
            <a:extLst>
              <a:ext uri="{FF2B5EF4-FFF2-40B4-BE49-F238E27FC236}">
                <a16:creationId xmlns:a16="http://schemas.microsoft.com/office/drawing/2014/main" id="{BFEE4EF1-D61D-2939-C5D2-907A9E35062C}"/>
              </a:ext>
            </a:extLst>
          </p:cNvPr>
          <p:cNvCxnSpPr>
            <a:cxnSpLocks noChangeAspect="1"/>
            <a:stCxn id="3" idx="7"/>
            <a:endCxn id="6" idx="2"/>
          </p:cNvCxnSpPr>
          <p:nvPr/>
        </p:nvCxnSpPr>
        <p:spPr>
          <a:xfrm flipV="1">
            <a:off x="9368240" y="4363171"/>
            <a:ext cx="960334" cy="2470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CDD53D3B-285E-CCFF-7DA6-4BA37771C5DE}"/>
              </a:ext>
            </a:extLst>
          </p:cNvPr>
          <p:cNvSpPr>
            <a:spLocks noChangeAspect="1"/>
          </p:cNvSpPr>
          <p:nvPr/>
        </p:nvSpPr>
        <p:spPr>
          <a:xfrm>
            <a:off x="10328574" y="3738714"/>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Non - Transactional</a:t>
            </a:r>
          </a:p>
        </p:txBody>
      </p:sp>
      <p:cxnSp>
        <p:nvCxnSpPr>
          <p:cNvPr id="7" name="Straight Arrow Connector 6">
            <a:extLst>
              <a:ext uri="{FF2B5EF4-FFF2-40B4-BE49-F238E27FC236}">
                <a16:creationId xmlns:a16="http://schemas.microsoft.com/office/drawing/2014/main" id="{114509EB-689C-4515-4BA3-AE1893B57BEB}"/>
              </a:ext>
            </a:extLst>
          </p:cNvPr>
          <p:cNvCxnSpPr>
            <a:cxnSpLocks noChangeAspect="1"/>
            <a:stCxn id="3" idx="5"/>
            <a:endCxn id="8" idx="2"/>
          </p:cNvCxnSpPr>
          <p:nvPr/>
        </p:nvCxnSpPr>
        <p:spPr>
          <a:xfrm>
            <a:off x="9368240" y="5802895"/>
            <a:ext cx="960334" cy="2470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56C54305-EC0C-273C-95B6-3A282634ABB7}"/>
              </a:ext>
            </a:extLst>
          </p:cNvPr>
          <p:cNvSpPr>
            <a:spLocks noChangeAspect="1"/>
          </p:cNvSpPr>
          <p:nvPr/>
        </p:nvSpPr>
        <p:spPr>
          <a:xfrm>
            <a:off x="10328574" y="5425456"/>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Transactional</a:t>
            </a:r>
          </a:p>
        </p:txBody>
      </p:sp>
      <p:sp>
        <p:nvSpPr>
          <p:cNvPr id="9" name="Oval 8">
            <a:extLst>
              <a:ext uri="{FF2B5EF4-FFF2-40B4-BE49-F238E27FC236}">
                <a16:creationId xmlns:a16="http://schemas.microsoft.com/office/drawing/2014/main" id="{35148AF6-CD2C-E3A7-6A84-1665A1D852B1}"/>
              </a:ext>
            </a:extLst>
          </p:cNvPr>
          <p:cNvSpPr/>
          <p:nvPr/>
        </p:nvSpPr>
        <p:spPr>
          <a:xfrm>
            <a:off x="5238157" y="64196"/>
            <a:ext cx="1715685" cy="1715685"/>
          </a:xfrm>
          <a:prstGeom prst="ellipse">
            <a:avLst/>
          </a:prstGeom>
          <a:solidFill>
            <a:schemeClr val="accent1">
              <a:alpha val="0"/>
            </a:schemeClr>
          </a:solidFill>
          <a:ln>
            <a:solidFill>
              <a:schemeClr val="accent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alpha val="0"/>
                  </a:schemeClr>
                </a:solidFill>
              </a:rPr>
              <a:t>Structural Graph</a:t>
            </a:r>
          </a:p>
        </p:txBody>
      </p:sp>
      <p:cxnSp>
        <p:nvCxnSpPr>
          <p:cNvPr id="11" name="Straight Arrow Connector 10">
            <a:extLst>
              <a:ext uri="{FF2B5EF4-FFF2-40B4-BE49-F238E27FC236}">
                <a16:creationId xmlns:a16="http://schemas.microsoft.com/office/drawing/2014/main" id="{0E4AFBA1-89A6-E8CC-08D4-DCE8976097C1}"/>
              </a:ext>
            </a:extLst>
          </p:cNvPr>
          <p:cNvCxnSpPr>
            <a:cxnSpLocks/>
            <a:stCxn id="9" idx="6"/>
          </p:cNvCxnSpPr>
          <p:nvPr/>
        </p:nvCxnSpPr>
        <p:spPr>
          <a:xfrm>
            <a:off x="6953842" y="922039"/>
            <a:ext cx="3522473" cy="428921"/>
          </a:xfrm>
          <a:prstGeom prst="straightConnector1">
            <a:avLst/>
          </a:prstGeom>
          <a:ln w="38100">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0D0D04C0-7C7D-D745-BED7-EA4CFEB5D85B}"/>
              </a:ext>
            </a:extLst>
          </p:cNvPr>
          <p:cNvSpPr>
            <a:spLocks noChangeAspect="1"/>
          </p:cNvSpPr>
          <p:nvPr/>
        </p:nvSpPr>
        <p:spPr>
          <a:xfrm>
            <a:off x="7928516" y="1029307"/>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Read-Only (Static) Structural Graphs</a:t>
            </a:r>
          </a:p>
        </p:txBody>
      </p:sp>
      <p:sp>
        <p:nvSpPr>
          <p:cNvPr id="13" name="Oval 12">
            <a:extLst>
              <a:ext uri="{FF2B5EF4-FFF2-40B4-BE49-F238E27FC236}">
                <a16:creationId xmlns:a16="http://schemas.microsoft.com/office/drawing/2014/main" id="{9C4FE917-0EF2-DF71-4C05-B262E9DE3BE1}"/>
              </a:ext>
            </a:extLst>
          </p:cNvPr>
          <p:cNvSpPr>
            <a:spLocks noChangeAspect="1"/>
          </p:cNvSpPr>
          <p:nvPr/>
        </p:nvSpPr>
        <p:spPr>
          <a:xfrm>
            <a:off x="10328573" y="106444"/>
            <a:ext cx="1248913" cy="12489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In Memory</a:t>
            </a:r>
          </a:p>
        </p:txBody>
      </p:sp>
      <p:sp>
        <p:nvSpPr>
          <p:cNvPr id="15" name="Oval 14">
            <a:extLst>
              <a:ext uri="{FF2B5EF4-FFF2-40B4-BE49-F238E27FC236}">
                <a16:creationId xmlns:a16="http://schemas.microsoft.com/office/drawing/2014/main" id="{61A55D07-7CC2-5CD6-F9A8-BBF18F4B82C0}"/>
              </a:ext>
            </a:extLst>
          </p:cNvPr>
          <p:cNvSpPr>
            <a:spLocks noChangeAspect="1"/>
          </p:cNvSpPr>
          <p:nvPr/>
        </p:nvSpPr>
        <p:spPr>
          <a:xfrm>
            <a:off x="10328574" y="2091592"/>
            <a:ext cx="1248914" cy="12489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Out of Core</a:t>
            </a:r>
          </a:p>
        </p:txBody>
      </p:sp>
      <p:cxnSp>
        <p:nvCxnSpPr>
          <p:cNvPr id="16" name="Straight Arrow Connector 15">
            <a:extLst>
              <a:ext uri="{FF2B5EF4-FFF2-40B4-BE49-F238E27FC236}">
                <a16:creationId xmlns:a16="http://schemas.microsoft.com/office/drawing/2014/main" id="{23E2A384-5734-0163-D65A-7B6BFFD2F6EE}"/>
              </a:ext>
            </a:extLst>
          </p:cNvPr>
          <p:cNvCxnSpPr>
            <a:cxnSpLocks/>
            <a:stCxn id="12" idx="7"/>
            <a:endCxn id="13" idx="2"/>
          </p:cNvCxnSpPr>
          <p:nvPr/>
        </p:nvCxnSpPr>
        <p:spPr>
          <a:xfrm flipV="1">
            <a:off x="9368240" y="730901"/>
            <a:ext cx="960333" cy="545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1F7F459-9053-17D6-EDB2-91C8F0D4DD80}"/>
              </a:ext>
            </a:extLst>
          </p:cNvPr>
          <p:cNvCxnSpPr>
            <a:cxnSpLocks/>
            <a:stCxn id="12" idx="5"/>
            <a:endCxn id="15" idx="2"/>
          </p:cNvCxnSpPr>
          <p:nvPr/>
        </p:nvCxnSpPr>
        <p:spPr>
          <a:xfrm>
            <a:off x="9368240" y="2469031"/>
            <a:ext cx="960334" cy="2470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0362C745-9322-0C95-5A49-614B557BD31A}"/>
              </a:ext>
            </a:extLst>
          </p:cNvPr>
          <p:cNvSpPr>
            <a:spLocks noChangeAspect="1"/>
          </p:cNvSpPr>
          <p:nvPr/>
        </p:nvSpPr>
        <p:spPr>
          <a:xfrm>
            <a:off x="6095999" y="264599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Graphs</a:t>
            </a:r>
          </a:p>
        </p:txBody>
      </p:sp>
      <p:cxnSp>
        <p:nvCxnSpPr>
          <p:cNvPr id="19" name="Straight Arrow Connector 18">
            <a:extLst>
              <a:ext uri="{FF2B5EF4-FFF2-40B4-BE49-F238E27FC236}">
                <a16:creationId xmlns:a16="http://schemas.microsoft.com/office/drawing/2014/main" id="{4B7F3B58-A82A-C330-F77D-D5A6669317A0}"/>
              </a:ext>
            </a:extLst>
          </p:cNvPr>
          <p:cNvCxnSpPr>
            <a:stCxn id="18" idx="7"/>
            <a:endCxn id="12" idx="3"/>
          </p:cNvCxnSpPr>
          <p:nvPr/>
        </p:nvCxnSpPr>
        <p:spPr>
          <a:xfrm flipV="1">
            <a:off x="7535723" y="2469031"/>
            <a:ext cx="639811" cy="4239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EFA54BB-8A62-7DD2-E670-E9E1E5640F49}"/>
              </a:ext>
            </a:extLst>
          </p:cNvPr>
          <p:cNvCxnSpPr>
            <a:stCxn id="18" idx="5"/>
            <a:endCxn id="3" idx="1"/>
          </p:cNvCxnSpPr>
          <p:nvPr/>
        </p:nvCxnSpPr>
        <p:spPr>
          <a:xfrm>
            <a:off x="7535723" y="4085715"/>
            <a:ext cx="639811" cy="524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DAB6CCDE-9CB1-95BA-820C-ED3199E64ABA}"/>
              </a:ext>
            </a:extLst>
          </p:cNvPr>
          <p:cNvSpPr>
            <a:spLocks noChangeAspect="1"/>
          </p:cNvSpPr>
          <p:nvPr/>
        </p:nvSpPr>
        <p:spPr>
          <a:xfrm>
            <a:off x="2194462" y="2645991"/>
            <a:ext cx="1686742" cy="16867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Property Graphs</a:t>
            </a:r>
          </a:p>
        </p:txBody>
      </p:sp>
      <p:sp>
        <p:nvSpPr>
          <p:cNvPr id="22" name="Right Arrow 21">
            <a:extLst>
              <a:ext uri="{FF2B5EF4-FFF2-40B4-BE49-F238E27FC236}">
                <a16:creationId xmlns:a16="http://schemas.microsoft.com/office/drawing/2014/main" id="{3040884B-A238-8BB3-4C4A-B7D2BD901C71}"/>
              </a:ext>
            </a:extLst>
          </p:cNvPr>
          <p:cNvSpPr/>
          <p:nvPr/>
        </p:nvSpPr>
        <p:spPr>
          <a:xfrm>
            <a:off x="3881204" y="3340506"/>
            <a:ext cx="2153040" cy="1991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897871D-4813-F30A-2F2A-7D357A7FD85B}"/>
              </a:ext>
            </a:extLst>
          </p:cNvPr>
          <p:cNvSpPr txBox="1"/>
          <p:nvPr/>
        </p:nvSpPr>
        <p:spPr>
          <a:xfrm>
            <a:off x="4100484" y="2516729"/>
            <a:ext cx="1686742" cy="923330"/>
          </a:xfrm>
          <a:prstGeom prst="rect">
            <a:avLst/>
          </a:prstGeom>
          <a:noFill/>
        </p:spPr>
        <p:txBody>
          <a:bodyPr wrap="square" rtlCol="0">
            <a:spAutoFit/>
          </a:bodyPr>
          <a:lstStyle/>
          <a:p>
            <a:r>
              <a:rPr lang="en-US" dirty="0"/>
              <a:t>Materialize a view of the Graph Structure</a:t>
            </a:r>
          </a:p>
        </p:txBody>
      </p:sp>
      <p:sp>
        <p:nvSpPr>
          <p:cNvPr id="24" name="TextBox 23">
            <a:extLst>
              <a:ext uri="{FF2B5EF4-FFF2-40B4-BE49-F238E27FC236}">
                <a16:creationId xmlns:a16="http://schemas.microsoft.com/office/drawing/2014/main" id="{6FBA11D3-C584-D5D6-74A1-8688B454DE94}"/>
              </a:ext>
            </a:extLst>
          </p:cNvPr>
          <p:cNvSpPr txBox="1"/>
          <p:nvPr/>
        </p:nvSpPr>
        <p:spPr>
          <a:xfrm>
            <a:off x="6095999" y="4347952"/>
            <a:ext cx="1405706" cy="369332"/>
          </a:xfrm>
          <a:prstGeom prst="rect">
            <a:avLst/>
          </a:prstGeom>
          <a:noFill/>
        </p:spPr>
        <p:txBody>
          <a:bodyPr wrap="none" rtlCol="0">
            <a:spAutoFit/>
          </a:bodyPr>
          <a:lstStyle/>
          <a:p>
            <a:r>
              <a:rPr lang="en-US" dirty="0"/>
              <a:t>Read-Write? </a:t>
            </a:r>
          </a:p>
        </p:txBody>
      </p:sp>
      <p:sp>
        <p:nvSpPr>
          <p:cNvPr id="26" name="TextBox 25">
            <a:extLst>
              <a:ext uri="{FF2B5EF4-FFF2-40B4-BE49-F238E27FC236}">
                <a16:creationId xmlns:a16="http://schemas.microsoft.com/office/drawing/2014/main" id="{924D34CE-DEF5-75F4-E06E-664573BCF914}"/>
              </a:ext>
            </a:extLst>
          </p:cNvPr>
          <p:cNvSpPr txBox="1"/>
          <p:nvPr/>
        </p:nvSpPr>
        <p:spPr>
          <a:xfrm>
            <a:off x="7844496" y="4078106"/>
            <a:ext cx="304892" cy="369332"/>
          </a:xfrm>
          <a:prstGeom prst="rect">
            <a:avLst/>
          </a:prstGeom>
          <a:noFill/>
        </p:spPr>
        <p:txBody>
          <a:bodyPr wrap="none" rtlCol="0">
            <a:spAutoFit/>
          </a:bodyPr>
          <a:lstStyle/>
          <a:p>
            <a:r>
              <a:rPr lang="en-US" b="1" dirty="0"/>
              <a:t>Y</a:t>
            </a:r>
          </a:p>
        </p:txBody>
      </p:sp>
      <p:sp>
        <p:nvSpPr>
          <p:cNvPr id="28" name="TextBox 27">
            <a:extLst>
              <a:ext uri="{FF2B5EF4-FFF2-40B4-BE49-F238E27FC236}">
                <a16:creationId xmlns:a16="http://schemas.microsoft.com/office/drawing/2014/main" id="{D52E2578-CC93-0596-8AA9-478EDBFDC6D4}"/>
              </a:ext>
            </a:extLst>
          </p:cNvPr>
          <p:cNvSpPr txBox="1"/>
          <p:nvPr/>
        </p:nvSpPr>
        <p:spPr>
          <a:xfrm>
            <a:off x="7841788" y="2700547"/>
            <a:ext cx="333746" cy="369332"/>
          </a:xfrm>
          <a:prstGeom prst="rect">
            <a:avLst/>
          </a:prstGeom>
          <a:noFill/>
        </p:spPr>
        <p:txBody>
          <a:bodyPr wrap="none" rtlCol="0">
            <a:spAutoFit/>
          </a:bodyPr>
          <a:lstStyle/>
          <a:p>
            <a:r>
              <a:rPr lang="en-US" b="1" dirty="0"/>
              <a:t>N</a:t>
            </a:r>
          </a:p>
        </p:txBody>
      </p:sp>
      <p:sp>
        <p:nvSpPr>
          <p:cNvPr id="29" name="TextBox 28">
            <a:extLst>
              <a:ext uri="{FF2B5EF4-FFF2-40B4-BE49-F238E27FC236}">
                <a16:creationId xmlns:a16="http://schemas.microsoft.com/office/drawing/2014/main" id="{9B53ADAF-572A-9A6D-D259-45FEB8FFACC8}"/>
              </a:ext>
            </a:extLst>
          </p:cNvPr>
          <p:cNvSpPr txBox="1"/>
          <p:nvPr/>
        </p:nvSpPr>
        <p:spPr>
          <a:xfrm>
            <a:off x="7841788" y="6164826"/>
            <a:ext cx="1532984" cy="369332"/>
          </a:xfrm>
          <a:prstGeom prst="rect">
            <a:avLst/>
          </a:prstGeom>
          <a:noFill/>
        </p:spPr>
        <p:txBody>
          <a:bodyPr wrap="none" rtlCol="0">
            <a:spAutoFit/>
          </a:bodyPr>
          <a:lstStyle/>
          <a:p>
            <a:r>
              <a:rPr lang="en-US" dirty="0"/>
              <a:t>Transactional?</a:t>
            </a:r>
          </a:p>
        </p:txBody>
      </p:sp>
      <p:sp>
        <p:nvSpPr>
          <p:cNvPr id="30" name="TextBox 29">
            <a:extLst>
              <a:ext uri="{FF2B5EF4-FFF2-40B4-BE49-F238E27FC236}">
                <a16:creationId xmlns:a16="http://schemas.microsoft.com/office/drawing/2014/main" id="{A3DD1555-14F1-19E7-0E2B-9D1372723C23}"/>
              </a:ext>
            </a:extLst>
          </p:cNvPr>
          <p:cNvSpPr txBox="1"/>
          <p:nvPr/>
        </p:nvSpPr>
        <p:spPr>
          <a:xfrm>
            <a:off x="9748684" y="6049913"/>
            <a:ext cx="304892" cy="369332"/>
          </a:xfrm>
          <a:prstGeom prst="rect">
            <a:avLst/>
          </a:prstGeom>
          <a:noFill/>
        </p:spPr>
        <p:txBody>
          <a:bodyPr wrap="none" rtlCol="0">
            <a:spAutoFit/>
          </a:bodyPr>
          <a:lstStyle/>
          <a:p>
            <a:r>
              <a:rPr lang="en-US" b="1" dirty="0"/>
              <a:t>Y</a:t>
            </a:r>
          </a:p>
        </p:txBody>
      </p:sp>
      <p:sp>
        <p:nvSpPr>
          <p:cNvPr id="31" name="TextBox 30">
            <a:extLst>
              <a:ext uri="{FF2B5EF4-FFF2-40B4-BE49-F238E27FC236}">
                <a16:creationId xmlns:a16="http://schemas.microsoft.com/office/drawing/2014/main" id="{677CE15D-23AB-69E9-A370-0618AFF2BA95}"/>
              </a:ext>
            </a:extLst>
          </p:cNvPr>
          <p:cNvSpPr txBox="1"/>
          <p:nvPr/>
        </p:nvSpPr>
        <p:spPr>
          <a:xfrm>
            <a:off x="9704439" y="4055408"/>
            <a:ext cx="333746" cy="369332"/>
          </a:xfrm>
          <a:prstGeom prst="rect">
            <a:avLst/>
          </a:prstGeom>
          <a:noFill/>
        </p:spPr>
        <p:txBody>
          <a:bodyPr wrap="none" rtlCol="0">
            <a:spAutoFit/>
          </a:bodyPr>
          <a:lstStyle/>
          <a:p>
            <a:r>
              <a:rPr lang="en-US" b="1" dirty="0"/>
              <a:t>N</a:t>
            </a:r>
          </a:p>
        </p:txBody>
      </p:sp>
      <p:sp>
        <p:nvSpPr>
          <p:cNvPr id="32" name="TextBox 31">
            <a:extLst>
              <a:ext uri="{FF2B5EF4-FFF2-40B4-BE49-F238E27FC236}">
                <a16:creationId xmlns:a16="http://schemas.microsoft.com/office/drawing/2014/main" id="{0882B96D-C863-9A94-7DC4-86141BBF631A}"/>
              </a:ext>
            </a:extLst>
          </p:cNvPr>
          <p:cNvSpPr txBox="1"/>
          <p:nvPr/>
        </p:nvSpPr>
        <p:spPr>
          <a:xfrm flipH="1">
            <a:off x="9707239" y="667614"/>
            <a:ext cx="232531" cy="369332"/>
          </a:xfrm>
          <a:prstGeom prst="rect">
            <a:avLst/>
          </a:prstGeom>
          <a:noFill/>
        </p:spPr>
        <p:txBody>
          <a:bodyPr wrap="square" rtlCol="0">
            <a:spAutoFit/>
          </a:bodyPr>
          <a:lstStyle/>
          <a:p>
            <a:r>
              <a:rPr lang="en-US" b="1" dirty="0"/>
              <a:t>Y</a:t>
            </a:r>
          </a:p>
        </p:txBody>
      </p:sp>
      <p:sp>
        <p:nvSpPr>
          <p:cNvPr id="33" name="TextBox 32">
            <a:extLst>
              <a:ext uri="{FF2B5EF4-FFF2-40B4-BE49-F238E27FC236}">
                <a16:creationId xmlns:a16="http://schemas.microsoft.com/office/drawing/2014/main" id="{A855B6A7-AD75-80C6-D4B2-F285F8FCEF98}"/>
              </a:ext>
            </a:extLst>
          </p:cNvPr>
          <p:cNvSpPr txBox="1"/>
          <p:nvPr/>
        </p:nvSpPr>
        <p:spPr>
          <a:xfrm flipH="1">
            <a:off x="9755046" y="2169452"/>
            <a:ext cx="232531" cy="369332"/>
          </a:xfrm>
          <a:prstGeom prst="rect">
            <a:avLst/>
          </a:prstGeom>
          <a:noFill/>
        </p:spPr>
        <p:txBody>
          <a:bodyPr wrap="square" rtlCol="0">
            <a:spAutoFit/>
          </a:bodyPr>
          <a:lstStyle/>
          <a:p>
            <a:r>
              <a:rPr lang="en-US" b="1" dirty="0"/>
              <a:t>N</a:t>
            </a:r>
          </a:p>
        </p:txBody>
      </p:sp>
      <p:sp>
        <p:nvSpPr>
          <p:cNvPr id="34" name="TextBox 33">
            <a:extLst>
              <a:ext uri="{FF2B5EF4-FFF2-40B4-BE49-F238E27FC236}">
                <a16:creationId xmlns:a16="http://schemas.microsoft.com/office/drawing/2014/main" id="{5334E1A7-4FA1-E269-899F-47C0B2ECA71F}"/>
              </a:ext>
            </a:extLst>
          </p:cNvPr>
          <p:cNvSpPr txBox="1"/>
          <p:nvPr/>
        </p:nvSpPr>
        <p:spPr>
          <a:xfrm>
            <a:off x="7928516" y="667614"/>
            <a:ext cx="1632242" cy="369332"/>
          </a:xfrm>
          <a:prstGeom prst="rect">
            <a:avLst/>
          </a:prstGeom>
          <a:noFill/>
        </p:spPr>
        <p:txBody>
          <a:bodyPr wrap="none" rtlCol="0">
            <a:spAutoFit/>
          </a:bodyPr>
          <a:lstStyle/>
          <a:p>
            <a:r>
              <a:rPr lang="en-US" dirty="0"/>
              <a:t>Graph in mem?</a:t>
            </a:r>
          </a:p>
        </p:txBody>
      </p:sp>
      <p:sp>
        <p:nvSpPr>
          <p:cNvPr id="35" name="Cloud 34">
            <a:extLst>
              <a:ext uri="{FF2B5EF4-FFF2-40B4-BE49-F238E27FC236}">
                <a16:creationId xmlns:a16="http://schemas.microsoft.com/office/drawing/2014/main" id="{24144098-9203-A8CE-28B3-216239D1FA8E}"/>
              </a:ext>
            </a:extLst>
          </p:cNvPr>
          <p:cNvSpPr/>
          <p:nvPr/>
        </p:nvSpPr>
        <p:spPr>
          <a:xfrm>
            <a:off x="10231743" y="1350960"/>
            <a:ext cx="1686742" cy="74063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Semi-External</a:t>
            </a:r>
          </a:p>
        </p:txBody>
      </p:sp>
      <p:cxnSp>
        <p:nvCxnSpPr>
          <p:cNvPr id="36" name="Straight Arrow Connector 35">
            <a:extLst>
              <a:ext uri="{FF2B5EF4-FFF2-40B4-BE49-F238E27FC236}">
                <a16:creationId xmlns:a16="http://schemas.microsoft.com/office/drawing/2014/main" id="{599D6C05-3BC8-D3BE-754D-1DA52E6DD435}"/>
              </a:ext>
            </a:extLst>
          </p:cNvPr>
          <p:cNvCxnSpPr>
            <a:stCxn id="12" idx="6"/>
            <a:endCxn id="35" idx="2"/>
          </p:cNvCxnSpPr>
          <p:nvPr/>
        </p:nvCxnSpPr>
        <p:spPr>
          <a:xfrm flipV="1">
            <a:off x="9615258" y="1721276"/>
            <a:ext cx="621717" cy="151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2A980E4D-EC04-D27F-D250-14E1802843A2}"/>
              </a:ext>
            </a:extLst>
          </p:cNvPr>
          <p:cNvSpPr txBox="1"/>
          <p:nvPr/>
        </p:nvSpPr>
        <p:spPr>
          <a:xfrm rot="19857621">
            <a:off x="9549845" y="1444723"/>
            <a:ext cx="844142" cy="369332"/>
          </a:xfrm>
          <a:prstGeom prst="rect">
            <a:avLst/>
          </a:prstGeom>
          <a:noFill/>
        </p:spPr>
        <p:txBody>
          <a:bodyPr wrap="none" rtlCol="0">
            <a:spAutoFit/>
          </a:bodyPr>
          <a:lstStyle/>
          <a:p>
            <a:r>
              <a:rPr lang="en-US" b="1" dirty="0"/>
              <a:t>Maybe</a:t>
            </a:r>
          </a:p>
        </p:txBody>
      </p:sp>
      <p:sp>
        <p:nvSpPr>
          <p:cNvPr id="40" name="Title 54">
            <a:extLst>
              <a:ext uri="{FF2B5EF4-FFF2-40B4-BE49-F238E27FC236}">
                <a16:creationId xmlns:a16="http://schemas.microsoft.com/office/drawing/2014/main" id="{3EDA5A56-B0FA-927B-8133-B9151C6A47E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The Taxonomy So Far</a:t>
            </a:r>
            <a:endParaRPr lang="en-US" dirty="0"/>
          </a:p>
        </p:txBody>
      </p:sp>
      <p:sp>
        <p:nvSpPr>
          <p:cNvPr id="2" name="Trapezoid 3">
            <a:extLst>
              <a:ext uri="{FF2B5EF4-FFF2-40B4-BE49-F238E27FC236}">
                <a16:creationId xmlns:a16="http://schemas.microsoft.com/office/drawing/2014/main" id="{54A9A5DF-4B0D-785D-61E9-333DC7A982D7}"/>
              </a:ext>
            </a:extLst>
          </p:cNvPr>
          <p:cNvSpPr/>
          <p:nvPr/>
        </p:nvSpPr>
        <p:spPr>
          <a:xfrm>
            <a:off x="3687580" y="-31827"/>
            <a:ext cx="9218949" cy="7206577"/>
          </a:xfrm>
          <a:custGeom>
            <a:avLst/>
            <a:gdLst>
              <a:gd name="connsiteX0" fmla="*/ 0 w 4440704"/>
              <a:gd name="connsiteY0" fmla="*/ 2486118 h 2486118"/>
              <a:gd name="connsiteX1" fmla="*/ 621530 w 4440704"/>
              <a:gd name="connsiteY1" fmla="*/ 0 h 2486118"/>
              <a:gd name="connsiteX2" fmla="*/ 3819175 w 4440704"/>
              <a:gd name="connsiteY2" fmla="*/ 0 h 2486118"/>
              <a:gd name="connsiteX3" fmla="*/ 4440704 w 4440704"/>
              <a:gd name="connsiteY3" fmla="*/ 2486118 h 2486118"/>
              <a:gd name="connsiteX4" fmla="*/ 0 w 4440704"/>
              <a:gd name="connsiteY4" fmla="*/ 2486118 h 2486118"/>
              <a:gd name="connsiteX0" fmla="*/ 0 w 7146991"/>
              <a:gd name="connsiteY0" fmla="*/ 5019456 h 5019456"/>
              <a:gd name="connsiteX1" fmla="*/ 621530 w 7146991"/>
              <a:gd name="connsiteY1" fmla="*/ 2533338 h 5019456"/>
              <a:gd name="connsiteX2" fmla="*/ 7146991 w 7146991"/>
              <a:gd name="connsiteY2" fmla="*/ 0 h 5019456"/>
              <a:gd name="connsiteX3" fmla="*/ 4440704 w 7146991"/>
              <a:gd name="connsiteY3" fmla="*/ 5019456 h 5019456"/>
              <a:gd name="connsiteX4" fmla="*/ 0 w 7146991"/>
              <a:gd name="connsiteY4" fmla="*/ 5019456 h 5019456"/>
              <a:gd name="connsiteX0" fmla="*/ 0 w 8173254"/>
              <a:gd name="connsiteY0" fmla="*/ 5019456 h 6908217"/>
              <a:gd name="connsiteX1" fmla="*/ 621530 w 8173254"/>
              <a:gd name="connsiteY1" fmla="*/ 2533338 h 6908217"/>
              <a:gd name="connsiteX2" fmla="*/ 7146991 w 8173254"/>
              <a:gd name="connsiteY2" fmla="*/ 0 h 6908217"/>
              <a:gd name="connsiteX3" fmla="*/ 8173254 w 8173254"/>
              <a:gd name="connsiteY3" fmla="*/ 6908217 h 6908217"/>
              <a:gd name="connsiteX4" fmla="*/ 0 w 8173254"/>
              <a:gd name="connsiteY4" fmla="*/ 5019456 h 6908217"/>
              <a:gd name="connsiteX0" fmla="*/ 0 w 8173254"/>
              <a:gd name="connsiteY0" fmla="*/ 5019456 h 6908217"/>
              <a:gd name="connsiteX1" fmla="*/ 621530 w 8173254"/>
              <a:gd name="connsiteY1" fmla="*/ 2533338 h 6908217"/>
              <a:gd name="connsiteX2" fmla="*/ 7146991 w 8173254"/>
              <a:gd name="connsiteY2" fmla="*/ 0 h 6908217"/>
              <a:gd name="connsiteX3" fmla="*/ 8173254 w 8173254"/>
              <a:gd name="connsiteY3" fmla="*/ 6908217 h 6908217"/>
              <a:gd name="connsiteX4" fmla="*/ 0 w 8173254"/>
              <a:gd name="connsiteY4" fmla="*/ 5019456 h 6908217"/>
              <a:gd name="connsiteX0" fmla="*/ 0 w 8173254"/>
              <a:gd name="connsiteY0" fmla="*/ 5019456 h 6908217"/>
              <a:gd name="connsiteX1" fmla="*/ 621530 w 8173254"/>
              <a:gd name="connsiteY1" fmla="*/ 2533338 h 6908217"/>
              <a:gd name="connsiteX2" fmla="*/ 7146991 w 8173254"/>
              <a:gd name="connsiteY2" fmla="*/ 0 h 6908217"/>
              <a:gd name="connsiteX3" fmla="*/ 8173254 w 8173254"/>
              <a:gd name="connsiteY3" fmla="*/ 6908217 h 6908217"/>
              <a:gd name="connsiteX4" fmla="*/ 0 w 8173254"/>
              <a:gd name="connsiteY4" fmla="*/ 5019456 h 6908217"/>
              <a:gd name="connsiteX0" fmla="*/ 0 w 8173254"/>
              <a:gd name="connsiteY0" fmla="*/ 5019456 h 6908217"/>
              <a:gd name="connsiteX1" fmla="*/ 351707 w 8173254"/>
              <a:gd name="connsiteY1" fmla="*/ 2533338 h 6908217"/>
              <a:gd name="connsiteX2" fmla="*/ 7146991 w 8173254"/>
              <a:gd name="connsiteY2" fmla="*/ 0 h 6908217"/>
              <a:gd name="connsiteX3" fmla="*/ 8173254 w 8173254"/>
              <a:gd name="connsiteY3" fmla="*/ 6908217 h 6908217"/>
              <a:gd name="connsiteX4" fmla="*/ 0 w 8173254"/>
              <a:gd name="connsiteY4" fmla="*/ 5019456 h 6908217"/>
              <a:gd name="connsiteX0" fmla="*/ 0 w 8188244"/>
              <a:gd name="connsiteY0" fmla="*/ 5019456 h 6938197"/>
              <a:gd name="connsiteX1" fmla="*/ 351707 w 8188244"/>
              <a:gd name="connsiteY1" fmla="*/ 2533338 h 6938197"/>
              <a:gd name="connsiteX2" fmla="*/ 7146991 w 8188244"/>
              <a:gd name="connsiteY2" fmla="*/ 0 h 6938197"/>
              <a:gd name="connsiteX3" fmla="*/ 8188244 w 8188244"/>
              <a:gd name="connsiteY3" fmla="*/ 6938197 h 6938197"/>
              <a:gd name="connsiteX4" fmla="*/ 0 w 8188244"/>
              <a:gd name="connsiteY4" fmla="*/ 5019456 h 6938197"/>
              <a:gd name="connsiteX0" fmla="*/ 0 w 8188244"/>
              <a:gd name="connsiteY0" fmla="*/ 5019456 h 6938197"/>
              <a:gd name="connsiteX1" fmla="*/ 351707 w 8188244"/>
              <a:gd name="connsiteY1" fmla="*/ 2533338 h 6938197"/>
              <a:gd name="connsiteX2" fmla="*/ 7146991 w 8188244"/>
              <a:gd name="connsiteY2" fmla="*/ 0 h 6938197"/>
              <a:gd name="connsiteX3" fmla="*/ 8188244 w 8188244"/>
              <a:gd name="connsiteY3" fmla="*/ 6938197 h 6938197"/>
              <a:gd name="connsiteX4" fmla="*/ 0 w 8188244"/>
              <a:gd name="connsiteY4" fmla="*/ 5019456 h 6938197"/>
              <a:gd name="connsiteX0" fmla="*/ 0 w 8188244"/>
              <a:gd name="connsiteY0" fmla="*/ 5019456 h 6938197"/>
              <a:gd name="connsiteX1" fmla="*/ 351707 w 8188244"/>
              <a:gd name="connsiteY1" fmla="*/ 2533338 h 6938197"/>
              <a:gd name="connsiteX2" fmla="*/ 7146991 w 8188244"/>
              <a:gd name="connsiteY2" fmla="*/ 0 h 6938197"/>
              <a:gd name="connsiteX3" fmla="*/ 8188244 w 8188244"/>
              <a:gd name="connsiteY3" fmla="*/ 6938197 h 6938197"/>
              <a:gd name="connsiteX4" fmla="*/ 0 w 8188244"/>
              <a:gd name="connsiteY4" fmla="*/ 5019456 h 6938197"/>
              <a:gd name="connsiteX0" fmla="*/ 0 w 8188244"/>
              <a:gd name="connsiteY0" fmla="*/ 5019456 h 6956612"/>
              <a:gd name="connsiteX1" fmla="*/ 351707 w 8188244"/>
              <a:gd name="connsiteY1" fmla="*/ 2533338 h 6956612"/>
              <a:gd name="connsiteX2" fmla="*/ 7146991 w 8188244"/>
              <a:gd name="connsiteY2" fmla="*/ 0 h 6956612"/>
              <a:gd name="connsiteX3" fmla="*/ 8188244 w 8188244"/>
              <a:gd name="connsiteY3" fmla="*/ 6938197 h 6956612"/>
              <a:gd name="connsiteX4" fmla="*/ 0 w 8188244"/>
              <a:gd name="connsiteY4" fmla="*/ 5019456 h 6956612"/>
              <a:gd name="connsiteX0" fmla="*/ 0 w 8161701"/>
              <a:gd name="connsiteY0" fmla="*/ 5019456 h 7179244"/>
              <a:gd name="connsiteX1" fmla="*/ 351707 w 8161701"/>
              <a:gd name="connsiteY1" fmla="*/ 2533338 h 7179244"/>
              <a:gd name="connsiteX2" fmla="*/ 7146991 w 8161701"/>
              <a:gd name="connsiteY2" fmla="*/ 0 h 7179244"/>
              <a:gd name="connsiteX3" fmla="*/ 8161701 w 8161701"/>
              <a:gd name="connsiteY3" fmla="*/ 7163049 h 7179244"/>
              <a:gd name="connsiteX4" fmla="*/ 0 w 8161701"/>
              <a:gd name="connsiteY4" fmla="*/ 5019456 h 7179244"/>
              <a:gd name="connsiteX0" fmla="*/ 0 w 8161701"/>
              <a:gd name="connsiteY0" fmla="*/ 5019456 h 7206577"/>
              <a:gd name="connsiteX1" fmla="*/ 351707 w 8161701"/>
              <a:gd name="connsiteY1" fmla="*/ 2533338 h 7206577"/>
              <a:gd name="connsiteX2" fmla="*/ 7146991 w 8161701"/>
              <a:gd name="connsiteY2" fmla="*/ 0 h 7206577"/>
              <a:gd name="connsiteX3" fmla="*/ 8161701 w 8161701"/>
              <a:gd name="connsiteY3" fmla="*/ 7163049 h 7206577"/>
              <a:gd name="connsiteX4" fmla="*/ 0 w 8161701"/>
              <a:gd name="connsiteY4" fmla="*/ 5019456 h 720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1701" h="7206577">
                <a:moveTo>
                  <a:pt x="0" y="5019456"/>
                </a:moveTo>
                <a:lnTo>
                  <a:pt x="351707" y="2533338"/>
                </a:lnTo>
                <a:cubicBezTo>
                  <a:pt x="2526861" y="1688892"/>
                  <a:pt x="4042446" y="4996"/>
                  <a:pt x="7146991" y="0"/>
                </a:cubicBezTo>
                <a:lnTo>
                  <a:pt x="8161701" y="7163049"/>
                </a:lnTo>
                <a:cubicBezTo>
                  <a:pt x="4030088" y="7512820"/>
                  <a:pt x="2729415" y="5659036"/>
                  <a:pt x="0" y="5019456"/>
                </a:cubicBezTo>
                <a:close/>
              </a:path>
            </a:pathLst>
          </a:custGeom>
          <a:solidFill>
            <a:schemeClr val="bg1">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BCF7624-B1C4-BFAD-5321-8BCEA5FE1678}"/>
              </a:ext>
            </a:extLst>
          </p:cNvPr>
          <p:cNvSpPr txBox="1"/>
          <p:nvPr/>
        </p:nvSpPr>
        <p:spPr>
          <a:xfrm>
            <a:off x="614512" y="5451340"/>
            <a:ext cx="4062419" cy="1169551"/>
          </a:xfrm>
          <a:prstGeom prst="rect">
            <a:avLst/>
          </a:prstGeom>
          <a:noFill/>
        </p:spPr>
        <p:txBody>
          <a:bodyPr wrap="square" rtlCol="0">
            <a:spAutoFit/>
          </a:bodyPr>
          <a:lstStyle/>
          <a:p>
            <a:r>
              <a:rPr lang="en-US" sz="3500" dirty="0"/>
              <a:t>What about Property Graphs?</a:t>
            </a:r>
          </a:p>
        </p:txBody>
      </p:sp>
      <p:sp>
        <p:nvSpPr>
          <p:cNvPr id="10" name="Slide Number Placeholder 9">
            <a:extLst>
              <a:ext uri="{FF2B5EF4-FFF2-40B4-BE49-F238E27FC236}">
                <a16:creationId xmlns:a16="http://schemas.microsoft.com/office/drawing/2014/main" id="{D12B4FE5-59CE-D819-9EB3-83A8BC464446}"/>
              </a:ext>
            </a:extLst>
          </p:cNvPr>
          <p:cNvSpPr>
            <a:spLocks noGrp="1"/>
          </p:cNvSpPr>
          <p:nvPr>
            <p:ph type="sldNum" sz="quarter" idx="12"/>
          </p:nvPr>
        </p:nvSpPr>
        <p:spPr/>
        <p:txBody>
          <a:bodyPr/>
          <a:lstStyle/>
          <a:p>
            <a:fld id="{0FA4238C-0B31-2640-B0B6-C8A5E6F89A2A}" type="slidenum">
              <a:rPr lang="en-US" smtClean="0"/>
              <a:t>15</a:t>
            </a:fld>
            <a:endParaRPr lang="en-US"/>
          </a:p>
        </p:txBody>
      </p:sp>
    </p:spTree>
    <p:extLst>
      <p:ext uri="{BB962C8B-B14F-4D97-AF65-F5344CB8AC3E}">
        <p14:creationId xmlns:p14="http://schemas.microsoft.com/office/powerpoint/2010/main" val="3772478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E001-1B84-E0DF-F211-676AA57C9F0F}"/>
              </a:ext>
            </a:extLst>
          </p:cNvPr>
          <p:cNvSpPr>
            <a:spLocks noGrp="1"/>
          </p:cNvSpPr>
          <p:nvPr>
            <p:ph type="title"/>
          </p:nvPr>
        </p:nvSpPr>
        <p:spPr/>
        <p:txBody>
          <a:bodyPr/>
          <a:lstStyle/>
          <a:p>
            <a:r>
              <a:rPr lang="en-US" dirty="0"/>
              <a:t>Property Graph Systems</a:t>
            </a:r>
          </a:p>
        </p:txBody>
      </p:sp>
      <p:sp>
        <p:nvSpPr>
          <p:cNvPr id="3" name="Content Placeholder 2">
            <a:extLst>
              <a:ext uri="{FF2B5EF4-FFF2-40B4-BE49-F238E27FC236}">
                <a16:creationId xmlns:a16="http://schemas.microsoft.com/office/drawing/2014/main" id="{C3A011E9-06A3-2535-736F-366A5E5B775A}"/>
              </a:ext>
            </a:extLst>
          </p:cNvPr>
          <p:cNvSpPr>
            <a:spLocks noGrp="1"/>
          </p:cNvSpPr>
          <p:nvPr>
            <p:ph idx="1"/>
          </p:nvPr>
        </p:nvSpPr>
        <p:spPr>
          <a:xfrm>
            <a:off x="838200" y="1825625"/>
            <a:ext cx="10515600" cy="4667250"/>
          </a:xfrm>
        </p:spPr>
        <p:txBody>
          <a:bodyPr>
            <a:normAutofit/>
          </a:bodyPr>
          <a:lstStyle/>
          <a:p>
            <a:r>
              <a:rPr lang="en-US" dirty="0"/>
              <a:t>Graph Databases are meant to store property graphs</a:t>
            </a:r>
          </a:p>
          <a:p>
            <a:r>
              <a:rPr lang="en-US" dirty="0" err="1"/>
              <a:t>Besta</a:t>
            </a:r>
            <a:r>
              <a:rPr lang="en-US" dirty="0"/>
              <a:t> et al. define several features to compare GDBs</a:t>
            </a:r>
          </a:p>
          <a:p>
            <a:pPr lvl="1"/>
            <a:r>
              <a:rPr lang="en-US" dirty="0"/>
              <a:t>The data model : Labeled Property Graph / RDF (which we wholly ignore)</a:t>
            </a:r>
          </a:p>
          <a:p>
            <a:pPr lvl="1"/>
            <a:r>
              <a:rPr lang="en-US" dirty="0"/>
              <a:t>Data Organization: </a:t>
            </a:r>
          </a:p>
          <a:p>
            <a:pPr lvl="2"/>
            <a:r>
              <a:rPr lang="en-US" dirty="0"/>
              <a:t>fixed/variable sized records</a:t>
            </a:r>
          </a:p>
          <a:p>
            <a:pPr lvl="2"/>
            <a:r>
              <a:rPr lang="en-US" dirty="0"/>
              <a:t>use of direct pointers (no need for index)</a:t>
            </a:r>
          </a:p>
          <a:p>
            <a:pPr lvl="1"/>
            <a:r>
              <a:rPr lang="en-US" dirty="0"/>
              <a:t>Support for OLAP and OLTP queries </a:t>
            </a:r>
          </a:p>
          <a:p>
            <a:pPr lvl="1"/>
            <a:r>
              <a:rPr lang="en-US" dirty="0"/>
              <a:t>Storage Engine used</a:t>
            </a:r>
          </a:p>
          <a:p>
            <a:pPr lvl="1"/>
            <a:endParaRPr lang="en-US" dirty="0"/>
          </a:p>
          <a:p>
            <a:r>
              <a:rPr lang="en-US" dirty="0"/>
              <a:t>We are only interested in the storage backend used by GDBs</a:t>
            </a:r>
          </a:p>
          <a:p>
            <a:pPr lvl="1"/>
            <a:r>
              <a:rPr lang="en-US" dirty="0"/>
              <a:t>General-purpose storage engine for storing graph data structures (CSR/</a:t>
            </a:r>
            <a:r>
              <a:rPr lang="en-US" dirty="0" err="1"/>
              <a:t>AdList</a:t>
            </a:r>
            <a:r>
              <a:rPr lang="en-US" dirty="0"/>
              <a:t>)</a:t>
            </a:r>
          </a:p>
        </p:txBody>
      </p:sp>
      <p:sp>
        <p:nvSpPr>
          <p:cNvPr id="4" name="Slide Number Placeholder 3">
            <a:extLst>
              <a:ext uri="{FF2B5EF4-FFF2-40B4-BE49-F238E27FC236}">
                <a16:creationId xmlns:a16="http://schemas.microsoft.com/office/drawing/2014/main" id="{BD2C49B8-E92F-D85E-EB0E-C75D6EC33921}"/>
              </a:ext>
            </a:extLst>
          </p:cNvPr>
          <p:cNvSpPr>
            <a:spLocks noGrp="1"/>
          </p:cNvSpPr>
          <p:nvPr>
            <p:ph type="sldNum" sz="quarter" idx="12"/>
          </p:nvPr>
        </p:nvSpPr>
        <p:spPr/>
        <p:txBody>
          <a:bodyPr/>
          <a:lstStyle/>
          <a:p>
            <a:fld id="{0FA4238C-0B31-2640-B0B6-C8A5E6F89A2A}" type="slidenum">
              <a:rPr lang="en-US" smtClean="0"/>
              <a:t>16</a:t>
            </a:fld>
            <a:endParaRPr lang="en-US"/>
          </a:p>
        </p:txBody>
      </p:sp>
    </p:spTree>
    <p:extLst>
      <p:ext uri="{BB962C8B-B14F-4D97-AF65-F5344CB8AC3E}">
        <p14:creationId xmlns:p14="http://schemas.microsoft.com/office/powerpoint/2010/main" val="554167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F6FCD78-BC6C-7F00-A6BE-D3B2140D6800}"/>
              </a:ext>
            </a:extLst>
          </p:cNvPr>
          <p:cNvGraphicFramePr>
            <a:graphicFrameLocks noGrp="1"/>
          </p:cNvGraphicFramePr>
          <p:nvPr>
            <p:extLst>
              <p:ext uri="{D42A27DB-BD31-4B8C-83A1-F6EECF244321}">
                <p14:modId xmlns:p14="http://schemas.microsoft.com/office/powerpoint/2010/main" val="798720008"/>
              </p:ext>
            </p:extLst>
          </p:nvPr>
        </p:nvGraphicFramePr>
        <p:xfrm>
          <a:off x="5052156" y="-140375"/>
          <a:ext cx="7035385" cy="6873948"/>
        </p:xfrm>
        <a:graphic>
          <a:graphicData uri="http://schemas.openxmlformats.org/drawingml/2006/table">
            <a:tbl>
              <a:tblPr firstRow="1" bandRow="1">
                <a:tableStyleId>{BDBED569-4797-4DF1-A0F4-6AAB3CD982D8}</a:tableStyleId>
              </a:tblPr>
              <a:tblGrid>
                <a:gridCol w="1414849">
                  <a:extLst>
                    <a:ext uri="{9D8B030D-6E8A-4147-A177-3AD203B41FA5}">
                      <a16:colId xmlns:a16="http://schemas.microsoft.com/office/drawing/2014/main" val="2062954445"/>
                    </a:ext>
                  </a:extLst>
                </a:gridCol>
                <a:gridCol w="1405134">
                  <a:extLst>
                    <a:ext uri="{9D8B030D-6E8A-4147-A177-3AD203B41FA5}">
                      <a16:colId xmlns:a16="http://schemas.microsoft.com/office/drawing/2014/main" val="2087398900"/>
                    </a:ext>
                  </a:extLst>
                </a:gridCol>
                <a:gridCol w="1405134">
                  <a:extLst>
                    <a:ext uri="{9D8B030D-6E8A-4147-A177-3AD203B41FA5}">
                      <a16:colId xmlns:a16="http://schemas.microsoft.com/office/drawing/2014/main" val="1770002106"/>
                    </a:ext>
                  </a:extLst>
                </a:gridCol>
                <a:gridCol w="1405134">
                  <a:extLst>
                    <a:ext uri="{9D8B030D-6E8A-4147-A177-3AD203B41FA5}">
                      <a16:colId xmlns:a16="http://schemas.microsoft.com/office/drawing/2014/main" val="3198245400"/>
                    </a:ext>
                  </a:extLst>
                </a:gridCol>
                <a:gridCol w="1405134">
                  <a:extLst>
                    <a:ext uri="{9D8B030D-6E8A-4147-A177-3AD203B41FA5}">
                      <a16:colId xmlns:a16="http://schemas.microsoft.com/office/drawing/2014/main" val="1863599714"/>
                    </a:ext>
                  </a:extLst>
                </a:gridCol>
              </a:tblGrid>
              <a:tr h="1314627">
                <a:tc>
                  <a:txBody>
                    <a:bodyPr/>
                    <a:lstStyle/>
                    <a:p>
                      <a:pPr algn="ctr"/>
                      <a:endParaRPr lang="en-US" dirty="0"/>
                    </a:p>
                  </a:txBody>
                  <a:tcPr anchor="ct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sz="2000" dirty="0"/>
                        <a:t>RW +TX</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RW + ~TX</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RO + TX</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RO +    ~TX</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7714449"/>
                  </a:ext>
                </a:extLst>
              </a:tr>
              <a:tr h="1314627">
                <a:tc>
                  <a:txBody>
                    <a:bodyPr/>
                    <a:lstStyle/>
                    <a:p>
                      <a:pPr algn="ctr"/>
                      <a:r>
                        <a:rPr lang="en-US" sz="2000" b="1" kern="1200" dirty="0">
                          <a:solidFill>
                            <a:schemeClr val="tx1"/>
                          </a:solidFill>
                          <a:latin typeface="+mn-lt"/>
                          <a:ea typeface="+mn-ea"/>
                          <a:cs typeface="+mn-cs"/>
                        </a:rPr>
                        <a:t>PG + PQ</a:t>
                      </a:r>
                    </a:p>
                  </a:txBody>
                  <a:tcPr anchor="ctr">
                    <a:lnL w="12700" cmpd="sng">
                      <a:noFill/>
                    </a:lnL>
                    <a:lnR w="12700" cap="flat" cmpd="sng" algn="ctr">
                      <a:solidFill>
                        <a:schemeClr val="tx1"/>
                      </a:solidFill>
                      <a:prstDash val="solid"/>
                      <a:round/>
                      <a:headEnd type="none" w="med" len="med"/>
                      <a:tailEnd type="none" w="med" len="med"/>
                    </a:lnR>
                    <a:lnT w="25400" cmpd="sng">
                      <a:noFill/>
                    </a:lnT>
                    <a:lnB w="12700" cmpd="sng">
                      <a:noFill/>
                    </a:lnB>
                    <a:lnTlToBr w="12700" cmpd="sng">
                      <a:noFill/>
                      <a:prstDash val="solid"/>
                    </a:lnTlToBr>
                    <a:lnBlToTr w="12700" cmpd="sng">
                      <a:noFill/>
                      <a:prstDash val="solid"/>
                    </a:lnBlToTr>
                    <a:noFill/>
                  </a:tcPr>
                </a:tc>
                <a:tc>
                  <a:txBody>
                    <a:bodyPr/>
                    <a:lstStyle/>
                    <a:p>
                      <a:pPr algn="ctr"/>
                      <a:r>
                        <a:rPr lang="en-US" sz="2000" b="1" dirty="0"/>
                        <a:t>Graph 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ctr"/>
                      <a:r>
                        <a:rPr lang="en-US" sz="2000" b="1" dirty="0"/>
                        <a:t>RO snapshots of Property Graphs?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66023"/>
                  </a:ext>
                </a:extLst>
              </a:tr>
              <a:tr h="1314627">
                <a:tc>
                  <a:txBody>
                    <a:bodyPr/>
                    <a:lstStyle/>
                    <a:p>
                      <a:pPr algn="ctr"/>
                      <a:r>
                        <a:rPr lang="en-US" sz="2000" b="1" kern="1200" dirty="0">
                          <a:solidFill>
                            <a:schemeClr val="tx1"/>
                          </a:solidFill>
                          <a:latin typeface="+mn-lt"/>
                          <a:ea typeface="+mn-ea"/>
                          <a:cs typeface="+mn-cs"/>
                        </a:rPr>
                        <a:t>PG + ~PQ</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ctr"/>
                      <a:r>
                        <a:rPr lang="en-US" sz="20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792190"/>
                  </a:ext>
                </a:extLst>
              </a:tr>
              <a:tr h="1314627">
                <a:tc>
                  <a:txBody>
                    <a:bodyPr/>
                    <a:lstStyle/>
                    <a:p>
                      <a:pPr algn="ctr"/>
                      <a:r>
                        <a:rPr lang="en-US" sz="2000" b="1" kern="1200" dirty="0">
                          <a:solidFill>
                            <a:schemeClr val="tx1"/>
                          </a:solidFill>
                          <a:latin typeface="+mn-lt"/>
                          <a:ea typeface="+mn-ea"/>
                          <a:cs typeface="+mn-cs"/>
                        </a:rPr>
                        <a:t>SG + PQ</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b="1" dirty="0" err="1"/>
                        <a:t>Teseo</a:t>
                      </a:r>
                      <a:br>
                        <a:rPr lang="en-US" sz="2000" b="1" dirty="0"/>
                      </a:br>
                      <a:r>
                        <a:rPr lang="en-US" sz="2000" b="1" dirty="0" err="1"/>
                        <a:t>Sortledton</a:t>
                      </a:r>
                      <a:br>
                        <a:rPr lang="en-US" sz="1400" b="1" dirty="0"/>
                      </a:b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err="1"/>
                        <a:t>GraphOne</a:t>
                      </a:r>
                      <a:endParaRPr 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r"/>
                      <a:r>
                        <a:rPr lang="en-US" sz="2000" b="1" dirty="0"/>
                        <a:t>Static GPS + PQ API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0197186"/>
                  </a:ext>
                </a:extLst>
              </a:tr>
              <a:tr h="1599494">
                <a:tc>
                  <a:txBody>
                    <a:bodyPr/>
                    <a:lstStyle/>
                    <a:p>
                      <a:pPr algn="ctr"/>
                      <a:r>
                        <a:rPr lang="en-US" sz="2000" b="1" kern="1200" dirty="0">
                          <a:solidFill>
                            <a:schemeClr val="tx1"/>
                          </a:solidFill>
                          <a:latin typeface="+mn-lt"/>
                          <a:ea typeface="+mn-ea"/>
                          <a:cs typeface="+mn-cs"/>
                        </a:rPr>
                        <a:t>SG + ~PQ</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ctr"/>
                      <a:r>
                        <a:rPr lang="en-US" sz="2000" b="1" dirty="0"/>
                        <a:t>LLAMA</a:t>
                      </a:r>
                    </a:p>
                    <a:p>
                      <a:pPr algn="ctr"/>
                      <a:r>
                        <a:rPr lang="en-US" sz="2000" b="1" dirty="0"/>
                        <a:t>Kickstarter</a:t>
                      </a:r>
                      <a:br>
                        <a:rPr lang="en-US" sz="2000" b="1" dirty="0"/>
                      </a:br>
                      <a:r>
                        <a:rPr lang="en-US" sz="2000" b="1" dirty="0" err="1"/>
                        <a:t>GraphBolt</a:t>
                      </a:r>
                      <a:br>
                        <a:rPr lang="en-US" sz="2000" b="1" dirty="0"/>
                      </a:br>
                      <a:r>
                        <a:rPr lang="en-US" sz="2000" b="1" dirty="0"/>
                        <a:t>STINGER</a:t>
                      </a:r>
                      <a:br>
                        <a:rPr lang="en-US" sz="2000" b="1" dirty="0"/>
                      </a:br>
                      <a:r>
                        <a:rPr lang="en-US" sz="2000" b="1" dirty="0"/>
                        <a:t>ASPEN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accent1"/>
                      </a:fgClr>
                      <a:bgClr>
                        <a:schemeClr val="bg1"/>
                      </a:bgClr>
                    </a:pattFill>
                  </a:tcPr>
                </a:tc>
                <a:tc>
                  <a:txBody>
                    <a:bodyPr/>
                    <a:lstStyle/>
                    <a:p>
                      <a:pPr algn="ctr"/>
                      <a:r>
                        <a:rPr lang="en-US" sz="2000" b="1" dirty="0"/>
                        <a:t>Static GPS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890976"/>
                  </a:ext>
                </a:extLst>
              </a:tr>
            </a:tbl>
          </a:graphicData>
        </a:graphic>
      </p:graphicFrame>
      <p:sp>
        <p:nvSpPr>
          <p:cNvPr id="9" name="Title 8">
            <a:extLst>
              <a:ext uri="{FF2B5EF4-FFF2-40B4-BE49-F238E27FC236}">
                <a16:creationId xmlns:a16="http://schemas.microsoft.com/office/drawing/2014/main" id="{B0AB67B3-281E-A97B-16B2-F237A44A2B36}"/>
              </a:ext>
            </a:extLst>
          </p:cNvPr>
          <p:cNvSpPr>
            <a:spLocks noGrp="1"/>
          </p:cNvSpPr>
          <p:nvPr>
            <p:ph type="title"/>
          </p:nvPr>
        </p:nvSpPr>
        <p:spPr>
          <a:xfrm>
            <a:off x="239843" y="188912"/>
            <a:ext cx="5441429" cy="1600200"/>
          </a:xfrm>
        </p:spPr>
        <p:txBody>
          <a:bodyPr>
            <a:normAutofit/>
          </a:bodyPr>
          <a:lstStyle/>
          <a:p>
            <a:r>
              <a:rPr lang="en-US" sz="4400" b="1" dirty="0"/>
              <a:t>Distillation of the Design Space</a:t>
            </a:r>
          </a:p>
        </p:txBody>
      </p:sp>
      <p:grpSp>
        <p:nvGrpSpPr>
          <p:cNvPr id="13" name="Group 12">
            <a:extLst>
              <a:ext uri="{FF2B5EF4-FFF2-40B4-BE49-F238E27FC236}">
                <a16:creationId xmlns:a16="http://schemas.microsoft.com/office/drawing/2014/main" id="{2EDCEEFC-DD1C-95FF-B28D-BD71E970E3EF}"/>
              </a:ext>
            </a:extLst>
          </p:cNvPr>
          <p:cNvGrpSpPr/>
          <p:nvPr/>
        </p:nvGrpSpPr>
        <p:grpSpPr>
          <a:xfrm>
            <a:off x="239843" y="2187222"/>
            <a:ext cx="4563457" cy="1792543"/>
            <a:chOff x="7224889" y="1665978"/>
            <a:chExt cx="4563457" cy="1792543"/>
          </a:xfrm>
        </p:grpSpPr>
        <p:sp>
          <p:nvSpPr>
            <p:cNvPr id="14" name="Rectangle 13">
              <a:extLst>
                <a:ext uri="{FF2B5EF4-FFF2-40B4-BE49-F238E27FC236}">
                  <a16:creationId xmlns:a16="http://schemas.microsoft.com/office/drawing/2014/main" id="{81E13A89-CD0E-A063-6A6F-208AFCD3F2D4}"/>
                </a:ext>
              </a:extLst>
            </p:cNvPr>
            <p:cNvSpPr/>
            <p:nvPr/>
          </p:nvSpPr>
          <p:spPr>
            <a:xfrm>
              <a:off x="7224889" y="1665978"/>
              <a:ext cx="720000" cy="720000"/>
            </a:xfrm>
            <a:prstGeom prst="rect">
              <a:avLst/>
            </a:prstGeom>
            <a:pattFill prst="wdUpDiag">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52C8A2E-CA38-AE4A-5447-C555D58DAD21}"/>
                </a:ext>
              </a:extLst>
            </p:cNvPr>
            <p:cNvSpPr txBox="1"/>
            <p:nvPr/>
          </p:nvSpPr>
          <p:spPr>
            <a:xfrm>
              <a:off x="7944889" y="1702812"/>
              <a:ext cx="2824711" cy="646331"/>
            </a:xfrm>
            <a:prstGeom prst="rect">
              <a:avLst/>
            </a:prstGeom>
            <a:noFill/>
          </p:spPr>
          <p:txBody>
            <a:bodyPr wrap="square" rtlCol="0">
              <a:spAutoFit/>
            </a:bodyPr>
            <a:lstStyle/>
            <a:p>
              <a:r>
                <a:rPr lang="en-US" dirty="0"/>
                <a:t>This combination does/should not exist</a:t>
              </a:r>
            </a:p>
          </p:txBody>
        </p:sp>
        <p:sp>
          <p:nvSpPr>
            <p:cNvPr id="16" name="Rectangle 15">
              <a:extLst>
                <a:ext uri="{FF2B5EF4-FFF2-40B4-BE49-F238E27FC236}">
                  <a16:creationId xmlns:a16="http://schemas.microsoft.com/office/drawing/2014/main" id="{DDBBEC71-0C27-D0BE-2984-909965661CDA}"/>
                </a:ext>
              </a:extLst>
            </p:cNvPr>
            <p:cNvSpPr/>
            <p:nvPr/>
          </p:nvSpPr>
          <p:spPr>
            <a:xfrm>
              <a:off x="7224889" y="2738521"/>
              <a:ext cx="720000" cy="720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17" name="TextBox 16">
              <a:extLst>
                <a:ext uri="{FF2B5EF4-FFF2-40B4-BE49-F238E27FC236}">
                  <a16:creationId xmlns:a16="http://schemas.microsoft.com/office/drawing/2014/main" id="{041ACE3C-ABCA-2461-027D-90AC456EE666}"/>
                </a:ext>
              </a:extLst>
            </p:cNvPr>
            <p:cNvSpPr txBox="1"/>
            <p:nvPr/>
          </p:nvSpPr>
          <p:spPr>
            <a:xfrm>
              <a:off x="7944888" y="2775355"/>
              <a:ext cx="3843458" cy="646331"/>
            </a:xfrm>
            <a:prstGeom prst="rect">
              <a:avLst/>
            </a:prstGeom>
            <a:noFill/>
          </p:spPr>
          <p:txBody>
            <a:bodyPr wrap="square" rtlCol="0">
              <a:spAutoFit/>
            </a:bodyPr>
            <a:lstStyle/>
            <a:p>
              <a:r>
                <a:rPr lang="en-US" dirty="0"/>
                <a:t>This combination could exist, I don’t know which system implements it</a:t>
              </a:r>
            </a:p>
          </p:txBody>
        </p:sp>
      </p:grpSp>
      <p:sp>
        <p:nvSpPr>
          <p:cNvPr id="18" name="TextBox 17">
            <a:extLst>
              <a:ext uri="{FF2B5EF4-FFF2-40B4-BE49-F238E27FC236}">
                <a16:creationId xmlns:a16="http://schemas.microsoft.com/office/drawing/2014/main" id="{FE69D0F5-991C-88F5-2927-8FF3844AC928}"/>
              </a:ext>
            </a:extLst>
          </p:cNvPr>
          <p:cNvSpPr txBox="1"/>
          <p:nvPr/>
        </p:nvSpPr>
        <p:spPr>
          <a:xfrm>
            <a:off x="239843" y="4788697"/>
            <a:ext cx="3572966" cy="1323439"/>
          </a:xfrm>
          <a:prstGeom prst="rect">
            <a:avLst/>
          </a:prstGeom>
          <a:noFill/>
        </p:spPr>
        <p:txBody>
          <a:bodyPr wrap="none" rtlCol="0">
            <a:spAutoFit/>
          </a:bodyPr>
          <a:lstStyle/>
          <a:p>
            <a:r>
              <a:rPr lang="en-US" sz="2000" b="1" dirty="0"/>
              <a:t>PQ</a:t>
            </a:r>
            <a:r>
              <a:rPr lang="en-US" sz="2000" dirty="0"/>
              <a:t>: Point Queries are possible</a:t>
            </a:r>
          </a:p>
          <a:p>
            <a:r>
              <a:rPr lang="en-US" sz="2000" b="1" dirty="0"/>
              <a:t>PG</a:t>
            </a:r>
            <a:r>
              <a:rPr lang="en-US" sz="2000" dirty="0"/>
              <a:t>: Property Graphs supported</a:t>
            </a:r>
          </a:p>
          <a:p>
            <a:r>
              <a:rPr lang="en-US" sz="2000" b="1" dirty="0"/>
              <a:t>SG</a:t>
            </a:r>
            <a:r>
              <a:rPr lang="en-US" sz="2000" dirty="0"/>
              <a:t>: Structural Graphs Supported</a:t>
            </a:r>
          </a:p>
          <a:p>
            <a:r>
              <a:rPr lang="en-US" sz="2000" b="1" dirty="0"/>
              <a:t>TX</a:t>
            </a:r>
            <a:r>
              <a:rPr lang="en-US" sz="2000" dirty="0"/>
              <a:t>: Transactional Support</a:t>
            </a:r>
          </a:p>
        </p:txBody>
      </p:sp>
      <p:sp>
        <p:nvSpPr>
          <p:cNvPr id="3" name="Slide Number Placeholder 2">
            <a:extLst>
              <a:ext uri="{FF2B5EF4-FFF2-40B4-BE49-F238E27FC236}">
                <a16:creationId xmlns:a16="http://schemas.microsoft.com/office/drawing/2014/main" id="{A77910EE-EDEA-3204-76D2-8906530263F5}"/>
              </a:ext>
            </a:extLst>
          </p:cNvPr>
          <p:cNvSpPr>
            <a:spLocks noGrp="1"/>
          </p:cNvSpPr>
          <p:nvPr>
            <p:ph type="sldNum" sz="quarter" idx="12"/>
          </p:nvPr>
        </p:nvSpPr>
        <p:spPr/>
        <p:txBody>
          <a:bodyPr/>
          <a:lstStyle/>
          <a:p>
            <a:fld id="{0FA4238C-0B31-2640-B0B6-C8A5E6F89A2A}" type="slidenum">
              <a:rPr lang="en-US" smtClean="0"/>
              <a:t>17</a:t>
            </a:fld>
            <a:endParaRPr lang="en-US"/>
          </a:p>
        </p:txBody>
      </p:sp>
    </p:spTree>
    <p:extLst>
      <p:ext uri="{BB962C8B-B14F-4D97-AF65-F5344CB8AC3E}">
        <p14:creationId xmlns:p14="http://schemas.microsoft.com/office/powerpoint/2010/main" val="2640086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1716</TotalTime>
  <Words>2016</Words>
  <Application>Microsoft Macintosh PowerPoint</Application>
  <PresentationFormat>Widescreen</PresentationFormat>
  <Paragraphs>281</Paragraphs>
  <Slides>17</Slides>
  <Notes>16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Calibri</vt:lpstr>
      <vt:lpstr>Calibri Light</vt:lpstr>
      <vt:lpstr>Courier New</vt:lpstr>
      <vt:lpstr>Wingdings</vt:lpstr>
      <vt:lpstr>Office Theme</vt:lpstr>
      <vt:lpstr>Design Space of Graph Data Management Systems</vt:lpstr>
      <vt:lpstr>What we covered in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Taxonomy So Far</vt:lpstr>
      <vt:lpstr>The Taxonomy So Far</vt:lpstr>
      <vt:lpstr>PowerPoint Presentation</vt:lpstr>
      <vt:lpstr>PowerPoint Presentation</vt:lpstr>
      <vt:lpstr>PowerPoint Presentation</vt:lpstr>
      <vt:lpstr>PowerPoint Presentation</vt:lpstr>
      <vt:lpstr>Property Graph Systems</vt:lpstr>
      <vt:lpstr>Distillation of the Design Space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14</cp:revision>
  <dcterms:created xsi:type="dcterms:W3CDTF">2024-06-21T19:28:44Z</dcterms:created>
  <dcterms:modified xsi:type="dcterms:W3CDTF">2024-06-24T22:38:22Z</dcterms:modified>
</cp:coreProperties>
</file>