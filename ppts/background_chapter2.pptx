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70" r:id="rId15"/>
    <p:sldId id="271" r:id="rId16"/>
    <p:sldId id="268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53DC71-84B3-7F4F-B2AB-2A8AC648058A}">
          <p14:sldIdLst>
            <p14:sldId id="256"/>
            <p14:sldId id="257"/>
          </p14:sldIdLst>
        </p14:section>
        <p14:section name="Graph Models" id="{FADC4B17-36AE-1B4A-A89E-F9E34380F6B5}">
          <p14:sldIdLst>
            <p14:sldId id="258"/>
            <p14:sldId id="259"/>
            <p14:sldId id="260"/>
            <p14:sldId id="261"/>
          </p14:sldIdLst>
        </p14:section>
        <p14:section name="Workloads" id="{4D566526-AF13-B449-B713-850E91FEF1BC}">
          <p14:sldIdLst>
            <p14:sldId id="262"/>
            <p14:sldId id="263"/>
            <p14:sldId id="264"/>
            <p14:sldId id="265"/>
            <p14:sldId id="266"/>
          </p14:sldIdLst>
        </p14:section>
        <p14:section name="Graph Representations" id="{B11F7E54-BFF1-7F46-BA02-A7F14110D72C}">
          <p14:sldIdLst>
            <p14:sldId id="269"/>
            <p14:sldId id="267"/>
            <p14:sldId id="270"/>
            <p14:sldId id="271"/>
            <p14:sldId id="268"/>
            <p14:sldId id="272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73"/>
    <p:restoredTop sz="94759"/>
  </p:normalViewPr>
  <p:slideViewPr>
    <p:cSldViewPr snapToGrid="0">
      <p:cViewPr varScale="1">
        <p:scale>
          <a:sx n="57" d="100"/>
          <a:sy n="57" d="100"/>
        </p:scale>
        <p:origin x="200" y="3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2D80E-F062-9140-98CB-45F5C1225F13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DECF7-BA35-794F-B53B-1D920A209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5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D247-E092-E6D7-C836-FD2EF6A52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296F5-C920-F210-F3E1-18D538F0F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0F32-9D95-3D88-9001-7D9A2A7C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97D7-40C2-8647-89E7-1F149CD17D30}" type="datetime1">
              <a:rPr lang="en-CA" smtClean="0"/>
              <a:t>2024-06-24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2A45A-7CED-9CB7-7BEE-4528FF83B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8E68C-68E1-C68C-E2D3-69ACC79B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6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D45F-5BC8-8BB5-EC84-BBCFD9E4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69995-6DF7-9531-0E22-23894352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61CE1-D29B-1BE9-D4D2-78644207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0E00-C792-8D42-B55E-0628056E7E35}" type="datetime1">
              <a:rPr lang="en-CA" smtClean="0"/>
              <a:t>2024-06-24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AB4DD-D98F-204D-72CD-2332C807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028C-B72F-75C9-BC63-FB67CC5E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7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BFF7-F153-61EC-93C0-2D608BBF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22F7-7CAB-3957-2D2F-0685C5AB0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6B14B-EB40-33B2-DE1D-DB413108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B53FC-2C66-FD4E-94FB-F9A7A9E87713}" type="datetime1">
              <a:rPr lang="en-CA" smtClean="0"/>
              <a:t>2024-06-24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EBD7A-D9D6-F534-7996-1B3C2D81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09A70-DFF6-436D-2A15-381C6DA7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5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A61-B2CA-5B09-8564-9B0355E1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71169-2EE5-7C23-428B-46F6B9588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5781F-AC86-7FE2-A5B4-42CF5E37B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9F65A-BB0C-2A2F-2585-0A92ADE2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E40D-FC72-A447-856A-F00430D7AAD4}" type="datetime1">
              <a:rPr lang="en-CA" smtClean="0"/>
              <a:t>2024-06-24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96988-376C-E9BF-7D8A-C7D37332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655A4-8283-3637-579F-27ABBC56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4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590-5B18-AD20-50B5-024850A2F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00E48-F1A7-BED0-5427-7C326A015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BB950-9AAE-6F8D-83C1-027501AC8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06370-8F49-B487-97AE-83A990817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57CC2-E555-C64A-0B23-54241FDC3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20332-BCFE-7B65-56A1-A107C190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8C8F6-3E2C-5C40-AA89-90C6B8ECC63A}" type="datetime1">
              <a:rPr lang="en-CA" smtClean="0"/>
              <a:t>2024-06-24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9B4C5-79EE-6BB8-79F6-BF07FAAD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A3DF4-7282-D3A8-78FD-E32A505F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B769-9D66-7398-F93A-7704C31A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57C86-D656-B3D8-2425-BF91F4AE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63BD-52FF-D545-9EE1-58A39DB72790}" type="datetime1">
              <a:rPr lang="en-CA" smtClean="0"/>
              <a:t>2024-06-24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B2950-9F10-3D31-0A09-8CAB6505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E1AD-C810-5D86-09F8-ADD6EEF0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7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5EB89-F088-A60D-D983-C662BB2B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A30D-F9B8-5A4F-87DC-A8820D7E5100}" type="datetime1">
              <a:rPr lang="en-CA" smtClean="0"/>
              <a:t>2024-06-24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F9A7B-2469-AD43-18B0-AF541B67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9312E-8536-9428-5D1B-19468801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5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A5C2-FCD1-1A51-525D-B3A4A160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FF6E-3F23-26AB-ED2B-10038161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5A832-DD7C-1B18-5EE4-D4DCEF255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A9818-4ABA-F9FE-8F22-B136EEB9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1C89-B4A2-814D-BB0C-074F90AF1483}" type="datetime1">
              <a:rPr lang="en-CA" smtClean="0"/>
              <a:t>2024-06-24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FA192-97C9-65B9-061C-F0DE3B0A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01162-3FF2-B422-F564-119519CC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BF32-A897-3B0C-415B-4C41A468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72660-AB45-A956-71A9-38C7E4CB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A6E00-AE5A-15A0-480D-9446EF91A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4200A-8F96-CBDD-2058-74680CE4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8B4-69F3-194B-A273-8296EDD96FC6}" type="datetime1">
              <a:rPr lang="en-CA" smtClean="0"/>
              <a:t>2024-06-24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33BEE-BDDF-6F55-8061-B5A2C9ED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3B0BD-C2F7-D773-B0C1-3FB63E9D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2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299B-8171-9F33-6C70-63100D73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E69D9-A8E2-F59A-9093-0F58543B0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92A65-A6FF-9AB8-1781-61954A72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9AEE-DCC3-E149-8BCE-304FEDD99690}" type="datetime1">
              <a:rPr lang="en-CA" smtClean="0"/>
              <a:t>2024-06-24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2584A-E213-4829-8EE3-922D2387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F5D23-A655-D9E2-9B35-664703A6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9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58711-AFBF-4607-8EF6-8AC614E40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4AF19-CEEC-0A94-0DB8-FDABC82A6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91E91-8E46-08AF-9DAE-F0EE4D5B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FD11-DFAF-B34E-8391-F08D5706C485}" type="datetime1">
              <a:rPr lang="en-CA" smtClean="0"/>
              <a:t>2024-06-24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E289C-2F15-5712-34A6-A004B850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D4870-FF24-866F-57EA-720A0292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5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77F4E-BE5A-0D6D-D4F1-AA72E1E6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46D3B-B165-5674-DC19-950E4ABB7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1AA50-17D3-A23A-1F65-1111EFE5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EC0BF-CEAD-A141-B028-E0CB66D9812A}" type="datetime1">
              <a:rPr lang="en-CA" smtClean="0"/>
              <a:t>2024-06-24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7054C-91AD-7CC3-8A34-65D12BB4E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8E19A-D248-EE82-CC47-5BD8B21E6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A3271-2788-7A47-9931-1AB2728E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5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7DE2-D2DA-951B-BFC5-47A5561B5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63203-7A5C-3F26-74C4-6C082A2CB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D6D22-BCB7-F3F2-6ED8-9F79D4C6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1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3CC3-47B0-8A4B-1366-698B4BF8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E1FC-0FEC-026D-64E6-261CC207B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chapter covers the background information needed to understand the core of my thesis</a:t>
            </a:r>
          </a:p>
          <a:p>
            <a:r>
              <a:rPr lang="en-US" dirty="0"/>
              <a:t>This section formally describes a graph and an extended </a:t>
            </a:r>
            <a:r>
              <a:rPr lang="en-US" b="1" dirty="0"/>
              <a:t>model</a:t>
            </a:r>
            <a:r>
              <a:rPr lang="en-US" dirty="0"/>
              <a:t> that is used for real world relationship modeling. </a:t>
            </a:r>
          </a:p>
          <a:p>
            <a:r>
              <a:rPr lang="en-US" dirty="0"/>
              <a:t>Following that we describe </a:t>
            </a:r>
            <a:r>
              <a:rPr lang="en-US" b="1" dirty="0"/>
              <a:t>workloads</a:t>
            </a:r>
            <a:r>
              <a:rPr lang="en-US" dirty="0"/>
              <a:t> common on graph data, with a special emphasis on their access patterns on graph elements</a:t>
            </a:r>
          </a:p>
          <a:p>
            <a:r>
              <a:rPr lang="en-US" dirty="0"/>
              <a:t>We conclude with a discussion of common </a:t>
            </a:r>
            <a:r>
              <a:rPr lang="en-US" b="1" dirty="0"/>
              <a:t>graph representations </a:t>
            </a:r>
            <a:r>
              <a:rPr lang="en-US" dirty="0"/>
              <a:t>used to support these workloads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084F7-DE80-7F10-CDBF-C145AFA7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9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6928-36EE-73CA-D33E-A035B262E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2.1.1 Graph Models: Structural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00C92-94F6-84D7-D4CE-6C0014DF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3" y="1825625"/>
            <a:ext cx="11414234" cy="4351338"/>
          </a:xfrm>
        </p:spPr>
        <p:txBody>
          <a:bodyPr/>
          <a:lstStyle/>
          <a:p>
            <a:r>
              <a:rPr lang="en-US" dirty="0"/>
              <a:t>A graph G is defined as a pair G = (V, E) of sets V and E such that E ⊆ V × V ; V is the set of vertices of the graph G, and E is the set of edges of G</a:t>
            </a:r>
          </a:p>
          <a:p>
            <a:r>
              <a:rPr lang="en-US" dirty="0"/>
              <a:t>A weighted graph has a "weight" associated with each edge. Formally, a weighted graph G is modeled as a triple (V, E, w), where w : E → R maps edges to weights</a:t>
            </a:r>
          </a:p>
          <a:p>
            <a:endParaRPr lang="en-US" dirty="0"/>
          </a:p>
          <a:p>
            <a:r>
              <a:rPr lang="en-US" dirty="0"/>
              <a:t>This is definition is enough to define the structure of a graph dataset, and is sufficient for many graph analytic tasks that analyze the structure</a:t>
            </a:r>
          </a:p>
          <a:p>
            <a:pPr lvl="1"/>
            <a:r>
              <a:rPr lang="en-US" dirty="0"/>
              <a:t>PR, clustering coefficient, BFS, 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A96FF-3366-84B9-9333-7D7AD367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95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5621-E692-12B3-7B1D-0F7E4ED3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2.1.2 Graph Models: Property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88A99-F4F9-707B-AE85-AACC48E2B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4361"/>
          </a:xfrm>
        </p:spPr>
        <p:txBody>
          <a:bodyPr>
            <a:normAutofit/>
          </a:bodyPr>
          <a:lstStyle/>
          <a:p>
            <a:r>
              <a:rPr lang="en-US" dirty="0"/>
              <a:t>Real-world graphs model entities that have a “schema”, i.e. the vertices and edges have properties and labels</a:t>
            </a:r>
          </a:p>
          <a:p>
            <a:r>
              <a:rPr lang="en-US" dirty="0"/>
              <a:t>Modeling these is important for performing rich queries on the graph</a:t>
            </a:r>
          </a:p>
          <a:p>
            <a:pPr lvl="1"/>
            <a:r>
              <a:rPr lang="en-US" dirty="0"/>
              <a:t>“Which friends did Alice go to school with?” needs labels and properties,</a:t>
            </a:r>
          </a:p>
          <a:p>
            <a:r>
              <a:rPr lang="en-US" dirty="0"/>
              <a:t>Labels are unique, and each entity can have multiple labels.</a:t>
            </a:r>
          </a:p>
          <a:p>
            <a:r>
              <a:rPr lang="en-US" dirty="0"/>
              <a:t>Nodes/Edges have </a:t>
            </a:r>
            <a:r>
              <a:rPr lang="en-US" b="1" dirty="0"/>
              <a:t>labels</a:t>
            </a:r>
            <a:r>
              <a:rPr lang="en-US" dirty="0"/>
              <a:t> that provide ‘a type’ which can be used for filtering:</a:t>
            </a:r>
          </a:p>
          <a:p>
            <a:pPr lvl="1"/>
            <a:r>
              <a:rPr lang="en-US" dirty="0"/>
              <a:t>Node Label: users, organizations,.. </a:t>
            </a:r>
          </a:p>
          <a:p>
            <a:pPr lvl="1"/>
            <a:r>
              <a:rPr lang="en-US" dirty="0"/>
              <a:t>Edge Labels: is friends with, works at,..</a:t>
            </a:r>
          </a:p>
          <a:p>
            <a:pPr lvl="1"/>
            <a:r>
              <a:rPr lang="en-US" dirty="0"/>
              <a:t>Node labels are modeled as tables in a relational DB</a:t>
            </a:r>
          </a:p>
          <a:p>
            <a:pPr lvl="1"/>
            <a:r>
              <a:rPr lang="en-US" dirty="0"/>
              <a:t>Edge labels are modeled as join tables/foreign keys in a relational DB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B7D45-05A8-240E-B159-B810EA7C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4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8702-53A9-7D7C-EE80-D1402A72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2.1.2 Graph Models: Property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1098F-D473-7237-4820-41E326D3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Nodes/Edges in a property graph can also have an arbitrary number of properties associated with them</a:t>
            </a:r>
          </a:p>
          <a:p>
            <a:r>
              <a:rPr lang="en-US" dirty="0"/>
              <a:t>If a relational table is a label in the property graph, a row is the node, and the columns are the node properties</a:t>
            </a:r>
          </a:p>
          <a:p>
            <a:r>
              <a:rPr lang="en-US" dirty="0"/>
              <a:t>Ex: properties of a “person” label node could be name, date of birth, etc.</a:t>
            </a:r>
          </a:p>
          <a:p>
            <a:r>
              <a:rPr lang="en-US" dirty="0"/>
              <a:t>Ex: properties of a “works at” labeled edge could be starting date, level, etc.</a:t>
            </a:r>
          </a:p>
          <a:p>
            <a:r>
              <a:rPr lang="en-US" dirty="0"/>
              <a:t>Properties are labeled as key-value pairs, where the keys are fixed and derived from the graph “schema”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226F6-9F25-176E-9771-50F0E8E2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D3448-D94B-ECA7-F2C6-B15ABA68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898" y="365125"/>
            <a:ext cx="10515600" cy="1325563"/>
          </a:xfrm>
        </p:spPr>
        <p:txBody>
          <a:bodyPr/>
          <a:lstStyle/>
          <a:p>
            <a:r>
              <a:rPr lang="en-US" dirty="0"/>
              <a:t>2.1.2 Property Graph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F1AA4-91B1-622F-0CA3-DECAB503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4A1EB-46B9-F0CF-CBE0-D669B7EF0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1" y="2124178"/>
            <a:ext cx="11593737" cy="2626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DC4B0E-5653-FAF6-4694-53906FD34B42}"/>
              </a:ext>
            </a:extLst>
          </p:cNvPr>
          <p:cNvSpPr txBox="1"/>
          <p:nvPr/>
        </p:nvSpPr>
        <p:spPr>
          <a:xfrm>
            <a:off x="838200" y="4876800"/>
            <a:ext cx="4609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labels: Person, Movies</a:t>
            </a:r>
          </a:p>
          <a:p>
            <a:r>
              <a:rPr lang="en-US" dirty="0"/>
              <a:t>Node properties of Person node: name, gender</a:t>
            </a:r>
          </a:p>
          <a:p>
            <a:r>
              <a:rPr lang="en-US" dirty="0"/>
              <a:t>Node properties of Movie node: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0BAE53-7BC5-1409-0AA3-2B6B44DED818}"/>
              </a:ext>
            </a:extLst>
          </p:cNvPr>
          <p:cNvSpPr txBox="1"/>
          <p:nvPr/>
        </p:nvSpPr>
        <p:spPr>
          <a:xfrm>
            <a:off x="6096000" y="4876800"/>
            <a:ext cx="3621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 labels: </a:t>
            </a:r>
            <a:r>
              <a:rPr lang="en-US" dirty="0" err="1"/>
              <a:t>acts_in</a:t>
            </a:r>
            <a:r>
              <a:rPr lang="en-US" dirty="0"/>
              <a:t>, directs</a:t>
            </a:r>
          </a:p>
          <a:p>
            <a:r>
              <a:rPr lang="en-US" dirty="0"/>
              <a:t>Edge properties of </a:t>
            </a:r>
            <a:r>
              <a:rPr lang="en-US" dirty="0" err="1"/>
              <a:t>acts_in</a:t>
            </a:r>
            <a:r>
              <a:rPr lang="en-US" dirty="0"/>
              <a:t> edge: role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16522-794F-BD3F-CA14-C3F20BFEDCAB}"/>
              </a:ext>
            </a:extLst>
          </p:cNvPr>
          <p:cNvSpPr txBox="1"/>
          <p:nvPr/>
        </p:nvSpPr>
        <p:spPr>
          <a:xfrm>
            <a:off x="336331" y="6356350"/>
            <a:ext cx="85482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Figure from: “Foundations of Modern Query Languages for Graph Databases. ACM </a:t>
            </a:r>
            <a:r>
              <a:rPr lang="en-CA" sz="1200" dirty="0" err="1"/>
              <a:t>Comput</a:t>
            </a:r>
            <a:r>
              <a:rPr lang="en-CA" sz="1200" dirty="0"/>
              <a:t>. </a:t>
            </a:r>
            <a:r>
              <a:rPr lang="en-CA" sz="1200" dirty="0" err="1"/>
              <a:t>Surv</a:t>
            </a:r>
            <a:r>
              <a:rPr lang="en-CA" sz="1200" dirty="0"/>
              <a:t>. 50, 5, Article 68 (September 2018)”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33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26F9-CE46-5407-11E8-8FA9575D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Graph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9BB4B-1005-B2C8-542A-52ACC100D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workload roughly translates to “what can I do with a graph”?</a:t>
            </a:r>
          </a:p>
          <a:p>
            <a:endParaRPr lang="en-US" dirty="0"/>
          </a:p>
          <a:p>
            <a:r>
              <a:rPr lang="en-US" dirty="0"/>
              <a:t>Graph workloads fall into similar categories as relational database workloads:</a:t>
            </a:r>
          </a:p>
          <a:p>
            <a:pPr lvl="1"/>
            <a:r>
              <a:rPr lang="en-US" b="1" dirty="0"/>
              <a:t>Online Transaction Processing</a:t>
            </a:r>
            <a:r>
              <a:rPr lang="en-US" dirty="0"/>
              <a:t>: high-volume of short transactions that only alter small sets of the dataset; low-latency requirement</a:t>
            </a:r>
          </a:p>
          <a:p>
            <a:pPr lvl="1"/>
            <a:r>
              <a:rPr lang="en-US" b="1" dirty="0"/>
              <a:t>Online Analytics Processing</a:t>
            </a:r>
            <a:r>
              <a:rPr lang="en-US" dirty="0"/>
              <a:t>: high-volume of complex read-heavy operations that are less sensitive to latency but require a high throughput for access.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D0138-201D-973D-3B99-AF55D53B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7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37899B-1898-BFEB-98CF-00383AAEE569}"/>
              </a:ext>
            </a:extLst>
          </p:cNvPr>
          <p:cNvGrpSpPr/>
          <p:nvPr/>
        </p:nvGrpSpPr>
        <p:grpSpPr>
          <a:xfrm>
            <a:off x="4010464" y="5652549"/>
            <a:ext cx="4171071" cy="1048827"/>
            <a:chOff x="4311061" y="5610336"/>
            <a:chExt cx="4171071" cy="1048827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B3EFAA9-C66D-4B73-53D8-FD939C9D573B}"/>
                </a:ext>
              </a:extLst>
            </p:cNvPr>
            <p:cNvSpPr/>
            <p:nvPr/>
          </p:nvSpPr>
          <p:spPr>
            <a:xfrm>
              <a:off x="4311061" y="5610336"/>
              <a:ext cx="4171071" cy="566627"/>
            </a:xfrm>
            <a:custGeom>
              <a:avLst/>
              <a:gdLst>
                <a:gd name="connsiteX0" fmla="*/ 164145 w 3004458"/>
                <a:gd name="connsiteY0" fmla="*/ 0 h 433140"/>
                <a:gd name="connsiteX1" fmla="*/ 2822261 w 3004458"/>
                <a:gd name="connsiteY1" fmla="*/ 2 h 433140"/>
                <a:gd name="connsiteX2" fmla="*/ 2822265 w 3004458"/>
                <a:gd name="connsiteY2" fmla="*/ 1 h 433140"/>
                <a:gd name="connsiteX3" fmla="*/ 2822269 w 3004458"/>
                <a:gd name="connsiteY3" fmla="*/ 2 h 433140"/>
                <a:gd name="connsiteX4" fmla="*/ 2867810 w 3004458"/>
                <a:gd name="connsiteY4" fmla="*/ 2 h 433140"/>
                <a:gd name="connsiteX5" fmla="*/ 2867813 w 3004458"/>
                <a:gd name="connsiteY5" fmla="*/ 0 h 433140"/>
                <a:gd name="connsiteX6" fmla="*/ 2878724 w 3004458"/>
                <a:gd name="connsiteY6" fmla="*/ 4401 h 433140"/>
                <a:gd name="connsiteX7" fmla="*/ 2887072 w 3004458"/>
                <a:gd name="connsiteY7" fmla="*/ 14765 h 433140"/>
                <a:gd name="connsiteX8" fmla="*/ 2893183 w 3004458"/>
                <a:gd name="connsiteY8" fmla="*/ 17020 h 433140"/>
                <a:gd name="connsiteX9" fmla="*/ 3004458 w 3004458"/>
                <a:gd name="connsiteY9" fmla="*/ 216570 h 433140"/>
                <a:gd name="connsiteX10" fmla="*/ 2893183 w 3004458"/>
                <a:gd name="connsiteY10" fmla="*/ 416120 h 433140"/>
                <a:gd name="connsiteX11" fmla="*/ 2887072 w 3004458"/>
                <a:gd name="connsiteY11" fmla="*/ 418375 h 433140"/>
                <a:gd name="connsiteX12" fmla="*/ 2878724 w 3004458"/>
                <a:gd name="connsiteY12" fmla="*/ 428740 h 433140"/>
                <a:gd name="connsiteX13" fmla="*/ 2867813 w 3004458"/>
                <a:gd name="connsiteY13" fmla="*/ 433140 h 433140"/>
                <a:gd name="connsiteX14" fmla="*/ 182197 w 3004458"/>
                <a:gd name="connsiteY14" fmla="*/ 433139 h 433140"/>
                <a:gd name="connsiteX15" fmla="*/ 182193 w 3004458"/>
                <a:gd name="connsiteY15" fmla="*/ 433139 h 433140"/>
                <a:gd name="connsiteX16" fmla="*/ 182189 w 3004458"/>
                <a:gd name="connsiteY16" fmla="*/ 433139 h 433140"/>
                <a:gd name="connsiteX17" fmla="*/ 164145 w 3004458"/>
                <a:gd name="connsiteY17" fmla="*/ 433139 h 433140"/>
                <a:gd name="connsiteX18" fmla="*/ 156515 w 3004458"/>
                <a:gd name="connsiteY18" fmla="*/ 430062 h 433140"/>
                <a:gd name="connsiteX19" fmla="*/ 145475 w 3004458"/>
                <a:gd name="connsiteY19" fmla="*/ 428739 h 433140"/>
                <a:gd name="connsiteX20" fmla="*/ 0 w 3004458"/>
                <a:gd name="connsiteY20" fmla="*/ 216570 h 433140"/>
                <a:gd name="connsiteX21" fmla="*/ 145475 w 3004458"/>
                <a:gd name="connsiteY21" fmla="*/ 4401 h 433140"/>
                <a:gd name="connsiteX22" fmla="*/ 156512 w 3004458"/>
                <a:gd name="connsiteY22" fmla="*/ 3079 h 43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04458" h="433140">
                  <a:moveTo>
                    <a:pt x="164145" y="0"/>
                  </a:moveTo>
                  <a:lnTo>
                    <a:pt x="2822261" y="2"/>
                  </a:lnTo>
                  <a:lnTo>
                    <a:pt x="2822265" y="1"/>
                  </a:lnTo>
                  <a:lnTo>
                    <a:pt x="2822269" y="2"/>
                  </a:lnTo>
                  <a:lnTo>
                    <a:pt x="2867810" y="2"/>
                  </a:lnTo>
                  <a:lnTo>
                    <a:pt x="2867813" y="0"/>
                  </a:lnTo>
                  <a:cubicBezTo>
                    <a:pt x="2871551" y="0"/>
                    <a:pt x="2875200" y="1516"/>
                    <a:pt x="2878724" y="4401"/>
                  </a:cubicBezTo>
                  <a:lnTo>
                    <a:pt x="2887072" y="14765"/>
                  </a:lnTo>
                  <a:lnTo>
                    <a:pt x="2893183" y="17020"/>
                  </a:lnTo>
                  <a:cubicBezTo>
                    <a:pt x="2958575" y="49897"/>
                    <a:pt x="3004458" y="126864"/>
                    <a:pt x="3004458" y="216570"/>
                  </a:cubicBezTo>
                  <a:cubicBezTo>
                    <a:pt x="3004458" y="306276"/>
                    <a:pt x="2958575" y="383243"/>
                    <a:pt x="2893183" y="416120"/>
                  </a:cubicBezTo>
                  <a:lnTo>
                    <a:pt x="2887072" y="418375"/>
                  </a:lnTo>
                  <a:lnTo>
                    <a:pt x="2878724" y="428740"/>
                  </a:lnTo>
                  <a:cubicBezTo>
                    <a:pt x="2875200" y="431625"/>
                    <a:pt x="2871551" y="433140"/>
                    <a:pt x="2867813" y="433140"/>
                  </a:cubicBezTo>
                  <a:lnTo>
                    <a:pt x="182197" y="433139"/>
                  </a:lnTo>
                  <a:lnTo>
                    <a:pt x="182193" y="433139"/>
                  </a:lnTo>
                  <a:lnTo>
                    <a:pt x="182189" y="433139"/>
                  </a:lnTo>
                  <a:lnTo>
                    <a:pt x="164145" y="433139"/>
                  </a:lnTo>
                  <a:lnTo>
                    <a:pt x="156515" y="430062"/>
                  </a:lnTo>
                  <a:lnTo>
                    <a:pt x="145475" y="428739"/>
                  </a:lnTo>
                  <a:cubicBezTo>
                    <a:pt x="62453" y="408545"/>
                    <a:pt x="0" y="321227"/>
                    <a:pt x="0" y="216570"/>
                  </a:cubicBezTo>
                  <a:cubicBezTo>
                    <a:pt x="0" y="111913"/>
                    <a:pt x="62453" y="24595"/>
                    <a:pt x="145475" y="4401"/>
                  </a:cubicBezTo>
                  <a:lnTo>
                    <a:pt x="156512" y="307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33B"/>
                </a:gs>
                <a:gs pos="23000">
                  <a:srgbClr val="FDC70C"/>
                </a:gs>
                <a:gs pos="69000">
                  <a:srgbClr val="ED683C"/>
                </a:gs>
                <a:gs pos="44022">
                  <a:srgbClr val="F3903F"/>
                </a:gs>
                <a:gs pos="97000">
                  <a:srgbClr val="E93E3A"/>
                </a:gs>
              </a:gsLst>
              <a:lin ang="0" scaled="0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D055272-D9D1-4511-5B66-86550DCC72F8}"/>
                </a:ext>
              </a:extLst>
            </p:cNvPr>
            <p:cNvCxnSpPr/>
            <p:nvPr/>
          </p:nvCxnSpPr>
          <p:spPr>
            <a:xfrm>
              <a:off x="4655720" y="6329102"/>
              <a:ext cx="33340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C244B4-7AD0-1453-367B-134736CEF212}"/>
                </a:ext>
              </a:extLst>
            </p:cNvPr>
            <p:cNvSpPr txBox="1"/>
            <p:nvPr/>
          </p:nvSpPr>
          <p:spPr>
            <a:xfrm>
              <a:off x="5121130" y="6351386"/>
              <a:ext cx="2403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Increasing query complexity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3E5F6A-3F9E-36BF-C890-004AD9C55936}"/>
                </a:ext>
              </a:extLst>
            </p:cNvPr>
            <p:cNvSpPr txBox="1"/>
            <p:nvPr/>
          </p:nvSpPr>
          <p:spPr>
            <a:xfrm>
              <a:off x="4402273" y="5740790"/>
              <a:ext cx="6527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OLTP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F73FA5-E3F1-5278-2A92-8960D08DE70C}"/>
                </a:ext>
              </a:extLst>
            </p:cNvPr>
            <p:cNvSpPr txBox="1"/>
            <p:nvPr/>
          </p:nvSpPr>
          <p:spPr>
            <a:xfrm>
              <a:off x="7817940" y="5740790"/>
              <a:ext cx="6639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OLAP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171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81F6-2241-2036-5B3C-7E8D8D36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2.2.1 Graph Workloads  - Point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5925-281C-0BC0-453D-25241465B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queries have different scopes – the amount of the data they must read/write to finish</a:t>
            </a:r>
          </a:p>
          <a:p>
            <a:endParaRPr lang="en-US" dirty="0"/>
          </a:p>
          <a:p>
            <a:r>
              <a:rPr lang="en-US" b="1" dirty="0"/>
              <a:t>Short/local/point queries</a:t>
            </a:r>
            <a:r>
              <a:rPr lang="en-US" dirty="0"/>
              <a:t>: insert/delete/update </a:t>
            </a:r>
            <a:r>
              <a:rPr lang="en-US" i="1" dirty="0"/>
              <a:t>a single element</a:t>
            </a:r>
            <a:r>
              <a:rPr lang="en-US" dirty="0"/>
              <a:t>, find an element and/or it’s properties</a:t>
            </a:r>
          </a:p>
          <a:p>
            <a:pPr lvl="1"/>
            <a:r>
              <a:rPr lang="en-US" dirty="0"/>
              <a:t>These queries need to quickly find elements of a particular label or type.</a:t>
            </a:r>
          </a:p>
          <a:p>
            <a:pPr lvl="1"/>
            <a:r>
              <a:rPr lang="en-US" dirty="0"/>
              <a:t>Need an index on label or node/edge IDs or whichever property is useful for filtering</a:t>
            </a:r>
          </a:p>
          <a:p>
            <a:pPr lvl="1"/>
            <a:r>
              <a:rPr lang="en-US" dirty="0"/>
              <a:t>Common analytics use case: vertex lookup time.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AD1EF-9875-07FA-338B-347E9453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51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05FF-1E49-C1EF-AB7E-D54ADC1A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2.2.2 Graph Workloads – Neighborhood Queries	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0B88-30BE-1835-C5CF-778E117D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finding the neighbors of a node in the graph</a:t>
            </a:r>
          </a:p>
          <a:p>
            <a:pPr lvl="1"/>
            <a:r>
              <a:rPr lang="en-US" dirty="0"/>
              <a:t>Lists all incoming or outgoing edges from a node or nodes adjacent to a given edge.</a:t>
            </a:r>
          </a:p>
          <a:p>
            <a:pPr lvl="1"/>
            <a:r>
              <a:rPr lang="en-US" dirty="0"/>
              <a:t>This can be further restricted by the “type” or label of the edges/nodes returned</a:t>
            </a:r>
          </a:p>
          <a:p>
            <a:pPr lvl="1"/>
            <a:r>
              <a:rPr lang="en-US" dirty="0"/>
              <a:t>Ex: “Find Alice’s friends who studied with her at UBC.”</a:t>
            </a:r>
          </a:p>
          <a:p>
            <a:pPr lvl="1"/>
            <a:endParaRPr lang="en-US" dirty="0"/>
          </a:p>
          <a:p>
            <a:r>
              <a:rPr lang="en-US" dirty="0"/>
              <a:t>Neighborhood queries can be optimized by having sequential access to a nodes neighborhood, i.e. the neighbors are stored together and are reachable from the vertex/edge record.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47A85-298C-2381-BE52-1D271ECC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9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F031-9B09-F588-99A0-325994D8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2.2.3 Graph Workloads – Traversals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0F25-E1B4-7CD6-D98B-2C6CD00C7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Graph traversals means visiting graph graph elements, starting from “root” vertices, in some deterministic or random/sampling-based fashion.</a:t>
            </a:r>
          </a:p>
          <a:p>
            <a:r>
              <a:rPr lang="en-US" dirty="0"/>
              <a:t>1-hop traversal explores the immediate neighborhood; Traversals are hops of arbitrary length</a:t>
            </a:r>
          </a:p>
          <a:p>
            <a:pPr lvl="1"/>
            <a:r>
              <a:rPr lang="en-US" dirty="0"/>
              <a:t>Traversals can be constrained by restricting traversals to edges/vertices of a given label or with certain properties.</a:t>
            </a:r>
          </a:p>
          <a:p>
            <a:r>
              <a:rPr lang="en-US" dirty="0"/>
              <a:t>Ex: Do I have any friends who know people who are recruiters at Snowflake Inc?</a:t>
            </a:r>
          </a:p>
          <a:p>
            <a:endParaRPr lang="en-US" dirty="0"/>
          </a:p>
          <a:p>
            <a:r>
              <a:rPr lang="en-US" dirty="0"/>
              <a:t>This workload is inherently random and often not optimizable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41CDD-2939-65D9-D813-621067DE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CB35-7399-A0ED-E694-56CE7AE3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2.2.4 Graph Workloads – Whole Graph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E562-77E1-BAAE-6A16-BABAD574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66862"/>
          </a:xfrm>
        </p:spPr>
        <p:txBody>
          <a:bodyPr/>
          <a:lstStyle/>
          <a:p>
            <a:r>
              <a:rPr lang="en-US" dirty="0"/>
              <a:t>Computations for global properties such as vertex centralities, all pairs shortest path, or clustering coefficients. </a:t>
            </a:r>
          </a:p>
          <a:p>
            <a:pPr lvl="1"/>
            <a:r>
              <a:rPr lang="en-US" dirty="0"/>
              <a:t>These workloads access all vertices and edges in the graph, though not necessarily all properties and labels.</a:t>
            </a:r>
          </a:p>
          <a:p>
            <a:r>
              <a:rPr lang="en-US" dirty="0"/>
              <a:t>These computations access all vertices/edges in the graphs and their neighborhoods: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E6FEE-F283-F97B-9A05-1FDB0221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EFF40-91DE-988B-8506-B5A0FDF91814}"/>
              </a:ext>
            </a:extLst>
          </p:cNvPr>
          <p:cNvSpPr txBox="1"/>
          <p:nvPr/>
        </p:nvSpPr>
        <p:spPr>
          <a:xfrm>
            <a:off x="1205946" y="4738549"/>
            <a:ext cx="412142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for</a:t>
            </a:r>
            <a:r>
              <a:rPr lang="en-US" dirty="0">
                <a:highlight>
                  <a:srgbClr val="FFFF00"/>
                </a:highlight>
              </a:rPr>
              <a:t> v ∈ V </a:t>
            </a:r>
            <a:r>
              <a:rPr lang="en-US" b="1" dirty="0">
                <a:highlight>
                  <a:srgbClr val="FFFF00"/>
                </a:highlight>
              </a:rPr>
              <a:t>do</a:t>
            </a:r>
          </a:p>
          <a:p>
            <a:r>
              <a:rPr lang="en-US" dirty="0"/>
              <a:t>    incoming ← 0</a:t>
            </a:r>
          </a:p>
          <a:p>
            <a:r>
              <a:rPr lang="en-US" dirty="0">
                <a:highlight>
                  <a:srgbClr val="FFFF00"/>
                </a:highlight>
              </a:rPr>
              <a:t>    </a:t>
            </a:r>
            <a:r>
              <a:rPr lang="en-US" b="1" dirty="0">
                <a:highlight>
                  <a:srgbClr val="FFFF00"/>
                </a:highlight>
              </a:rPr>
              <a:t>for</a:t>
            </a:r>
            <a:r>
              <a:rPr lang="en-US" dirty="0">
                <a:highlight>
                  <a:srgbClr val="FFFF00"/>
                </a:highlight>
              </a:rPr>
              <a:t> e ∈ </a:t>
            </a:r>
            <a:r>
              <a:rPr lang="en-US" dirty="0" err="1">
                <a:highlight>
                  <a:srgbClr val="FFFF00"/>
                </a:highlight>
              </a:rPr>
              <a:t>v.neighbors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do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r>
              <a:rPr lang="en-US" dirty="0"/>
              <a:t>        incoming ← incoming + </a:t>
            </a:r>
            <a:r>
              <a:rPr lang="en-US" dirty="0" err="1"/>
              <a:t>contrib</a:t>
            </a:r>
            <a:r>
              <a:rPr lang="en-US" dirty="0"/>
              <a:t>[𝑒]</a:t>
            </a:r>
          </a:p>
          <a:p>
            <a:r>
              <a:rPr lang="en-US" dirty="0"/>
              <a:t>    scores[𝑣] ← incoming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3F614D-5E3E-9A01-525D-50D6A13BFD00}"/>
              </a:ext>
            </a:extLst>
          </p:cNvPr>
          <p:cNvCxnSpPr/>
          <p:nvPr/>
        </p:nvCxnSpPr>
        <p:spPr>
          <a:xfrm>
            <a:off x="2504661" y="4929809"/>
            <a:ext cx="485029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05581F-AF6A-0F6C-2C12-B09FAAC808AF}"/>
              </a:ext>
            </a:extLst>
          </p:cNvPr>
          <p:cNvSpPr txBox="1"/>
          <p:nvPr/>
        </p:nvSpPr>
        <p:spPr>
          <a:xfrm>
            <a:off x="7356250" y="4745143"/>
            <a:ext cx="3279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Sequential Vertex Access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C9F3F-2BF5-8072-44B3-40494343ACED}"/>
              </a:ext>
            </a:extLst>
          </p:cNvPr>
          <p:cNvSpPr txBox="1"/>
          <p:nvPr/>
        </p:nvSpPr>
        <p:spPr>
          <a:xfrm>
            <a:off x="7354957" y="5477213"/>
            <a:ext cx="3311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Sequential access to </a:t>
            </a:r>
          </a:p>
          <a:p>
            <a:r>
              <a:rPr lang="en-US" sz="2400" dirty="0"/>
              <a:t>edges in a Neighborhood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214267-F110-3BF0-EB79-2148B00194F8}"/>
              </a:ext>
            </a:extLst>
          </p:cNvPr>
          <p:cNvCxnSpPr>
            <a:endCxn id="10" idx="1"/>
          </p:cNvCxnSpPr>
          <p:nvPr/>
        </p:nvCxnSpPr>
        <p:spPr>
          <a:xfrm>
            <a:off x="3617843" y="5459464"/>
            <a:ext cx="3737114" cy="43324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5DC4CF-4367-72F7-642F-FC2E8FA6D4F8}"/>
              </a:ext>
            </a:extLst>
          </p:cNvPr>
          <p:cNvSpPr txBox="1"/>
          <p:nvPr/>
        </p:nvSpPr>
        <p:spPr>
          <a:xfrm>
            <a:off x="1490870" y="6356350"/>
            <a:ext cx="180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loop of PR</a:t>
            </a:r>
          </a:p>
        </p:txBody>
      </p:sp>
    </p:spTree>
    <p:extLst>
      <p:ext uri="{BB962C8B-B14F-4D97-AF65-F5344CB8AC3E}">
        <p14:creationId xmlns:p14="http://schemas.microsoft.com/office/powerpoint/2010/main" val="106775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EE64-1EF2-C719-A696-42C3BC5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Graph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5B54-6B2C-3FD5-7AB7-CA8553DC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Storing a property graph efficiently is the final objective of Flexograph</a:t>
            </a:r>
          </a:p>
          <a:p>
            <a:endParaRPr lang="en-US" dirty="0"/>
          </a:p>
          <a:p>
            <a:r>
              <a:rPr lang="en-US" dirty="0"/>
              <a:t>However, the first part of this project has been focused on storing structural graphs in formats that are analytics and point-query friendly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analytics-friendly representations are the focal point of our design</a:t>
            </a:r>
          </a:p>
          <a:p>
            <a:pPr lvl="1"/>
            <a:r>
              <a:rPr lang="en-US" dirty="0"/>
              <a:t>We will extend them to store properties and labels (See Chapter 5 – Storing Property Graphs)</a:t>
            </a:r>
          </a:p>
          <a:p>
            <a:pPr lvl="1"/>
            <a:endParaRPr lang="en-US" dirty="0"/>
          </a:p>
          <a:p>
            <a:r>
              <a:rPr lang="en-US" dirty="0"/>
              <a:t>We now examine the common analytics formats used to store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D68E9-F0F9-91FE-518C-3B928A1A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06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CE57-4250-049D-371A-8BD1017A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2.3.1 Graph Representations – Adjacency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B9DD5-5357-0357-8F6D-63A21A8C0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structural graph is represented as a n x n matrix &lt;follow this up with a def&gt;</a:t>
            </a:r>
          </a:p>
          <a:p>
            <a:r>
              <a:rPr lang="en-US" dirty="0"/>
              <a:t>Graphs are very large, sparse and follow power law</a:t>
            </a:r>
          </a:p>
          <a:p>
            <a:pPr lvl="1"/>
            <a:r>
              <a:rPr lang="en-US" dirty="0"/>
              <a:t>minority nodes have a high degree, while the majority have a very low degree</a:t>
            </a:r>
          </a:p>
          <a:p>
            <a:pPr lvl="1"/>
            <a:r>
              <a:rPr lang="en-US" dirty="0"/>
              <a:t>using an adjacency matrix leads to wasted space and poor cache utilization</a:t>
            </a:r>
          </a:p>
          <a:p>
            <a:pPr lvl="1"/>
            <a:endParaRPr lang="en-US" dirty="0"/>
          </a:p>
          <a:p>
            <a:r>
              <a:rPr lang="en-US" dirty="0"/>
              <a:t>Insert diagram </a:t>
            </a:r>
          </a:p>
          <a:p>
            <a:r>
              <a:rPr lang="en-US" dirty="0"/>
              <a:t>It is imperative to reduce the amount of RAM needed to store the graph, and therefore important to use compact 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B5E35-0965-EF0D-FBB8-02406149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4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91E1-4BC2-1EB1-292F-724682C1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2.3.1 Graph Representations – Adjacency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6DF57-46E2-ED41-0527-0103F1E8A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Adjacency Matrices provide:</a:t>
            </a:r>
          </a:p>
          <a:p>
            <a:pPr lvl="1"/>
            <a:r>
              <a:rPr lang="en-US" dirty="0"/>
              <a:t>O(1) access to nodes and edges</a:t>
            </a:r>
          </a:p>
          <a:p>
            <a:pPr lvl="1"/>
            <a:r>
              <a:rPr lang="en-US" dirty="0"/>
              <a:t>Sequential access to a node’s in- and out-neighborhoods</a:t>
            </a:r>
          </a:p>
          <a:p>
            <a:pPr lvl="1"/>
            <a:endParaRPr lang="en-US" dirty="0"/>
          </a:p>
          <a:p>
            <a:r>
              <a:rPr lang="en-US" dirty="0"/>
              <a:t>They are therefore great for all workloads we discussed in Section 2.4</a:t>
            </a:r>
          </a:p>
          <a:p>
            <a:r>
              <a:rPr lang="en-US" dirty="0"/>
              <a:t>However, space required: O(N</a:t>
            </a:r>
            <a:r>
              <a:rPr lang="en-US" baseline="30000" dirty="0"/>
              <a:t>2</a:t>
            </a:r>
            <a:r>
              <a:rPr lang="en-US" dirty="0"/>
              <a:t>). This is BAD</a:t>
            </a:r>
          </a:p>
          <a:p>
            <a:r>
              <a:rPr lang="en-US" dirty="0"/>
              <a:t>They can be used for evolving graphs where the final node count is known ahead of time </a:t>
            </a:r>
          </a:p>
          <a:p>
            <a:pPr lvl="1"/>
            <a:r>
              <a:rPr lang="en-US" dirty="0"/>
              <a:t>Rarely works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D7447-BC38-58B7-CDF4-274A600C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3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E2A3-D713-DFE4-1AB9-2D26A65B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02043" cy="1325563"/>
          </a:xfrm>
        </p:spPr>
        <p:txBody>
          <a:bodyPr/>
          <a:lstStyle/>
          <a:p>
            <a:r>
              <a:rPr lang="en-US" dirty="0"/>
              <a:t>2.3.2 Graph Representations – Compact Sparse 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B0349-A6F3-6B4A-45CB-7D9AE75D5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2042" cy="4351338"/>
          </a:xfrm>
        </p:spPr>
        <p:txBody>
          <a:bodyPr/>
          <a:lstStyle/>
          <a:p>
            <a:r>
              <a:rPr lang="en-US" dirty="0"/>
              <a:t>CSRs provide: </a:t>
            </a:r>
          </a:p>
          <a:p>
            <a:pPr lvl="1"/>
            <a:r>
              <a:rPr lang="en-US" dirty="0"/>
              <a:t>O(1) seeks to a vertex</a:t>
            </a:r>
          </a:p>
          <a:p>
            <a:pPr lvl="1"/>
            <a:r>
              <a:rPr lang="en-US" dirty="0"/>
              <a:t>Sequential scans of all the vertices in the graph (vertex array)</a:t>
            </a:r>
          </a:p>
          <a:p>
            <a:pPr lvl="1"/>
            <a:r>
              <a:rPr lang="en-US" dirty="0"/>
              <a:t>Sequential scan of a node’s neighborhood (neighborhood array)</a:t>
            </a:r>
          </a:p>
          <a:p>
            <a:endParaRPr lang="en-US" dirty="0"/>
          </a:p>
          <a:p>
            <a:r>
              <a:rPr lang="en-US" dirty="0"/>
              <a:t>CSRs are excellent for all analytics workloads</a:t>
            </a:r>
          </a:p>
          <a:p>
            <a:r>
              <a:rPr lang="en-US" dirty="0"/>
              <a:t>Since they are not mutable, they do not work well for dynamic structural graph storage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CB55-EFBE-AC2F-2675-0EEE5EB7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33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E2A3-D713-DFE4-1AB9-2D26A65B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02043" cy="1325563"/>
          </a:xfrm>
        </p:spPr>
        <p:txBody>
          <a:bodyPr/>
          <a:lstStyle/>
          <a:p>
            <a:r>
              <a:rPr lang="en-US" dirty="0"/>
              <a:t>2.3.2 Graph Representations – Compact Sparse 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B0349-A6F3-6B4A-45CB-7D9AE75D5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2042" cy="4351338"/>
          </a:xfrm>
        </p:spPr>
        <p:txBody>
          <a:bodyPr/>
          <a:lstStyle/>
          <a:p>
            <a:r>
              <a:rPr lang="en-US" dirty="0"/>
              <a:t>CSRs use two flat arrays to store the neighborhood of every vertex in a graph.</a:t>
            </a:r>
          </a:p>
          <a:p>
            <a:r>
              <a:rPr lang="en-US" dirty="0"/>
              <a:t>&lt;provide the </a:t>
            </a:r>
            <a:r>
              <a:rPr lang="en-US" dirty="0" err="1"/>
              <a:t>mathy</a:t>
            </a:r>
            <a:r>
              <a:rPr lang="en-US" dirty="0"/>
              <a:t> definition and a diagram&gt;</a:t>
            </a:r>
          </a:p>
          <a:p>
            <a:r>
              <a:rPr lang="en-US" dirty="0"/>
              <a:t>CSRs are </a:t>
            </a:r>
            <a:r>
              <a:rPr lang="en-US" b="1" dirty="0"/>
              <a:t>immutable</a:t>
            </a:r>
            <a:r>
              <a:rPr lang="en-US" dirty="0"/>
              <a:t>, and resizing the vertex and neighborhood arrays can involve a lot of data movement</a:t>
            </a:r>
          </a:p>
          <a:p>
            <a:r>
              <a:rPr lang="en-US" dirty="0"/>
              <a:t>Insertion friendly variants exist: Packed Memory Arrays, CSR++, and LLAMA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CB55-EFBE-AC2F-2675-0EEE5EB7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2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BB6D-593C-2D9D-565F-58293A3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2.3.3 Graph Representations – Adjacency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5F315-9DFA-567B-EAD8-8FE9C53A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Adjacency Lists can be constructed by splitting the adjacency matrix into per-vertex lists of neighborhoods</a:t>
            </a:r>
          </a:p>
          <a:p>
            <a:r>
              <a:rPr lang="en-US" dirty="0"/>
              <a:t>&lt;introduce the math behind the construction&gt;</a:t>
            </a:r>
          </a:p>
          <a:p>
            <a:r>
              <a:rPr lang="en-US" dirty="0"/>
              <a:t>The memory requirement for the adjacency list representation is O(|V| + |E|) which is better than the O(|V|</a:t>
            </a:r>
            <a:r>
              <a:rPr lang="en-US" baseline="30000" dirty="0"/>
              <a:t>2</a:t>
            </a:r>
            <a:r>
              <a:rPr lang="en-US" dirty="0"/>
              <a:t>) needed for adjacency matrix</a:t>
            </a:r>
          </a:p>
          <a:p>
            <a:r>
              <a:rPr lang="en-US" dirty="0" err="1"/>
              <a:t>AdjLists</a:t>
            </a:r>
            <a:r>
              <a:rPr lang="en-US" dirty="0"/>
              <a:t> are update friendly – the cost to update a node’s neighborhood is amortized O(1) and O(log(n)) if the neighborhood list must be kept sorted.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0505-66A4-F4A1-694C-ACE7747E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84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BB6D-593C-2D9D-565F-58293A3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2.3.3 Graph Representations – Adjacency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5F315-9DFA-567B-EAD8-8FE9C53A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Adjacency Lists provide:</a:t>
            </a:r>
          </a:p>
          <a:p>
            <a:pPr lvl="1"/>
            <a:r>
              <a:rPr lang="en-US" dirty="0"/>
              <a:t>O(1) seeks to a vertex</a:t>
            </a:r>
          </a:p>
          <a:p>
            <a:pPr lvl="1"/>
            <a:r>
              <a:rPr lang="en-US" dirty="0"/>
              <a:t>Random access to seek the neighborhood of a node (pointer chase)</a:t>
            </a:r>
          </a:p>
          <a:p>
            <a:pPr lvl="1"/>
            <a:r>
              <a:rPr lang="en-US" dirty="0"/>
              <a:t>Sequential access for scanning a nodes neighborhood</a:t>
            </a:r>
          </a:p>
          <a:p>
            <a:pPr lvl="1"/>
            <a:endParaRPr lang="en-US" dirty="0"/>
          </a:p>
          <a:p>
            <a:r>
              <a:rPr lang="en-US" dirty="0"/>
              <a:t>Adjacency lists are great for all workloads except ones that critically depend on sequential vertex scans </a:t>
            </a:r>
          </a:p>
          <a:p>
            <a:pPr lvl="1"/>
            <a:r>
              <a:rPr lang="en-US" dirty="0" err="1"/>
              <a:t>Sortledton</a:t>
            </a:r>
            <a:r>
              <a:rPr lang="en-US" dirty="0"/>
              <a:t> shows that this never happens and </a:t>
            </a:r>
            <a:r>
              <a:rPr lang="en-US" dirty="0" err="1"/>
              <a:t>AdjList</a:t>
            </a:r>
            <a:r>
              <a:rPr lang="en-US" dirty="0"/>
              <a:t> perf remains within 40% of CSR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0505-66A4-F4A1-694C-ACE7747E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6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B4B4-A39F-8C68-1115-960AA153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2.3.4 Persistent Graph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D096-A99F-5676-1AA9-E8ED77060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Sometimes we want a persistent graph representation</a:t>
            </a:r>
          </a:p>
          <a:p>
            <a:pPr lvl="1"/>
            <a:r>
              <a:rPr lang="en-US" dirty="0"/>
              <a:t>Can be loaded back into memory on demand and *just work* </a:t>
            </a:r>
          </a:p>
          <a:p>
            <a:endParaRPr lang="en-CA" dirty="0">
              <a:solidFill>
                <a:srgbClr val="000000"/>
              </a:solidFill>
              <a:effectLst/>
            </a:endParaRPr>
          </a:p>
          <a:p>
            <a:r>
              <a:rPr lang="en-CA" dirty="0">
                <a:solidFill>
                  <a:srgbClr val="000000"/>
                </a:solidFill>
              </a:rPr>
              <a:t>Per</a:t>
            </a:r>
            <a:r>
              <a:rPr lang="en-CA" dirty="0">
                <a:solidFill>
                  <a:srgbClr val="000000"/>
                </a:solidFill>
                <a:effectLst/>
              </a:rPr>
              <a:t>sistent data structures need to be block-based</a:t>
            </a:r>
          </a:p>
          <a:p>
            <a:pPr lvl="1"/>
            <a:r>
              <a:rPr lang="en-CA" dirty="0">
                <a:solidFill>
                  <a:srgbClr val="000000"/>
                </a:solidFill>
                <a:effectLst/>
              </a:rPr>
              <a:t>None of the in-memory representations are</a:t>
            </a:r>
          </a:p>
          <a:p>
            <a:pPr lvl="1"/>
            <a:endParaRPr lang="en-CA" dirty="0">
              <a:solidFill>
                <a:srgbClr val="000000"/>
              </a:solidFill>
            </a:endParaRPr>
          </a:p>
          <a:p>
            <a:r>
              <a:rPr lang="en-CA" dirty="0">
                <a:solidFill>
                  <a:srgbClr val="000000"/>
                </a:solidFill>
              </a:rPr>
              <a:t>An example of persistent graph representation is LLAMA</a:t>
            </a:r>
          </a:p>
          <a:p>
            <a:pPr lvl="1"/>
            <a:r>
              <a:rPr lang="en-CA" dirty="0">
                <a:solidFill>
                  <a:srgbClr val="000000"/>
                </a:solidFill>
              </a:rPr>
              <a:t>It is a block based, persistent CSR representation</a:t>
            </a:r>
          </a:p>
          <a:p>
            <a:pPr lvl="1"/>
            <a:endParaRPr lang="en-CA" dirty="0">
              <a:solidFill>
                <a:srgbClr val="000000"/>
              </a:solidFill>
            </a:endParaRPr>
          </a:p>
          <a:p>
            <a:r>
              <a:rPr lang="en-CA" dirty="0">
                <a:solidFill>
                  <a:srgbClr val="000000"/>
                </a:solidFill>
              </a:rPr>
              <a:t>Semi-External and Out-of-Core GPS preprocess the graph to construct on-disk files containing neighborhoods  which can be streamed sequentially.</a:t>
            </a:r>
          </a:p>
          <a:p>
            <a:pPr lvl="1"/>
            <a:r>
              <a:rPr lang="en-CA" dirty="0">
                <a:solidFill>
                  <a:srgbClr val="000000"/>
                </a:solidFill>
              </a:rPr>
              <a:t>Refer the chapter on Design Space for a taxonomy; details of individual systems are presented in the chapter on related work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989E6-71FF-88DE-A01E-4B12A1DE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3271-2788-7A47-9931-1AB2728E43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1603</Words>
  <Application>Microsoft Macintosh PowerPoint</Application>
  <PresentationFormat>Widescreen</PresentationFormat>
  <Paragraphs>162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Background</vt:lpstr>
      <vt:lpstr>Outline</vt:lpstr>
      <vt:lpstr>2.1.1 Graph Models: Structural Graph</vt:lpstr>
      <vt:lpstr>2.1.2 Graph Models: Property Graphs</vt:lpstr>
      <vt:lpstr>2.1.2 Graph Models: Property Graphs</vt:lpstr>
      <vt:lpstr>2.1.2 Property Graph Example</vt:lpstr>
      <vt:lpstr>2.2 Graph Workloads</vt:lpstr>
      <vt:lpstr>2.2.1 Graph Workloads  - Point Queries</vt:lpstr>
      <vt:lpstr>2.2.2 Graph Workloads – Neighborhood Queries  </vt:lpstr>
      <vt:lpstr>2.2.3 Graph Workloads – Traversals</vt:lpstr>
      <vt:lpstr>2.2.4 Graph Workloads – Whole Graph Analytics</vt:lpstr>
      <vt:lpstr>2.3 Graph representations</vt:lpstr>
      <vt:lpstr>2.3.1 Graph Representations – Adjacency Matrix</vt:lpstr>
      <vt:lpstr>2.3.1 Graph Representations – Adjacency Matrix</vt:lpstr>
      <vt:lpstr>2.3.2 Graph Representations – Compact Sparse Row</vt:lpstr>
      <vt:lpstr>2.3.2 Graph Representations – Compact Sparse Row</vt:lpstr>
      <vt:lpstr>2.3.3 Graph Representations – Adjacency Lists</vt:lpstr>
      <vt:lpstr>2.3.3 Graph Representations – Adjacency Lists</vt:lpstr>
      <vt:lpstr>2.3.4 Persistent Graph Representations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</cp:revision>
  <dcterms:created xsi:type="dcterms:W3CDTF">2024-06-22T23:18:56Z</dcterms:created>
  <dcterms:modified xsi:type="dcterms:W3CDTF">2024-06-24T15:30:17Z</dcterms:modified>
</cp:coreProperties>
</file>