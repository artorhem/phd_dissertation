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Slides/notesSlide6.xml" ContentType="application/vnd.openxmlformats-officedocument.presentationml.notesSlide+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9" r:id="rId3"/>
    <p:sldId id="263" r:id="rId4"/>
    <p:sldId id="265" r:id="rId5"/>
    <p:sldId id="264" r:id="rId6"/>
    <p:sldId id="268" r:id="rId7"/>
    <p:sldId id="267" r:id="rId8"/>
    <p:sldId id="266" r:id="rId9"/>
    <p:sldId id="272" r:id="rId10"/>
    <p:sldId id="270" r:id="rId11"/>
    <p:sldId id="258" r:id="rId12"/>
    <p:sldId id="259" r:id="rId13"/>
    <p:sldId id="261"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go Seltzer" initials="MS" lastIdx="4" clrIdx="0">
    <p:extLst>
      <p:ext uri="{19B8F6BF-5375-455C-9EA6-DF929625EA0E}">
        <p15:presenceInfo xmlns:p15="http://schemas.microsoft.com/office/powerpoint/2012/main" userId="914afe9237720b4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75"/>
    <p:restoredTop sz="63059"/>
  </p:normalViewPr>
  <p:slideViewPr>
    <p:cSldViewPr snapToGrid="0">
      <p:cViewPr varScale="1">
        <p:scale>
          <a:sx n="120" d="100"/>
          <a:sy n="120" d="100"/>
        </p:scale>
        <p:origin x="208" y="1712"/>
      </p:cViewPr>
      <p:guideLst/>
    </p:cSldViewPr>
  </p:slideViewPr>
  <p:outlineViewPr>
    <p:cViewPr>
      <p:scale>
        <a:sx n="33" d="100"/>
        <a:sy n="33" d="100"/>
      </p:scale>
      <p:origin x="0" y="0"/>
    </p:cViewPr>
  </p:outlin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26T07:23:30.904" idx="1">
    <p:pos x="10" y="10"/>
    <p:text>This seems similar to RQ1 — the question is how we compare to other systems — then we categorize those other systems in terms of: in-memory, OOC, dynamic, so I might label these as RQ1a, RQ1b and RQ1c</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8-26T07:25:20.663" idx="2">
    <p:pos x="6288" y="2655"/>
    <p:text>I need a bigger screen to look at these carefully (I’m on my iPad), but the results look interesting!  Lots to talk about.
I wonder if it makes sense to show zoom-ins of the first 30 minutes as that seems to be where the action is?</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8-26T07:26:04.327" idx="3">
    <p:pos x="10" y="10"/>
    <p:text>Do we have Flexograph results for this?</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08-26T07:27:29.656" idx="4">
    <p:pos x="10" y="10"/>
    <p:text>Are there no other large/interesting real-world data sets?
How useful is it to analyze the small (&lt;5 GB) data sets?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ACA458-00F3-F041-9625-9B85E67A9445}" type="datetimeFigureOut">
              <a:rPr lang="en-US" smtClean="0"/>
              <a:t>8/26/25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B5AA2-AE0F-744D-93A9-AE222960148A}" type="slidenum">
              <a:rPr lang="en-US" smtClean="0"/>
              <a:t>‹#›</a:t>
            </a:fld>
            <a:endParaRPr lang="en-US"/>
          </a:p>
        </p:txBody>
      </p:sp>
    </p:spTree>
    <p:extLst>
      <p:ext uri="{BB962C8B-B14F-4D97-AF65-F5344CB8AC3E}">
        <p14:creationId xmlns:p14="http://schemas.microsoft.com/office/powerpoint/2010/main" val="3019034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might think about this as two different evals (which autocorrect helpfully suggested should be evils):</a:t>
            </a:r>
          </a:p>
          <a:p>
            <a:endParaRPr lang="en-US" dirty="0"/>
          </a:p>
          <a:p>
            <a:pPr marL="228600" indent="-228600">
              <a:buAutoNum type="arabicPeriod"/>
            </a:pPr>
            <a:r>
              <a:rPr lang="en-US" dirty="0"/>
              <a:t>Comparison to other systems</a:t>
            </a:r>
          </a:p>
          <a:p>
            <a:pPr marL="685800" lvl="1" indent="-228600">
              <a:buAutoNum type="arabicPeriod"/>
            </a:pPr>
            <a:r>
              <a:rPr lang="en-US" dirty="0"/>
              <a:t>Graph Analytics</a:t>
            </a:r>
          </a:p>
          <a:p>
            <a:pPr marL="685800" lvl="1" indent="-228600">
              <a:buAutoNum type="arabicPeriod"/>
            </a:pPr>
            <a:r>
              <a:rPr lang="en-US" dirty="0"/>
              <a:t>OLTP</a:t>
            </a:r>
          </a:p>
          <a:p>
            <a:pPr marL="228600" lvl="0" indent="-228600">
              <a:buAutoNum type="arabicPeriod"/>
            </a:pPr>
            <a:r>
              <a:rPr lang="en-US" dirty="0"/>
              <a:t>Studying the impact of different configuration.</a:t>
            </a:r>
          </a:p>
          <a:p>
            <a:pPr marL="228600" lvl="0" indent="-228600">
              <a:buAutoNum type="arabicPeriod"/>
            </a:pPr>
            <a:endParaRPr lang="en-US" dirty="0"/>
          </a:p>
          <a:p>
            <a:pPr marL="228600" lvl="0" indent="-228600">
              <a:buAutoNum type="arabicPeriod"/>
            </a:pPr>
            <a:r>
              <a:rPr lang="en-US" dirty="0"/>
              <a:t>I’ve probably reversed the order here, but you get the idea.</a:t>
            </a:r>
          </a:p>
        </p:txBody>
      </p:sp>
      <p:sp>
        <p:nvSpPr>
          <p:cNvPr id="4" name="Slide Number Placeholder 3"/>
          <p:cNvSpPr>
            <a:spLocks noGrp="1"/>
          </p:cNvSpPr>
          <p:nvPr>
            <p:ph type="sldNum" sz="quarter" idx="5"/>
          </p:nvPr>
        </p:nvSpPr>
        <p:spPr/>
        <p:txBody>
          <a:bodyPr/>
          <a:lstStyle/>
          <a:p>
            <a:fld id="{C12B5AA2-AE0F-744D-93A9-AE222960148A}" type="slidenum">
              <a:rPr lang="en-US" smtClean="0"/>
              <a:t>2</a:t>
            </a:fld>
            <a:endParaRPr lang="en-US"/>
          </a:p>
        </p:txBody>
      </p:sp>
    </p:spTree>
    <p:extLst>
      <p:ext uri="{BB962C8B-B14F-4D97-AF65-F5344CB8AC3E}">
        <p14:creationId xmlns:p14="http://schemas.microsoft.com/office/powerpoint/2010/main" val="4143903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I’d switch the phrasing a bit:</a:t>
            </a:r>
          </a:p>
          <a:p>
            <a:endParaRPr lang="en-US" dirty="0"/>
          </a:p>
          <a:p>
            <a:r>
              <a:rPr lang="en-US" dirty="0"/>
              <a:t>Comparing to graph analytic engines: since these systems run entirely in memory, we evaluate </a:t>
            </a:r>
            <a:r>
              <a:rPr lang="en-US" dirty="0" err="1"/>
              <a:t>Flexograph</a:t>
            </a:r>
            <a:r>
              <a:rPr lang="en-US" dirty="0"/>
              <a:t> when its cache is large enough to hold the entire data set.</a:t>
            </a:r>
          </a:p>
          <a:p>
            <a:endParaRPr lang="en-US" dirty="0"/>
          </a:p>
          <a:p>
            <a:r>
              <a:rPr lang="en-US" dirty="0"/>
              <a:t>[I’m thinking about the eval comprehensively for the thesis and perhaps not quite focused on the current paper, so adjust appropriately.]</a:t>
            </a:r>
          </a:p>
          <a:p>
            <a:r>
              <a:rPr lang="en-US" dirty="0"/>
              <a:t>You could imagine that in the internal eval, you start with memory holding the entire data set and then show how performance degrades (ideally gracefully) as the cache shrinks, e.g., 100%, 90%, 75%, 50% or something like that. We don’t have to do this now, but it’s the kind of thing we’d want to look at in the analysis of tweaking internal parameters.</a:t>
            </a:r>
          </a:p>
        </p:txBody>
      </p:sp>
      <p:sp>
        <p:nvSpPr>
          <p:cNvPr id="4" name="Slide Number Placeholder 3"/>
          <p:cNvSpPr>
            <a:spLocks noGrp="1"/>
          </p:cNvSpPr>
          <p:nvPr>
            <p:ph type="sldNum" sz="quarter" idx="5"/>
          </p:nvPr>
        </p:nvSpPr>
        <p:spPr/>
        <p:txBody>
          <a:bodyPr/>
          <a:lstStyle/>
          <a:p>
            <a:fld id="{C12B5AA2-AE0F-744D-93A9-AE222960148A}" type="slidenum">
              <a:rPr lang="en-US" smtClean="0"/>
              <a:t>3</a:t>
            </a:fld>
            <a:endParaRPr lang="en-US"/>
          </a:p>
        </p:txBody>
      </p:sp>
    </p:spTree>
    <p:extLst>
      <p:ext uri="{BB962C8B-B14F-4D97-AF65-F5344CB8AC3E}">
        <p14:creationId xmlns:p14="http://schemas.microsoft.com/office/powerpoint/2010/main" val="3428928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tweak this a bit: having compared to in-memory systems, let’s now consider systems that support OOC execution.</a:t>
            </a:r>
          </a:p>
          <a:p>
            <a:endParaRPr lang="en-US" dirty="0"/>
          </a:p>
          <a:p>
            <a:r>
              <a:rPr lang="en-US" dirty="0"/>
              <a:t>Do the systems we’re comparing to have a cache such that we should compare different fractions of the data set fitting in cache?</a:t>
            </a:r>
          </a:p>
        </p:txBody>
      </p:sp>
      <p:sp>
        <p:nvSpPr>
          <p:cNvPr id="4" name="Slide Number Placeholder 3"/>
          <p:cNvSpPr>
            <a:spLocks noGrp="1"/>
          </p:cNvSpPr>
          <p:nvPr>
            <p:ph type="sldNum" sz="quarter" idx="5"/>
          </p:nvPr>
        </p:nvSpPr>
        <p:spPr/>
        <p:txBody>
          <a:bodyPr/>
          <a:lstStyle/>
          <a:p>
            <a:fld id="{C12B5AA2-AE0F-744D-93A9-AE222960148A}" type="slidenum">
              <a:rPr lang="en-US" smtClean="0"/>
              <a:t>5</a:t>
            </a:fld>
            <a:endParaRPr lang="en-US"/>
          </a:p>
        </p:txBody>
      </p:sp>
    </p:spTree>
    <p:extLst>
      <p:ext uri="{BB962C8B-B14F-4D97-AF65-F5344CB8AC3E}">
        <p14:creationId xmlns:p14="http://schemas.microsoft.com/office/powerpoint/2010/main" val="2335593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 — this is exactly what I was suggesting, but it fits into two parts: internally, we assess our own graceful degradation and then when comparing to other systems that support cache-like behavior, we can refer back to these results. </a:t>
            </a:r>
          </a:p>
          <a:p>
            <a:endParaRPr lang="en-US" dirty="0"/>
          </a:p>
          <a:p>
            <a:r>
              <a:rPr lang="en-US" dirty="0"/>
              <a:t>So completely agree with the RQ, but situate it as an analysis of </a:t>
            </a:r>
            <a:r>
              <a:rPr lang="en-US" dirty="0" err="1"/>
              <a:t>Flexograph</a:t>
            </a:r>
            <a:r>
              <a:rPr lang="en-US" dirty="0"/>
              <a:t> config parameters.</a:t>
            </a:r>
          </a:p>
          <a:p>
            <a:endParaRPr lang="en-US" dirty="0"/>
          </a:p>
          <a:p>
            <a:r>
              <a:rPr lang="en-US" dirty="0"/>
              <a:t>I think we probably want to try a few more values than just 100% and 50% (see earlier comments).</a:t>
            </a:r>
          </a:p>
        </p:txBody>
      </p:sp>
      <p:sp>
        <p:nvSpPr>
          <p:cNvPr id="4" name="Slide Number Placeholder 3"/>
          <p:cNvSpPr>
            <a:spLocks noGrp="1"/>
          </p:cNvSpPr>
          <p:nvPr>
            <p:ph type="sldNum" sz="quarter" idx="5"/>
          </p:nvPr>
        </p:nvSpPr>
        <p:spPr/>
        <p:txBody>
          <a:bodyPr/>
          <a:lstStyle/>
          <a:p>
            <a:fld id="{C12B5AA2-AE0F-744D-93A9-AE222960148A}" type="slidenum">
              <a:rPr lang="en-US" smtClean="0"/>
              <a:t>6</a:t>
            </a:fld>
            <a:endParaRPr lang="en-US"/>
          </a:p>
        </p:txBody>
      </p:sp>
    </p:spTree>
    <p:extLst>
      <p:ext uri="{BB962C8B-B14F-4D97-AF65-F5344CB8AC3E}">
        <p14:creationId xmlns:p14="http://schemas.microsoft.com/office/powerpoint/2010/main" val="3912256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What is the preprocessing time for an in-memory dynamic graph system and how is this different for </a:t>
            </a:r>
            <a:r>
              <a:rPr lang="en-US" sz="2000" dirty="0" err="1"/>
              <a:t>FlexoGraph</a:t>
            </a:r>
            <a:r>
              <a:rPr lang="en-US" sz="2000" dirty="0"/>
              <a:t>?</a:t>
            </a:r>
          </a:p>
          <a:p>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Teseo has results for both real-ID and logical ID based </a:t>
            </a:r>
            <a:r>
              <a:rPr lang="en-US" sz="2800" dirty="0" err="1"/>
              <a:t>graphalytics</a:t>
            </a:r>
            <a:r>
              <a:rPr lang="en-US" sz="2800" dirty="0"/>
              <a:t> runs. The logical ID based implementation uses a static hash-map for conversion. This is </a:t>
            </a:r>
            <a:r>
              <a:rPr lang="en-CA" sz="2800" kern="1200" dirty="0">
                <a:solidFill>
                  <a:schemeClr val="tx1"/>
                </a:solidFill>
                <a:latin typeface="+mn-lt"/>
                <a:ea typeface="+mn-ea"/>
                <a:cs typeface="+mn-cs"/>
              </a:rPr>
              <a:t>used in the Materialization step at the end of a </a:t>
            </a:r>
            <a:r>
              <a:rPr lang="en-CA" sz="2800" kern="1200" dirty="0" err="1">
                <a:solidFill>
                  <a:schemeClr val="tx1"/>
                </a:solidFill>
                <a:latin typeface="+mn-lt"/>
                <a:ea typeface="+mn-ea"/>
                <a:cs typeface="+mn-cs"/>
              </a:rPr>
              <a:t>Graphalytics</a:t>
            </a:r>
            <a:r>
              <a:rPr lang="en-CA" sz="2800" kern="1200" dirty="0">
                <a:solidFill>
                  <a:schemeClr val="tx1"/>
                </a:solidFill>
                <a:latin typeface="+mn-lt"/>
                <a:ea typeface="+mn-ea"/>
                <a:cs typeface="+mn-cs"/>
              </a:rPr>
              <a:t>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2800" b="1"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2800" b="1" kern="1200" dirty="0">
                <a:solidFill>
                  <a:schemeClr val="tx1"/>
                </a:solidFill>
                <a:latin typeface="+mn-lt"/>
                <a:ea typeface="+mn-ea"/>
                <a:cs typeface="+mn-cs"/>
              </a:rPr>
              <a:t>From </a:t>
            </a:r>
            <a:r>
              <a:rPr lang="en-US" sz="2800" b="1" dirty="0"/>
              <a:t>Teseo</a:t>
            </a:r>
            <a:r>
              <a:rPr lang="en-US" sz="2800" dirty="0"/>
              <a:t>: “To ease the porting of existing algorithms, transactions expose an abstraction where vertices can be interchangeably referred by their real identifiers or their rank in the sorted order. This functionality is implemented by a </a:t>
            </a:r>
            <a:r>
              <a:rPr lang="en-US" sz="2800" dirty="0" err="1"/>
              <a:t>materialised</a:t>
            </a:r>
            <a:r>
              <a:rPr lang="en-US" sz="2800" dirty="0"/>
              <a:t> view, transparently computed upon first request. In our current implementation, computing the </a:t>
            </a:r>
            <a:r>
              <a:rPr lang="en-US" sz="2800" dirty="0" err="1"/>
              <a:t>materialised</a:t>
            </a:r>
            <a:r>
              <a:rPr lang="en-US" sz="2800" dirty="0"/>
              <a:t> view still requires a pass of the whole graph. The </a:t>
            </a:r>
            <a:r>
              <a:rPr lang="en-US" sz="2800" dirty="0" err="1"/>
              <a:t>materialised</a:t>
            </a:r>
            <a:r>
              <a:rPr lang="en-US" sz="2800" dirty="0"/>
              <a:t> view is implemented differently depending on the kind of transaction. In RO transactions, we employ a static hash table to translate a real vertex identifier into its logical counterpart, and by a static array for the other direction. In NUMA architectures, the data structures are duplicated in all sockets. In RW transactions, the </a:t>
            </a:r>
            <a:r>
              <a:rPr lang="en-US" sz="2800" dirty="0" err="1"/>
              <a:t>materialised</a:t>
            </a:r>
            <a:r>
              <a:rPr lang="en-US" sz="2800" dirty="0"/>
              <a:t> view is implemented by a single counting B+ tree, synchronously updated as the user alters the graph.”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Teseo uses a thread-safe cuckoo-hash to store vertex IDs (to check if the vertex has been created before adding an edge). This is independent of the TBB map they use to materialize external IDs for reporting </a:t>
            </a:r>
            <a:r>
              <a:rPr lang="en-US" sz="2800" dirty="0" err="1"/>
              <a:t>graphalytics</a:t>
            </a:r>
            <a:r>
              <a:rPr lang="en-US" sz="2800" dirty="0"/>
              <a:t>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On the other hand, they claim that systems that are based on a “vertex table” need to map external IDs to logical IDs (which is true). </a:t>
            </a:r>
          </a:p>
          <a:p>
            <a:pPr marL="514350" indent="-514350">
              <a:buAutoNum type="arabicPeriod"/>
            </a:pPr>
            <a:endParaRPr lang="en-US" sz="2800" dirty="0"/>
          </a:p>
          <a:p>
            <a:pPr marL="514350" indent="-514350">
              <a:buAutoNum type="arabicPeriod"/>
            </a:pPr>
            <a:r>
              <a:rPr lang="en-US" sz="2800" b="1" dirty="0" err="1"/>
              <a:t>LiveGraph</a:t>
            </a:r>
            <a:r>
              <a:rPr lang="en-US" sz="2800" dirty="0"/>
              <a:t>: there is no *inherent need* to have a relabeled graph for the system to work (based on my reading). The dynamic graph evaluation framework we use (GFE driver, provided by Teseo) implements a TBB based map for real to logical vertex IDs. </a:t>
            </a:r>
          </a:p>
          <a:p>
            <a:pPr marL="514350" indent="-514350">
              <a:buAutoNum type="arabicPeriod"/>
            </a:pPr>
            <a:endParaRPr lang="en-US" sz="2800" dirty="0"/>
          </a:p>
          <a:p>
            <a:pPr marL="514350" indent="-514350">
              <a:buAutoNum type="arabicPeriod"/>
            </a:pPr>
            <a:r>
              <a:rPr lang="en-US" sz="2800" dirty="0" err="1"/>
              <a:t>GraphOne</a:t>
            </a:r>
            <a:r>
              <a:rPr lang="en-US" sz="2800" dirty="0"/>
              <a:t> and Stinger have some data structure available to do this conversion. </a:t>
            </a:r>
          </a:p>
        </p:txBody>
      </p:sp>
      <p:sp>
        <p:nvSpPr>
          <p:cNvPr id="4" name="Slide Number Placeholder 3"/>
          <p:cNvSpPr>
            <a:spLocks noGrp="1"/>
          </p:cNvSpPr>
          <p:nvPr>
            <p:ph type="sldNum" sz="quarter" idx="5"/>
          </p:nvPr>
        </p:nvSpPr>
        <p:spPr/>
        <p:txBody>
          <a:bodyPr/>
          <a:lstStyle/>
          <a:p>
            <a:fld id="{C12B5AA2-AE0F-744D-93A9-AE222960148A}" type="slidenum">
              <a:rPr lang="en-US" smtClean="0"/>
              <a:t>7</a:t>
            </a:fld>
            <a:endParaRPr lang="en-US"/>
          </a:p>
        </p:txBody>
      </p:sp>
    </p:spTree>
    <p:extLst>
      <p:ext uri="{BB962C8B-B14F-4D97-AF65-F5344CB8AC3E}">
        <p14:creationId xmlns:p14="http://schemas.microsoft.com/office/powerpoint/2010/main" val="1508918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B5AA2-AE0F-744D-93A9-AE222960148A}" type="slidenum">
              <a:rPr lang="en-US" smtClean="0"/>
              <a:t>11</a:t>
            </a:fld>
            <a:endParaRPr lang="en-US"/>
          </a:p>
        </p:txBody>
      </p:sp>
    </p:spTree>
    <p:extLst>
      <p:ext uri="{BB962C8B-B14F-4D97-AF65-F5344CB8AC3E}">
        <p14:creationId xmlns:p14="http://schemas.microsoft.com/office/powerpoint/2010/main" val="120297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1A111-AA70-39FA-BD5E-7574A18FF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F50DCC-1B45-EA4A-393C-A28E885959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8D5BE0-9862-A117-7B6F-78F15166A20B}"/>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30271870-7AD9-59B2-EDEB-67A0DC44CF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6B3E7-02FB-C565-5520-B8F38A116EAA}"/>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280254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39D7-7D07-3975-6245-E946812789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DF0FC6-4D11-63C6-8144-B5B24942B2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23672-3455-B9D7-C357-FEF4E8C8DFB7}"/>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AB1DCD8F-A536-0D1B-6061-E9D0F5DEDF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440D8-86A0-03EC-2455-F96AC9B09B08}"/>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4068608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35B6E-B34D-DEF2-A001-60DC961AB3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0B80F2-1DB1-FA51-C5DA-1C9CD35ECA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140806-192D-7D4F-8007-2C74B7CB155D}"/>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196C1450-B585-341A-9B0F-25B323D0C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C5232-0CED-50F9-EE24-5087F5705C30}"/>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3430785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5FA1-1821-3531-FB90-842AD4CD0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B3F242-7857-0BFC-0028-50F0018CE5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FE2F3A-537C-00E5-C8A6-7B5C1D319D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A8C6C8-25E6-715E-E206-FA3BA0A8DAC2}"/>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6" name="Footer Placeholder 5">
            <a:extLst>
              <a:ext uri="{FF2B5EF4-FFF2-40B4-BE49-F238E27FC236}">
                <a16:creationId xmlns:a16="http://schemas.microsoft.com/office/drawing/2014/main" id="{10A69DC5-37C6-C436-6DC2-B7E76EC9A5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3BFC6-6646-FF60-DC6B-24D69EFACDDF}"/>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1533587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CF7A-BBFA-32FD-9523-F912F5BF60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25F36A-D633-41BE-2762-4312922685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179B3A-4491-4BFB-335B-E2BBC30211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22CDB7-F09E-18C8-A34F-83C4DAF2DC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C8C31B-2FDA-DF8A-BE3E-8F3D865B9C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058DF7-A2DE-D21F-6EF2-73DC2E9AA628}"/>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8" name="Footer Placeholder 7">
            <a:extLst>
              <a:ext uri="{FF2B5EF4-FFF2-40B4-BE49-F238E27FC236}">
                <a16:creationId xmlns:a16="http://schemas.microsoft.com/office/drawing/2014/main" id="{D6AAC2E7-37DA-E914-F6E3-ABFF342980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AE74EC-F000-EDC6-C83C-E914F969316C}"/>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75825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10E33-B908-4CA9-57DD-EAEACF93C1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FB87F4-8A9B-3C7D-440E-69697D48BC51}"/>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4" name="Footer Placeholder 3">
            <a:extLst>
              <a:ext uri="{FF2B5EF4-FFF2-40B4-BE49-F238E27FC236}">
                <a16:creationId xmlns:a16="http://schemas.microsoft.com/office/drawing/2014/main" id="{D02B7067-A5F4-E61B-FA6F-AE3A168053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E79862-CC83-C0AD-DD5E-456F5106E107}"/>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170700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45905-D6E7-4D05-1C5C-B811A275751A}"/>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3" name="Footer Placeholder 2">
            <a:extLst>
              <a:ext uri="{FF2B5EF4-FFF2-40B4-BE49-F238E27FC236}">
                <a16:creationId xmlns:a16="http://schemas.microsoft.com/office/drawing/2014/main" id="{8E41FE07-A155-EE31-5EE1-71CBAE8349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AF3F50-E210-1571-88A5-4DF6FBB189CA}"/>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396661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3A3CE-4BBD-01E4-CCAF-D2111B6DBD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E54EEA-5924-50FF-1817-558D1AB415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841E23-C2EA-D656-4997-1E32CF3D6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C02A64-F23E-090B-7946-68A67BC1C30E}"/>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6" name="Footer Placeholder 5">
            <a:extLst>
              <a:ext uri="{FF2B5EF4-FFF2-40B4-BE49-F238E27FC236}">
                <a16:creationId xmlns:a16="http://schemas.microsoft.com/office/drawing/2014/main" id="{F6219F3F-B4F7-A808-F15B-68C16AAC2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F866F0-797B-BE46-3CBD-1735389BA417}"/>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34104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4C61-DA37-D4FA-C833-4AF207C65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31D21A-7562-83DD-302F-2C687BE700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E84850-D305-A368-FF9E-04766D466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79A06D-F7F6-24E5-524D-359E6FBDAE9B}"/>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6" name="Footer Placeholder 5">
            <a:extLst>
              <a:ext uri="{FF2B5EF4-FFF2-40B4-BE49-F238E27FC236}">
                <a16:creationId xmlns:a16="http://schemas.microsoft.com/office/drawing/2014/main" id="{56E5C9FD-A389-70D4-3C92-A0C4479BBC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66A09-E7E4-A56F-265C-81EA9ADF6A0A}"/>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042614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C9AD-FA58-BBE8-5932-D0EB5A285B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AFA35F-FBCF-7CA2-0A73-D469974CC7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3482B1-180D-B828-CF86-C7982D19FA61}"/>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613FD036-5742-0601-66DC-1CDA6C5764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6D153C-C7EB-2037-01B7-1F949D337F8E}"/>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199655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CEBFB-878A-6C7B-8DDE-8C8CAA3215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6C253F-6963-3DAD-F9B1-C376B945EE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7AF6A1-5D34-66E1-97E2-00CA0341E642}"/>
              </a:ext>
            </a:extLst>
          </p:cNvPr>
          <p:cNvSpPr>
            <a:spLocks noGrp="1"/>
          </p:cNvSpPr>
          <p:nvPr>
            <p:ph type="dt" sz="half" idx="10"/>
          </p:nvPr>
        </p:nvSpPr>
        <p:spPr/>
        <p:txBody>
          <a:body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904139AD-2D72-0EA8-9684-3EB763A63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30B46-8127-343C-149A-1DBF76D14D47}"/>
              </a:ext>
            </a:extLst>
          </p:cNvPr>
          <p:cNvSpPr>
            <a:spLocks noGrp="1"/>
          </p:cNvSpPr>
          <p:nvPr>
            <p:ph type="sldNum" sz="quarter" idx="12"/>
          </p:nvPr>
        </p:nvSpPr>
        <p:spPr/>
        <p:txBody>
          <a:bodyPr/>
          <a:lstStyle/>
          <a:p>
            <a:fld id="{F104795F-CC9E-7C4F-AE94-31F4C7EB55D5}" type="slidenum">
              <a:rPr lang="en-US" smtClean="0"/>
              <a:t>‹#›</a:t>
            </a:fld>
            <a:endParaRPr lang="en-US"/>
          </a:p>
        </p:txBody>
      </p:sp>
    </p:spTree>
    <p:extLst>
      <p:ext uri="{BB962C8B-B14F-4D97-AF65-F5344CB8AC3E}">
        <p14:creationId xmlns:p14="http://schemas.microsoft.com/office/powerpoint/2010/main" val="2383212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08C35B-D88A-48D5-7CD5-54E32EBFBD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26376E-1896-F915-E528-C31A5665C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1A011-DE11-F799-6EF2-54A83F2B17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F86B68-1453-0F4C-9561-EBE17779096A}" type="datetimeFigureOut">
              <a:rPr lang="en-US" smtClean="0"/>
              <a:t>8/26/25</a:t>
            </a:fld>
            <a:endParaRPr lang="en-US"/>
          </a:p>
        </p:txBody>
      </p:sp>
      <p:sp>
        <p:nvSpPr>
          <p:cNvPr id="5" name="Footer Placeholder 4">
            <a:extLst>
              <a:ext uri="{FF2B5EF4-FFF2-40B4-BE49-F238E27FC236}">
                <a16:creationId xmlns:a16="http://schemas.microsoft.com/office/drawing/2014/main" id="{91D402EC-1EA4-2B74-0D37-854ABFD98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325202-2956-0CF7-5D42-DAAB16DB9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04795F-CC9E-7C4F-AE94-31F4C7EB55D5}" type="slidenum">
              <a:rPr lang="en-US" smtClean="0"/>
              <a:t>‹#›</a:t>
            </a:fld>
            <a:endParaRPr lang="en-US"/>
          </a:p>
        </p:txBody>
      </p:sp>
    </p:spTree>
    <p:extLst>
      <p:ext uri="{BB962C8B-B14F-4D97-AF65-F5344CB8AC3E}">
        <p14:creationId xmlns:p14="http://schemas.microsoft.com/office/powerpoint/2010/main" val="3779649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406C-B965-C951-0BC5-122504953269}"/>
              </a:ext>
            </a:extLst>
          </p:cNvPr>
          <p:cNvSpPr>
            <a:spLocks noGrp="1"/>
          </p:cNvSpPr>
          <p:nvPr>
            <p:ph type="ctrTitle"/>
          </p:nvPr>
        </p:nvSpPr>
        <p:spPr/>
        <p:txBody>
          <a:bodyPr/>
          <a:lstStyle/>
          <a:p>
            <a:r>
              <a:rPr lang="en-US" dirty="0"/>
              <a:t>Section 4: Evaluation</a:t>
            </a:r>
          </a:p>
        </p:txBody>
      </p:sp>
      <p:sp>
        <p:nvSpPr>
          <p:cNvPr id="3" name="Subtitle 2">
            <a:extLst>
              <a:ext uri="{FF2B5EF4-FFF2-40B4-BE49-F238E27FC236}">
                <a16:creationId xmlns:a16="http://schemas.microsoft.com/office/drawing/2014/main" id="{BF3C4E5B-FF67-DDFC-C470-72A0471473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1379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2DD7D-6355-8849-D7D9-16505B600F62}"/>
              </a:ext>
            </a:extLst>
          </p:cNvPr>
          <p:cNvSpPr>
            <a:spLocks noGrp="1"/>
          </p:cNvSpPr>
          <p:nvPr>
            <p:ph type="title"/>
          </p:nvPr>
        </p:nvSpPr>
        <p:spPr/>
        <p:txBody>
          <a:bodyPr/>
          <a:lstStyle/>
          <a:p>
            <a:r>
              <a:rPr lang="en-US" dirty="0"/>
              <a:t>Research Question #0</a:t>
            </a:r>
          </a:p>
        </p:txBody>
      </p:sp>
      <p:sp>
        <p:nvSpPr>
          <p:cNvPr id="3" name="Content Placeholder 2">
            <a:extLst>
              <a:ext uri="{FF2B5EF4-FFF2-40B4-BE49-F238E27FC236}">
                <a16:creationId xmlns:a16="http://schemas.microsoft.com/office/drawing/2014/main" id="{E8863B4C-0167-323B-6102-5311AA30DAF7}"/>
              </a:ext>
            </a:extLst>
          </p:cNvPr>
          <p:cNvSpPr>
            <a:spLocks noGrp="1"/>
          </p:cNvSpPr>
          <p:nvPr>
            <p:ph idx="1"/>
          </p:nvPr>
        </p:nvSpPr>
        <p:spPr/>
        <p:txBody>
          <a:bodyPr/>
          <a:lstStyle/>
          <a:p>
            <a:r>
              <a:rPr lang="en-US" dirty="0"/>
              <a:t>Comparing </a:t>
            </a:r>
            <a:r>
              <a:rPr lang="en-US" dirty="0" err="1"/>
              <a:t>ekey</a:t>
            </a:r>
            <a:r>
              <a:rPr lang="en-US" dirty="0"/>
              <a:t> and </a:t>
            </a:r>
            <a:r>
              <a:rPr lang="en-US" dirty="0" err="1"/>
              <a:t>adjlist</a:t>
            </a:r>
            <a:endParaRPr lang="en-US" dirty="0"/>
          </a:p>
        </p:txBody>
      </p:sp>
    </p:spTree>
    <p:extLst>
      <p:ext uri="{BB962C8B-B14F-4D97-AF65-F5344CB8AC3E}">
        <p14:creationId xmlns:p14="http://schemas.microsoft.com/office/powerpoint/2010/main" val="1311721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534CA-A212-0B2A-A8AE-0B4FCC050C2E}"/>
              </a:ext>
            </a:extLst>
          </p:cNvPr>
          <p:cNvSpPr>
            <a:spLocks noGrp="1"/>
          </p:cNvSpPr>
          <p:nvPr>
            <p:ph type="title"/>
          </p:nvPr>
        </p:nvSpPr>
        <p:spPr/>
        <p:txBody>
          <a:bodyPr/>
          <a:lstStyle/>
          <a:p>
            <a:r>
              <a:rPr lang="en-US" dirty="0"/>
              <a:t>Research Question #1 </a:t>
            </a:r>
          </a:p>
        </p:txBody>
      </p:sp>
      <p:sp>
        <p:nvSpPr>
          <p:cNvPr id="3" name="Content Placeholder 2">
            <a:extLst>
              <a:ext uri="{FF2B5EF4-FFF2-40B4-BE49-F238E27FC236}">
                <a16:creationId xmlns:a16="http://schemas.microsoft.com/office/drawing/2014/main" id="{ED3F554C-4317-A06C-F95D-87EB8F477ED0}"/>
              </a:ext>
            </a:extLst>
          </p:cNvPr>
          <p:cNvSpPr>
            <a:spLocks noGrp="1"/>
          </p:cNvSpPr>
          <p:nvPr>
            <p:ph idx="1"/>
          </p:nvPr>
        </p:nvSpPr>
        <p:spPr/>
        <p:txBody>
          <a:bodyPr/>
          <a:lstStyle/>
          <a:p>
            <a:r>
              <a:rPr lang="en-US" dirty="0">
                <a:solidFill>
                  <a:srgbClr val="FF0000"/>
                </a:solidFill>
              </a:rPr>
              <a:t>When running Flexograph with a cache large enough to hold the graph, what is the performance on graph analytics tasks against other in-memory systems?</a:t>
            </a:r>
          </a:p>
          <a:p>
            <a:pPr marL="0" indent="0">
              <a:buNone/>
            </a:pPr>
            <a:endParaRPr lang="en-US" dirty="0">
              <a:solidFill>
                <a:srgbClr val="FF0000"/>
              </a:solidFill>
            </a:endParaRPr>
          </a:p>
          <a:p>
            <a:pPr lvl="1"/>
            <a:r>
              <a:rPr lang="en-US" dirty="0"/>
              <a:t>Compare the best representation (Adj) against the other systems</a:t>
            </a:r>
          </a:p>
          <a:p>
            <a:pPr lvl="1"/>
            <a:r>
              <a:rPr lang="en-US" dirty="0"/>
              <a:t>Most systems do not optimize for NUMA and therefore we run this experiment on a single socket (add capability SYS_NICE to container)</a:t>
            </a:r>
          </a:p>
        </p:txBody>
      </p:sp>
    </p:spTree>
    <p:extLst>
      <p:ext uri="{BB962C8B-B14F-4D97-AF65-F5344CB8AC3E}">
        <p14:creationId xmlns:p14="http://schemas.microsoft.com/office/powerpoint/2010/main" val="3367237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A2865-BDCD-80B0-622D-0AA105F45319}"/>
              </a:ext>
            </a:extLst>
          </p:cNvPr>
          <p:cNvSpPr>
            <a:spLocks noGrp="1"/>
          </p:cNvSpPr>
          <p:nvPr>
            <p:ph type="title"/>
          </p:nvPr>
        </p:nvSpPr>
        <p:spPr/>
        <p:txBody>
          <a:bodyPr/>
          <a:lstStyle/>
          <a:p>
            <a:r>
              <a:rPr lang="en-US" dirty="0"/>
              <a:t>Research Question #1</a:t>
            </a:r>
          </a:p>
        </p:txBody>
      </p:sp>
      <p:sp>
        <p:nvSpPr>
          <p:cNvPr id="3" name="Content Placeholder 2">
            <a:extLst>
              <a:ext uri="{FF2B5EF4-FFF2-40B4-BE49-F238E27FC236}">
                <a16:creationId xmlns:a16="http://schemas.microsoft.com/office/drawing/2014/main" id="{EFA88508-8AC6-0306-4EA1-B6F0ECACAD92}"/>
              </a:ext>
            </a:extLst>
          </p:cNvPr>
          <p:cNvSpPr>
            <a:spLocks noGrp="1"/>
          </p:cNvSpPr>
          <p:nvPr>
            <p:ph idx="1"/>
          </p:nvPr>
        </p:nvSpPr>
        <p:spPr/>
        <p:txBody>
          <a:bodyPr/>
          <a:lstStyle/>
          <a:p>
            <a:r>
              <a:rPr lang="en-US" dirty="0"/>
              <a:t>Metrics to report/collect:</a:t>
            </a:r>
          </a:p>
          <a:p>
            <a:pPr lvl="1"/>
            <a:r>
              <a:rPr lang="en-US" dirty="0"/>
              <a:t>Preprocessing time: time to go from CSV to in-memory data structure construction</a:t>
            </a:r>
          </a:p>
          <a:p>
            <a:pPr lvl="1"/>
            <a:r>
              <a:rPr lang="en-US" dirty="0"/>
              <a:t>COST: Single threaded time vs time with #threads and show speedup</a:t>
            </a:r>
          </a:p>
          <a:p>
            <a:pPr lvl="1"/>
            <a:r>
              <a:rPr lang="en-US" dirty="0" err="1"/>
              <a:t>rusage</a:t>
            </a:r>
            <a:r>
              <a:rPr lang="en-US" dirty="0"/>
              <a:t> metrics:  total memory consumption, #major and #minor faults</a:t>
            </a:r>
          </a:p>
          <a:p>
            <a:pPr lvl="1"/>
            <a:endParaRPr lang="en-US" dirty="0"/>
          </a:p>
          <a:p>
            <a:r>
              <a:rPr lang="en-US" dirty="0"/>
              <a:t>Systems to compare against:</a:t>
            </a:r>
          </a:p>
          <a:p>
            <a:pPr lvl="1"/>
            <a:r>
              <a:rPr lang="en-US" dirty="0"/>
              <a:t>GAPBS, </a:t>
            </a:r>
            <a:r>
              <a:rPr lang="en-US" dirty="0" err="1"/>
              <a:t>Ligra</a:t>
            </a:r>
            <a:r>
              <a:rPr lang="en-US" dirty="0"/>
              <a:t>, Gemini, Galois</a:t>
            </a:r>
          </a:p>
          <a:p>
            <a:pPr lvl="1"/>
            <a:endParaRPr lang="en-US" dirty="0"/>
          </a:p>
        </p:txBody>
      </p:sp>
      <p:graphicFrame>
        <p:nvGraphicFramePr>
          <p:cNvPr id="5" name="Table 4">
            <a:extLst>
              <a:ext uri="{FF2B5EF4-FFF2-40B4-BE49-F238E27FC236}">
                <a16:creationId xmlns:a16="http://schemas.microsoft.com/office/drawing/2014/main" id="{E5B535EE-4485-0DD9-9927-CB89D431EDE0}"/>
              </a:ext>
            </a:extLst>
          </p:cNvPr>
          <p:cNvGraphicFramePr>
            <a:graphicFrameLocks noGrp="1"/>
          </p:cNvGraphicFramePr>
          <p:nvPr>
            <p:extLst>
              <p:ext uri="{D42A27DB-BD31-4B8C-83A1-F6EECF244321}">
                <p14:modId xmlns:p14="http://schemas.microsoft.com/office/powerpoint/2010/main" val="3236010068"/>
              </p:ext>
            </p:extLst>
          </p:nvPr>
        </p:nvGraphicFramePr>
        <p:xfrm>
          <a:off x="838200" y="5282447"/>
          <a:ext cx="10515600" cy="1210428"/>
        </p:xfrm>
        <a:graphic>
          <a:graphicData uri="http://schemas.openxmlformats.org/drawingml/2006/table">
            <a:tbl>
              <a:tblPr>
                <a:tableStyleId>{5C22544A-7EE6-4342-B048-85BDC9FD1C3A}</a:tableStyleId>
              </a:tblPr>
              <a:tblGrid>
                <a:gridCol w="844525">
                  <a:extLst>
                    <a:ext uri="{9D8B030D-6E8A-4147-A177-3AD203B41FA5}">
                      <a16:colId xmlns:a16="http://schemas.microsoft.com/office/drawing/2014/main" val="836749419"/>
                    </a:ext>
                  </a:extLst>
                </a:gridCol>
                <a:gridCol w="2432736">
                  <a:extLst>
                    <a:ext uri="{9D8B030D-6E8A-4147-A177-3AD203B41FA5}">
                      <a16:colId xmlns:a16="http://schemas.microsoft.com/office/drawing/2014/main" val="239125479"/>
                    </a:ext>
                  </a:extLst>
                </a:gridCol>
                <a:gridCol w="2168035">
                  <a:extLst>
                    <a:ext uri="{9D8B030D-6E8A-4147-A177-3AD203B41FA5}">
                      <a16:colId xmlns:a16="http://schemas.microsoft.com/office/drawing/2014/main" val="4275426192"/>
                    </a:ext>
                  </a:extLst>
                </a:gridCol>
                <a:gridCol w="1919090">
                  <a:extLst>
                    <a:ext uri="{9D8B030D-6E8A-4147-A177-3AD203B41FA5}">
                      <a16:colId xmlns:a16="http://schemas.microsoft.com/office/drawing/2014/main" val="2728798133"/>
                    </a:ext>
                  </a:extLst>
                </a:gridCol>
                <a:gridCol w="1815099">
                  <a:extLst>
                    <a:ext uri="{9D8B030D-6E8A-4147-A177-3AD203B41FA5}">
                      <a16:colId xmlns:a16="http://schemas.microsoft.com/office/drawing/2014/main" val="2955650325"/>
                    </a:ext>
                  </a:extLst>
                </a:gridCol>
                <a:gridCol w="1336115">
                  <a:extLst>
                    <a:ext uri="{9D8B030D-6E8A-4147-A177-3AD203B41FA5}">
                      <a16:colId xmlns:a16="http://schemas.microsoft.com/office/drawing/2014/main" val="2239417659"/>
                    </a:ext>
                  </a:extLst>
                </a:gridCol>
              </a:tblGrid>
              <a:tr h="201738">
                <a:tc>
                  <a:txBody>
                    <a:bodyPr/>
                    <a:lstStyle/>
                    <a:p>
                      <a:pPr algn="l" fontAlgn="b">
                        <a:buNone/>
                      </a:pPr>
                      <a:r>
                        <a:rPr lang="en-CA" sz="1200" u="none" strike="noStrike">
                          <a:effectLst/>
                        </a:rPr>
                        <a:t>Graph</a:t>
                      </a:r>
                      <a:endParaRPr lang="en-CA" sz="1200" b="1" i="0" u="none" strike="noStrike">
                        <a:solidFill>
                          <a:srgbClr val="000000"/>
                        </a:solidFill>
                        <a:effectLst/>
                        <a:latin typeface="Aptos Narrow" panose="020B0004020202020204" pitchFamily="34" charset="0"/>
                      </a:endParaRPr>
                    </a:p>
                  </a:txBody>
                  <a:tcPr marL="9456" marR="9456" marT="9456" marB="0" anchor="b"/>
                </a:tc>
                <a:tc>
                  <a:txBody>
                    <a:bodyPr/>
                    <a:lstStyle/>
                    <a:p>
                      <a:pPr algn="l" fontAlgn="b">
                        <a:buNone/>
                      </a:pPr>
                      <a:r>
                        <a:rPr lang="en-CA" sz="1200" u="none" strike="noStrike">
                          <a:effectLst/>
                        </a:rPr>
                        <a:t>System</a:t>
                      </a:r>
                      <a:endParaRPr lang="en-CA" sz="1200" b="1" i="0" u="none" strike="noStrike">
                        <a:solidFill>
                          <a:srgbClr val="000000"/>
                        </a:solidFill>
                        <a:effectLst/>
                        <a:latin typeface="Aptos Narrow" panose="020B0004020202020204" pitchFamily="34" charset="0"/>
                      </a:endParaRPr>
                    </a:p>
                  </a:txBody>
                  <a:tcPr marL="9456" marR="9456" marT="9456" marB="0" anchor="b"/>
                </a:tc>
                <a:tc>
                  <a:txBody>
                    <a:bodyPr/>
                    <a:lstStyle/>
                    <a:p>
                      <a:pPr algn="l" fontAlgn="b">
                        <a:buNone/>
                      </a:pPr>
                      <a:r>
                        <a:rPr lang="en-CA" sz="1200" u="none" strike="noStrike" dirty="0">
                          <a:effectLst/>
                        </a:rPr>
                        <a:t>BFS</a:t>
                      </a:r>
                      <a:endParaRPr lang="en-CA" sz="1200" b="1" i="0" u="none" strike="noStrike" dirty="0">
                        <a:solidFill>
                          <a:srgbClr val="000000"/>
                        </a:solidFill>
                        <a:effectLst/>
                        <a:latin typeface="Aptos Narrow" panose="020B0004020202020204" pitchFamily="34" charset="0"/>
                      </a:endParaRPr>
                    </a:p>
                  </a:txBody>
                  <a:tcPr marL="9456" marR="9456" marT="9456" marB="0" anchor="b"/>
                </a:tc>
                <a:tc>
                  <a:txBody>
                    <a:bodyPr/>
                    <a:lstStyle/>
                    <a:p>
                      <a:pPr algn="l" fontAlgn="b">
                        <a:buNone/>
                      </a:pPr>
                      <a:r>
                        <a:rPr lang="en-CA" sz="1200" u="none" strike="noStrike">
                          <a:effectLst/>
                        </a:rPr>
                        <a:t>PageRank</a:t>
                      </a:r>
                      <a:endParaRPr lang="en-CA" sz="1200" b="1" i="0" u="none" strike="noStrike">
                        <a:solidFill>
                          <a:srgbClr val="000000"/>
                        </a:solidFill>
                        <a:effectLst/>
                        <a:latin typeface="Aptos Narrow" panose="020B0004020202020204" pitchFamily="34" charset="0"/>
                      </a:endParaRPr>
                    </a:p>
                  </a:txBody>
                  <a:tcPr marL="9456" marR="9456" marT="9456" marB="0" anchor="b"/>
                </a:tc>
                <a:tc>
                  <a:txBody>
                    <a:bodyPr/>
                    <a:lstStyle/>
                    <a:p>
                      <a:pPr algn="l" fontAlgn="b">
                        <a:buNone/>
                      </a:pPr>
                      <a:r>
                        <a:rPr lang="en-CA" sz="1200" u="none" strike="noStrike">
                          <a:effectLst/>
                        </a:rPr>
                        <a:t>SSSP</a:t>
                      </a:r>
                      <a:endParaRPr lang="en-CA" sz="1200" b="1" i="0" u="none" strike="noStrike">
                        <a:solidFill>
                          <a:srgbClr val="000000"/>
                        </a:solidFill>
                        <a:effectLst/>
                        <a:latin typeface="Aptos Narrow" panose="020B0004020202020204" pitchFamily="34" charset="0"/>
                      </a:endParaRPr>
                    </a:p>
                  </a:txBody>
                  <a:tcPr marL="9456" marR="9456" marT="9456" marB="0" anchor="b"/>
                </a:tc>
                <a:tc>
                  <a:txBody>
                    <a:bodyPr/>
                    <a:lstStyle/>
                    <a:p>
                      <a:pPr algn="l" fontAlgn="b">
                        <a:buNone/>
                      </a:pPr>
                      <a:r>
                        <a:rPr lang="en-CA" sz="1200" u="none" strike="noStrike">
                          <a:effectLst/>
                        </a:rPr>
                        <a:t>WCC</a:t>
                      </a:r>
                      <a:endParaRPr lang="en-CA" sz="1200" b="1" i="0" u="none" strike="noStrike">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1785154753"/>
                  </a:ext>
                </a:extLst>
              </a:tr>
              <a:tr h="201738">
                <a:tc rowSpan="5">
                  <a:txBody>
                    <a:bodyPr/>
                    <a:lstStyle/>
                    <a:p>
                      <a:pPr algn="ctr" fontAlgn="b">
                        <a:buNone/>
                      </a:pPr>
                      <a:r>
                        <a:rPr lang="en-CA" sz="1200" u="none" strike="noStrike">
                          <a:effectLst/>
                        </a:rPr>
                        <a:t>DOTA League</a:t>
                      </a:r>
                      <a:endParaRPr lang="en-CA" sz="1200" b="1" i="0" u="none" strike="noStrike">
                        <a:solidFill>
                          <a:srgbClr val="000000"/>
                        </a:solidFill>
                        <a:effectLst/>
                        <a:latin typeface="Aptos Narrow" panose="020B0004020202020204" pitchFamily="34" charset="0"/>
                      </a:endParaRPr>
                    </a:p>
                  </a:txBody>
                  <a:tcPr marL="9456" marR="9456" marT="9456" marB="0" vert="vert270" anchor="b"/>
                </a:tc>
                <a:tc>
                  <a:txBody>
                    <a:bodyPr/>
                    <a:lstStyle/>
                    <a:p>
                      <a:pPr algn="l" fontAlgn="b">
                        <a:buNone/>
                      </a:pPr>
                      <a:r>
                        <a:rPr lang="en-CA" sz="1200" u="none" strike="noStrike">
                          <a:effectLst/>
                        </a:rPr>
                        <a:t>GAPBS</a:t>
                      </a:r>
                      <a:endParaRPr lang="en-CA" sz="1200" b="0" i="0" u="none" strike="noStrike">
                        <a:solidFill>
                          <a:srgbClr val="000000"/>
                        </a:solidFill>
                        <a:effectLst/>
                        <a:latin typeface="Aptos Narrow" panose="020B0004020202020204" pitchFamily="34" charset="0"/>
                      </a:endParaRPr>
                    </a:p>
                  </a:txBody>
                  <a:tcPr marL="9456" marR="9456" marT="9456" marB="0" anchor="b"/>
                </a:tc>
                <a:tc rowSpan="5" gridSpan="4">
                  <a:txBody>
                    <a:bodyPr/>
                    <a:lstStyle/>
                    <a:p>
                      <a:pPr lvl="1" algn="ctr" fontAlgn="b">
                        <a:buNone/>
                      </a:pPr>
                      <a:r>
                        <a:rPr lang="en-CA" sz="1200" b="0" i="0" u="none" strike="noStrike" dirty="0">
                          <a:solidFill>
                            <a:srgbClr val="000000"/>
                          </a:solidFill>
                          <a:effectLst/>
                          <a:latin typeface="Aptos Narrow" panose="020B0004020202020204" pitchFamily="34" charset="0"/>
                        </a:rPr>
                        <a:t>Insert data here</a:t>
                      </a:r>
                    </a:p>
                  </a:txBody>
                  <a:tcPr marL="9456" marR="9456" marT="9456" marB="0" anchor="b"/>
                </a:tc>
                <a:tc rowSpan="5" h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rowSpan="5" h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rowSpan="5" h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3789518166"/>
                  </a:ext>
                </a:extLst>
              </a:tr>
              <a:tr h="201738">
                <a:tc vMerge="1">
                  <a:txBody>
                    <a:bodyPr/>
                    <a:lstStyle/>
                    <a:p>
                      <a:endParaRPr lang="en-US"/>
                    </a:p>
                  </a:txBody>
                  <a:tcPr/>
                </a:tc>
                <a:tc>
                  <a:txBody>
                    <a:bodyPr/>
                    <a:lstStyle/>
                    <a:p>
                      <a:pPr algn="l" fontAlgn="b">
                        <a:buNone/>
                      </a:pPr>
                      <a:r>
                        <a:rPr lang="en-CA" sz="1200" u="none" strike="noStrike">
                          <a:effectLst/>
                        </a:rPr>
                        <a:t>Ligra</a:t>
                      </a:r>
                      <a:endParaRPr lang="en-CA" sz="1200" b="0" i="0" u="none" strike="noStrike">
                        <a:solidFill>
                          <a:srgbClr val="000000"/>
                        </a:solidFill>
                        <a:effectLst/>
                        <a:latin typeface="Aptos Narrow" panose="020B0004020202020204" pitchFamily="34" charset="0"/>
                      </a:endParaRPr>
                    </a:p>
                  </a:txBody>
                  <a:tcPr marL="9456" marR="9456" marT="9456" marB="0" anchor="b"/>
                </a:tc>
                <a:tc gridSpan="4"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2470788701"/>
                  </a:ext>
                </a:extLst>
              </a:tr>
              <a:tr h="201738">
                <a:tc vMerge="1">
                  <a:txBody>
                    <a:bodyPr/>
                    <a:lstStyle/>
                    <a:p>
                      <a:endParaRPr lang="en-US"/>
                    </a:p>
                  </a:txBody>
                  <a:tcPr/>
                </a:tc>
                <a:tc>
                  <a:txBody>
                    <a:bodyPr/>
                    <a:lstStyle/>
                    <a:p>
                      <a:pPr algn="l" fontAlgn="b">
                        <a:buNone/>
                      </a:pPr>
                      <a:r>
                        <a:rPr lang="en-CA" sz="1200" u="none" strike="noStrike">
                          <a:effectLst/>
                        </a:rPr>
                        <a:t>Galois</a:t>
                      </a:r>
                      <a:endParaRPr lang="en-CA" sz="1200" b="0" i="0" u="none" strike="noStrike">
                        <a:solidFill>
                          <a:srgbClr val="000000"/>
                        </a:solidFill>
                        <a:effectLst/>
                        <a:latin typeface="Aptos Narrow" panose="020B0004020202020204" pitchFamily="34" charset="0"/>
                      </a:endParaRPr>
                    </a:p>
                  </a:txBody>
                  <a:tcPr marL="9456" marR="9456" marT="9456" marB="0" anchor="b"/>
                </a:tc>
                <a:tc gridSpan="4"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4100767168"/>
                  </a:ext>
                </a:extLst>
              </a:tr>
              <a:tr h="201738">
                <a:tc vMerge="1">
                  <a:txBody>
                    <a:bodyPr/>
                    <a:lstStyle/>
                    <a:p>
                      <a:endParaRPr lang="en-US"/>
                    </a:p>
                  </a:txBody>
                  <a:tcPr/>
                </a:tc>
                <a:tc>
                  <a:txBody>
                    <a:bodyPr/>
                    <a:lstStyle/>
                    <a:p>
                      <a:pPr algn="l" fontAlgn="b">
                        <a:buNone/>
                      </a:pPr>
                      <a:r>
                        <a:rPr lang="en-CA" sz="1200" u="none" strike="noStrike">
                          <a:effectLst/>
                        </a:rPr>
                        <a:t>Gemini</a:t>
                      </a:r>
                      <a:endParaRPr lang="en-CA" sz="1200" b="0" i="0" u="none" strike="noStrike">
                        <a:solidFill>
                          <a:srgbClr val="000000"/>
                        </a:solidFill>
                        <a:effectLst/>
                        <a:latin typeface="Aptos Narrow" panose="020B0004020202020204" pitchFamily="34" charset="0"/>
                      </a:endParaRPr>
                    </a:p>
                  </a:txBody>
                  <a:tcPr marL="9456" marR="9456" marT="9456" marB="0" anchor="b"/>
                </a:tc>
                <a:tc gridSpan="4"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3475121266"/>
                  </a:ext>
                </a:extLst>
              </a:tr>
              <a:tr h="201738">
                <a:tc vMerge="1">
                  <a:txBody>
                    <a:bodyPr/>
                    <a:lstStyle/>
                    <a:p>
                      <a:endParaRPr lang="en-US"/>
                    </a:p>
                  </a:txBody>
                  <a:tcPr/>
                </a:tc>
                <a:tc>
                  <a:txBody>
                    <a:bodyPr/>
                    <a:lstStyle/>
                    <a:p>
                      <a:pPr algn="l" fontAlgn="b">
                        <a:buNone/>
                      </a:pPr>
                      <a:r>
                        <a:rPr lang="en-CA" sz="1200" u="none" strike="noStrike" dirty="0">
                          <a:effectLst/>
                        </a:rPr>
                        <a:t>Flexograph</a:t>
                      </a:r>
                      <a:endParaRPr lang="en-CA" sz="1200" b="0" i="0" u="none" strike="noStrike" dirty="0">
                        <a:solidFill>
                          <a:srgbClr val="000000"/>
                        </a:solidFill>
                        <a:effectLst/>
                        <a:latin typeface="Aptos Narrow" panose="020B0004020202020204" pitchFamily="34" charset="0"/>
                      </a:endParaRPr>
                    </a:p>
                  </a:txBody>
                  <a:tcPr marL="9456" marR="9456" marT="9456" marB="0" anchor="b"/>
                </a:tc>
                <a:tc gridSpan="4"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tc hMerge="1" vMerge="1">
                  <a:txBody>
                    <a:bodyPr/>
                    <a:lstStyle/>
                    <a:p>
                      <a:pPr algn="l" fontAlgn="b">
                        <a:buNone/>
                      </a:pPr>
                      <a:endParaRPr lang="en-CA" sz="1200" b="0" i="0" u="none" strike="noStrike" dirty="0">
                        <a:solidFill>
                          <a:srgbClr val="000000"/>
                        </a:solidFill>
                        <a:effectLst/>
                        <a:latin typeface="Aptos Narrow" panose="020B0004020202020204" pitchFamily="34" charset="0"/>
                      </a:endParaRPr>
                    </a:p>
                  </a:txBody>
                  <a:tcPr marL="9456" marR="9456" marT="9456" marB="0" anchor="b"/>
                </a:tc>
                <a:extLst>
                  <a:ext uri="{0D108BD9-81ED-4DB2-BD59-A6C34878D82A}">
                    <a16:rowId xmlns:a16="http://schemas.microsoft.com/office/drawing/2014/main" val="3185617999"/>
                  </a:ext>
                </a:extLst>
              </a:tr>
            </a:tbl>
          </a:graphicData>
        </a:graphic>
      </p:graphicFrame>
    </p:spTree>
    <p:extLst>
      <p:ext uri="{BB962C8B-B14F-4D97-AF65-F5344CB8AC3E}">
        <p14:creationId xmlns:p14="http://schemas.microsoft.com/office/powerpoint/2010/main" val="232007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EA897-077C-A4F5-D651-9F8F0D2C2485}"/>
              </a:ext>
            </a:extLst>
          </p:cNvPr>
          <p:cNvSpPr>
            <a:spLocks noGrp="1"/>
          </p:cNvSpPr>
          <p:nvPr>
            <p:ph type="title"/>
          </p:nvPr>
        </p:nvSpPr>
        <p:spPr/>
        <p:txBody>
          <a:bodyPr/>
          <a:lstStyle/>
          <a:p>
            <a:r>
              <a:rPr lang="en-US" dirty="0"/>
              <a:t>Research Question #2</a:t>
            </a:r>
          </a:p>
        </p:txBody>
      </p:sp>
      <p:sp>
        <p:nvSpPr>
          <p:cNvPr id="3" name="Content Placeholder 2">
            <a:extLst>
              <a:ext uri="{FF2B5EF4-FFF2-40B4-BE49-F238E27FC236}">
                <a16:creationId xmlns:a16="http://schemas.microsoft.com/office/drawing/2014/main" id="{B66B962D-81E2-3506-146E-A3CE47F3D47F}"/>
              </a:ext>
            </a:extLst>
          </p:cNvPr>
          <p:cNvSpPr>
            <a:spLocks noGrp="1"/>
          </p:cNvSpPr>
          <p:nvPr>
            <p:ph idx="1"/>
          </p:nvPr>
        </p:nvSpPr>
        <p:spPr/>
        <p:txBody>
          <a:bodyPr>
            <a:normAutofit lnSpcReduction="10000"/>
          </a:bodyPr>
          <a:lstStyle/>
          <a:p>
            <a:r>
              <a:rPr lang="en-US" dirty="0">
                <a:solidFill>
                  <a:srgbClr val="FF0000"/>
                </a:solidFill>
              </a:rPr>
              <a:t>When the graph is too large to be cached, how does </a:t>
            </a:r>
            <a:r>
              <a:rPr lang="en-US" dirty="0" err="1">
                <a:solidFill>
                  <a:srgbClr val="FF0000"/>
                </a:solidFill>
              </a:rPr>
              <a:t>flexograph</a:t>
            </a:r>
            <a:r>
              <a:rPr lang="en-US" dirty="0">
                <a:solidFill>
                  <a:srgbClr val="FF0000"/>
                </a:solidFill>
              </a:rPr>
              <a:t> perform against out-of-core graph processing systems?</a:t>
            </a:r>
          </a:p>
          <a:p>
            <a:endParaRPr lang="en-US" dirty="0"/>
          </a:p>
          <a:p>
            <a:r>
              <a:rPr lang="en-US" dirty="0"/>
              <a:t>What is the preprocessing cost of these OOC systems?</a:t>
            </a:r>
          </a:p>
          <a:p>
            <a:pPr lvl="1"/>
            <a:r>
              <a:rPr lang="en-US" dirty="0"/>
              <a:t>We consider the CSV the base format and compute the time taken by each system to construct their specialized on-disk format</a:t>
            </a:r>
          </a:p>
          <a:p>
            <a:pPr lvl="1"/>
            <a:r>
              <a:rPr lang="en-US" dirty="0"/>
              <a:t>For </a:t>
            </a:r>
            <a:r>
              <a:rPr lang="en-US" dirty="0" err="1"/>
              <a:t>flexograph</a:t>
            </a:r>
            <a:r>
              <a:rPr lang="en-US" dirty="0"/>
              <a:t>, it is the time to construct a named checkpoint and to compute edge offsets for thread scheduling</a:t>
            </a:r>
          </a:p>
          <a:p>
            <a:pPr lvl="1"/>
            <a:endParaRPr lang="en-US" dirty="0"/>
          </a:p>
          <a:p>
            <a:r>
              <a:rPr lang="en-US" dirty="0"/>
              <a:t>Systems being compared: </a:t>
            </a:r>
            <a:r>
              <a:rPr lang="en-US" dirty="0" err="1"/>
              <a:t>GraphChi</a:t>
            </a:r>
            <a:r>
              <a:rPr lang="en-US" dirty="0"/>
              <a:t>, X-Stream, Blaze, </a:t>
            </a:r>
            <a:r>
              <a:rPr lang="en-US" dirty="0" err="1"/>
              <a:t>GridGraph</a:t>
            </a:r>
            <a:r>
              <a:rPr lang="en-US" dirty="0"/>
              <a:t>/Lumos</a:t>
            </a:r>
          </a:p>
        </p:txBody>
      </p:sp>
    </p:spTree>
    <p:extLst>
      <p:ext uri="{BB962C8B-B14F-4D97-AF65-F5344CB8AC3E}">
        <p14:creationId xmlns:p14="http://schemas.microsoft.com/office/powerpoint/2010/main" val="177713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6D173-F32D-8ACB-CA6E-7D3E4280ED4C}"/>
              </a:ext>
            </a:extLst>
          </p:cNvPr>
          <p:cNvSpPr>
            <a:spLocks noGrp="1"/>
          </p:cNvSpPr>
          <p:nvPr>
            <p:ph type="title"/>
          </p:nvPr>
        </p:nvSpPr>
        <p:spPr/>
        <p:txBody>
          <a:bodyPr/>
          <a:lstStyle/>
          <a:p>
            <a:r>
              <a:rPr lang="en-US" dirty="0"/>
              <a:t>Research Question #2</a:t>
            </a:r>
          </a:p>
        </p:txBody>
      </p:sp>
      <p:sp>
        <p:nvSpPr>
          <p:cNvPr id="3" name="Content Placeholder 2">
            <a:extLst>
              <a:ext uri="{FF2B5EF4-FFF2-40B4-BE49-F238E27FC236}">
                <a16:creationId xmlns:a16="http://schemas.microsoft.com/office/drawing/2014/main" id="{E377DDF6-97E6-B95B-CB19-82DC452EACF0}"/>
              </a:ext>
            </a:extLst>
          </p:cNvPr>
          <p:cNvSpPr>
            <a:spLocks noGrp="1"/>
          </p:cNvSpPr>
          <p:nvPr>
            <p:ph idx="1"/>
          </p:nvPr>
        </p:nvSpPr>
        <p:spPr/>
        <p:txBody>
          <a:bodyPr/>
          <a:lstStyle/>
          <a:p>
            <a:r>
              <a:rPr lang="en-US" dirty="0"/>
              <a:t>Metrics to collect/report:</a:t>
            </a:r>
          </a:p>
          <a:p>
            <a:pPr lvl="1"/>
            <a:r>
              <a:rPr lang="en-US" dirty="0"/>
              <a:t>How does the performance vary as the memory-budget is dropped to 50% of the graph size?</a:t>
            </a:r>
          </a:p>
          <a:p>
            <a:pPr lvl="1"/>
            <a:r>
              <a:rPr lang="en-US" dirty="0"/>
              <a:t>How much IO does each system do to finish processing the graph?</a:t>
            </a:r>
          </a:p>
          <a:p>
            <a:pPr lvl="2"/>
            <a:r>
              <a:rPr lang="en-US" dirty="0"/>
              <a:t>Disk usage bandwidth during the experiment run.</a:t>
            </a:r>
          </a:p>
          <a:p>
            <a:pPr lvl="1"/>
            <a:r>
              <a:rPr lang="en-US" dirty="0"/>
              <a:t>How does the performance vary as the number of threads vary?</a:t>
            </a:r>
          </a:p>
          <a:p>
            <a:pPr lvl="1"/>
            <a:endParaRPr lang="en-US" dirty="0"/>
          </a:p>
        </p:txBody>
      </p:sp>
      <p:pic>
        <p:nvPicPr>
          <p:cNvPr id="4" name="Picture 3">
            <a:extLst>
              <a:ext uri="{FF2B5EF4-FFF2-40B4-BE49-F238E27FC236}">
                <a16:creationId xmlns:a16="http://schemas.microsoft.com/office/drawing/2014/main" id="{DB960989-4969-F6E3-BF52-2651B59313B2}"/>
              </a:ext>
            </a:extLst>
          </p:cNvPr>
          <p:cNvPicPr>
            <a:picLocks noChangeAspect="1"/>
          </p:cNvPicPr>
          <p:nvPr/>
        </p:nvPicPr>
        <p:blipFill>
          <a:blip r:embed="rId3"/>
          <a:stretch>
            <a:fillRect/>
          </a:stretch>
        </p:blipFill>
        <p:spPr>
          <a:xfrm>
            <a:off x="443948" y="5073578"/>
            <a:ext cx="3378752" cy="1570525"/>
          </a:xfrm>
          <a:prstGeom prst="rect">
            <a:avLst/>
          </a:prstGeom>
        </p:spPr>
      </p:pic>
      <p:graphicFrame>
        <p:nvGraphicFramePr>
          <p:cNvPr id="5" name="Table 4">
            <a:extLst>
              <a:ext uri="{FF2B5EF4-FFF2-40B4-BE49-F238E27FC236}">
                <a16:creationId xmlns:a16="http://schemas.microsoft.com/office/drawing/2014/main" id="{B68F1699-994A-D38A-DA19-B9C545B69863}"/>
              </a:ext>
            </a:extLst>
          </p:cNvPr>
          <p:cNvGraphicFramePr>
            <a:graphicFrameLocks noGrp="1"/>
          </p:cNvGraphicFramePr>
          <p:nvPr>
            <p:extLst>
              <p:ext uri="{D42A27DB-BD31-4B8C-83A1-F6EECF244321}">
                <p14:modId xmlns:p14="http://schemas.microsoft.com/office/powerpoint/2010/main" val="3789817056"/>
              </p:ext>
            </p:extLst>
          </p:nvPr>
        </p:nvGraphicFramePr>
        <p:xfrm>
          <a:off x="443948" y="4287482"/>
          <a:ext cx="10515599" cy="637912"/>
        </p:xfrm>
        <a:graphic>
          <a:graphicData uri="http://schemas.openxmlformats.org/drawingml/2006/table">
            <a:tbl>
              <a:tblPr>
                <a:tableStyleId>{5C22544A-7EE6-4342-B048-85BDC9FD1C3A}</a:tableStyleId>
              </a:tblPr>
              <a:tblGrid>
                <a:gridCol w="1923251">
                  <a:extLst>
                    <a:ext uri="{9D8B030D-6E8A-4147-A177-3AD203B41FA5}">
                      <a16:colId xmlns:a16="http://schemas.microsoft.com/office/drawing/2014/main" val="319541735"/>
                    </a:ext>
                  </a:extLst>
                </a:gridCol>
                <a:gridCol w="1923251">
                  <a:extLst>
                    <a:ext uri="{9D8B030D-6E8A-4147-A177-3AD203B41FA5}">
                      <a16:colId xmlns:a16="http://schemas.microsoft.com/office/drawing/2014/main" val="234760811"/>
                    </a:ext>
                  </a:extLst>
                </a:gridCol>
                <a:gridCol w="1713985">
                  <a:extLst>
                    <a:ext uri="{9D8B030D-6E8A-4147-A177-3AD203B41FA5}">
                      <a16:colId xmlns:a16="http://schemas.microsoft.com/office/drawing/2014/main" val="2171092707"/>
                    </a:ext>
                  </a:extLst>
                </a:gridCol>
                <a:gridCol w="1517176">
                  <a:extLst>
                    <a:ext uri="{9D8B030D-6E8A-4147-A177-3AD203B41FA5}">
                      <a16:colId xmlns:a16="http://schemas.microsoft.com/office/drawing/2014/main" val="2426410118"/>
                    </a:ext>
                  </a:extLst>
                </a:gridCol>
                <a:gridCol w="1434965">
                  <a:extLst>
                    <a:ext uri="{9D8B030D-6E8A-4147-A177-3AD203B41FA5}">
                      <a16:colId xmlns:a16="http://schemas.microsoft.com/office/drawing/2014/main" val="817156201"/>
                    </a:ext>
                  </a:extLst>
                </a:gridCol>
                <a:gridCol w="1053802">
                  <a:extLst>
                    <a:ext uri="{9D8B030D-6E8A-4147-A177-3AD203B41FA5}">
                      <a16:colId xmlns:a16="http://schemas.microsoft.com/office/drawing/2014/main" val="2973280104"/>
                    </a:ext>
                  </a:extLst>
                </a:gridCol>
                <a:gridCol w="949169">
                  <a:extLst>
                    <a:ext uri="{9D8B030D-6E8A-4147-A177-3AD203B41FA5}">
                      <a16:colId xmlns:a16="http://schemas.microsoft.com/office/drawing/2014/main" val="3969829732"/>
                    </a:ext>
                  </a:extLst>
                </a:gridCol>
              </a:tblGrid>
              <a:tr h="159478">
                <a:tc rowSpan="2">
                  <a:txBody>
                    <a:bodyPr/>
                    <a:lstStyle/>
                    <a:p>
                      <a:pPr algn="ctr" fontAlgn="b">
                        <a:buNone/>
                      </a:pPr>
                      <a:r>
                        <a:rPr lang="en-CA" sz="900" u="none" strike="noStrike">
                          <a:effectLst/>
                        </a:rPr>
                        <a:t>Graph</a:t>
                      </a:r>
                      <a:endParaRPr lang="en-CA" sz="900" b="1" i="0" u="none" strike="noStrike">
                        <a:solidFill>
                          <a:srgbClr val="000000"/>
                        </a:solidFill>
                        <a:effectLst/>
                        <a:latin typeface="Aptos Narrow" panose="020B0004020202020204" pitchFamily="34" charset="0"/>
                      </a:endParaRPr>
                    </a:p>
                  </a:txBody>
                  <a:tcPr marL="7476" marR="7476" marT="7476" marB="0" anchor="b"/>
                </a:tc>
                <a:tc rowSpan="2">
                  <a:txBody>
                    <a:bodyPr/>
                    <a:lstStyle/>
                    <a:p>
                      <a:pPr algn="ctr" fontAlgn="b">
                        <a:buNone/>
                      </a:pPr>
                      <a:r>
                        <a:rPr lang="en-CA" sz="900" u="none" strike="noStrike">
                          <a:effectLst/>
                        </a:rPr>
                        <a:t>Preprocessing Time</a:t>
                      </a:r>
                      <a:endParaRPr lang="en-CA" sz="900" b="1" i="0" u="none" strike="noStrike">
                        <a:solidFill>
                          <a:srgbClr val="000000"/>
                        </a:solidFill>
                        <a:effectLst/>
                        <a:latin typeface="Aptos Narrow" panose="020B0004020202020204" pitchFamily="34" charset="0"/>
                      </a:endParaRPr>
                    </a:p>
                  </a:txBody>
                  <a:tcPr marL="7476" marR="7476" marT="7476" marB="0" anchor="b"/>
                </a:tc>
                <a:tc rowSpan="2">
                  <a:txBody>
                    <a:bodyPr/>
                    <a:lstStyle/>
                    <a:p>
                      <a:pPr algn="ctr" fontAlgn="b">
                        <a:buNone/>
                      </a:pPr>
                      <a:r>
                        <a:rPr lang="en-CA" sz="900" u="none" strike="noStrike" dirty="0">
                          <a:effectLst/>
                        </a:rPr>
                        <a:t>Memory Budget</a:t>
                      </a:r>
                      <a:endParaRPr lang="en-CA" sz="900" b="1" i="0" u="none" strike="noStrike" dirty="0">
                        <a:solidFill>
                          <a:srgbClr val="000000"/>
                        </a:solidFill>
                        <a:effectLst/>
                        <a:latin typeface="Aptos Narrow" panose="020B0004020202020204" pitchFamily="34" charset="0"/>
                      </a:endParaRPr>
                    </a:p>
                  </a:txBody>
                  <a:tcPr marL="7476" marR="7476" marT="7476" marB="0" anchor="b"/>
                </a:tc>
                <a:tc gridSpan="4">
                  <a:txBody>
                    <a:bodyPr/>
                    <a:lstStyle/>
                    <a:p>
                      <a:pPr algn="ctr" fontAlgn="b">
                        <a:buNone/>
                      </a:pPr>
                      <a:r>
                        <a:rPr lang="en-CA" sz="900" u="none" strike="noStrike">
                          <a:effectLst/>
                        </a:rPr>
                        <a:t>PageRank run time</a:t>
                      </a:r>
                      <a:endParaRPr lang="en-CA" sz="900" b="1" i="0" u="none" strike="noStrike">
                        <a:solidFill>
                          <a:srgbClr val="000000"/>
                        </a:solidFill>
                        <a:effectLst/>
                        <a:latin typeface="Aptos Narrow" panose="020B0004020202020204" pitchFamily="34" charset="0"/>
                      </a:endParaRPr>
                    </a:p>
                  </a:txBody>
                  <a:tcPr marL="7476" marR="7476" marT="7476"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65402227"/>
                  </a:ext>
                </a:extLst>
              </a:tr>
              <a:tr h="15947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
                        <a:buNone/>
                      </a:pPr>
                      <a:r>
                        <a:rPr lang="en-CA" sz="900" u="none" strike="noStrike">
                          <a:effectLst/>
                        </a:rPr>
                        <a:t>Graphchi</a:t>
                      </a: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r>
                        <a:rPr lang="en-CA" sz="900" u="none" strike="noStrike">
                          <a:effectLst/>
                        </a:rPr>
                        <a:t>X-Stream</a:t>
                      </a: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r>
                        <a:rPr lang="en-CA" sz="900" u="none" strike="noStrike">
                          <a:effectLst/>
                        </a:rPr>
                        <a:t>Blaze</a:t>
                      </a: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r>
                        <a:rPr lang="en-CA" sz="900" u="none" strike="noStrike">
                          <a:effectLst/>
                        </a:rPr>
                        <a:t>GridGraph</a:t>
                      </a:r>
                      <a:endParaRPr lang="en-CA" sz="900" b="0" i="0" u="none" strike="noStrike">
                        <a:solidFill>
                          <a:srgbClr val="000000"/>
                        </a:solidFill>
                        <a:effectLst/>
                        <a:latin typeface="Aptos Narrow" panose="020B0004020202020204" pitchFamily="34" charset="0"/>
                      </a:endParaRPr>
                    </a:p>
                  </a:txBody>
                  <a:tcPr marL="7476" marR="7476" marT="7476" marB="0" anchor="b"/>
                </a:tc>
                <a:extLst>
                  <a:ext uri="{0D108BD9-81ED-4DB2-BD59-A6C34878D82A}">
                    <a16:rowId xmlns:a16="http://schemas.microsoft.com/office/drawing/2014/main" val="2024358719"/>
                  </a:ext>
                </a:extLst>
              </a:tr>
              <a:tr h="159478">
                <a:tc rowSpan="2">
                  <a:txBody>
                    <a:bodyPr/>
                    <a:lstStyle/>
                    <a:p>
                      <a:pPr algn="ctr" fontAlgn="ctr">
                        <a:buNone/>
                      </a:pPr>
                      <a:r>
                        <a:rPr lang="en-CA" sz="900" u="none" strike="noStrike">
                          <a:effectLst/>
                        </a:rPr>
                        <a:t>Dota League</a:t>
                      </a:r>
                      <a:endParaRPr lang="en-CA" sz="900" b="1" i="0" u="none" strike="noStrike">
                        <a:solidFill>
                          <a:srgbClr val="000000"/>
                        </a:solidFill>
                        <a:effectLst/>
                        <a:latin typeface="Aptos Narrow" panose="020B0004020202020204" pitchFamily="34" charset="0"/>
                      </a:endParaRPr>
                    </a:p>
                  </a:txBody>
                  <a:tcPr marL="7476" marR="7476" marT="7476" marB="0" anchor="ctr"/>
                </a:tc>
                <a:tc rowSpan="2">
                  <a:txBody>
                    <a:bodyPr/>
                    <a:lstStyle/>
                    <a:p>
                      <a:pPr algn="ctr" fontAlgn="ctr">
                        <a:buNone/>
                      </a:pPr>
                      <a:r>
                        <a:rPr lang="en-CA" sz="900" u="none" strike="noStrike">
                          <a:effectLst/>
                        </a:rPr>
                        <a:t> </a:t>
                      </a:r>
                      <a:endParaRPr lang="en-CA" sz="900" b="1" i="0" u="none" strike="noStrike">
                        <a:solidFill>
                          <a:srgbClr val="000000"/>
                        </a:solidFill>
                        <a:effectLst/>
                        <a:latin typeface="Aptos Narrow" panose="020B0004020202020204" pitchFamily="34" charset="0"/>
                      </a:endParaRPr>
                    </a:p>
                  </a:txBody>
                  <a:tcPr marL="7476" marR="7476" marT="7476" marB="0" anchor="ctr"/>
                </a:tc>
                <a:tc>
                  <a:txBody>
                    <a:bodyPr/>
                    <a:lstStyle/>
                    <a:p>
                      <a:pPr algn="r" fontAlgn="b">
                        <a:buNone/>
                      </a:pPr>
                      <a:r>
                        <a:rPr lang="en-CA" sz="900" u="none" strike="noStrike">
                          <a:effectLst/>
                        </a:rPr>
                        <a:t>50%</a:t>
                      </a: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extLst>
                  <a:ext uri="{0D108BD9-81ED-4DB2-BD59-A6C34878D82A}">
                    <a16:rowId xmlns:a16="http://schemas.microsoft.com/office/drawing/2014/main" val="574782134"/>
                  </a:ext>
                </a:extLst>
              </a:tr>
              <a:tr h="159478">
                <a:tc vMerge="1">
                  <a:txBody>
                    <a:bodyPr/>
                    <a:lstStyle/>
                    <a:p>
                      <a:endParaRPr lang="en-US"/>
                    </a:p>
                  </a:txBody>
                  <a:tcPr/>
                </a:tc>
                <a:tc vMerge="1">
                  <a:txBody>
                    <a:bodyPr/>
                    <a:lstStyle/>
                    <a:p>
                      <a:endParaRPr lang="en-US"/>
                    </a:p>
                  </a:txBody>
                  <a:tcPr/>
                </a:tc>
                <a:tc>
                  <a:txBody>
                    <a:bodyPr/>
                    <a:lstStyle/>
                    <a:p>
                      <a:pPr algn="r" fontAlgn="b">
                        <a:buNone/>
                      </a:pPr>
                      <a:r>
                        <a:rPr lang="en-CA" sz="900" u="none" strike="noStrike">
                          <a:effectLst/>
                        </a:rPr>
                        <a:t>100%</a:t>
                      </a: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a:solidFill>
                          <a:srgbClr val="000000"/>
                        </a:solidFill>
                        <a:effectLst/>
                        <a:latin typeface="Aptos Narrow" panose="020B0004020202020204" pitchFamily="34" charset="0"/>
                      </a:endParaRPr>
                    </a:p>
                  </a:txBody>
                  <a:tcPr marL="7476" marR="7476" marT="7476" marB="0" anchor="b"/>
                </a:tc>
                <a:tc>
                  <a:txBody>
                    <a:bodyPr/>
                    <a:lstStyle/>
                    <a:p>
                      <a:pPr algn="l" fontAlgn="b">
                        <a:buNone/>
                      </a:pPr>
                      <a:endParaRPr lang="en-CA" sz="900" b="0" i="0" u="none" strike="noStrike" dirty="0">
                        <a:solidFill>
                          <a:srgbClr val="000000"/>
                        </a:solidFill>
                        <a:effectLst/>
                        <a:latin typeface="Aptos Narrow" panose="020B0004020202020204" pitchFamily="34" charset="0"/>
                      </a:endParaRPr>
                    </a:p>
                  </a:txBody>
                  <a:tcPr marL="7476" marR="7476" marT="7476" marB="0" anchor="b"/>
                </a:tc>
                <a:extLst>
                  <a:ext uri="{0D108BD9-81ED-4DB2-BD59-A6C34878D82A}">
                    <a16:rowId xmlns:a16="http://schemas.microsoft.com/office/drawing/2014/main" val="2618367346"/>
                  </a:ext>
                </a:extLst>
              </a:tr>
            </a:tbl>
          </a:graphicData>
        </a:graphic>
      </p:graphicFrame>
      <p:sp>
        <p:nvSpPr>
          <p:cNvPr id="6" name="TextBox 5">
            <a:extLst>
              <a:ext uri="{FF2B5EF4-FFF2-40B4-BE49-F238E27FC236}">
                <a16:creationId xmlns:a16="http://schemas.microsoft.com/office/drawing/2014/main" id="{1F611FF8-017E-9890-7348-08BD5390075F}"/>
              </a:ext>
            </a:extLst>
          </p:cNvPr>
          <p:cNvSpPr txBox="1"/>
          <p:nvPr/>
        </p:nvSpPr>
        <p:spPr>
          <a:xfrm>
            <a:off x="3822700" y="5119680"/>
            <a:ext cx="2693503" cy="830997"/>
          </a:xfrm>
          <a:prstGeom prst="rect">
            <a:avLst/>
          </a:prstGeom>
          <a:noFill/>
        </p:spPr>
        <p:txBody>
          <a:bodyPr wrap="square" rtlCol="0">
            <a:spAutoFit/>
          </a:bodyPr>
          <a:lstStyle/>
          <a:p>
            <a:r>
              <a:rPr lang="en-US" sz="1600" dirty="0">
                <a:sym typeface="Wingdings" pitchFamily="2" charset="2"/>
              </a:rPr>
              <a:t> </a:t>
            </a:r>
            <a:r>
              <a:rPr lang="en-US" sz="1600" dirty="0"/>
              <a:t>Disk bandwidth and avg bandwidth as PR progresses on different systems. </a:t>
            </a:r>
          </a:p>
        </p:txBody>
      </p:sp>
      <p:pic>
        <p:nvPicPr>
          <p:cNvPr id="8" name="Picture 7">
            <a:extLst>
              <a:ext uri="{FF2B5EF4-FFF2-40B4-BE49-F238E27FC236}">
                <a16:creationId xmlns:a16="http://schemas.microsoft.com/office/drawing/2014/main" id="{312C96EA-88C2-EBE6-75D9-03894D064C5E}"/>
              </a:ext>
            </a:extLst>
          </p:cNvPr>
          <p:cNvPicPr>
            <a:picLocks noChangeAspect="1"/>
          </p:cNvPicPr>
          <p:nvPr/>
        </p:nvPicPr>
        <p:blipFill>
          <a:blip r:embed="rId4"/>
          <a:stretch>
            <a:fillRect/>
          </a:stretch>
        </p:blipFill>
        <p:spPr>
          <a:xfrm>
            <a:off x="7803048" y="5073578"/>
            <a:ext cx="4104031" cy="1481809"/>
          </a:xfrm>
          <a:prstGeom prst="rect">
            <a:avLst/>
          </a:prstGeom>
        </p:spPr>
      </p:pic>
      <p:sp>
        <p:nvSpPr>
          <p:cNvPr id="9" name="TextBox 8">
            <a:extLst>
              <a:ext uri="{FF2B5EF4-FFF2-40B4-BE49-F238E27FC236}">
                <a16:creationId xmlns:a16="http://schemas.microsoft.com/office/drawing/2014/main" id="{410FCF9B-54A8-FFD8-3E42-62B0012EDBC6}"/>
              </a:ext>
            </a:extLst>
          </p:cNvPr>
          <p:cNvSpPr txBox="1"/>
          <p:nvPr/>
        </p:nvSpPr>
        <p:spPr>
          <a:xfrm>
            <a:off x="5109545" y="5909648"/>
            <a:ext cx="2693503" cy="830997"/>
          </a:xfrm>
          <a:prstGeom prst="rect">
            <a:avLst/>
          </a:prstGeom>
          <a:noFill/>
        </p:spPr>
        <p:txBody>
          <a:bodyPr wrap="square" rtlCol="0">
            <a:spAutoFit/>
          </a:bodyPr>
          <a:lstStyle/>
          <a:p>
            <a:pPr algn="r"/>
            <a:r>
              <a:rPr lang="en-US" sz="1600" dirty="0"/>
              <a:t>Time to run benchmark on different graphs as #threads vary </a:t>
            </a:r>
            <a:r>
              <a:rPr lang="en-US" sz="1600" dirty="0">
                <a:sym typeface="Wingdings" pitchFamily="2" charset="2"/>
              </a:rPr>
              <a:t> </a:t>
            </a:r>
            <a:endParaRPr lang="en-US" sz="1600" dirty="0"/>
          </a:p>
        </p:txBody>
      </p:sp>
    </p:spTree>
    <p:extLst>
      <p:ext uri="{BB962C8B-B14F-4D97-AF65-F5344CB8AC3E}">
        <p14:creationId xmlns:p14="http://schemas.microsoft.com/office/powerpoint/2010/main" val="3526340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1FCF-1D9F-35F8-F60A-CD2FF03806C7}"/>
              </a:ext>
            </a:extLst>
          </p:cNvPr>
          <p:cNvSpPr>
            <a:spLocks noGrp="1"/>
          </p:cNvSpPr>
          <p:nvPr>
            <p:ph type="title"/>
          </p:nvPr>
        </p:nvSpPr>
        <p:spPr/>
        <p:txBody>
          <a:bodyPr/>
          <a:lstStyle/>
          <a:p>
            <a:r>
              <a:rPr lang="en-US" dirty="0"/>
              <a:t>Research Question #3</a:t>
            </a:r>
          </a:p>
        </p:txBody>
      </p:sp>
      <p:sp>
        <p:nvSpPr>
          <p:cNvPr id="3" name="Content Placeholder 2">
            <a:extLst>
              <a:ext uri="{FF2B5EF4-FFF2-40B4-BE49-F238E27FC236}">
                <a16:creationId xmlns:a16="http://schemas.microsoft.com/office/drawing/2014/main" id="{D034158E-D69B-7198-66A4-F195F8A5CD75}"/>
              </a:ext>
            </a:extLst>
          </p:cNvPr>
          <p:cNvSpPr>
            <a:spLocks noGrp="1"/>
          </p:cNvSpPr>
          <p:nvPr>
            <p:ph idx="1"/>
          </p:nvPr>
        </p:nvSpPr>
        <p:spPr/>
        <p:txBody>
          <a:bodyPr/>
          <a:lstStyle/>
          <a:p>
            <a:r>
              <a:rPr lang="en-US" dirty="0">
                <a:solidFill>
                  <a:srgbClr val="FF0000"/>
                </a:solidFill>
              </a:rPr>
              <a:t>How does Flexograph compare against in-memory dynamic graph stores?</a:t>
            </a:r>
          </a:p>
          <a:p>
            <a:r>
              <a:rPr lang="en-US" dirty="0"/>
              <a:t>Systems to evaluate against: Teseo, </a:t>
            </a:r>
            <a:r>
              <a:rPr lang="en-US" dirty="0" err="1"/>
              <a:t>LiveGraph</a:t>
            </a:r>
            <a:endParaRPr lang="en-US" dirty="0"/>
          </a:p>
          <a:p>
            <a:pPr lvl="1"/>
            <a:r>
              <a:rPr lang="en-US" dirty="0" err="1"/>
              <a:t>Sortledton</a:t>
            </a:r>
            <a:r>
              <a:rPr lang="en-US" dirty="0"/>
              <a:t> and GTX are newer, but I think having Teseo + </a:t>
            </a:r>
            <a:r>
              <a:rPr lang="en-US" dirty="0" err="1"/>
              <a:t>LiveGraph</a:t>
            </a:r>
            <a:r>
              <a:rPr lang="en-US" dirty="0"/>
              <a:t> should be enough?</a:t>
            </a:r>
          </a:p>
          <a:p>
            <a:pPr lvl="1"/>
            <a:endParaRPr lang="en-US" dirty="0"/>
          </a:p>
          <a:p>
            <a:r>
              <a:rPr lang="en-US" dirty="0"/>
              <a:t>We can compare CRUD operations as well as Analytics tasks</a:t>
            </a:r>
          </a:p>
          <a:p>
            <a:pPr lvl="1"/>
            <a:r>
              <a:rPr lang="en-US" dirty="0"/>
              <a:t>There is no “preprocessing” step in these systems -- they use a read-only transaction that performs a pass over the graph to construct a dense vertex ID map.</a:t>
            </a:r>
          </a:p>
        </p:txBody>
      </p:sp>
    </p:spTree>
    <p:extLst>
      <p:ext uri="{BB962C8B-B14F-4D97-AF65-F5344CB8AC3E}">
        <p14:creationId xmlns:p14="http://schemas.microsoft.com/office/powerpoint/2010/main" val="408393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A226-B974-972E-88D1-C66157B69E0F}"/>
              </a:ext>
            </a:extLst>
          </p:cNvPr>
          <p:cNvSpPr>
            <a:spLocks noGrp="1"/>
          </p:cNvSpPr>
          <p:nvPr>
            <p:ph type="title"/>
          </p:nvPr>
        </p:nvSpPr>
        <p:spPr/>
        <p:txBody>
          <a:bodyPr/>
          <a:lstStyle/>
          <a:p>
            <a:r>
              <a:rPr lang="en-US" dirty="0"/>
              <a:t> Research Question #3</a:t>
            </a:r>
          </a:p>
        </p:txBody>
      </p:sp>
      <p:sp>
        <p:nvSpPr>
          <p:cNvPr id="3" name="Content Placeholder 2">
            <a:extLst>
              <a:ext uri="{FF2B5EF4-FFF2-40B4-BE49-F238E27FC236}">
                <a16:creationId xmlns:a16="http://schemas.microsoft.com/office/drawing/2014/main" id="{EA647479-8CC9-72F3-567A-715DD8377E1D}"/>
              </a:ext>
            </a:extLst>
          </p:cNvPr>
          <p:cNvSpPr>
            <a:spLocks noGrp="1"/>
          </p:cNvSpPr>
          <p:nvPr>
            <p:ph idx="1"/>
          </p:nvPr>
        </p:nvSpPr>
        <p:spPr/>
        <p:txBody>
          <a:bodyPr/>
          <a:lstStyle/>
          <a:p>
            <a:r>
              <a:rPr lang="en-US" dirty="0"/>
              <a:t>For the dynamic eval, we collect and report:</a:t>
            </a:r>
          </a:p>
          <a:p>
            <a:pPr lvl="1"/>
            <a:r>
              <a:rPr lang="en-US" dirty="0"/>
              <a:t>Strong scalability of the system: scalability as #threads vary</a:t>
            </a:r>
          </a:p>
          <a:p>
            <a:pPr lvl="1"/>
            <a:endParaRPr lang="en-US" b="1" dirty="0"/>
          </a:p>
          <a:p>
            <a:pPr lvl="1"/>
            <a:r>
              <a:rPr lang="en-US" b="1" dirty="0"/>
              <a:t>Insertion</a:t>
            </a:r>
            <a:r>
              <a:rPr lang="en-US" dirty="0"/>
              <a:t> </a:t>
            </a:r>
            <a:r>
              <a:rPr lang="en-US" b="1" dirty="0"/>
              <a:t>(no updates) throughput</a:t>
            </a:r>
            <a:r>
              <a:rPr lang="en-US" dirty="0"/>
              <a:t>: average insertion throughput for different graphs</a:t>
            </a:r>
          </a:p>
          <a:p>
            <a:pPr lvl="1"/>
            <a:endParaRPr lang="en-US" dirty="0"/>
          </a:p>
          <a:p>
            <a:pPr lvl="1"/>
            <a:r>
              <a:rPr lang="en-US" b="1" dirty="0"/>
              <a:t>Throughput with updates</a:t>
            </a:r>
            <a:r>
              <a:rPr lang="en-US" dirty="0"/>
              <a:t>: average throughput + throughput over time as the experiment progresses. </a:t>
            </a:r>
          </a:p>
          <a:p>
            <a:pPr lvl="1"/>
            <a:endParaRPr lang="en-US" dirty="0"/>
          </a:p>
          <a:p>
            <a:pPr lvl="1"/>
            <a:r>
              <a:rPr lang="en-US" dirty="0"/>
              <a:t>Memory Usage</a:t>
            </a:r>
          </a:p>
        </p:txBody>
      </p:sp>
    </p:spTree>
    <p:extLst>
      <p:ext uri="{BB962C8B-B14F-4D97-AF65-F5344CB8AC3E}">
        <p14:creationId xmlns:p14="http://schemas.microsoft.com/office/powerpoint/2010/main" val="633093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9FA4-83AD-8CA4-032F-56AA544A0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FE399-C97E-0AED-90B8-28B537E4B2A6}"/>
              </a:ext>
            </a:extLst>
          </p:cNvPr>
          <p:cNvSpPr>
            <a:spLocks noGrp="1"/>
          </p:cNvSpPr>
          <p:nvPr>
            <p:ph type="title"/>
          </p:nvPr>
        </p:nvSpPr>
        <p:spPr/>
        <p:txBody>
          <a:bodyPr/>
          <a:lstStyle/>
          <a:p>
            <a:r>
              <a:rPr lang="en-US" dirty="0"/>
              <a:t> Research Question #3</a:t>
            </a:r>
          </a:p>
        </p:txBody>
      </p:sp>
      <p:pic>
        <p:nvPicPr>
          <p:cNvPr id="6" name="Picture 5">
            <a:extLst>
              <a:ext uri="{FF2B5EF4-FFF2-40B4-BE49-F238E27FC236}">
                <a16:creationId xmlns:a16="http://schemas.microsoft.com/office/drawing/2014/main" id="{4D29FDC3-798D-8FA9-155A-41E78DE8052B}"/>
              </a:ext>
            </a:extLst>
          </p:cNvPr>
          <p:cNvPicPr>
            <a:picLocks noChangeAspect="1"/>
          </p:cNvPicPr>
          <p:nvPr/>
        </p:nvPicPr>
        <p:blipFill>
          <a:blip r:embed="rId2"/>
          <a:stretch>
            <a:fillRect/>
          </a:stretch>
        </p:blipFill>
        <p:spPr>
          <a:xfrm>
            <a:off x="2209800" y="1580851"/>
            <a:ext cx="7772400" cy="2379541"/>
          </a:xfrm>
          <a:prstGeom prst="rect">
            <a:avLst/>
          </a:prstGeom>
        </p:spPr>
      </p:pic>
      <p:pic>
        <p:nvPicPr>
          <p:cNvPr id="7" name="Picture 6">
            <a:extLst>
              <a:ext uri="{FF2B5EF4-FFF2-40B4-BE49-F238E27FC236}">
                <a16:creationId xmlns:a16="http://schemas.microsoft.com/office/drawing/2014/main" id="{E6BA85E8-E610-C8BC-6776-3754E8050E5A}"/>
              </a:ext>
            </a:extLst>
          </p:cNvPr>
          <p:cNvPicPr>
            <a:picLocks noChangeAspect="1"/>
          </p:cNvPicPr>
          <p:nvPr/>
        </p:nvPicPr>
        <p:blipFill>
          <a:blip r:embed="rId3"/>
          <a:stretch>
            <a:fillRect/>
          </a:stretch>
        </p:blipFill>
        <p:spPr>
          <a:xfrm>
            <a:off x="2209800" y="4214430"/>
            <a:ext cx="7772400" cy="2379541"/>
          </a:xfrm>
          <a:prstGeom prst="rect">
            <a:avLst/>
          </a:prstGeom>
        </p:spPr>
      </p:pic>
    </p:spTree>
    <p:extLst>
      <p:ext uri="{BB962C8B-B14F-4D97-AF65-F5344CB8AC3E}">
        <p14:creationId xmlns:p14="http://schemas.microsoft.com/office/powerpoint/2010/main" val="3405066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4B0E-4350-C695-60B6-1950CC2D3F48}"/>
              </a:ext>
            </a:extLst>
          </p:cNvPr>
          <p:cNvSpPr>
            <a:spLocks noGrp="1"/>
          </p:cNvSpPr>
          <p:nvPr>
            <p:ph type="title"/>
          </p:nvPr>
        </p:nvSpPr>
        <p:spPr/>
        <p:txBody>
          <a:bodyPr/>
          <a:lstStyle/>
          <a:p>
            <a:r>
              <a:rPr lang="en-US"/>
              <a:t>Research Question #3</a:t>
            </a:r>
            <a:endParaRPr lang="en-US" dirty="0"/>
          </a:p>
        </p:txBody>
      </p:sp>
      <p:sp>
        <p:nvSpPr>
          <p:cNvPr id="3" name="Content Placeholder 2">
            <a:extLst>
              <a:ext uri="{FF2B5EF4-FFF2-40B4-BE49-F238E27FC236}">
                <a16:creationId xmlns:a16="http://schemas.microsoft.com/office/drawing/2014/main" id="{4B161904-C140-0C99-2B40-82119A0D61B8}"/>
              </a:ext>
            </a:extLst>
          </p:cNvPr>
          <p:cNvSpPr>
            <a:spLocks noGrp="1"/>
          </p:cNvSpPr>
          <p:nvPr>
            <p:ph idx="1"/>
          </p:nvPr>
        </p:nvSpPr>
        <p:spPr>
          <a:xfrm>
            <a:off x="85299" y="1717892"/>
            <a:ext cx="5340710" cy="2867963"/>
          </a:xfrm>
        </p:spPr>
        <p:txBody>
          <a:bodyPr/>
          <a:lstStyle/>
          <a:p>
            <a:r>
              <a:rPr lang="en-US" dirty="0"/>
              <a:t>For analytics:</a:t>
            </a:r>
          </a:p>
          <a:p>
            <a:pPr lvl="1"/>
            <a:r>
              <a:rPr lang="en-US" dirty="0"/>
              <a:t>Completion time for BFS, PR, SSSP, CC</a:t>
            </a:r>
          </a:p>
          <a:p>
            <a:pPr lvl="1"/>
            <a:r>
              <a:rPr lang="en-US" dirty="0"/>
              <a:t>Concurrent read-write workload: </a:t>
            </a:r>
          </a:p>
          <a:p>
            <a:pPr lvl="2"/>
            <a:r>
              <a:rPr lang="en-US" dirty="0"/>
              <a:t>Latency for inserts as the #analytical threads vary</a:t>
            </a:r>
          </a:p>
          <a:p>
            <a:pPr lvl="2"/>
            <a:r>
              <a:rPr lang="en-US" dirty="0"/>
              <a:t>Time to complete PR as the updates happen.</a:t>
            </a:r>
          </a:p>
        </p:txBody>
      </p:sp>
      <p:pic>
        <p:nvPicPr>
          <p:cNvPr id="4" name="Picture 3">
            <a:extLst>
              <a:ext uri="{FF2B5EF4-FFF2-40B4-BE49-F238E27FC236}">
                <a16:creationId xmlns:a16="http://schemas.microsoft.com/office/drawing/2014/main" id="{A6DE5A9F-336E-FC86-86C8-5A3672D8707A}"/>
              </a:ext>
            </a:extLst>
          </p:cNvPr>
          <p:cNvPicPr>
            <a:picLocks noChangeAspect="1"/>
          </p:cNvPicPr>
          <p:nvPr/>
        </p:nvPicPr>
        <p:blipFill>
          <a:blip r:embed="rId2"/>
          <a:stretch>
            <a:fillRect/>
          </a:stretch>
        </p:blipFill>
        <p:spPr>
          <a:xfrm>
            <a:off x="242455" y="4710546"/>
            <a:ext cx="6455315" cy="2050208"/>
          </a:xfrm>
          <a:prstGeom prst="rect">
            <a:avLst/>
          </a:prstGeom>
        </p:spPr>
      </p:pic>
      <p:pic>
        <p:nvPicPr>
          <p:cNvPr id="5" name="Picture 4">
            <a:extLst>
              <a:ext uri="{FF2B5EF4-FFF2-40B4-BE49-F238E27FC236}">
                <a16:creationId xmlns:a16="http://schemas.microsoft.com/office/drawing/2014/main" id="{971F8A0A-DFAB-B5D7-7545-903291CA4CD9}"/>
              </a:ext>
            </a:extLst>
          </p:cNvPr>
          <p:cNvPicPr>
            <a:picLocks noChangeAspect="1"/>
          </p:cNvPicPr>
          <p:nvPr/>
        </p:nvPicPr>
        <p:blipFill>
          <a:blip r:embed="rId3"/>
          <a:stretch>
            <a:fillRect/>
          </a:stretch>
        </p:blipFill>
        <p:spPr>
          <a:xfrm>
            <a:off x="5426009" y="1479141"/>
            <a:ext cx="6315718" cy="3218489"/>
          </a:xfrm>
          <a:prstGeom prst="rect">
            <a:avLst/>
          </a:prstGeom>
        </p:spPr>
      </p:pic>
    </p:spTree>
    <p:extLst>
      <p:ext uri="{BB962C8B-B14F-4D97-AF65-F5344CB8AC3E}">
        <p14:creationId xmlns:p14="http://schemas.microsoft.com/office/powerpoint/2010/main" val="3010732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3D463-14E9-6239-3A04-0EBFCF244148}"/>
              </a:ext>
            </a:extLst>
          </p:cNvPr>
          <p:cNvSpPr>
            <a:spLocks noGrp="1"/>
          </p:cNvSpPr>
          <p:nvPr>
            <p:ph type="title"/>
          </p:nvPr>
        </p:nvSpPr>
        <p:spPr/>
        <p:txBody>
          <a:bodyPr/>
          <a:lstStyle/>
          <a:p>
            <a:r>
              <a:rPr lang="en-US" dirty="0"/>
              <a:t>Evaluation Setup</a:t>
            </a:r>
          </a:p>
        </p:txBody>
      </p:sp>
      <p:sp>
        <p:nvSpPr>
          <p:cNvPr id="3" name="Content Placeholder 2">
            <a:extLst>
              <a:ext uri="{FF2B5EF4-FFF2-40B4-BE49-F238E27FC236}">
                <a16:creationId xmlns:a16="http://schemas.microsoft.com/office/drawing/2014/main" id="{FFE52911-FC43-0E13-C8B2-6E74A56B5411}"/>
              </a:ext>
            </a:extLst>
          </p:cNvPr>
          <p:cNvSpPr>
            <a:spLocks noGrp="1"/>
          </p:cNvSpPr>
          <p:nvPr>
            <p:ph idx="1"/>
          </p:nvPr>
        </p:nvSpPr>
        <p:spPr/>
        <p:txBody>
          <a:bodyPr/>
          <a:lstStyle/>
          <a:p>
            <a:r>
              <a:rPr lang="en-US" dirty="0"/>
              <a:t>Dual socket AMD EPYC 7643 48-Core Processor @ 2300 MHz with hyperthreading enabled</a:t>
            </a:r>
          </a:p>
          <a:p>
            <a:r>
              <a:rPr lang="en-US" dirty="0"/>
              <a:t>Ubuntu 22.04.5 LTS running Linux 5.15.0-143</a:t>
            </a:r>
          </a:p>
          <a:p>
            <a:endParaRPr lang="en-US" dirty="0"/>
          </a:p>
          <a:p>
            <a:r>
              <a:rPr lang="en-US" dirty="0"/>
              <a:t>All docker images based on Ubuntu 22.04 and compiled with GCC 11.4.0-1, OpenMP 4.5, and Intel </a:t>
            </a:r>
            <a:r>
              <a:rPr lang="en-US" dirty="0" err="1"/>
              <a:t>OneAPI</a:t>
            </a:r>
            <a:r>
              <a:rPr lang="en-US" dirty="0"/>
              <a:t> (TBB) 2025.2 </a:t>
            </a:r>
          </a:p>
        </p:txBody>
      </p:sp>
    </p:spTree>
    <p:extLst>
      <p:ext uri="{BB962C8B-B14F-4D97-AF65-F5344CB8AC3E}">
        <p14:creationId xmlns:p14="http://schemas.microsoft.com/office/powerpoint/2010/main" val="372689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A25A-00E0-F493-B838-5C9EFFB1EA92}"/>
              </a:ext>
            </a:extLst>
          </p:cNvPr>
          <p:cNvSpPr>
            <a:spLocks noGrp="1"/>
          </p:cNvSpPr>
          <p:nvPr>
            <p:ph type="title"/>
          </p:nvPr>
        </p:nvSpPr>
        <p:spPr/>
        <p:txBody>
          <a:bodyPr/>
          <a:lstStyle/>
          <a:p>
            <a:r>
              <a:rPr lang="en-US" dirty="0"/>
              <a:t>Systems being evaluated</a:t>
            </a:r>
          </a:p>
        </p:txBody>
      </p:sp>
      <p:sp>
        <p:nvSpPr>
          <p:cNvPr id="3" name="Content Placeholder 2">
            <a:extLst>
              <a:ext uri="{FF2B5EF4-FFF2-40B4-BE49-F238E27FC236}">
                <a16:creationId xmlns:a16="http://schemas.microsoft.com/office/drawing/2014/main" id="{8BC9707F-23EB-261C-33EA-B332E6262E62}"/>
              </a:ext>
            </a:extLst>
          </p:cNvPr>
          <p:cNvSpPr>
            <a:spLocks noGrp="1"/>
          </p:cNvSpPr>
          <p:nvPr>
            <p:ph idx="1"/>
          </p:nvPr>
        </p:nvSpPr>
        <p:spPr/>
        <p:txBody>
          <a:bodyPr>
            <a:normAutofit lnSpcReduction="10000"/>
          </a:bodyPr>
          <a:lstStyle/>
          <a:p>
            <a:r>
              <a:rPr lang="en-US" dirty="0"/>
              <a:t>Static + In-memory GPS:</a:t>
            </a:r>
          </a:p>
          <a:p>
            <a:pPr lvl="1"/>
            <a:r>
              <a:rPr lang="en-CA" dirty="0" err="1"/>
              <a:t>GapBS</a:t>
            </a:r>
            <a:endParaRPr lang="en-CA" dirty="0"/>
          </a:p>
          <a:p>
            <a:pPr lvl="1"/>
            <a:r>
              <a:rPr lang="en-CA" dirty="0"/>
              <a:t>Galois</a:t>
            </a:r>
          </a:p>
          <a:p>
            <a:pPr lvl="1"/>
            <a:r>
              <a:rPr lang="en-CA" dirty="0"/>
              <a:t>Gemini</a:t>
            </a:r>
          </a:p>
          <a:p>
            <a:pPr lvl="1"/>
            <a:r>
              <a:rPr lang="en-CA" dirty="0" err="1"/>
              <a:t>Ligra</a:t>
            </a:r>
            <a:endParaRPr lang="en-CA" dirty="0"/>
          </a:p>
          <a:p>
            <a:r>
              <a:rPr lang="en-US" dirty="0"/>
              <a:t>Static + OOC GPS:</a:t>
            </a:r>
          </a:p>
          <a:p>
            <a:pPr lvl="1"/>
            <a:r>
              <a:rPr lang="en-US" dirty="0" err="1"/>
              <a:t>GraphChi</a:t>
            </a:r>
            <a:r>
              <a:rPr lang="en-US" dirty="0"/>
              <a:t> (2013)</a:t>
            </a:r>
          </a:p>
          <a:p>
            <a:pPr lvl="1"/>
            <a:r>
              <a:rPr lang="en-US" dirty="0"/>
              <a:t>X-Stream (2015)</a:t>
            </a:r>
          </a:p>
          <a:p>
            <a:pPr lvl="1"/>
            <a:r>
              <a:rPr lang="en-US" dirty="0" err="1"/>
              <a:t>GridGraph</a:t>
            </a:r>
            <a:r>
              <a:rPr lang="en-US" dirty="0"/>
              <a:t>(2015) / Lumos (2019): streaming graph processing, grid-based layout, Lumos is PR-specialized</a:t>
            </a:r>
          </a:p>
          <a:p>
            <a:pPr lvl="1"/>
            <a:r>
              <a:rPr lang="en-US" dirty="0"/>
              <a:t>Blaze (2022) specialized for </a:t>
            </a:r>
            <a:r>
              <a:rPr lang="en-US" dirty="0" err="1"/>
              <a:t>NVMe</a:t>
            </a:r>
            <a:r>
              <a:rPr lang="en-US" dirty="0"/>
              <a:t> SSDs</a:t>
            </a:r>
          </a:p>
        </p:txBody>
      </p:sp>
    </p:spTree>
    <p:extLst>
      <p:ext uri="{BB962C8B-B14F-4D97-AF65-F5344CB8AC3E}">
        <p14:creationId xmlns:p14="http://schemas.microsoft.com/office/powerpoint/2010/main" val="3450623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BB2D-D072-8F47-9AC0-9F2A57462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EE7E4-708A-F5AD-FDE6-1996050BD8EF}"/>
              </a:ext>
            </a:extLst>
          </p:cNvPr>
          <p:cNvSpPr>
            <a:spLocks noGrp="1"/>
          </p:cNvSpPr>
          <p:nvPr>
            <p:ph type="title"/>
          </p:nvPr>
        </p:nvSpPr>
        <p:spPr/>
        <p:txBody>
          <a:bodyPr/>
          <a:lstStyle/>
          <a:p>
            <a:r>
              <a:rPr lang="en-US" dirty="0"/>
              <a:t>Systems being evaluated</a:t>
            </a:r>
          </a:p>
        </p:txBody>
      </p:sp>
      <p:sp>
        <p:nvSpPr>
          <p:cNvPr id="3" name="Content Placeholder 2">
            <a:extLst>
              <a:ext uri="{FF2B5EF4-FFF2-40B4-BE49-F238E27FC236}">
                <a16:creationId xmlns:a16="http://schemas.microsoft.com/office/drawing/2014/main" id="{864C3CB9-92AF-A0A0-AFBA-7722374058C7}"/>
              </a:ext>
            </a:extLst>
          </p:cNvPr>
          <p:cNvSpPr>
            <a:spLocks noGrp="1"/>
          </p:cNvSpPr>
          <p:nvPr>
            <p:ph idx="1"/>
          </p:nvPr>
        </p:nvSpPr>
        <p:spPr/>
        <p:txBody>
          <a:bodyPr>
            <a:normAutofit/>
          </a:bodyPr>
          <a:lstStyle/>
          <a:p>
            <a:r>
              <a:rPr lang="en-US" dirty="0"/>
              <a:t>Dynamic Graph Processing Systems (in-memory)</a:t>
            </a:r>
          </a:p>
          <a:p>
            <a:pPr lvl="1"/>
            <a:r>
              <a:rPr lang="en-US" dirty="0" err="1"/>
              <a:t>LiveGraph</a:t>
            </a:r>
            <a:r>
              <a:rPr lang="en-US" dirty="0"/>
              <a:t> (2020) </a:t>
            </a:r>
            <a:r>
              <a:rPr lang="en-US" dirty="0" err="1"/>
              <a:t>mmap</a:t>
            </a:r>
            <a:r>
              <a:rPr lang="en-US" dirty="0"/>
              <a:t>-based system, sequential edge-layout</a:t>
            </a:r>
          </a:p>
          <a:p>
            <a:pPr lvl="1"/>
            <a:r>
              <a:rPr lang="en-US" dirty="0"/>
              <a:t>Teseo (2021): ART-based index to a packed-memory array</a:t>
            </a:r>
          </a:p>
          <a:p>
            <a:pPr lvl="1"/>
            <a:r>
              <a:rPr lang="en-US" dirty="0" err="1"/>
              <a:t>Sortledton</a:t>
            </a:r>
            <a:r>
              <a:rPr lang="en-US" dirty="0"/>
              <a:t> (2023): blocked-array layout.</a:t>
            </a:r>
          </a:p>
        </p:txBody>
      </p:sp>
    </p:spTree>
    <p:extLst>
      <p:ext uri="{BB962C8B-B14F-4D97-AF65-F5344CB8AC3E}">
        <p14:creationId xmlns:p14="http://schemas.microsoft.com/office/powerpoint/2010/main" val="3475330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867C-353C-FFD4-8A84-49A33F25B931}"/>
              </a:ext>
            </a:extLst>
          </p:cNvPr>
          <p:cNvSpPr>
            <a:spLocks noGrp="1"/>
          </p:cNvSpPr>
          <p:nvPr>
            <p:ph type="title"/>
          </p:nvPr>
        </p:nvSpPr>
        <p:spPr/>
        <p:txBody>
          <a:bodyPr/>
          <a:lstStyle/>
          <a:p>
            <a:r>
              <a:rPr lang="en-US" dirty="0"/>
              <a:t>Datasets</a:t>
            </a:r>
          </a:p>
        </p:txBody>
      </p:sp>
      <p:graphicFrame>
        <p:nvGraphicFramePr>
          <p:cNvPr id="7" name="Content Placeholder 6">
            <a:extLst>
              <a:ext uri="{FF2B5EF4-FFF2-40B4-BE49-F238E27FC236}">
                <a16:creationId xmlns:a16="http://schemas.microsoft.com/office/drawing/2014/main" id="{5CD3C96D-7AEB-8588-5DFC-748D47169A25}"/>
              </a:ext>
            </a:extLst>
          </p:cNvPr>
          <p:cNvGraphicFramePr>
            <a:graphicFrameLocks noGrp="1"/>
          </p:cNvGraphicFramePr>
          <p:nvPr>
            <p:ph idx="1"/>
            <p:extLst>
              <p:ext uri="{D42A27DB-BD31-4B8C-83A1-F6EECF244321}">
                <p14:modId xmlns:p14="http://schemas.microsoft.com/office/powerpoint/2010/main" val="2001472753"/>
              </p:ext>
            </p:extLst>
          </p:nvPr>
        </p:nvGraphicFramePr>
        <p:xfrm>
          <a:off x="838200" y="1825625"/>
          <a:ext cx="10515600" cy="3708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383037210"/>
                    </a:ext>
                  </a:extLst>
                </a:gridCol>
                <a:gridCol w="2103120">
                  <a:extLst>
                    <a:ext uri="{9D8B030D-6E8A-4147-A177-3AD203B41FA5}">
                      <a16:colId xmlns:a16="http://schemas.microsoft.com/office/drawing/2014/main" val="1855474621"/>
                    </a:ext>
                  </a:extLst>
                </a:gridCol>
                <a:gridCol w="2103120">
                  <a:extLst>
                    <a:ext uri="{9D8B030D-6E8A-4147-A177-3AD203B41FA5}">
                      <a16:colId xmlns:a16="http://schemas.microsoft.com/office/drawing/2014/main" val="1956769152"/>
                    </a:ext>
                  </a:extLst>
                </a:gridCol>
                <a:gridCol w="2103120">
                  <a:extLst>
                    <a:ext uri="{9D8B030D-6E8A-4147-A177-3AD203B41FA5}">
                      <a16:colId xmlns:a16="http://schemas.microsoft.com/office/drawing/2014/main" val="943185657"/>
                    </a:ext>
                  </a:extLst>
                </a:gridCol>
                <a:gridCol w="2103120">
                  <a:extLst>
                    <a:ext uri="{9D8B030D-6E8A-4147-A177-3AD203B41FA5}">
                      <a16:colId xmlns:a16="http://schemas.microsoft.com/office/drawing/2014/main" val="4058877201"/>
                    </a:ext>
                  </a:extLst>
                </a:gridCol>
              </a:tblGrid>
              <a:tr h="370840">
                <a:tc>
                  <a:txBody>
                    <a:bodyPr/>
                    <a:lstStyle/>
                    <a:p>
                      <a:r>
                        <a:rPr lang="en-US" dirty="0"/>
                        <a:t>Dataset Name</a:t>
                      </a:r>
                    </a:p>
                  </a:txBody>
                  <a:tcPr/>
                </a:tc>
                <a:tc>
                  <a:txBody>
                    <a:bodyPr/>
                    <a:lstStyle/>
                    <a:p>
                      <a:r>
                        <a:rPr lang="en-US" dirty="0"/>
                        <a:t>#Vertices</a:t>
                      </a:r>
                    </a:p>
                  </a:txBody>
                  <a:tcPr/>
                </a:tc>
                <a:tc>
                  <a:txBody>
                    <a:bodyPr/>
                    <a:lstStyle/>
                    <a:p>
                      <a:r>
                        <a:rPr lang="en-US" dirty="0"/>
                        <a:t>#Edges</a:t>
                      </a:r>
                    </a:p>
                  </a:txBody>
                  <a:tcPr/>
                </a:tc>
                <a:tc>
                  <a:txBody>
                    <a:bodyPr/>
                    <a:lstStyle/>
                    <a:p>
                      <a:r>
                        <a:rPr lang="en-US" dirty="0"/>
                        <a:t>Size (GB)</a:t>
                      </a:r>
                    </a:p>
                  </a:txBody>
                  <a:tcPr/>
                </a:tc>
                <a:tc>
                  <a:txBody>
                    <a:bodyPr/>
                    <a:lstStyle/>
                    <a:p>
                      <a:r>
                        <a:rPr lang="en-US" dirty="0"/>
                        <a:t>Used in</a:t>
                      </a:r>
                    </a:p>
                  </a:txBody>
                  <a:tcPr/>
                </a:tc>
                <a:extLst>
                  <a:ext uri="{0D108BD9-81ED-4DB2-BD59-A6C34878D82A}">
                    <a16:rowId xmlns:a16="http://schemas.microsoft.com/office/drawing/2014/main" val="847330933"/>
                  </a:ext>
                </a:extLst>
              </a:tr>
              <a:tr h="370840">
                <a:tc>
                  <a:txBody>
                    <a:bodyPr/>
                    <a:lstStyle/>
                    <a:p>
                      <a:r>
                        <a:rPr lang="en-US" dirty="0"/>
                        <a:t>graph500-22</a:t>
                      </a:r>
                    </a:p>
                  </a:txBody>
                  <a:tcPr/>
                </a:tc>
                <a:tc>
                  <a:txBody>
                    <a:bodyPr/>
                    <a:lstStyle/>
                    <a:p>
                      <a:pPr algn="r"/>
                      <a:r>
                        <a:rPr lang="en-US" dirty="0"/>
                        <a:t>2.39 M</a:t>
                      </a:r>
                    </a:p>
                  </a:txBody>
                  <a:tcPr/>
                </a:tc>
                <a:tc>
                  <a:txBody>
                    <a:bodyPr/>
                    <a:lstStyle/>
                    <a:p>
                      <a:pPr algn="r"/>
                      <a:r>
                        <a:rPr lang="en-US" dirty="0"/>
                        <a:t>64.15 M</a:t>
                      </a:r>
                    </a:p>
                  </a:txBody>
                  <a:tcPr/>
                </a:tc>
                <a:tc>
                  <a:txBody>
                    <a:bodyPr/>
                    <a:lstStyle/>
                    <a:p>
                      <a:pPr algn="r"/>
                      <a:r>
                        <a:rPr lang="en-US" dirty="0"/>
                        <a:t>1</a:t>
                      </a:r>
                    </a:p>
                  </a:txBody>
                  <a:tcPr/>
                </a:tc>
                <a:tc>
                  <a:txBody>
                    <a:bodyPr/>
                    <a:lstStyle/>
                    <a:p>
                      <a:endParaRPr lang="en-US"/>
                    </a:p>
                  </a:txBody>
                  <a:tcPr/>
                </a:tc>
                <a:extLst>
                  <a:ext uri="{0D108BD9-81ED-4DB2-BD59-A6C34878D82A}">
                    <a16:rowId xmlns:a16="http://schemas.microsoft.com/office/drawing/2014/main" val="2262312380"/>
                  </a:ext>
                </a:extLst>
              </a:tr>
              <a:tr h="370840">
                <a:tc>
                  <a:txBody>
                    <a:bodyPr/>
                    <a:lstStyle/>
                    <a:p>
                      <a:r>
                        <a:rPr lang="en-US" dirty="0"/>
                        <a:t>graph500-24</a:t>
                      </a:r>
                    </a:p>
                  </a:txBody>
                  <a:tcPr/>
                </a:tc>
                <a:tc>
                  <a:txBody>
                    <a:bodyPr/>
                    <a:lstStyle/>
                    <a:p>
                      <a:pPr algn="r"/>
                      <a:r>
                        <a:rPr lang="en-US" dirty="0"/>
                        <a:t>8.87 M</a:t>
                      </a:r>
                    </a:p>
                  </a:txBody>
                  <a:tcPr/>
                </a:tc>
                <a:tc>
                  <a:txBody>
                    <a:bodyPr/>
                    <a:lstStyle/>
                    <a:p>
                      <a:pPr algn="r"/>
                      <a:r>
                        <a:rPr lang="en-US" dirty="0"/>
                        <a:t>260.38 M </a:t>
                      </a:r>
                    </a:p>
                  </a:txBody>
                  <a:tcPr/>
                </a:tc>
                <a:tc>
                  <a:txBody>
                    <a:bodyPr/>
                    <a:lstStyle/>
                    <a:p>
                      <a:pPr algn="r"/>
                      <a:r>
                        <a:rPr lang="en-US" dirty="0"/>
                        <a:t>4.34</a:t>
                      </a:r>
                    </a:p>
                  </a:txBody>
                  <a:tcPr/>
                </a:tc>
                <a:tc>
                  <a:txBody>
                    <a:bodyPr/>
                    <a:lstStyle/>
                    <a:p>
                      <a:endParaRPr lang="en-US"/>
                    </a:p>
                  </a:txBody>
                  <a:tcPr/>
                </a:tc>
                <a:extLst>
                  <a:ext uri="{0D108BD9-81ED-4DB2-BD59-A6C34878D82A}">
                    <a16:rowId xmlns:a16="http://schemas.microsoft.com/office/drawing/2014/main" val="1592525449"/>
                  </a:ext>
                </a:extLst>
              </a:tr>
              <a:tr h="370840">
                <a:tc>
                  <a:txBody>
                    <a:bodyPr/>
                    <a:lstStyle/>
                    <a:p>
                      <a:r>
                        <a:rPr lang="en-US" dirty="0"/>
                        <a:t>graph500-26</a:t>
                      </a:r>
                    </a:p>
                  </a:txBody>
                  <a:tcPr/>
                </a:tc>
                <a:tc>
                  <a:txBody>
                    <a:bodyPr/>
                    <a:lstStyle/>
                    <a:p>
                      <a:pPr algn="r"/>
                      <a:r>
                        <a:rPr lang="en-US" dirty="0"/>
                        <a:t>32.80 M</a:t>
                      </a:r>
                    </a:p>
                  </a:txBody>
                  <a:tcPr/>
                </a:tc>
                <a:tc>
                  <a:txBody>
                    <a:bodyPr/>
                    <a:lstStyle/>
                    <a:p>
                      <a:pPr algn="r"/>
                      <a:r>
                        <a:rPr lang="en-US" dirty="0"/>
                        <a:t>1.05 B</a:t>
                      </a:r>
                    </a:p>
                  </a:txBody>
                  <a:tcPr/>
                </a:tc>
                <a:tc>
                  <a:txBody>
                    <a:bodyPr/>
                    <a:lstStyle/>
                    <a:p>
                      <a:pPr algn="r"/>
                      <a:r>
                        <a:rPr lang="en-US" dirty="0"/>
                        <a:t>18.59</a:t>
                      </a:r>
                    </a:p>
                  </a:txBody>
                  <a:tcPr/>
                </a:tc>
                <a:tc>
                  <a:txBody>
                    <a:bodyPr/>
                    <a:lstStyle/>
                    <a:p>
                      <a:endParaRPr lang="en-US"/>
                    </a:p>
                  </a:txBody>
                  <a:tcPr/>
                </a:tc>
                <a:extLst>
                  <a:ext uri="{0D108BD9-81ED-4DB2-BD59-A6C34878D82A}">
                    <a16:rowId xmlns:a16="http://schemas.microsoft.com/office/drawing/2014/main" val="4119738214"/>
                  </a:ext>
                </a:extLst>
              </a:tr>
              <a:tr h="370840">
                <a:tc>
                  <a:txBody>
                    <a:bodyPr/>
                    <a:lstStyle/>
                    <a:p>
                      <a:r>
                        <a:rPr lang="en-US" dirty="0" err="1"/>
                        <a:t>URand</a:t>
                      </a:r>
                      <a:r>
                        <a:rPr lang="en-US" dirty="0"/>
                        <a:t> 22</a:t>
                      </a:r>
                    </a:p>
                  </a:txBody>
                  <a:tcPr/>
                </a:tc>
                <a:tc>
                  <a:txBody>
                    <a:bodyPr/>
                    <a:lstStyle/>
                    <a:p>
                      <a:pPr algn="r"/>
                      <a:r>
                        <a:rPr lang="en-US" dirty="0"/>
                        <a:t>2.39 M</a:t>
                      </a:r>
                    </a:p>
                  </a:txBody>
                  <a:tcPr/>
                </a:tc>
                <a:tc>
                  <a:txBody>
                    <a:bodyPr/>
                    <a:lstStyle/>
                    <a:p>
                      <a:pPr algn="r"/>
                      <a:r>
                        <a:rPr lang="en-US" dirty="0"/>
                        <a:t>64.15 M</a:t>
                      </a:r>
                    </a:p>
                  </a:txBody>
                  <a:tcPr/>
                </a:tc>
                <a:tc>
                  <a:txBody>
                    <a:bodyPr/>
                    <a:lstStyle/>
                    <a:p>
                      <a:pPr algn="r"/>
                      <a:r>
                        <a:rPr lang="en-US" dirty="0"/>
                        <a:t>1</a:t>
                      </a:r>
                    </a:p>
                  </a:txBody>
                  <a:tcPr/>
                </a:tc>
                <a:tc>
                  <a:txBody>
                    <a:bodyPr/>
                    <a:lstStyle/>
                    <a:p>
                      <a:endParaRPr lang="en-US"/>
                    </a:p>
                  </a:txBody>
                  <a:tcPr/>
                </a:tc>
                <a:extLst>
                  <a:ext uri="{0D108BD9-81ED-4DB2-BD59-A6C34878D82A}">
                    <a16:rowId xmlns:a16="http://schemas.microsoft.com/office/drawing/2014/main" val="605628661"/>
                  </a:ext>
                </a:extLst>
              </a:tr>
              <a:tr h="370840">
                <a:tc>
                  <a:txBody>
                    <a:bodyPr/>
                    <a:lstStyle/>
                    <a:p>
                      <a:r>
                        <a:rPr lang="en-US" dirty="0" err="1"/>
                        <a:t>Urand</a:t>
                      </a:r>
                      <a:r>
                        <a:rPr lang="en-US" dirty="0"/>
                        <a:t> 24</a:t>
                      </a:r>
                    </a:p>
                  </a:txBody>
                  <a:tcPr/>
                </a:tc>
                <a:tc>
                  <a:txBody>
                    <a:bodyPr/>
                    <a:lstStyle/>
                    <a:p>
                      <a:pPr algn="r"/>
                      <a:r>
                        <a:rPr lang="en-US" dirty="0"/>
                        <a:t>8.87 M</a:t>
                      </a:r>
                    </a:p>
                  </a:txBody>
                  <a:tcPr/>
                </a:tc>
                <a:tc>
                  <a:txBody>
                    <a:bodyPr/>
                    <a:lstStyle/>
                    <a:p>
                      <a:pPr algn="r"/>
                      <a:r>
                        <a:rPr lang="en-US" dirty="0"/>
                        <a:t>260.38 M </a:t>
                      </a:r>
                    </a:p>
                  </a:txBody>
                  <a:tcPr/>
                </a:tc>
                <a:tc>
                  <a:txBody>
                    <a:bodyPr/>
                    <a:lstStyle/>
                    <a:p>
                      <a:pPr algn="r"/>
                      <a:r>
                        <a:rPr lang="en-US" dirty="0"/>
                        <a:t>4.34</a:t>
                      </a:r>
                    </a:p>
                  </a:txBody>
                  <a:tcPr/>
                </a:tc>
                <a:tc>
                  <a:txBody>
                    <a:bodyPr/>
                    <a:lstStyle/>
                    <a:p>
                      <a:endParaRPr lang="en-US"/>
                    </a:p>
                  </a:txBody>
                  <a:tcPr/>
                </a:tc>
                <a:extLst>
                  <a:ext uri="{0D108BD9-81ED-4DB2-BD59-A6C34878D82A}">
                    <a16:rowId xmlns:a16="http://schemas.microsoft.com/office/drawing/2014/main" val="3378036267"/>
                  </a:ext>
                </a:extLst>
              </a:tr>
              <a:tr h="370840">
                <a:tc>
                  <a:txBody>
                    <a:bodyPr/>
                    <a:lstStyle/>
                    <a:p>
                      <a:r>
                        <a:rPr lang="en-US" dirty="0" err="1"/>
                        <a:t>Urand</a:t>
                      </a:r>
                      <a:r>
                        <a:rPr lang="en-US" dirty="0"/>
                        <a:t> 26</a:t>
                      </a:r>
                    </a:p>
                  </a:txBody>
                  <a:tcPr/>
                </a:tc>
                <a:tc>
                  <a:txBody>
                    <a:bodyPr/>
                    <a:lstStyle/>
                    <a:p>
                      <a:pPr algn="r"/>
                      <a:r>
                        <a:rPr lang="en-US" dirty="0"/>
                        <a:t>32.80 M</a:t>
                      </a:r>
                    </a:p>
                  </a:txBody>
                  <a:tcPr/>
                </a:tc>
                <a:tc>
                  <a:txBody>
                    <a:bodyPr/>
                    <a:lstStyle/>
                    <a:p>
                      <a:pPr algn="r"/>
                      <a:r>
                        <a:rPr lang="en-US" dirty="0"/>
                        <a:t>1.05 B</a:t>
                      </a:r>
                    </a:p>
                  </a:txBody>
                  <a:tcPr/>
                </a:tc>
                <a:tc>
                  <a:txBody>
                    <a:bodyPr/>
                    <a:lstStyle/>
                    <a:p>
                      <a:pPr algn="r"/>
                      <a:r>
                        <a:rPr lang="en-US" dirty="0"/>
                        <a:t>18.59</a:t>
                      </a:r>
                    </a:p>
                  </a:txBody>
                  <a:tcPr/>
                </a:tc>
                <a:tc>
                  <a:txBody>
                    <a:bodyPr/>
                    <a:lstStyle/>
                    <a:p>
                      <a:endParaRPr lang="en-US" dirty="0"/>
                    </a:p>
                  </a:txBody>
                  <a:tcPr/>
                </a:tc>
                <a:extLst>
                  <a:ext uri="{0D108BD9-81ED-4DB2-BD59-A6C34878D82A}">
                    <a16:rowId xmlns:a16="http://schemas.microsoft.com/office/drawing/2014/main" val="1993330774"/>
                  </a:ext>
                </a:extLst>
              </a:tr>
              <a:tr h="370840">
                <a:tc>
                  <a:txBody>
                    <a:bodyPr/>
                    <a:lstStyle/>
                    <a:p>
                      <a:r>
                        <a:rPr lang="en-US" dirty="0"/>
                        <a:t>Twitter MPI</a:t>
                      </a:r>
                    </a:p>
                  </a:txBody>
                  <a:tcPr/>
                </a:tc>
                <a:tc>
                  <a:txBody>
                    <a:bodyPr/>
                    <a:lstStyle/>
                    <a:p>
                      <a:pPr algn="r"/>
                      <a:r>
                        <a:rPr lang="en-US" dirty="0"/>
                        <a:t>52.58 M</a:t>
                      </a:r>
                    </a:p>
                  </a:txBody>
                  <a:tcPr/>
                </a:tc>
                <a:tc>
                  <a:txBody>
                    <a:bodyPr/>
                    <a:lstStyle/>
                    <a:p>
                      <a:pPr algn="r"/>
                      <a:r>
                        <a:rPr lang="en-US" dirty="0"/>
                        <a:t>1.96 B</a:t>
                      </a:r>
                    </a:p>
                  </a:txBody>
                  <a:tcPr/>
                </a:tc>
                <a:tc>
                  <a:txBody>
                    <a:bodyPr/>
                    <a:lstStyle/>
                    <a:p>
                      <a:pPr algn="r"/>
                      <a:r>
                        <a:rPr lang="en-US" dirty="0"/>
                        <a:t>29.63</a:t>
                      </a:r>
                    </a:p>
                  </a:txBody>
                  <a:tcPr/>
                </a:tc>
                <a:tc>
                  <a:txBody>
                    <a:bodyPr/>
                    <a:lstStyle/>
                    <a:p>
                      <a:endParaRPr lang="en-US" dirty="0"/>
                    </a:p>
                  </a:txBody>
                  <a:tcPr/>
                </a:tc>
                <a:extLst>
                  <a:ext uri="{0D108BD9-81ED-4DB2-BD59-A6C34878D82A}">
                    <a16:rowId xmlns:a16="http://schemas.microsoft.com/office/drawing/2014/main" val="2777461908"/>
                  </a:ext>
                </a:extLst>
              </a:tr>
              <a:tr h="370840">
                <a:tc>
                  <a:txBody>
                    <a:bodyPr/>
                    <a:lstStyle/>
                    <a:p>
                      <a:r>
                        <a:rPr lang="en-US" dirty="0"/>
                        <a:t>Graph500-30</a:t>
                      </a:r>
                    </a:p>
                  </a:txBody>
                  <a:tcPr/>
                </a:tc>
                <a:tc>
                  <a:txBody>
                    <a:bodyPr/>
                    <a:lstStyle/>
                    <a:p>
                      <a:pPr algn="r"/>
                      <a:r>
                        <a:rPr lang="en-US" dirty="0"/>
                        <a:t>447.80 M</a:t>
                      </a:r>
                    </a:p>
                  </a:txBody>
                  <a:tcPr/>
                </a:tc>
                <a:tc>
                  <a:txBody>
                    <a:bodyPr/>
                    <a:lstStyle/>
                    <a:p>
                      <a:pPr algn="r"/>
                      <a:r>
                        <a:rPr lang="en-US" dirty="0"/>
                        <a:t>17.02 B</a:t>
                      </a:r>
                    </a:p>
                  </a:txBody>
                  <a:tcPr/>
                </a:tc>
                <a:tc>
                  <a:txBody>
                    <a:bodyPr/>
                    <a:lstStyle/>
                    <a:p>
                      <a:pPr algn="r"/>
                      <a:r>
                        <a:rPr lang="en-US" dirty="0"/>
                        <a:t>339.25</a:t>
                      </a:r>
                    </a:p>
                  </a:txBody>
                  <a:tcPr/>
                </a:tc>
                <a:tc>
                  <a:txBody>
                    <a:bodyPr/>
                    <a:lstStyle/>
                    <a:p>
                      <a:endParaRPr lang="en-US" dirty="0"/>
                    </a:p>
                  </a:txBody>
                  <a:tcPr/>
                </a:tc>
                <a:extLst>
                  <a:ext uri="{0D108BD9-81ED-4DB2-BD59-A6C34878D82A}">
                    <a16:rowId xmlns:a16="http://schemas.microsoft.com/office/drawing/2014/main" val="4134446349"/>
                  </a:ext>
                </a:extLst>
              </a:tr>
              <a:tr h="370840">
                <a:tc>
                  <a:txBody>
                    <a:bodyPr/>
                    <a:lstStyle/>
                    <a:p>
                      <a:r>
                        <a:rPr lang="en-US" dirty="0"/>
                        <a:t>Dota-league</a:t>
                      </a:r>
                    </a:p>
                  </a:txBody>
                  <a:tcPr/>
                </a:tc>
                <a:tc>
                  <a:txBody>
                    <a:bodyPr/>
                    <a:lstStyle/>
                    <a:p>
                      <a:pPr algn="r"/>
                      <a:r>
                        <a:rPr lang="en-US" dirty="0"/>
                        <a:t>61.17 K</a:t>
                      </a:r>
                    </a:p>
                  </a:txBody>
                  <a:tcPr/>
                </a:tc>
                <a:tc>
                  <a:txBody>
                    <a:bodyPr/>
                    <a:lstStyle/>
                    <a:p>
                      <a:pPr algn="r"/>
                      <a:r>
                        <a:rPr lang="en-US" dirty="0"/>
                        <a:t>50.87 M</a:t>
                      </a:r>
                    </a:p>
                  </a:txBody>
                  <a:tcPr/>
                </a:tc>
                <a:tc>
                  <a:txBody>
                    <a:bodyPr/>
                    <a:lstStyle/>
                    <a:p>
                      <a:pPr algn="r"/>
                      <a:r>
                        <a:rPr lang="en-US" dirty="0"/>
                        <a:t>0.8</a:t>
                      </a:r>
                    </a:p>
                  </a:txBody>
                  <a:tcPr/>
                </a:tc>
                <a:tc>
                  <a:txBody>
                    <a:bodyPr/>
                    <a:lstStyle/>
                    <a:p>
                      <a:endParaRPr lang="en-US" dirty="0"/>
                    </a:p>
                  </a:txBody>
                  <a:tcPr/>
                </a:tc>
                <a:extLst>
                  <a:ext uri="{0D108BD9-81ED-4DB2-BD59-A6C34878D82A}">
                    <a16:rowId xmlns:a16="http://schemas.microsoft.com/office/drawing/2014/main" val="2843759739"/>
                  </a:ext>
                </a:extLst>
              </a:tr>
            </a:tbl>
          </a:graphicData>
        </a:graphic>
      </p:graphicFrame>
    </p:spTree>
    <p:extLst>
      <p:ext uri="{BB962C8B-B14F-4D97-AF65-F5344CB8AC3E}">
        <p14:creationId xmlns:p14="http://schemas.microsoft.com/office/powerpoint/2010/main" val="1876476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5312</TotalTime>
  <Words>1082</Words>
  <Application>Microsoft Office PowerPoint</Application>
  <PresentationFormat>Widescreen</PresentationFormat>
  <Paragraphs>161</Paragraphs>
  <Slides>14</Slides>
  <Notes>6</Notes>
  <HiddenSlides>1</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Section 4: Evaluation</vt:lpstr>
      <vt:lpstr>Research Question #0</vt:lpstr>
      <vt:lpstr>Research Question #1 </vt:lpstr>
      <vt:lpstr>Research Question #1</vt:lpstr>
      <vt:lpstr>Research Question #2</vt:lpstr>
      <vt:lpstr>Research Question #2</vt:lpstr>
      <vt:lpstr>Research Question #3</vt:lpstr>
      <vt:lpstr> Research Question #3</vt:lpstr>
      <vt:lpstr> Research Question #3</vt:lpstr>
      <vt:lpstr>Research Question #3</vt:lpstr>
      <vt:lpstr>Evaluation Setup</vt:lpstr>
      <vt:lpstr>Systems being evaluated</vt:lpstr>
      <vt:lpstr>Systems being evaluated</vt:lpstr>
      <vt:lpstr>Datasets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4: Evaluation</dc:title>
  <dc:creator>Microsoft Office User</dc:creator>
  <cp:lastModifiedBy>Margo Seltzer</cp:lastModifiedBy>
  <cp:revision>11</cp:revision>
  <dcterms:created xsi:type="dcterms:W3CDTF">2025-08-04T22:49:30Z</dcterms:created>
  <dcterms:modified xsi:type="dcterms:W3CDTF">2025-08-26T05:27:39Z</dcterms:modified>
</cp:coreProperties>
</file>